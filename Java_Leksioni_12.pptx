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edit the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8708C24-D31F-439D-A8D3-2CF15F27713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Hapi që i bën aplikacionet 'të vërteta': ruajtja e të dhënave. Deri sot, gjithçka që shkruante përdoruesi humbte kur mbyllej dritarja. Sot lidhim GUI-n (L11) me skedarët — dhe të dhënat MBIJETOJNË. SHËNIM: pamjet e dritareve janë paraqitje; POR e gjithë logjika e skedarëve u EKZEKUTUA vërtet — skedarët në slajde janë përmbajtje reale. 70 minuta.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FA1FE7-B683-4676-AC2C-600AB7B7487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Gjysma e parë: mekanika e skedarëve (shkrim, gabime, lexim) — e gjitha e ekzekutueshme dhe e verifikuar. Gjysma e dytë: lidhja me GUI-n, që kulmon me regjistrin e kontakteve, një aplikacion i vërtetë që ruan të dhëna strukturuara.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81F4A8-9764-49EF-ABD8-E05FF788F2B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Analogjia RAM vs disk: RAM = tavolina e punës (pastrohet çdo mbrëmje); disku = sirtari (mbetet). Pyetni: 'çfarë do të ndodhte nëse WhatsApp harronte gjithçka sa herë e mbyllni?' Skedarët janë ura nga programi te 'kujtesa e përhershme'.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2C1E88F-4702-40E3-B46D-E74AA57626B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FileWriter = 'stilolapsi' për skedarin. Tri hapat: hap, shkruaj, mbyll. close() është kritik — pa të, teksti mund të mbetet në 'buffer' dhe të mos shkojë në disk. Skedari djathtas është përmbajtja REALE — e ekzekutova dhe bëra cat. throws IOException te main-i: e shpjegojmë te slajdi i gabimeve.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396EF9-933D-4353-8355-9BB193C77FE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PrintWriter është 'miku' i studentëve sepse ka println() të njohur. Ndryshimi i vetëm: destinacioni. println shton edhe kalimin në rresht të ri automatikisht (ndryshe nga write). Lidheni me njohurinë ekzistuese — s'është koncept i ri, është i njëjti System.out i drejtuar diku tjetër.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0061B4-5A23-44CE-8134-707B71BB089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Parametri i dytë 'true' është ndryshimi mes një aplikacioni që fshin gjithçka dhe një që mban histori. E ekzekutova tri herë — skedari u rrit në tri rreshta, prova reale. Ky është themeli i regjistrit të kontakteve: çdo kontakt i ri SHTOHET, s'i fshin të tjerët. Gabimi #1: harresa e 'true' → humbet gjithçka e mëparshme.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5BA2F0-282C-4442-A6D5-5A506F677D4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Lidhja e drejtpërdrejtë me L10: puna me skedarë është arsyeja KRYESORE pse ekzistojnë exceptionet. IOException është 'checked' — kompajleri s'të lë ta injorosh (ndryshe nga NumberFormatException). Gabimi djathtas është REAL — e detyrova duke shkruar në dosje që s'ekziston. Kjo është pika ku throws-i i main-it (slajdi 4) merr kuptim.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F325D3-4844-476D-8B1C-A4A3F3E27AB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try-with-resources: burimi i deklaruar në kllapa mbyllet automatikisht. Kjo është praktika moderne dhe e preferuar — s'harron close(), dhe mbyllja ndodh edhe kur ka exception (ndryshe nga close() në fund të try, që anashkalohet nga gabimi). Krahasoni me L10 finally: kjo është versioni i pastër i të njëjtës ide.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D2D054-7431-460B-B877-B659D9FB7ED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Simetria e bukur: i njëjti Scanner i L5, por ushqehet me File në vend të System.in. Modeli while(hasNextLine()) është identik me leximin deri te sentinel-i. Dalja djathtas është reale. Vëreni: leximi kërkon FileNotFoundException (nënlloj i IOException) — çka na çon te trajtimi i gabimeve përsëri.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BD3904-E53C-413F-85AD-6FDB0599D16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Momenti kur gjithçka bashkohet: JTextArea (widget i ri — kuti teksti me shumë rreshta), ngjarje me lambda (L11), try-with-resources (sot), getText() (L11). Skedari djathtas u prodhua duke ekzekutuar pikërisht këtë logjikë shkrimi. JTextArea zakonisht vendoset në JScrollPane që të ketë rrëshqitje.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91D15A-6F46-4B8E-A386-2BA6129F5A0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 tjetër e ciklit: leximi i skedarit prapa në dritare. append() shton pa fshirë (ndryshe nga setText). Tani studentët kanë një aplikacion të plotë 'shënime' që ruan dhe hap — një mjet i vërtetë. Logjika lexim/formatim u ekzekutua dhe u verifikua. Kjo është pika ku aplikacioni bëhet 'i përhershëm'.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90D2D6-47A4-491E-A6C1-1D92C0835D2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Kapstoni bashkon GJITHÇKA: fushat (L11), validim me if (L1), append në skedar (sot), try-with-resources (sot), dhe rifreskimi. Formati 'emri;tel' është një zgjedhje e thjeshtë 'CSV' — pikëpresja ndan fushat. Logjika u ekzekutua me tre kontakte reale. isEmpty() kontrollon fushat bosh — mbrojtje bazë.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822B2E-CAAE-4EA9-9747-45737A83069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Pjesa e leximit: split(";") është çelësi — kthen rreshtin 'Ana;069...' në varg [Ana, 069...]. Kontrolli exists() shmang gabimin kur s'ka ende skedar. numri numëron kontaktet për shfaqje të bukur. Dalja u verifikua me tre kontakte reale. Ky është modeli i çdo aplikacioni që ruan të dhëna strukturuara: shkruaj me ndarës, lexo me split.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D4E507-38EC-4E55-8007-C4D48CA2B6A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Fletë referimi për fotografim. Rreshti i fundit i artë përmbledh modelin universal të ruajtjes së të dhënave. Theksoni që FileWriter/PrintWriter/Scanner+File janë tri veglat kryesore — gjithçka tjetër është variacion.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939832-A847-4039-97FC-C12ED4D08A5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Dy pyetje mbi shkrimin/append, dy mbi konceptet (try-with-resources, IOException). Të gjitha kodet u ekzekutuan.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1D4CD0-D6FB-4CF1-8BC8-9F00023C75C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Q1: FileWriter pa 'true' FSHIN dhe rishkruan çdo herë — file-i përfundon me vetëm 'B'; përgjigja b (e verifikuar me ekzekutim). Q2: parametri i dytë 'true' aktivizon append-in; përgjigja b. 'false' është si mungesa e tij — fshin.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4DCE45-80F7-4A2C-B133-569469CFC44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Q3: try-with-resources e mbyll skedarin automatikisht, edhe në rast gabimi — përgjigja b. Q4: split(";") mbi 'Ana;069' jep [Ana, 069], gjatësi 2; përgjigja b. Ky është pikërisht mekanizmi i regjistrit të kontakteve.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465972-5D7D-4869-BBDC-F4F7AC2F684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Q1 dhe Q2 janë çifti kritik: append vs overwrite — gabimi më i shpeshtë dhe më i kushtueshëm (humbje të dhënash). Nëse dikush gaboi Q1, riktheni te slajdi 6 dhe tregoni skedarin që u rrit vs ai që u fshi.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A9085C-1428-429E-B315-75BD9E084FC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Fjalia për t'u marrë me vete: 'një aplikacion pa skedarë harron gjithçka; me skedarë, ai kujton'. Sot bashkuam GUI-n me diskun — dhe krijuam aplikacione të vërteta. Java tjetër: mund të kalojmë te koleksionet (HashMap) ose te një projekt përfundimtar që bashkon gjithçka të semestrit.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066DC7-3335-4B13-AEF4-7E9C8766E1C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Detyra 2 është më konceptualja: gjendje që mbijeton RINISJEN e programit — ura mes L11 (gjendje në RAM) dhe sot (gjendje në disk). Detyra 4 shton filtrim/kërkim — hap drejt aplikacioneve reale. Kërkoni edhe skedarin .txt të prodhuar: provë se ruajtja funksionoi vërtet. Git: 4 commit-e.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F0BCA51-4DE0-432B-9B4C-B4C327DF028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9.png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9.png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9.png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4.png"/><Relationship Id="rId3" Type="http://schemas.openxmlformats.org/officeDocument/2006/relationships/image" Target="../media/image1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8595360" y="-1463040"/>
            <a:ext cx="5028840" cy="5028840"/>
          </a:xfrm>
          <a:prstGeom prst="ellipse">
            <a:avLst/>
          </a:prstGeom>
          <a:solidFill>
            <a:srgbClr val="E8730C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9692640" y="3291840"/>
            <a:ext cx="3840120" cy="3840120"/>
          </a:xfrm>
          <a:prstGeom prst="ellipse">
            <a:avLst/>
          </a:prstGeom>
          <a:solidFill>
            <a:srgbClr val="1E3050">
              <a:alpha val="7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8686800" y="1691640"/>
            <a:ext cx="2742840" cy="1554120"/>
          </a:xfrm>
          <a:prstGeom prst="rect">
            <a:avLst/>
          </a:prstGeom>
          <a:solidFill>
            <a:srgbClr val="ECECEC"/>
          </a:solidFill>
          <a:ln w="12700">
            <a:solidFill>
              <a:srgbClr val="6B7480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8686800" y="1691640"/>
            <a:ext cx="2742840" cy="292320"/>
          </a:xfrm>
          <a:prstGeom prst="rect">
            <a:avLst/>
          </a:prstGeom>
          <a:solidFill>
            <a:srgbClr val="0A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8796600" y="1691640"/>
            <a:ext cx="1828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Shënimet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8869680" y="2103120"/>
            <a:ext cx="2377080" cy="639720"/>
          </a:xfrm>
          <a:prstGeom prst="rect">
            <a:avLst/>
          </a:prstGeom>
          <a:solidFill>
            <a:srgbClr val="FFFFFF"/>
          </a:solidFill>
          <a:ln w="12700">
            <a:solidFill>
              <a:srgbClr val="7A82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8961120" y="2176200"/>
            <a:ext cx="21942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B1B1B"/>
                </a:solidFill>
                <a:effectLst/>
                <a:uFillTx/>
                <a:latin typeface="Calibri"/>
                <a:ea typeface="Calibri"/>
              </a:rPr>
              <a:t>Lista e blerjeve: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B1B1B"/>
                </a:solidFill>
                <a:effectLst/>
                <a:uFillTx/>
                <a:latin typeface="Calibri"/>
                <a:ea typeface="Calibri"/>
              </a:rPr>
              <a:t>- bukë, vezë, kafe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9372600" y="2807280"/>
            <a:ext cx="1371240" cy="319680"/>
          </a:xfrm>
          <a:prstGeom prst="roundRect">
            <a:avLst>
              <a:gd name="adj" fmla="val 8571"/>
            </a:avLst>
          </a:prstGeom>
          <a:solidFill>
            <a:srgbClr val="E0E0E0"/>
          </a:solidFill>
          <a:ln w="12700">
            <a:solidFill>
              <a:srgbClr val="9AA0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9372600" y="2807280"/>
            <a:ext cx="1371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B1B1B"/>
                </a:solidFill>
                <a:effectLst/>
                <a:uFillTx/>
                <a:latin typeface="Calibri"/>
                <a:ea typeface="Calibri"/>
              </a:rPr>
              <a:t>Ruaj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" name="Image 0" descr="preencoded.png"/>
          <p:cNvPicPr/>
          <p:nvPr/>
        </p:nvPicPr>
        <p:blipFill>
          <a:blip r:embed="rId1"/>
          <a:stretch/>
        </p:blipFill>
        <p:spPr>
          <a:xfrm>
            <a:off x="9875520" y="329184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Shape 9"/>
          <p:cNvSpPr/>
          <p:nvPr/>
        </p:nvSpPr>
        <p:spPr>
          <a:xfrm>
            <a:off x="9052560" y="3703320"/>
            <a:ext cx="2011320" cy="822600"/>
          </a:xfrm>
          <a:prstGeom prst="roundRect">
            <a:avLst>
              <a:gd name="adj" fmla="val 5556"/>
            </a:avLst>
          </a:prstGeom>
          <a:solidFill>
            <a:srgbClr val="FBFDF6"/>
          </a:solidFill>
          <a:ln w="12700">
            <a:solidFill>
              <a:srgbClr val="CBD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0"/>
          <p:cNvSpPr/>
          <p:nvPr/>
        </p:nvSpPr>
        <p:spPr>
          <a:xfrm>
            <a:off x="9189720" y="379476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5B8C2A"/>
                </a:solidFill>
                <a:effectLst/>
                <a:uFillTx/>
                <a:latin typeface="Courier New"/>
                <a:ea typeface="Courier New"/>
              </a:rPr>
              <a:t>shenimet.txt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1"/>
          <p:cNvSpPr/>
          <p:nvPr/>
        </p:nvSpPr>
        <p:spPr>
          <a:xfrm>
            <a:off x="9189720" y="402336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2E3A22"/>
                </a:solidFill>
                <a:effectLst/>
                <a:uFillTx/>
                <a:latin typeface="Courier New"/>
                <a:ea typeface="Courier New"/>
              </a:rPr>
              <a:t>Lista e blerjeve: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2E3A22"/>
                </a:solidFill>
                <a:effectLst/>
                <a:uFillTx/>
                <a:latin typeface="Courier New"/>
                <a:ea typeface="Courier New"/>
              </a:rPr>
              <a:t>- bukë, vezë, kafe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2"/>
          <p:cNvSpPr/>
          <p:nvPr/>
        </p:nvSpPr>
        <p:spPr>
          <a:xfrm>
            <a:off x="822960" y="118872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pc="400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LEKSIONI 12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3"/>
          <p:cNvSpPr/>
          <p:nvPr/>
        </p:nvSpPr>
        <p:spPr>
          <a:xfrm>
            <a:off x="786240" y="1572840"/>
            <a:ext cx="76806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GUI dhe puna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 skedarë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4"/>
          <p:cNvSpPr/>
          <p:nvPr/>
        </p:nvSpPr>
        <p:spPr>
          <a:xfrm>
            <a:off x="822960" y="3035880"/>
            <a:ext cx="7589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Aplikacione që RUAJNË të dhënat — dhe i gjejnë sërish herës tjetër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5"/>
          <p:cNvSpPr/>
          <p:nvPr/>
        </p:nvSpPr>
        <p:spPr>
          <a:xfrm>
            <a:off x="841320" y="3611880"/>
            <a:ext cx="6949080" cy="1238760"/>
          </a:xfrm>
          <a:prstGeom prst="roundRect">
            <a:avLst>
              <a:gd name="adj" fmla="val 6642"/>
            </a:avLst>
          </a:prstGeom>
          <a:solidFill>
            <a:srgbClr val="1B2736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6"/>
          <p:cNvSpPr/>
          <p:nvPr/>
        </p:nvSpPr>
        <p:spPr>
          <a:xfrm>
            <a:off x="1042560" y="3794760"/>
            <a:ext cx="100080" cy="10008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7"/>
          <p:cNvSpPr/>
          <p:nvPr/>
        </p:nvSpPr>
        <p:spPr>
          <a:xfrm>
            <a:off x="1243440" y="3794760"/>
            <a:ext cx="100080" cy="10008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8"/>
          <p:cNvSpPr/>
          <p:nvPr/>
        </p:nvSpPr>
        <p:spPr>
          <a:xfrm>
            <a:off x="1444680" y="3794760"/>
            <a:ext cx="100080" cy="10008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9"/>
          <p:cNvSpPr/>
          <p:nvPr/>
        </p:nvSpPr>
        <p:spPr>
          <a:xfrm>
            <a:off x="1097280" y="4069080"/>
            <a:ext cx="6491880" cy="69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try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FileWriter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shkrues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new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FileWriter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"shenimet.txt"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))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shkrues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write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zona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getText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());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20"/>
          <p:cNvSpPr/>
          <p:nvPr/>
        </p:nvSpPr>
        <p:spPr>
          <a:xfrm>
            <a:off x="840960" y="4892040"/>
            <a:ext cx="6949440" cy="360"/>
          </a:xfrm>
          <a:prstGeom prst="line">
            <a:avLst/>
          </a:prstGeom>
          <a:ln w="19050">
            <a:solidFill>
              <a:srgbClr val="E873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21"/>
          <p:cNvSpPr/>
          <p:nvPr/>
        </p:nvSpPr>
        <p:spPr>
          <a:xfrm>
            <a:off x="822960" y="507492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AEBCCC"/>
                </a:solidFill>
                <a:effectLst/>
                <a:uFillTx/>
                <a:latin typeface="Calibri"/>
                <a:ea typeface="Calibri"/>
              </a:rPr>
              <a:t>Ligjëratë 70 minuta</a:t>
            </a:r>
            <a:r>
              <a:rPr lang="en-US" sz="1300" b="0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     •     </a:t>
            </a:r>
            <a:r>
              <a:rPr lang="en-US" sz="1300" b="0" u="none" strike="noStrike">
                <a:solidFill>
                  <a:srgbClr val="AEBCCC"/>
                </a:solidFill>
                <a:effectLst/>
                <a:uFillTx/>
                <a:latin typeface="Calibri"/>
                <a:ea typeface="Calibri"/>
              </a:rPr>
              <a:t>Nivel: Fillestar-Mesatar</a:t>
            </a:r>
            <a:r>
              <a:rPr lang="en-US" sz="1300" b="0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     •     </a:t>
            </a:r>
            <a:r>
              <a:rPr lang="en-US" sz="1300" b="0" u="none" strike="noStrike">
                <a:solidFill>
                  <a:srgbClr val="AEBCCC"/>
                </a:solidFill>
                <a:effectLst/>
                <a:uFillTx/>
                <a:latin typeface="Calibri"/>
                <a:ea typeface="Calibri"/>
              </a:rPr>
              <a:t>Informatikë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0"/>
          <p:cNvSpPr/>
          <p:nvPr/>
        </p:nvSpPr>
        <p:spPr>
          <a:xfrm>
            <a:off x="548640" y="45720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" name="Image 0" descr="preencoded.png"/>
          <p:cNvPicPr/>
          <p:nvPr/>
        </p:nvPicPr>
        <p:blipFill>
          <a:blip r:embed="rId1"/>
          <a:stretch/>
        </p:blipFill>
        <p:spPr>
          <a:xfrm>
            <a:off x="694800" y="6033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Text 1"/>
          <p:cNvSpPr/>
          <p:nvPr/>
        </p:nvSpPr>
        <p:spPr>
          <a:xfrm>
            <a:off x="1371600" y="457200"/>
            <a:ext cx="9600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AGJENDA · 70 MINUTA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2"/>
          <p:cNvSpPr/>
          <p:nvPr/>
        </p:nvSpPr>
        <p:spPr>
          <a:xfrm>
            <a:off x="137160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Plani i leksionit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3"/>
          <p:cNvSpPr/>
          <p:nvPr/>
        </p:nvSpPr>
        <p:spPr>
          <a:xfrm>
            <a:off x="548640" y="1600200"/>
            <a:ext cx="3602520" cy="2084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4"/>
          <p:cNvSpPr/>
          <p:nvPr/>
        </p:nvSpPr>
        <p:spPr>
          <a:xfrm>
            <a:off x="804600" y="185616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9" name="Image 1" descr="preencoded.png"/>
          <p:cNvPicPr/>
          <p:nvPr/>
        </p:nvPicPr>
        <p:blipFill>
          <a:blip r:embed="rId2"/>
          <a:stretch/>
        </p:blipFill>
        <p:spPr>
          <a:xfrm>
            <a:off x="932760" y="198432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Text 5"/>
          <p:cNvSpPr/>
          <p:nvPr/>
        </p:nvSpPr>
        <p:spPr>
          <a:xfrm>
            <a:off x="3099960" y="1837800"/>
            <a:ext cx="868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06'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6"/>
          <p:cNvSpPr/>
          <p:nvPr/>
        </p:nvSpPr>
        <p:spPr>
          <a:xfrm>
            <a:off x="804600" y="2587680"/>
            <a:ext cx="314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Pse skedarët?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7"/>
          <p:cNvSpPr/>
          <p:nvPr/>
        </p:nvSpPr>
        <p:spPr>
          <a:xfrm>
            <a:off x="804600" y="3081600"/>
            <a:ext cx="3145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Të dhënat që s'humbin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8"/>
          <p:cNvSpPr/>
          <p:nvPr/>
        </p:nvSpPr>
        <p:spPr>
          <a:xfrm>
            <a:off x="4370760" y="1600200"/>
            <a:ext cx="3602520" cy="2084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9"/>
          <p:cNvSpPr/>
          <p:nvPr/>
        </p:nvSpPr>
        <p:spPr>
          <a:xfrm>
            <a:off x="4626720" y="185616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5" name="Image 2" descr="preencoded.png"/>
          <p:cNvPicPr/>
          <p:nvPr/>
        </p:nvPicPr>
        <p:blipFill>
          <a:blip r:embed="rId3"/>
          <a:stretch/>
        </p:blipFill>
        <p:spPr>
          <a:xfrm>
            <a:off x="4754880" y="198432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Text 10"/>
          <p:cNvSpPr/>
          <p:nvPr/>
        </p:nvSpPr>
        <p:spPr>
          <a:xfrm>
            <a:off x="6922080" y="1837800"/>
            <a:ext cx="868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16'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1"/>
          <p:cNvSpPr/>
          <p:nvPr/>
        </p:nvSpPr>
        <p:spPr>
          <a:xfrm>
            <a:off x="4626720" y="2587680"/>
            <a:ext cx="314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Shkrimi në skedar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2"/>
          <p:cNvSpPr/>
          <p:nvPr/>
        </p:nvSpPr>
        <p:spPr>
          <a:xfrm>
            <a:off x="4626720" y="3081600"/>
            <a:ext cx="3145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FileWriter, PrintWriter, append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13"/>
          <p:cNvSpPr/>
          <p:nvPr/>
        </p:nvSpPr>
        <p:spPr>
          <a:xfrm>
            <a:off x="8192880" y="1600200"/>
            <a:ext cx="3602520" cy="2084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4"/>
          <p:cNvSpPr/>
          <p:nvPr/>
        </p:nvSpPr>
        <p:spPr>
          <a:xfrm>
            <a:off x="8449200" y="185616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1" name="Image 3" descr="preencoded.png"/>
          <p:cNvPicPr/>
          <p:nvPr/>
        </p:nvPicPr>
        <p:blipFill>
          <a:blip r:embed="rId4"/>
          <a:stretch/>
        </p:blipFill>
        <p:spPr>
          <a:xfrm>
            <a:off x="8577000" y="198432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Text 15"/>
          <p:cNvSpPr/>
          <p:nvPr/>
        </p:nvSpPr>
        <p:spPr>
          <a:xfrm>
            <a:off x="10744200" y="1837800"/>
            <a:ext cx="868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10'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6"/>
          <p:cNvSpPr/>
          <p:nvPr/>
        </p:nvSpPr>
        <p:spPr>
          <a:xfrm>
            <a:off x="8449200" y="2587680"/>
            <a:ext cx="314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Gabimet &amp; mbyllja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7"/>
          <p:cNvSpPr/>
          <p:nvPr/>
        </p:nvSpPr>
        <p:spPr>
          <a:xfrm>
            <a:off x="8449200" y="3081600"/>
            <a:ext cx="3145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IOException, try-with-resources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8"/>
          <p:cNvSpPr/>
          <p:nvPr/>
        </p:nvSpPr>
        <p:spPr>
          <a:xfrm>
            <a:off x="548640" y="3940920"/>
            <a:ext cx="3602520" cy="2084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19"/>
          <p:cNvSpPr/>
          <p:nvPr/>
        </p:nvSpPr>
        <p:spPr>
          <a:xfrm>
            <a:off x="804600" y="419724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7" name="Image 4" descr="preencoded.png"/>
          <p:cNvPicPr/>
          <p:nvPr/>
        </p:nvPicPr>
        <p:blipFill>
          <a:blip r:embed="rId5"/>
          <a:stretch/>
        </p:blipFill>
        <p:spPr>
          <a:xfrm>
            <a:off x="932760" y="432504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Text 20"/>
          <p:cNvSpPr/>
          <p:nvPr/>
        </p:nvSpPr>
        <p:spPr>
          <a:xfrm>
            <a:off x="3099960" y="4178880"/>
            <a:ext cx="868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08'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1"/>
          <p:cNvSpPr/>
          <p:nvPr/>
        </p:nvSpPr>
        <p:spPr>
          <a:xfrm>
            <a:off x="804600" y="4928760"/>
            <a:ext cx="314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Leximi i skedarit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2"/>
          <p:cNvSpPr/>
          <p:nvPr/>
        </p:nvSpPr>
        <p:spPr>
          <a:xfrm>
            <a:off x="804600" y="5422320"/>
            <a:ext cx="3145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Scanner mbi File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23"/>
          <p:cNvSpPr/>
          <p:nvPr/>
        </p:nvSpPr>
        <p:spPr>
          <a:xfrm>
            <a:off x="4370760" y="3940920"/>
            <a:ext cx="3602520" cy="2084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24"/>
          <p:cNvSpPr/>
          <p:nvPr/>
        </p:nvSpPr>
        <p:spPr>
          <a:xfrm>
            <a:off x="4626720" y="419724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3" name="Image 5" descr="preencoded.png"/>
          <p:cNvPicPr/>
          <p:nvPr/>
        </p:nvPicPr>
        <p:blipFill>
          <a:blip r:embed="rId6"/>
          <a:stretch/>
        </p:blipFill>
        <p:spPr>
          <a:xfrm>
            <a:off x="4754880" y="432504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Text 25"/>
          <p:cNvSpPr/>
          <p:nvPr/>
        </p:nvSpPr>
        <p:spPr>
          <a:xfrm>
            <a:off x="6922080" y="4178880"/>
            <a:ext cx="868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15'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26"/>
          <p:cNvSpPr/>
          <p:nvPr/>
        </p:nvSpPr>
        <p:spPr>
          <a:xfrm>
            <a:off x="4626720" y="4928760"/>
            <a:ext cx="314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GUI + skedar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7"/>
          <p:cNvSpPr/>
          <p:nvPr/>
        </p:nvSpPr>
        <p:spPr>
          <a:xfrm>
            <a:off x="4626720" y="5422320"/>
            <a:ext cx="3145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Shënimet: ruaj dhe hap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28"/>
          <p:cNvSpPr/>
          <p:nvPr/>
        </p:nvSpPr>
        <p:spPr>
          <a:xfrm>
            <a:off x="8192880" y="3940920"/>
            <a:ext cx="3602520" cy="2084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29"/>
          <p:cNvSpPr/>
          <p:nvPr/>
        </p:nvSpPr>
        <p:spPr>
          <a:xfrm>
            <a:off x="8449200" y="419724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9" name="Image 6" descr="preencoded.png"/>
          <p:cNvPicPr/>
          <p:nvPr/>
        </p:nvPicPr>
        <p:blipFill>
          <a:blip r:embed="rId7"/>
          <a:stretch/>
        </p:blipFill>
        <p:spPr>
          <a:xfrm>
            <a:off x="8577000" y="432504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Text 30"/>
          <p:cNvSpPr/>
          <p:nvPr/>
        </p:nvSpPr>
        <p:spPr>
          <a:xfrm>
            <a:off x="10744200" y="4178880"/>
            <a:ext cx="868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15'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31"/>
          <p:cNvSpPr/>
          <p:nvPr/>
        </p:nvSpPr>
        <p:spPr>
          <a:xfrm>
            <a:off x="8449200" y="4928760"/>
            <a:ext cx="314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Kapstoni + quiz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32"/>
          <p:cNvSpPr/>
          <p:nvPr/>
        </p:nvSpPr>
        <p:spPr>
          <a:xfrm>
            <a:off x="8449200" y="5422320"/>
            <a:ext cx="3145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Regjistri i kontakteve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33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34"/>
          <p:cNvSpPr/>
          <p:nvPr/>
        </p:nvSpPr>
        <p:spPr>
          <a:xfrm>
            <a:off x="548640" y="63550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Java · Leksioni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0"/>
          <p:cNvSpPr/>
          <p:nvPr/>
        </p:nvSpPr>
        <p:spPr>
          <a:xfrm>
            <a:off x="548640" y="45720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6" name="Image 0" descr="preencoded.png"/>
          <p:cNvPicPr/>
          <p:nvPr/>
        </p:nvPicPr>
        <p:blipFill>
          <a:blip r:embed="rId1"/>
          <a:stretch/>
        </p:blipFill>
        <p:spPr>
          <a:xfrm>
            <a:off x="694800" y="6033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Text 1"/>
          <p:cNvSpPr/>
          <p:nvPr/>
        </p:nvSpPr>
        <p:spPr>
          <a:xfrm>
            <a:off x="1371600" y="457200"/>
            <a:ext cx="9600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PSE NA DUHEN SKEDARËT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2"/>
          <p:cNvSpPr/>
          <p:nvPr/>
        </p:nvSpPr>
        <p:spPr>
          <a:xfrm>
            <a:off x="137160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Problemi: të dhënat zhduken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3"/>
          <p:cNvSpPr/>
          <p:nvPr/>
        </p:nvSpPr>
        <p:spPr>
          <a:xfrm>
            <a:off x="594360" y="1828800"/>
            <a:ext cx="4205880" cy="2194200"/>
          </a:xfrm>
          <a:prstGeom prst="rect">
            <a:avLst/>
          </a:prstGeom>
          <a:solidFill>
            <a:srgbClr val="ECECEC"/>
          </a:solidFill>
          <a:ln w="12700">
            <a:solidFill>
              <a:srgbClr val="6B7480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4"/>
          <p:cNvSpPr/>
          <p:nvPr/>
        </p:nvSpPr>
        <p:spPr>
          <a:xfrm>
            <a:off x="594360" y="1828800"/>
            <a:ext cx="4205880" cy="310680"/>
          </a:xfrm>
          <a:prstGeom prst="rect">
            <a:avLst/>
          </a:prstGeom>
          <a:solidFill>
            <a:srgbClr val="0A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5"/>
          <p:cNvSpPr/>
          <p:nvPr/>
        </p:nvSpPr>
        <p:spPr>
          <a:xfrm>
            <a:off x="722520" y="1828800"/>
            <a:ext cx="32914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Aplikacioni im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6"/>
          <p:cNvSpPr/>
          <p:nvPr/>
        </p:nvSpPr>
        <p:spPr>
          <a:xfrm>
            <a:off x="4142160" y="1828800"/>
            <a:ext cx="164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9AA6B4"/>
                </a:solidFill>
                <a:effectLst/>
                <a:uFillTx/>
                <a:latin typeface="Calibri"/>
                <a:ea typeface="Calibri"/>
              </a:rPr>
              <a:t>●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7"/>
          <p:cNvSpPr/>
          <p:nvPr/>
        </p:nvSpPr>
        <p:spPr>
          <a:xfrm>
            <a:off x="4325040" y="1828800"/>
            <a:ext cx="164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9AA6B4"/>
                </a:solidFill>
                <a:effectLst/>
                <a:uFillTx/>
                <a:latin typeface="Calibri"/>
                <a:ea typeface="Calibri"/>
              </a:rPr>
              <a:t>●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8"/>
          <p:cNvSpPr/>
          <p:nvPr/>
        </p:nvSpPr>
        <p:spPr>
          <a:xfrm>
            <a:off x="4507920" y="1828800"/>
            <a:ext cx="164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E88070"/>
                </a:solidFill>
                <a:effectLst/>
                <a:uFillTx/>
                <a:latin typeface="Calibri"/>
                <a:ea typeface="Calibri"/>
              </a:rPr>
              <a:t>●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9"/>
          <p:cNvSpPr/>
          <p:nvPr/>
        </p:nvSpPr>
        <p:spPr>
          <a:xfrm>
            <a:off x="722520" y="2231280"/>
            <a:ext cx="3949920" cy="105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7A82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0"/>
          <p:cNvSpPr/>
          <p:nvPr/>
        </p:nvSpPr>
        <p:spPr>
          <a:xfrm>
            <a:off x="813960" y="2304360"/>
            <a:ext cx="3767040" cy="90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B1B1B"/>
                </a:solidFill>
                <a:effectLst/>
                <a:uFillTx/>
                <a:latin typeface="Calibri"/>
                <a:ea typeface="Calibri"/>
              </a:rPr>
              <a:t>Shënime të rëndësishme: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B1B1B"/>
                </a:solidFill>
                <a:effectLst/>
                <a:uFillTx/>
                <a:latin typeface="Calibri"/>
                <a:ea typeface="Calibri"/>
              </a:rPr>
              <a:t>- takim në orën 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B1B1B"/>
                </a:solidFill>
                <a:effectLst/>
                <a:uFillTx/>
                <a:latin typeface="Calibri"/>
                <a:ea typeface="Calibri"/>
              </a:rPr>
              <a:t>- blej dhuratë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1"/>
          <p:cNvSpPr/>
          <p:nvPr/>
        </p:nvSpPr>
        <p:spPr>
          <a:xfrm>
            <a:off x="1819800" y="3420000"/>
            <a:ext cx="1645560" cy="383760"/>
          </a:xfrm>
          <a:prstGeom prst="roundRect">
            <a:avLst>
              <a:gd name="adj" fmla="val 7143"/>
            </a:avLst>
          </a:prstGeom>
          <a:solidFill>
            <a:srgbClr val="E0E0E0"/>
          </a:solidFill>
          <a:ln w="12700">
            <a:solidFill>
              <a:srgbClr val="9AA0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2"/>
          <p:cNvSpPr/>
          <p:nvPr/>
        </p:nvSpPr>
        <p:spPr>
          <a:xfrm>
            <a:off x="1819800" y="3420000"/>
            <a:ext cx="1645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B1B1B"/>
                </a:solidFill>
                <a:effectLst/>
                <a:uFillTx/>
                <a:latin typeface="Calibri"/>
                <a:ea typeface="Calibri"/>
              </a:rPr>
              <a:t>Mbyll dritaren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9" name="Image 1" descr="preencoded.png"/>
          <p:cNvPicPr/>
          <p:nvPr/>
        </p:nvPicPr>
        <p:blipFill>
          <a:blip r:embed="rId2"/>
          <a:stretch/>
        </p:blipFill>
        <p:spPr>
          <a:xfrm>
            <a:off x="4983480" y="274320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Shape 13"/>
          <p:cNvSpPr/>
          <p:nvPr/>
        </p:nvSpPr>
        <p:spPr>
          <a:xfrm>
            <a:off x="5669280" y="1828800"/>
            <a:ext cx="2742840" cy="2194200"/>
          </a:xfrm>
          <a:prstGeom prst="roundRect">
            <a:avLst>
              <a:gd name="adj" fmla="val 3750"/>
            </a:avLst>
          </a:prstGeom>
          <a:solidFill>
            <a:srgbClr val="F4F0F0"/>
          </a:solidFill>
          <a:ln w="12700">
            <a:solidFill>
              <a:srgbClr val="D8C4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4"/>
          <p:cNvSpPr/>
          <p:nvPr/>
        </p:nvSpPr>
        <p:spPr>
          <a:xfrm>
            <a:off x="5669280" y="2331720"/>
            <a:ext cx="2742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C0655A"/>
                </a:solidFill>
                <a:effectLst/>
                <a:uFillTx/>
                <a:latin typeface="Calibri"/>
                <a:ea typeface="Calibri"/>
              </a:rPr>
              <a:t>✕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5"/>
          <p:cNvSpPr/>
          <p:nvPr/>
        </p:nvSpPr>
        <p:spPr>
          <a:xfrm>
            <a:off x="5669280" y="310896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B23A2C"/>
                </a:solidFill>
                <a:effectLst/>
                <a:uFillTx/>
                <a:latin typeface="Calibri"/>
                <a:ea typeface="Calibri"/>
              </a:rPr>
              <a:t>Gjithçka humbi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6"/>
          <p:cNvSpPr/>
          <p:nvPr/>
        </p:nvSpPr>
        <p:spPr>
          <a:xfrm>
            <a:off x="5669280" y="345636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RAM = kujtesë e përkohshme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7"/>
          <p:cNvSpPr/>
          <p:nvPr/>
        </p:nvSpPr>
        <p:spPr>
          <a:xfrm>
            <a:off x="8686800" y="1920240"/>
            <a:ext cx="292572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601"/>
              </a:spcAft>
              <a:buClr>
                <a:srgbClr val="142033"/>
              </a:buClr>
              <a:buFont typeface="Symbol" charset="2"/>
              <a:buChar char=""/>
            </a:pPr>
            <a:r>
              <a:rPr lang="en-US" sz="125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Kujtesa (RAM)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601"/>
              </a:spcAft>
              <a:buClr>
                <a:srgbClr val="26313F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Zhduket kur mbyllet programi.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601"/>
              </a:spcAft>
              <a:buClr>
                <a:srgbClr val="E8730C"/>
              </a:buClr>
              <a:buFont typeface="Symbol" charset="2"/>
              <a:buChar char=""/>
            </a:pPr>
            <a:r>
              <a:rPr lang="en-US" sz="125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Skedari (disku)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601"/>
              </a:spcAft>
              <a:buClr>
                <a:srgbClr val="26313F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Mbetet edhe pas fikjes së kompjuterit.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18"/>
          <p:cNvSpPr/>
          <p:nvPr/>
        </p:nvSpPr>
        <p:spPr>
          <a:xfrm>
            <a:off x="594360" y="4343400"/>
            <a:ext cx="11018160" cy="1599840"/>
          </a:xfrm>
          <a:prstGeom prst="roundRect">
            <a:avLst>
              <a:gd name="adj" fmla="val 5143"/>
            </a:avLst>
          </a:prstGeom>
          <a:solidFill>
            <a:srgbClr val="F2F5F9"/>
          </a:solidFill>
          <a:ln w="12700">
            <a:solidFill>
              <a:srgbClr val="DBE2EA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9"/>
          <p:cNvSpPr/>
          <p:nvPr/>
        </p:nvSpPr>
        <p:spPr>
          <a:xfrm>
            <a:off x="914400" y="4526280"/>
            <a:ext cx="10423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Çdo aplikacion që përdorni ruan të dhëna në skedarë: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20"/>
          <p:cNvSpPr/>
          <p:nvPr/>
        </p:nvSpPr>
        <p:spPr>
          <a:xfrm>
            <a:off x="914400" y="4892040"/>
            <a:ext cx="1042380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400"/>
              </a:spcAft>
              <a:buClr>
                <a:srgbClr val="26313F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WhatsApp i ruan mesazhet; shënimet ruajnë tekstin; lojërat ruajnë progresin.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400"/>
              </a:spcAft>
              <a:buClr>
                <a:srgbClr val="26313F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Pa skedarë, çdo hapje do të fillonte nga zeroja — bosh.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400"/>
              </a:spcAft>
              <a:buClr>
                <a:srgbClr val="E8730C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Sot: mësojmë të SHKRUAJMË dhe të LEXOJMË skedarë, pastaj i lidhim me dritaret.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1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2"/>
          <p:cNvSpPr/>
          <p:nvPr/>
        </p:nvSpPr>
        <p:spPr>
          <a:xfrm>
            <a:off x="548640" y="63550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Java · Leksioni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0"/>
          <p:cNvSpPr/>
          <p:nvPr/>
        </p:nvSpPr>
        <p:spPr>
          <a:xfrm>
            <a:off x="685800" y="50292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1" name="Image 0" descr="preencoded.png"/>
          <p:cNvPicPr/>
          <p:nvPr/>
        </p:nvPicPr>
        <p:blipFill>
          <a:blip r:embed="rId1"/>
          <a:stretch/>
        </p:blipFill>
        <p:spPr>
          <a:xfrm>
            <a:off x="831960" y="6490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Text 1"/>
          <p:cNvSpPr/>
          <p:nvPr/>
        </p:nvSpPr>
        <p:spPr>
          <a:xfrm>
            <a:off x="150876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KODI I EKZEKUTUAR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2"/>
          <p:cNvSpPr/>
          <p:nvPr/>
        </p:nvSpPr>
        <p:spPr>
          <a:xfrm>
            <a:off x="1508760" y="74988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Shkrimi i parë: FileWriter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3"/>
          <p:cNvSpPr/>
          <p:nvPr/>
        </p:nvSpPr>
        <p:spPr>
          <a:xfrm>
            <a:off x="914400" y="1691640"/>
            <a:ext cx="6766200" cy="3323520"/>
          </a:xfrm>
          <a:prstGeom prst="roundRect">
            <a:avLst>
              <a:gd name="adj" fmla="val 2476"/>
            </a:avLst>
          </a:prstGeom>
          <a:solidFill>
            <a:srgbClr val="1B2736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4"/>
          <p:cNvSpPr/>
          <p:nvPr/>
        </p:nvSpPr>
        <p:spPr>
          <a:xfrm>
            <a:off x="1115640" y="1874520"/>
            <a:ext cx="100080" cy="10008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5"/>
          <p:cNvSpPr/>
          <p:nvPr/>
        </p:nvSpPr>
        <p:spPr>
          <a:xfrm>
            <a:off x="1316880" y="1874520"/>
            <a:ext cx="100080" cy="10008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6"/>
          <p:cNvSpPr/>
          <p:nvPr/>
        </p:nvSpPr>
        <p:spPr>
          <a:xfrm>
            <a:off x="1517760" y="1874520"/>
            <a:ext cx="100080" cy="10008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7"/>
          <p:cNvSpPr/>
          <p:nvPr/>
        </p:nvSpPr>
        <p:spPr>
          <a:xfrm>
            <a:off x="1170360" y="2148840"/>
            <a:ext cx="6309000" cy="277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import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java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io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FileWriter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import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java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io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IOException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public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class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Main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2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public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static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void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main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String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[]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args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throws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IOException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FileWriter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shkrues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new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FileWriter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"pershendetje.txt"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shkrues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write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"Pershendetje nga Java!"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shkrues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close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();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200" b="0" u="none" strike="noStrike">
                <a:solidFill>
                  <a:srgbClr val="7B8A99"/>
                </a:solidFill>
                <a:effectLst/>
                <a:uFillTx/>
                <a:latin typeface="Courier New"/>
                <a:ea typeface="Courier New"/>
              </a:rPr>
              <a:t>// MBYLLE gjithmone!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System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out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println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"Skedari u krijua."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8"/>
          <p:cNvSpPr/>
          <p:nvPr/>
        </p:nvSpPr>
        <p:spPr>
          <a:xfrm>
            <a:off x="7955280" y="1965960"/>
            <a:ext cx="3611520" cy="1060200"/>
          </a:xfrm>
          <a:prstGeom prst="roundRect">
            <a:avLst>
              <a:gd name="adj" fmla="val 5172"/>
            </a:avLst>
          </a:prstGeom>
          <a:solidFill>
            <a:srgbClr val="FBFDF6"/>
          </a:solidFill>
          <a:ln w="15875">
            <a:solidFill>
              <a:srgbClr val="CBD8B8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9"/>
          <p:cNvSpPr/>
          <p:nvPr/>
        </p:nvSpPr>
        <p:spPr>
          <a:xfrm>
            <a:off x="8119800" y="1947600"/>
            <a:ext cx="2377080" cy="383760"/>
          </a:xfrm>
          <a:prstGeom prst="roundRect">
            <a:avLst>
              <a:gd name="adj" fmla="val 11905"/>
            </a:avLst>
          </a:prstGeom>
          <a:solidFill>
            <a:srgbClr val="5B8C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1" name="Image 1" descr="preencoded.png"/>
          <p:cNvPicPr/>
          <p:nvPr/>
        </p:nvPicPr>
        <p:blipFill>
          <a:blip r:embed="rId2"/>
          <a:stretch/>
        </p:blipFill>
        <p:spPr>
          <a:xfrm>
            <a:off x="8229600" y="202068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Text 10"/>
          <p:cNvSpPr/>
          <p:nvPr/>
        </p:nvSpPr>
        <p:spPr>
          <a:xfrm>
            <a:off x="8503920" y="1947600"/>
            <a:ext cx="1919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pershendetje.txt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1"/>
          <p:cNvSpPr/>
          <p:nvPr/>
        </p:nvSpPr>
        <p:spPr>
          <a:xfrm>
            <a:off x="8229600" y="2468880"/>
            <a:ext cx="31086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E3A22"/>
                </a:solidFill>
                <a:effectLst/>
                <a:uFillTx/>
                <a:latin typeface="Courier New"/>
                <a:ea typeface="Courier New"/>
              </a:rPr>
              <a:t>Pershendetje nga Java!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4" name="Image 2" descr="preencoded.png"/>
          <p:cNvPicPr/>
          <p:nvPr/>
        </p:nvPicPr>
        <p:blipFill>
          <a:blip r:embed="rId3"/>
          <a:stretch/>
        </p:blipFill>
        <p:spPr>
          <a:xfrm>
            <a:off x="7955280" y="3081600"/>
            <a:ext cx="25560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Text 12"/>
          <p:cNvSpPr/>
          <p:nvPr/>
        </p:nvSpPr>
        <p:spPr>
          <a:xfrm>
            <a:off x="8284320" y="3063240"/>
            <a:ext cx="3282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F7A38"/>
                </a:solidFill>
                <a:effectLst/>
                <a:uFillTx/>
                <a:latin typeface="Calibri"/>
                <a:ea typeface="Calibri"/>
              </a:rPr>
              <a:t>Skedar REAL i krijuar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13"/>
          <p:cNvSpPr/>
          <p:nvPr/>
        </p:nvSpPr>
        <p:spPr>
          <a:xfrm>
            <a:off x="7955280" y="3474720"/>
            <a:ext cx="3611520" cy="2377080"/>
          </a:xfrm>
          <a:prstGeom prst="roundRect">
            <a:avLst>
              <a:gd name="adj" fmla="val 3846"/>
            </a:avLst>
          </a:prstGeom>
          <a:solidFill>
            <a:srgbClr val="1E3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4"/>
          <p:cNvSpPr/>
          <p:nvPr/>
        </p:nvSpPr>
        <p:spPr>
          <a:xfrm>
            <a:off x="8202240" y="3657600"/>
            <a:ext cx="3108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Tri hapat: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5"/>
          <p:cNvSpPr/>
          <p:nvPr/>
        </p:nvSpPr>
        <p:spPr>
          <a:xfrm>
            <a:off x="8202240" y="4041720"/>
            <a:ext cx="32000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77840" indent="-177840" defTabSz="914400">
              <a:lnSpc>
                <a:spcPct val="105000"/>
              </a:lnSpc>
              <a:spcAft>
                <a:spcPts val="799"/>
              </a:spcAft>
              <a:buClr>
                <a:srgbClr val="D7E0EC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D7E0EC"/>
                </a:solidFill>
                <a:effectLst/>
                <a:uFillTx/>
                <a:latin typeface="Calibri"/>
                <a:ea typeface="Calibri"/>
              </a:rPr>
              <a:t>new FileWriter("emri") — hap (ose krijon) skedarin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5000"/>
              </a:lnSpc>
              <a:spcAft>
                <a:spcPts val="799"/>
              </a:spcAft>
              <a:buClr>
                <a:srgbClr val="D7E0EC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D7E0EC"/>
                </a:solidFill>
                <a:effectLst/>
                <a:uFillTx/>
                <a:latin typeface="Calibri"/>
                <a:ea typeface="Calibri"/>
              </a:rPr>
              <a:t>.write(...) — shkruan tekstin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5000"/>
              </a:lnSpc>
              <a:buClr>
                <a:srgbClr val="F6A63B"/>
              </a:buClr>
              <a:buFont typeface="Symbol" charset="2"/>
              <a:buChar char=""/>
            </a:pPr>
            <a:r>
              <a:rPr lang="en-US" sz="1150" b="1" u="none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.close() — e mbyll (RUAN vërtet në disk!)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6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497AC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0"/>
          <p:cNvSpPr/>
          <p:nvPr/>
        </p:nvSpPr>
        <p:spPr>
          <a:xfrm>
            <a:off x="548640" y="45720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1" name="Image 0" descr="preencoded.png"/>
          <p:cNvPicPr/>
          <p:nvPr/>
        </p:nvPicPr>
        <p:blipFill>
          <a:blip r:embed="rId1"/>
          <a:stretch/>
        </p:blipFill>
        <p:spPr>
          <a:xfrm>
            <a:off x="694800" y="6033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Text 1"/>
          <p:cNvSpPr/>
          <p:nvPr/>
        </p:nvSpPr>
        <p:spPr>
          <a:xfrm>
            <a:off x="1371600" y="457200"/>
            <a:ext cx="9600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SI SYSTEM.OUT, POR NË SKEDAR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2"/>
          <p:cNvSpPr/>
          <p:nvPr/>
        </p:nvSpPr>
        <p:spPr>
          <a:xfrm>
            <a:off x="137160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Shumë rreshta: PrintWriter dhe println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3"/>
          <p:cNvSpPr/>
          <p:nvPr/>
        </p:nvSpPr>
        <p:spPr>
          <a:xfrm>
            <a:off x="594360" y="1737360"/>
            <a:ext cx="6400440" cy="1760040"/>
          </a:xfrm>
          <a:prstGeom prst="roundRect">
            <a:avLst>
              <a:gd name="adj" fmla="val 4675"/>
            </a:avLst>
          </a:prstGeom>
          <a:solidFill>
            <a:srgbClr val="1B2736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4"/>
          <p:cNvSpPr/>
          <p:nvPr/>
        </p:nvSpPr>
        <p:spPr>
          <a:xfrm>
            <a:off x="795600" y="1920240"/>
            <a:ext cx="100080" cy="10008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5"/>
          <p:cNvSpPr/>
          <p:nvPr/>
        </p:nvSpPr>
        <p:spPr>
          <a:xfrm>
            <a:off x="996840" y="1920240"/>
            <a:ext cx="100080" cy="10008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6"/>
          <p:cNvSpPr/>
          <p:nvPr/>
        </p:nvSpPr>
        <p:spPr>
          <a:xfrm>
            <a:off x="1197720" y="1920240"/>
            <a:ext cx="100080" cy="10008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7"/>
          <p:cNvSpPr/>
          <p:nvPr/>
        </p:nvSpPr>
        <p:spPr>
          <a:xfrm>
            <a:off x="850320" y="2194560"/>
            <a:ext cx="5943240" cy="121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PrintWriter</a:t>
            </a: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shkrues </a:t>
            </a:r>
            <a:r>
              <a:rPr lang="en-US" sz="14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4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new</a:t>
            </a: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4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PrintWriter</a:t>
            </a:r>
            <a:r>
              <a:rPr lang="en-US" sz="14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40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"lista.txt"</a:t>
            </a:r>
            <a:r>
              <a:rPr lang="en-US" sz="14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shkrues</a:t>
            </a:r>
            <a:r>
              <a:rPr lang="en-US" sz="14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println</a:t>
            </a:r>
            <a:r>
              <a:rPr lang="en-US" sz="14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40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"Molle"</a:t>
            </a:r>
            <a:r>
              <a:rPr lang="en-US" sz="14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shkrues</a:t>
            </a:r>
            <a:r>
              <a:rPr lang="en-US" sz="14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println</a:t>
            </a:r>
            <a:r>
              <a:rPr lang="en-US" sz="14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40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"Buke"</a:t>
            </a:r>
            <a:r>
              <a:rPr lang="en-US" sz="14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shkrues</a:t>
            </a:r>
            <a:r>
              <a:rPr lang="en-US" sz="14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println</a:t>
            </a:r>
            <a:r>
              <a:rPr lang="en-US" sz="14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40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"Qumesht"</a:t>
            </a:r>
            <a:r>
              <a:rPr lang="en-US" sz="14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shkrues</a:t>
            </a:r>
            <a:r>
              <a:rPr lang="en-US" sz="14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close</a:t>
            </a:r>
            <a:r>
              <a:rPr lang="en-US" sz="14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8"/>
          <p:cNvSpPr/>
          <p:nvPr/>
        </p:nvSpPr>
        <p:spPr>
          <a:xfrm>
            <a:off x="7360920" y="1874520"/>
            <a:ext cx="4205880" cy="1535760"/>
          </a:xfrm>
          <a:prstGeom prst="roundRect">
            <a:avLst>
              <a:gd name="adj" fmla="val 3571"/>
            </a:avLst>
          </a:prstGeom>
          <a:solidFill>
            <a:srgbClr val="FBFDF6"/>
          </a:solidFill>
          <a:ln w="15875">
            <a:solidFill>
              <a:srgbClr val="CBD8B8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9"/>
          <p:cNvSpPr/>
          <p:nvPr/>
        </p:nvSpPr>
        <p:spPr>
          <a:xfrm>
            <a:off x="7525440" y="1856160"/>
            <a:ext cx="2377080" cy="383760"/>
          </a:xfrm>
          <a:prstGeom prst="roundRect">
            <a:avLst>
              <a:gd name="adj" fmla="val 11905"/>
            </a:avLst>
          </a:prstGeom>
          <a:solidFill>
            <a:srgbClr val="5B8C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1" name="Image 1" descr="preencoded.png"/>
          <p:cNvPicPr/>
          <p:nvPr/>
        </p:nvPicPr>
        <p:blipFill>
          <a:blip r:embed="rId2"/>
          <a:stretch/>
        </p:blipFill>
        <p:spPr>
          <a:xfrm>
            <a:off x="7635240" y="192924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" name="Text 10"/>
          <p:cNvSpPr/>
          <p:nvPr/>
        </p:nvSpPr>
        <p:spPr>
          <a:xfrm>
            <a:off x="7909560" y="1856160"/>
            <a:ext cx="1919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lista.txt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1"/>
          <p:cNvSpPr/>
          <p:nvPr/>
        </p:nvSpPr>
        <p:spPr>
          <a:xfrm>
            <a:off x="7635240" y="2377440"/>
            <a:ext cx="370296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E3A22"/>
                </a:solidFill>
                <a:effectLst/>
                <a:uFillTx/>
                <a:latin typeface="Courier New"/>
                <a:ea typeface="Courier New"/>
              </a:rPr>
              <a:t>Molle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E3A22"/>
                </a:solidFill>
                <a:effectLst/>
                <a:uFillTx/>
                <a:latin typeface="Courier New"/>
                <a:ea typeface="Courier New"/>
              </a:rPr>
              <a:t>Buke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E3A22"/>
                </a:solidFill>
                <a:effectLst/>
                <a:uFillTx/>
                <a:latin typeface="Courier New"/>
                <a:ea typeface="Courier New"/>
              </a:rPr>
              <a:t>Qumesht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4" name="Image 2" descr="preencoded.png"/>
          <p:cNvPicPr/>
          <p:nvPr/>
        </p:nvPicPr>
        <p:blipFill>
          <a:blip r:embed="rId3"/>
          <a:stretch/>
        </p:blipFill>
        <p:spPr>
          <a:xfrm>
            <a:off x="7360920" y="3218760"/>
            <a:ext cx="25560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" name="Text 12"/>
          <p:cNvSpPr/>
          <p:nvPr/>
        </p:nvSpPr>
        <p:spPr>
          <a:xfrm>
            <a:off x="7689960" y="3200400"/>
            <a:ext cx="3876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F7A38"/>
                </a:solidFill>
                <a:effectLst/>
                <a:uFillTx/>
                <a:latin typeface="Calibri"/>
                <a:ea typeface="Calibri"/>
              </a:rPr>
              <a:t>Skedar REAL (ekzekutuar)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13"/>
          <p:cNvSpPr/>
          <p:nvPr/>
        </p:nvSpPr>
        <p:spPr>
          <a:xfrm>
            <a:off x="594360" y="3977640"/>
            <a:ext cx="11018160" cy="1919880"/>
          </a:xfrm>
          <a:prstGeom prst="roundRect">
            <a:avLst>
              <a:gd name="adj" fmla="val 4286"/>
            </a:avLst>
          </a:prstGeom>
          <a:solidFill>
            <a:srgbClr val="FBED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7" name="Image 3" descr="preencoded.png"/>
          <p:cNvPicPr/>
          <p:nvPr/>
        </p:nvPicPr>
        <p:blipFill>
          <a:blip r:embed="rId4"/>
          <a:stretch/>
        </p:blipFill>
        <p:spPr>
          <a:xfrm>
            <a:off x="868680" y="422460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Text 14"/>
          <p:cNvSpPr/>
          <p:nvPr/>
        </p:nvSpPr>
        <p:spPr>
          <a:xfrm>
            <a:off x="1371600" y="4160520"/>
            <a:ext cx="100580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E njohur, apo jo?  </a:t>
            </a:r>
            <a:r>
              <a:rPr lang="en-US" sz="150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PrintWriter ka println() — pikërisht si System.out.println! I njëjti mendim, vetëm se teksti shkon në skedar në vend të terminalit.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5"/>
          <p:cNvSpPr/>
          <p:nvPr/>
        </p:nvSpPr>
        <p:spPr>
          <a:xfrm>
            <a:off x="1371600" y="525780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42033"/>
                </a:solidFill>
                <a:effectLst/>
                <a:uFillTx/>
                <a:latin typeface="Courier New"/>
                <a:ea typeface="Courier New"/>
              </a:rPr>
              <a:t>System.out.println("x")  </a:t>
            </a:r>
            <a:r>
              <a:rPr lang="en-US" sz="13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→ terminal          </a:t>
            </a:r>
            <a:r>
              <a:rPr lang="en-US" sz="1300" b="1" u="none" strike="noStrike">
                <a:solidFill>
                  <a:srgbClr val="E8730C"/>
                </a:solidFill>
                <a:effectLst/>
                <a:uFillTx/>
                <a:latin typeface="Courier New"/>
                <a:ea typeface="Courier New"/>
              </a:rPr>
              <a:t>shkrues.println("x")  </a:t>
            </a:r>
            <a:r>
              <a:rPr lang="en-US" sz="13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→ skedar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6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05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7"/>
          <p:cNvSpPr/>
          <p:nvPr/>
        </p:nvSpPr>
        <p:spPr>
          <a:xfrm>
            <a:off x="548640" y="63550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Java · Leksioni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0"/>
          <p:cNvSpPr/>
          <p:nvPr/>
        </p:nvSpPr>
        <p:spPr>
          <a:xfrm>
            <a:off x="685800" y="50292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3" name="Image 0" descr="preencoded.png"/>
          <p:cNvPicPr/>
          <p:nvPr/>
        </p:nvPicPr>
        <p:blipFill>
          <a:blip r:embed="rId1"/>
          <a:stretch/>
        </p:blipFill>
        <p:spPr>
          <a:xfrm>
            <a:off x="831960" y="6490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Text 1"/>
          <p:cNvSpPr/>
          <p:nvPr/>
        </p:nvSpPr>
        <p:spPr>
          <a:xfrm>
            <a:off x="150876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FILEWRITER(EMRI, TRUE)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2"/>
          <p:cNvSpPr/>
          <p:nvPr/>
        </p:nvSpPr>
        <p:spPr>
          <a:xfrm>
            <a:off x="1508760" y="74988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Shtimi pa fshirje: modaliteti 'append'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3"/>
          <p:cNvSpPr/>
          <p:nvPr/>
        </p:nvSpPr>
        <p:spPr>
          <a:xfrm>
            <a:off x="914400" y="1691640"/>
            <a:ext cx="6674760" cy="3323520"/>
          </a:xfrm>
          <a:prstGeom prst="roundRect">
            <a:avLst>
              <a:gd name="adj" fmla="val 2476"/>
            </a:avLst>
          </a:prstGeom>
          <a:solidFill>
            <a:srgbClr val="1B2736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4"/>
          <p:cNvSpPr/>
          <p:nvPr/>
        </p:nvSpPr>
        <p:spPr>
          <a:xfrm>
            <a:off x="1115640" y="1874520"/>
            <a:ext cx="100080" cy="10008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5"/>
          <p:cNvSpPr/>
          <p:nvPr/>
        </p:nvSpPr>
        <p:spPr>
          <a:xfrm>
            <a:off x="1316880" y="1874520"/>
            <a:ext cx="100080" cy="10008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6"/>
          <p:cNvSpPr/>
          <p:nvPr/>
        </p:nvSpPr>
        <p:spPr>
          <a:xfrm>
            <a:off x="1517760" y="1874520"/>
            <a:ext cx="100080" cy="10008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7"/>
          <p:cNvSpPr/>
          <p:nvPr/>
        </p:nvSpPr>
        <p:spPr>
          <a:xfrm>
            <a:off x="1170360" y="2148840"/>
            <a:ext cx="6217560" cy="277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import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java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io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FileWriter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import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java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io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IOException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public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class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Main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1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public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static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void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main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String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[]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args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throws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IOException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0" u="none" strike="noStrike">
                <a:solidFill>
                  <a:srgbClr val="7B8A99"/>
                </a:solidFill>
                <a:effectLst/>
                <a:uFillTx/>
                <a:latin typeface="Courier New"/>
                <a:ea typeface="Courier New"/>
              </a:rPr>
              <a:t>// true = SHTON ne fund, NUK e fshin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FileWriter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shkrues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new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FileWriter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"ditari.txt"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,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true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shkrues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write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"Hyrje e re ne ditar\n"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shkrues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close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();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8"/>
          <p:cNvSpPr/>
          <p:nvPr/>
        </p:nvSpPr>
        <p:spPr>
          <a:xfrm>
            <a:off x="7863840" y="1828800"/>
            <a:ext cx="3702960" cy="1535760"/>
          </a:xfrm>
          <a:prstGeom prst="roundRect">
            <a:avLst>
              <a:gd name="adj" fmla="val 3571"/>
            </a:avLst>
          </a:prstGeom>
          <a:solidFill>
            <a:srgbClr val="FBFDF6"/>
          </a:solidFill>
          <a:ln w="15875">
            <a:solidFill>
              <a:srgbClr val="CBD8B8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9"/>
          <p:cNvSpPr/>
          <p:nvPr/>
        </p:nvSpPr>
        <p:spPr>
          <a:xfrm>
            <a:off x="8028360" y="1810440"/>
            <a:ext cx="2377080" cy="383760"/>
          </a:xfrm>
          <a:prstGeom prst="roundRect">
            <a:avLst>
              <a:gd name="adj" fmla="val 11905"/>
            </a:avLst>
          </a:prstGeom>
          <a:solidFill>
            <a:srgbClr val="5B8C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3" name="Image 1" descr="preencoded.png"/>
          <p:cNvPicPr/>
          <p:nvPr/>
        </p:nvPicPr>
        <p:blipFill>
          <a:blip r:embed="rId2"/>
          <a:stretch/>
        </p:blipFill>
        <p:spPr>
          <a:xfrm>
            <a:off x="8138160" y="188352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" name="Text 10"/>
          <p:cNvSpPr/>
          <p:nvPr/>
        </p:nvSpPr>
        <p:spPr>
          <a:xfrm>
            <a:off x="8412480" y="1810440"/>
            <a:ext cx="1919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ditari.txt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1"/>
          <p:cNvSpPr/>
          <p:nvPr/>
        </p:nvSpPr>
        <p:spPr>
          <a:xfrm>
            <a:off x="8138160" y="2331720"/>
            <a:ext cx="320004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E3A22"/>
                </a:solidFill>
                <a:effectLst/>
                <a:uFillTx/>
                <a:latin typeface="Courier New"/>
                <a:ea typeface="Courier New"/>
              </a:rPr>
              <a:t>Hyrje e re ne ditar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E3A22"/>
                </a:solidFill>
                <a:effectLst/>
                <a:uFillTx/>
                <a:latin typeface="Courier New"/>
                <a:ea typeface="Courier New"/>
              </a:rPr>
              <a:t>Hyrje e re ne ditar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E3A22"/>
                </a:solidFill>
                <a:effectLst/>
                <a:uFillTx/>
                <a:latin typeface="Courier New"/>
                <a:ea typeface="Courier New"/>
              </a:rPr>
              <a:t>Hyrje e re ne ditar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6" name="Image 2" descr="preencoded.png"/>
          <p:cNvPicPr/>
          <p:nvPr/>
        </p:nvPicPr>
        <p:blipFill>
          <a:blip r:embed="rId3"/>
          <a:stretch/>
        </p:blipFill>
        <p:spPr>
          <a:xfrm>
            <a:off x="7863840" y="3264480"/>
            <a:ext cx="25560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" name="Text 12"/>
          <p:cNvSpPr/>
          <p:nvPr/>
        </p:nvSpPr>
        <p:spPr>
          <a:xfrm>
            <a:off x="8192880" y="3246120"/>
            <a:ext cx="3373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F7A38"/>
                </a:solidFill>
                <a:effectLst/>
                <a:uFillTx/>
                <a:latin typeface="Calibri"/>
                <a:ea typeface="Calibri"/>
              </a:rPr>
              <a:t>Pas 3 ekzekutimeve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13"/>
          <p:cNvSpPr/>
          <p:nvPr/>
        </p:nvSpPr>
        <p:spPr>
          <a:xfrm>
            <a:off x="7863840" y="3657600"/>
            <a:ext cx="3702960" cy="2194200"/>
          </a:xfrm>
          <a:prstGeom prst="roundRect">
            <a:avLst>
              <a:gd name="adj" fmla="val 4167"/>
            </a:avLst>
          </a:prstGeom>
          <a:solidFill>
            <a:srgbClr val="3A2430"/>
          </a:solidFill>
          <a:ln w="15875">
            <a:solidFill>
              <a:srgbClr val="C065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9" name="Image 3" descr="preencoded.png"/>
          <p:cNvPicPr/>
          <p:nvPr/>
        </p:nvPicPr>
        <p:blipFill>
          <a:blip r:embed="rId4"/>
          <a:stretch/>
        </p:blipFill>
        <p:spPr>
          <a:xfrm>
            <a:off x="8092440" y="3840480"/>
            <a:ext cx="328680" cy="3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Text 14"/>
          <p:cNvSpPr/>
          <p:nvPr/>
        </p:nvSpPr>
        <p:spPr>
          <a:xfrm>
            <a:off x="8503920" y="3840480"/>
            <a:ext cx="2742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08A7E"/>
                </a:solidFill>
                <a:effectLst/>
                <a:uFillTx/>
                <a:latin typeface="Calibri"/>
                <a:ea typeface="Calibri"/>
              </a:rPr>
              <a:t>Ndryshimi kyç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5"/>
          <p:cNvSpPr/>
          <p:nvPr/>
        </p:nvSpPr>
        <p:spPr>
          <a:xfrm>
            <a:off x="8092440" y="4251960"/>
            <a:ext cx="329148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r>
              <a:rPr lang="en-US" sz="1100" b="1" u="none" strike="noStrike">
                <a:solidFill>
                  <a:srgbClr val="F0C6BE"/>
                </a:solidFill>
                <a:effectLst/>
                <a:uFillTx/>
                <a:latin typeface="Courier New"/>
                <a:ea typeface="Courier New"/>
              </a:rPr>
              <a:t>new FileWriter("f")  </a:t>
            </a:r>
            <a:r>
              <a:rPr lang="en-US" sz="1100" b="0" u="none" strike="noStrike">
                <a:solidFill>
                  <a:srgbClr val="F0C6BE"/>
                </a:solidFill>
                <a:effectLst/>
                <a:uFillTx/>
                <a:latin typeface="Calibri"/>
                <a:ea typeface="Calibri"/>
              </a:rPr>
              <a:t>→ FSHIN çdo herë dhe fillon nga e para.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9FE0AF"/>
                </a:solidFill>
                <a:effectLst/>
                <a:uFillTx/>
                <a:latin typeface="Courier New"/>
                <a:ea typeface="Courier New"/>
              </a:rPr>
              <a:t>new FileWriter("f", true)  </a:t>
            </a:r>
            <a:r>
              <a:rPr lang="en-US" sz="1100" b="0" u="none" strike="noStrike">
                <a:solidFill>
                  <a:srgbClr val="9FE0AF"/>
                </a:solidFill>
                <a:effectLst/>
                <a:uFillTx/>
                <a:latin typeface="Calibri"/>
                <a:ea typeface="Calibri"/>
              </a:rPr>
              <a:t>→ SHTON në fund, ruan të vjetrat.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6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497AC"/>
                </a:solidFill>
                <a:effectLst/>
                <a:uFillTx/>
                <a:latin typeface="Calibri"/>
                <a:ea typeface="Calibri"/>
              </a:rPr>
              <a:t>06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0"/>
          <p:cNvSpPr/>
          <p:nvPr/>
        </p:nvSpPr>
        <p:spPr>
          <a:xfrm>
            <a:off x="548640" y="45720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4" name="Image 0" descr="preencoded.png"/>
          <p:cNvPicPr/>
          <p:nvPr/>
        </p:nvPicPr>
        <p:blipFill>
          <a:blip r:embed="rId1"/>
          <a:stretch/>
        </p:blipFill>
        <p:spPr>
          <a:xfrm>
            <a:off x="694800" y="6033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5" name="Text 1"/>
          <p:cNvSpPr/>
          <p:nvPr/>
        </p:nvSpPr>
        <p:spPr>
          <a:xfrm>
            <a:off x="1371600" y="457200"/>
            <a:ext cx="9600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LIDHJA ME LEKSIONIN 10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2"/>
          <p:cNvSpPr/>
          <p:nvPr/>
        </p:nvSpPr>
        <p:spPr>
          <a:xfrm>
            <a:off x="137160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Skedarët mund të dështojnë: IOException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3"/>
          <p:cNvSpPr/>
          <p:nvPr/>
        </p:nvSpPr>
        <p:spPr>
          <a:xfrm>
            <a:off x="594360" y="1691640"/>
            <a:ext cx="6400440" cy="2541600"/>
          </a:xfrm>
          <a:prstGeom prst="roundRect">
            <a:avLst>
              <a:gd name="adj" fmla="val 3237"/>
            </a:avLst>
          </a:prstGeom>
          <a:solidFill>
            <a:srgbClr val="1B2736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4"/>
          <p:cNvSpPr/>
          <p:nvPr/>
        </p:nvSpPr>
        <p:spPr>
          <a:xfrm>
            <a:off x="795600" y="1874520"/>
            <a:ext cx="100080" cy="10008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5"/>
          <p:cNvSpPr/>
          <p:nvPr/>
        </p:nvSpPr>
        <p:spPr>
          <a:xfrm>
            <a:off x="996840" y="1874520"/>
            <a:ext cx="100080" cy="10008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6"/>
          <p:cNvSpPr/>
          <p:nvPr/>
        </p:nvSpPr>
        <p:spPr>
          <a:xfrm>
            <a:off x="1197720" y="1874520"/>
            <a:ext cx="100080" cy="10008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7"/>
          <p:cNvSpPr/>
          <p:nvPr/>
        </p:nvSpPr>
        <p:spPr>
          <a:xfrm>
            <a:off x="850320" y="2148840"/>
            <a:ext cx="5943240" cy="19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try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FileWriter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shkrues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new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FileWriter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"raporti.txt"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shkrues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write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"Raporti u ruajt."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shkrues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close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();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System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out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println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"Gjithcka shkoi mire."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catch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IOException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e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System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out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println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"Gabim: "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+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e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getMessage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());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8"/>
          <p:cNvSpPr/>
          <p:nvPr/>
        </p:nvSpPr>
        <p:spPr>
          <a:xfrm>
            <a:off x="7315200" y="1783080"/>
            <a:ext cx="4251600" cy="1691280"/>
          </a:xfrm>
          <a:prstGeom prst="roundRect">
            <a:avLst>
              <a:gd name="adj" fmla="val 4865"/>
            </a:avLst>
          </a:prstGeom>
          <a:solidFill>
            <a:srgbClr val="FBEAE7"/>
          </a:solidFill>
          <a:ln w="15875">
            <a:solidFill>
              <a:srgbClr val="E8A9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3" name="Image 1" descr="preencoded.png"/>
          <p:cNvPicPr/>
          <p:nvPr/>
        </p:nvPicPr>
        <p:blipFill>
          <a:blip r:embed="rId2"/>
          <a:stretch/>
        </p:blipFill>
        <p:spPr>
          <a:xfrm>
            <a:off x="7543800" y="1947600"/>
            <a:ext cx="310680" cy="31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4" name="Text 9"/>
          <p:cNvSpPr/>
          <p:nvPr/>
        </p:nvSpPr>
        <p:spPr>
          <a:xfrm>
            <a:off x="7936920" y="1938600"/>
            <a:ext cx="33829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B23A2C"/>
                </a:solidFill>
                <a:effectLst/>
                <a:uFillTx/>
                <a:latin typeface="Calibri"/>
                <a:ea typeface="Calibri"/>
              </a:rPr>
              <a:t>Kur dosja s'ekziston (REAL)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0"/>
          <p:cNvSpPr/>
          <p:nvPr/>
        </p:nvSpPr>
        <p:spPr>
          <a:xfrm>
            <a:off x="7571160" y="2331720"/>
            <a:ext cx="3794400" cy="99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A3527"/>
                </a:solidFill>
                <a:effectLst/>
                <a:uFillTx/>
                <a:latin typeface="Courier New"/>
                <a:ea typeface="Courier New"/>
              </a:rPr>
              <a:t>Gabim: /dosje_qe_smungon/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A3527"/>
                </a:solidFill>
                <a:effectLst/>
                <a:uFillTx/>
                <a:latin typeface="Courier New"/>
                <a:ea typeface="Courier New"/>
              </a:rPr>
              <a:t>skedar.txt (No such file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A3527"/>
                </a:solidFill>
                <a:effectLst/>
                <a:uFillTx/>
                <a:latin typeface="Courier New"/>
                <a:ea typeface="Courier New"/>
              </a:rPr>
              <a:t>or directory)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1"/>
          <p:cNvSpPr/>
          <p:nvPr/>
        </p:nvSpPr>
        <p:spPr>
          <a:xfrm>
            <a:off x="7315200" y="3703320"/>
            <a:ext cx="425160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499"/>
              </a:spcAft>
              <a:buClr>
                <a:srgbClr val="142033"/>
              </a:buClr>
              <a:buFont typeface="Symbol" charset="2"/>
              <a:buChar char=""/>
            </a:pPr>
            <a:r>
              <a:rPr lang="en-US" sz="12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Pse mund të dështojë?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499"/>
              </a:spcAft>
              <a:buClr>
                <a:srgbClr val="26313F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Disku plot, dosje që s'ekziston, leje të munguara, skedar i mbrojtur...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499"/>
              </a:spcAft>
              <a:buClr>
                <a:srgbClr val="E8730C"/>
              </a:buClr>
              <a:buFont typeface="Symbol" charset="2"/>
              <a:buChar char=""/>
            </a:pPr>
            <a:r>
              <a:rPr lang="en-US" sz="120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Java na DETYRON ta trajtojmë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499"/>
              </a:spcAft>
              <a:buClr>
                <a:srgbClr val="26313F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IOException është 'checked' — ose try-catch, ose throws.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12"/>
          <p:cNvSpPr/>
          <p:nvPr/>
        </p:nvSpPr>
        <p:spPr>
          <a:xfrm>
            <a:off x="594360" y="5166360"/>
            <a:ext cx="6400440" cy="776880"/>
          </a:xfrm>
          <a:prstGeom prst="roundRect">
            <a:avLst>
              <a:gd name="adj" fmla="val 9412"/>
            </a:avLst>
          </a:prstGeom>
          <a:solidFill>
            <a:srgbClr val="FBED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3"/>
          <p:cNvSpPr/>
          <p:nvPr/>
        </p:nvSpPr>
        <p:spPr>
          <a:xfrm>
            <a:off x="868680" y="5239440"/>
            <a:ext cx="5943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Kujtoni L10:  </a:t>
            </a:r>
            <a:r>
              <a:rPr lang="en-US" sz="12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i njëjti try-catch — vetëm lloji ndryshon (IOException). Gabimet s'janë koncept i ri!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4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07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5"/>
          <p:cNvSpPr/>
          <p:nvPr/>
        </p:nvSpPr>
        <p:spPr>
          <a:xfrm>
            <a:off x="548640" y="63550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Java · Leksioni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0"/>
          <p:cNvSpPr/>
          <p:nvPr/>
        </p:nvSpPr>
        <p:spPr>
          <a:xfrm>
            <a:off x="685800" y="50292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2" name="Image 0" descr="preencoded.png"/>
          <p:cNvPicPr/>
          <p:nvPr/>
        </p:nvPicPr>
        <p:blipFill>
          <a:blip r:embed="rId1"/>
          <a:stretch/>
        </p:blipFill>
        <p:spPr>
          <a:xfrm>
            <a:off x="831960" y="6490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3" name="Text 1"/>
          <p:cNvSpPr/>
          <p:nvPr/>
        </p:nvSpPr>
        <p:spPr>
          <a:xfrm>
            <a:off x="150876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MËNYRA E SIGURT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2"/>
          <p:cNvSpPr/>
          <p:nvPr/>
        </p:nvSpPr>
        <p:spPr>
          <a:xfrm>
            <a:off x="1508760" y="74988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Mbyllja automatike: try-with-resources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3"/>
          <p:cNvSpPr/>
          <p:nvPr/>
        </p:nvSpPr>
        <p:spPr>
          <a:xfrm>
            <a:off x="914400" y="1737360"/>
            <a:ext cx="6766200" cy="2541600"/>
          </a:xfrm>
          <a:prstGeom prst="roundRect">
            <a:avLst>
              <a:gd name="adj" fmla="val 3237"/>
            </a:avLst>
          </a:prstGeom>
          <a:solidFill>
            <a:srgbClr val="1B2736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4"/>
          <p:cNvSpPr/>
          <p:nvPr/>
        </p:nvSpPr>
        <p:spPr>
          <a:xfrm>
            <a:off x="1115640" y="1920240"/>
            <a:ext cx="100080" cy="10008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5"/>
          <p:cNvSpPr/>
          <p:nvPr/>
        </p:nvSpPr>
        <p:spPr>
          <a:xfrm>
            <a:off x="1316880" y="1920240"/>
            <a:ext cx="100080" cy="10008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6"/>
          <p:cNvSpPr/>
          <p:nvPr/>
        </p:nvSpPr>
        <p:spPr>
          <a:xfrm>
            <a:off x="1517760" y="1920240"/>
            <a:ext cx="100080" cy="10008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7"/>
          <p:cNvSpPr/>
          <p:nvPr/>
        </p:nvSpPr>
        <p:spPr>
          <a:xfrm>
            <a:off x="1170360" y="2194560"/>
            <a:ext cx="6309000" cy="19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B8A99"/>
                </a:solidFill>
                <a:effectLst/>
                <a:uFillTx/>
                <a:latin typeface="Courier New"/>
                <a:ea typeface="Courier New"/>
              </a:rPr>
              <a:t>// Skedari mbyllet VETE ne fund - edhe nese ka gabim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try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PrintWriter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shkrues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new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PrintWriter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"nota.txt"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))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shkrues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println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"Ana: 9"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shkrues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println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"Beni: 7"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System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out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println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"U ruajt (dhe u mbyll vete)."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catch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IOException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e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System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out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println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"Gabim: "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+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e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getMessage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());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8"/>
          <p:cNvSpPr/>
          <p:nvPr/>
        </p:nvSpPr>
        <p:spPr>
          <a:xfrm>
            <a:off x="8001000" y="1920240"/>
            <a:ext cx="3565800" cy="1298160"/>
          </a:xfrm>
          <a:prstGeom prst="roundRect">
            <a:avLst>
              <a:gd name="adj" fmla="val 4225"/>
            </a:avLst>
          </a:prstGeom>
          <a:solidFill>
            <a:srgbClr val="FBFDF6"/>
          </a:solidFill>
          <a:ln w="15875">
            <a:solidFill>
              <a:srgbClr val="CBD8B8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9"/>
          <p:cNvSpPr/>
          <p:nvPr/>
        </p:nvSpPr>
        <p:spPr>
          <a:xfrm>
            <a:off x="8165520" y="1901880"/>
            <a:ext cx="2377080" cy="383760"/>
          </a:xfrm>
          <a:prstGeom prst="roundRect">
            <a:avLst>
              <a:gd name="adj" fmla="val 11905"/>
            </a:avLst>
          </a:prstGeom>
          <a:solidFill>
            <a:srgbClr val="5B8C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2" name="Image 1" descr="preencoded.png"/>
          <p:cNvPicPr/>
          <p:nvPr/>
        </p:nvPicPr>
        <p:blipFill>
          <a:blip r:embed="rId2"/>
          <a:stretch/>
        </p:blipFill>
        <p:spPr>
          <a:xfrm>
            <a:off x="8275320" y="197496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" name="Text 10"/>
          <p:cNvSpPr/>
          <p:nvPr/>
        </p:nvSpPr>
        <p:spPr>
          <a:xfrm>
            <a:off x="8549640" y="1901880"/>
            <a:ext cx="1919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nota.txt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1"/>
          <p:cNvSpPr/>
          <p:nvPr/>
        </p:nvSpPr>
        <p:spPr>
          <a:xfrm>
            <a:off x="8275320" y="2423160"/>
            <a:ext cx="3062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E3A22"/>
                </a:solidFill>
                <a:effectLst/>
                <a:uFillTx/>
                <a:latin typeface="Courier New"/>
                <a:ea typeface="Courier New"/>
              </a:rPr>
              <a:t>Ana: 9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E3A22"/>
                </a:solidFill>
                <a:effectLst/>
                <a:uFillTx/>
                <a:latin typeface="Courier New"/>
                <a:ea typeface="Courier New"/>
              </a:rPr>
              <a:t>Beni: 7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5" name="Image 2" descr="preencoded.png"/>
          <p:cNvPicPr/>
          <p:nvPr/>
        </p:nvPicPr>
        <p:blipFill>
          <a:blip r:embed="rId3"/>
          <a:stretch/>
        </p:blipFill>
        <p:spPr>
          <a:xfrm>
            <a:off x="8001000" y="3127320"/>
            <a:ext cx="25560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6" name="Text 12"/>
          <p:cNvSpPr/>
          <p:nvPr/>
        </p:nvSpPr>
        <p:spPr>
          <a:xfrm>
            <a:off x="8330040" y="3108960"/>
            <a:ext cx="3236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F7A38"/>
                </a:solidFill>
                <a:effectLst/>
                <a:uFillTx/>
                <a:latin typeface="Calibri"/>
                <a:ea typeface="Calibri"/>
              </a:rPr>
              <a:t>Ruajtur &amp; mbyllur vetë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13"/>
          <p:cNvSpPr/>
          <p:nvPr/>
        </p:nvSpPr>
        <p:spPr>
          <a:xfrm>
            <a:off x="8001000" y="3520440"/>
            <a:ext cx="3565800" cy="2331360"/>
          </a:xfrm>
          <a:prstGeom prst="roundRect">
            <a:avLst>
              <a:gd name="adj" fmla="val 3922"/>
            </a:avLst>
          </a:prstGeom>
          <a:solidFill>
            <a:srgbClr val="1E3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4"/>
          <p:cNvSpPr/>
          <p:nvPr/>
        </p:nvSpPr>
        <p:spPr>
          <a:xfrm>
            <a:off x="8247960" y="3657600"/>
            <a:ext cx="310860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Vëreni: s'ka .close()!  </a:t>
            </a:r>
            <a:r>
              <a:rPr lang="en-US" sz="1200" b="0" u="none" strike="noStrike">
                <a:solidFill>
                  <a:srgbClr val="D7E0EC"/>
                </a:solidFill>
                <a:effectLst/>
                <a:uFillTx/>
                <a:latin typeface="Calibri"/>
                <a:ea typeface="Calibri"/>
              </a:rPr>
              <a:t>Kur skedari shkruhet brenda try(...), Java e mbyll VETË në fund — edhe nëse ndodh një gabim në mes. Kjo shmang gabimin klasik: harresën e close().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5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497AC"/>
                </a:solidFill>
                <a:effectLst/>
                <a:uFillTx/>
                <a:latin typeface="Calibri"/>
                <a:ea typeface="Calibri"/>
              </a:rPr>
              <a:t>08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0"/>
          <p:cNvSpPr/>
          <p:nvPr/>
        </p:nvSpPr>
        <p:spPr>
          <a:xfrm>
            <a:off x="548640" y="45720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1" name="Image 0" descr="preencoded.png"/>
          <p:cNvPicPr/>
          <p:nvPr/>
        </p:nvPicPr>
        <p:blipFill>
          <a:blip r:embed="rId1"/>
          <a:stretch/>
        </p:blipFill>
        <p:spPr>
          <a:xfrm>
            <a:off x="694800" y="6033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2" name="Text 1"/>
          <p:cNvSpPr/>
          <p:nvPr/>
        </p:nvSpPr>
        <p:spPr>
          <a:xfrm>
            <a:off x="1371600" y="457200"/>
            <a:ext cx="9600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NGA DISKU TE PROGRAMI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2"/>
          <p:cNvSpPr/>
          <p:nvPr/>
        </p:nvSpPr>
        <p:spPr>
          <a:xfrm>
            <a:off x="137160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Leximi i skedarit: Scanner mbi File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3"/>
          <p:cNvSpPr/>
          <p:nvPr/>
        </p:nvSpPr>
        <p:spPr>
          <a:xfrm>
            <a:off x="594360" y="1691640"/>
            <a:ext cx="6400440" cy="2541600"/>
          </a:xfrm>
          <a:prstGeom prst="roundRect">
            <a:avLst>
              <a:gd name="adj" fmla="val 3237"/>
            </a:avLst>
          </a:prstGeom>
          <a:solidFill>
            <a:srgbClr val="1B2736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4"/>
          <p:cNvSpPr/>
          <p:nvPr/>
        </p:nvSpPr>
        <p:spPr>
          <a:xfrm>
            <a:off x="795600" y="1874520"/>
            <a:ext cx="100080" cy="10008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5"/>
          <p:cNvSpPr/>
          <p:nvPr/>
        </p:nvSpPr>
        <p:spPr>
          <a:xfrm>
            <a:off x="996840" y="1874520"/>
            <a:ext cx="100080" cy="10008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6"/>
          <p:cNvSpPr/>
          <p:nvPr/>
        </p:nvSpPr>
        <p:spPr>
          <a:xfrm>
            <a:off x="1197720" y="1874520"/>
            <a:ext cx="100080" cy="10008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7"/>
          <p:cNvSpPr/>
          <p:nvPr/>
        </p:nvSpPr>
        <p:spPr>
          <a:xfrm>
            <a:off x="850320" y="2148840"/>
            <a:ext cx="5943240" cy="19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File</a:t>
            </a:r>
            <a:r>
              <a:rPr lang="en-US" sz="13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skedari </a:t>
            </a:r>
            <a:r>
              <a:rPr lang="en-US" sz="13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3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new</a:t>
            </a:r>
            <a:r>
              <a:rPr lang="en-US" sz="13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File</a:t>
            </a:r>
            <a:r>
              <a:rPr lang="en-US" sz="13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30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"lista.txt"</a:t>
            </a:r>
            <a:r>
              <a:rPr lang="en-US" sz="13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Scanner</a:t>
            </a:r>
            <a:r>
              <a:rPr lang="en-US" sz="13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lexues </a:t>
            </a:r>
            <a:r>
              <a:rPr lang="en-US" sz="13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3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new</a:t>
            </a:r>
            <a:r>
              <a:rPr lang="en-US" sz="13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Scanner</a:t>
            </a:r>
            <a:r>
              <a:rPr lang="en-US" sz="13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3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skedari</a:t>
            </a:r>
            <a:r>
              <a:rPr lang="en-US" sz="13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while</a:t>
            </a:r>
            <a:r>
              <a:rPr lang="en-US" sz="13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3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lexues</a:t>
            </a:r>
            <a:r>
              <a:rPr lang="en-US" sz="13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3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hasNextLine</a:t>
            </a:r>
            <a:r>
              <a:rPr lang="en-US" sz="13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())</a:t>
            </a:r>
            <a:r>
              <a:rPr lang="en-US" sz="13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3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String</a:t>
            </a:r>
            <a:r>
              <a:rPr lang="en-US" sz="13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rreshti </a:t>
            </a:r>
            <a:r>
              <a:rPr lang="en-US" sz="13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3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lexues</a:t>
            </a:r>
            <a:r>
              <a:rPr lang="en-US" sz="13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3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nextLine</a:t>
            </a:r>
            <a:r>
              <a:rPr lang="en-US" sz="13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();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3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System</a:t>
            </a:r>
            <a:r>
              <a:rPr lang="en-US" sz="13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3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out</a:t>
            </a:r>
            <a:r>
              <a:rPr lang="en-US" sz="13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3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println</a:t>
            </a:r>
            <a:r>
              <a:rPr lang="en-US" sz="13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30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"Lexova: "</a:t>
            </a:r>
            <a:r>
              <a:rPr lang="en-US" sz="13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+</a:t>
            </a:r>
            <a:r>
              <a:rPr lang="en-US" sz="13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rreshti</a:t>
            </a:r>
            <a:r>
              <a:rPr lang="en-US" sz="13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lexues</a:t>
            </a:r>
            <a:r>
              <a:rPr lang="en-US" sz="13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3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close</a:t>
            </a:r>
            <a:r>
              <a:rPr lang="en-US" sz="13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();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8"/>
          <p:cNvSpPr/>
          <p:nvPr/>
        </p:nvSpPr>
        <p:spPr>
          <a:xfrm>
            <a:off x="7360920" y="1783080"/>
            <a:ext cx="4205880" cy="1279800"/>
          </a:xfrm>
          <a:prstGeom prst="roundRect">
            <a:avLst>
              <a:gd name="adj" fmla="val 4286"/>
            </a:avLst>
          </a:prstGeom>
          <a:solidFill>
            <a:srgbClr val="FBFDF6"/>
          </a:solidFill>
          <a:ln w="15875">
            <a:solidFill>
              <a:srgbClr val="CBD8B8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9"/>
          <p:cNvSpPr/>
          <p:nvPr/>
        </p:nvSpPr>
        <p:spPr>
          <a:xfrm>
            <a:off x="7525440" y="1764720"/>
            <a:ext cx="2377080" cy="383760"/>
          </a:xfrm>
          <a:prstGeom prst="roundRect">
            <a:avLst>
              <a:gd name="adj" fmla="val 11905"/>
            </a:avLst>
          </a:prstGeom>
          <a:solidFill>
            <a:srgbClr val="5B8C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1" name="Image 1" descr="preencoded.png"/>
          <p:cNvPicPr/>
          <p:nvPr/>
        </p:nvPicPr>
        <p:blipFill>
          <a:blip r:embed="rId2"/>
          <a:stretch/>
        </p:blipFill>
        <p:spPr>
          <a:xfrm>
            <a:off x="7635240" y="183780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2" name="Text 10"/>
          <p:cNvSpPr/>
          <p:nvPr/>
        </p:nvSpPr>
        <p:spPr>
          <a:xfrm>
            <a:off x="7909560" y="1764720"/>
            <a:ext cx="1919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lista.txt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1"/>
          <p:cNvSpPr/>
          <p:nvPr/>
        </p:nvSpPr>
        <p:spPr>
          <a:xfrm>
            <a:off x="7635240" y="2286000"/>
            <a:ext cx="3702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E3A22"/>
                </a:solidFill>
                <a:effectLst/>
                <a:uFillTx/>
                <a:latin typeface="Courier New"/>
                <a:ea typeface="Courier New"/>
              </a:rPr>
              <a:t>Molle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E3A22"/>
                </a:solidFill>
                <a:effectLst/>
                <a:uFillTx/>
                <a:latin typeface="Courier New"/>
                <a:ea typeface="Courier New"/>
              </a:rPr>
              <a:t>Buke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E3A22"/>
                </a:solidFill>
                <a:effectLst/>
                <a:uFillTx/>
                <a:latin typeface="Courier New"/>
                <a:ea typeface="Courier New"/>
              </a:rPr>
              <a:t>Qumesht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4" name="Image 2" descr="preencoded.png"/>
          <p:cNvPicPr/>
          <p:nvPr/>
        </p:nvPicPr>
        <p:blipFill>
          <a:blip r:embed="rId3"/>
          <a:stretch/>
        </p:blipFill>
        <p:spPr>
          <a:xfrm>
            <a:off x="9144000" y="31546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5" name="Shape 12"/>
          <p:cNvSpPr/>
          <p:nvPr/>
        </p:nvSpPr>
        <p:spPr>
          <a:xfrm>
            <a:off x="7360920" y="3611880"/>
            <a:ext cx="4205880" cy="1371240"/>
          </a:xfrm>
          <a:prstGeom prst="roundRect">
            <a:avLst>
              <a:gd name="adj" fmla="val 5333"/>
            </a:avLst>
          </a:prstGeom>
          <a:solidFill>
            <a:srgbClr val="E9F4EC"/>
          </a:solidFill>
          <a:ln w="12700">
            <a:solidFill>
              <a:srgbClr val="BFE0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6" name="Image 3" descr="preencoded.png"/>
          <p:cNvPicPr/>
          <p:nvPr/>
        </p:nvPicPr>
        <p:blipFill>
          <a:blip r:embed="rId4"/>
          <a:stretch/>
        </p:blipFill>
        <p:spPr>
          <a:xfrm>
            <a:off x="7589520" y="3749040"/>
            <a:ext cx="25560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7" name="Text 13"/>
          <p:cNvSpPr/>
          <p:nvPr/>
        </p:nvSpPr>
        <p:spPr>
          <a:xfrm>
            <a:off x="7918560" y="3730680"/>
            <a:ext cx="3602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F7A38"/>
                </a:solidFill>
                <a:effectLst/>
                <a:uFillTx/>
                <a:latin typeface="Calibri"/>
                <a:ea typeface="Calibri"/>
              </a:rPr>
              <a:t>Dalja reale në terminal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4"/>
          <p:cNvSpPr/>
          <p:nvPr/>
        </p:nvSpPr>
        <p:spPr>
          <a:xfrm>
            <a:off x="7635240" y="4069080"/>
            <a:ext cx="3748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16B33"/>
                </a:solidFill>
                <a:effectLst/>
                <a:uFillTx/>
                <a:latin typeface="Courier New"/>
                <a:ea typeface="Courier New"/>
              </a:rPr>
              <a:t>Lexova: Molle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16B33"/>
                </a:solidFill>
                <a:effectLst/>
                <a:uFillTx/>
                <a:latin typeface="Courier New"/>
                <a:ea typeface="Courier New"/>
              </a:rPr>
              <a:t>Lexova: Buke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16B33"/>
                </a:solidFill>
                <a:effectLst/>
                <a:uFillTx/>
                <a:latin typeface="Courier New"/>
                <a:ea typeface="Courier New"/>
              </a:rPr>
              <a:t>Lexova: Qumesht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15"/>
          <p:cNvSpPr/>
          <p:nvPr/>
        </p:nvSpPr>
        <p:spPr>
          <a:xfrm>
            <a:off x="594360" y="5120640"/>
            <a:ext cx="6400440" cy="822600"/>
          </a:xfrm>
          <a:prstGeom prst="roundRect">
            <a:avLst>
              <a:gd name="adj" fmla="val 8889"/>
            </a:avLst>
          </a:prstGeom>
          <a:solidFill>
            <a:srgbClr val="F2F5F9"/>
          </a:solidFill>
          <a:ln w="12700">
            <a:solidFill>
              <a:srgbClr val="DB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6"/>
          <p:cNvSpPr/>
          <p:nvPr/>
        </p:nvSpPr>
        <p:spPr>
          <a:xfrm>
            <a:off x="868680" y="5193720"/>
            <a:ext cx="5943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E njohur nga L5!  </a:t>
            </a:r>
            <a:r>
              <a:rPr lang="en-US" sz="12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I njëjti Scanner që lexonte tastierën — vetëm se tani lexon një File. hasNextLine() + nextLine() si te sentinel-at.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7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09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8"/>
          <p:cNvSpPr/>
          <p:nvPr/>
        </p:nvSpPr>
        <p:spPr>
          <a:xfrm>
            <a:off x="548640" y="63550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Java · Leksioni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Shape 0"/>
          <p:cNvSpPr/>
          <p:nvPr/>
        </p:nvSpPr>
        <p:spPr>
          <a:xfrm>
            <a:off x="685800" y="50292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4" name="Image 0" descr="preencoded.png"/>
          <p:cNvPicPr/>
          <p:nvPr/>
        </p:nvPicPr>
        <p:blipFill>
          <a:blip r:embed="rId1"/>
          <a:stretch/>
        </p:blipFill>
        <p:spPr>
          <a:xfrm>
            <a:off x="831960" y="6490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5" name="Text 1"/>
          <p:cNvSpPr/>
          <p:nvPr/>
        </p:nvSpPr>
        <p:spPr>
          <a:xfrm>
            <a:off x="150876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DRITARJA TAKON DISKUN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2"/>
          <p:cNvSpPr/>
          <p:nvPr/>
        </p:nvSpPr>
        <p:spPr>
          <a:xfrm>
            <a:off x="1508760" y="74988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GUI + skedar: Shënimet që ruhen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3"/>
          <p:cNvSpPr/>
          <p:nvPr/>
        </p:nvSpPr>
        <p:spPr>
          <a:xfrm>
            <a:off x="914400" y="1645920"/>
            <a:ext cx="6674760" cy="3844800"/>
          </a:xfrm>
          <a:prstGeom prst="roundRect">
            <a:avLst>
              <a:gd name="adj" fmla="val 2140"/>
            </a:avLst>
          </a:prstGeom>
          <a:solidFill>
            <a:srgbClr val="1B2736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4"/>
          <p:cNvSpPr/>
          <p:nvPr/>
        </p:nvSpPr>
        <p:spPr>
          <a:xfrm>
            <a:off x="1115640" y="1828800"/>
            <a:ext cx="100080" cy="10008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5"/>
          <p:cNvSpPr/>
          <p:nvPr/>
        </p:nvSpPr>
        <p:spPr>
          <a:xfrm>
            <a:off x="1316880" y="1828800"/>
            <a:ext cx="100080" cy="10008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6"/>
          <p:cNvSpPr/>
          <p:nvPr/>
        </p:nvSpPr>
        <p:spPr>
          <a:xfrm>
            <a:off x="1517760" y="1828800"/>
            <a:ext cx="100080" cy="10008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7"/>
          <p:cNvSpPr/>
          <p:nvPr/>
        </p:nvSpPr>
        <p:spPr>
          <a:xfrm>
            <a:off x="1170360" y="2103120"/>
            <a:ext cx="6217560" cy="329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JTextArea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zona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new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JTextArea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();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JButton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ruaj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new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JButton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"Ruaj ne skedar"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ruaj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addActionListener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e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-&gt;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try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FileWriter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shkrues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     </a:t>
            </a:r>
            <a:r>
              <a:rPr lang="en-US" sz="12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new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FileWriter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"shenimet.txt"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))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shkrues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write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zona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getText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());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2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JOptionPane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showMessageDialog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dritarja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,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"U ruajt!"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catch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IOException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ex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2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JOptionPane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showMessageDialog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    dritarja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,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"Gabim: "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+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ex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getMessage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());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});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8"/>
          <p:cNvSpPr/>
          <p:nvPr/>
        </p:nvSpPr>
        <p:spPr>
          <a:xfrm>
            <a:off x="7863840" y="1783080"/>
            <a:ext cx="3702960" cy="1965600"/>
          </a:xfrm>
          <a:prstGeom prst="rect">
            <a:avLst/>
          </a:prstGeom>
          <a:solidFill>
            <a:srgbClr val="ECECEC"/>
          </a:solidFill>
          <a:ln w="12700">
            <a:solidFill>
              <a:srgbClr val="6B7480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9"/>
          <p:cNvSpPr/>
          <p:nvPr/>
        </p:nvSpPr>
        <p:spPr>
          <a:xfrm>
            <a:off x="7863840" y="1783080"/>
            <a:ext cx="3702960" cy="310680"/>
          </a:xfrm>
          <a:prstGeom prst="rect">
            <a:avLst/>
          </a:prstGeom>
          <a:solidFill>
            <a:srgbClr val="0A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10"/>
          <p:cNvSpPr/>
          <p:nvPr/>
        </p:nvSpPr>
        <p:spPr>
          <a:xfrm>
            <a:off x="7992000" y="1783080"/>
            <a:ext cx="2788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Shënimet e mia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1"/>
          <p:cNvSpPr/>
          <p:nvPr/>
        </p:nvSpPr>
        <p:spPr>
          <a:xfrm>
            <a:off x="10908720" y="1783080"/>
            <a:ext cx="164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9AA6B4"/>
                </a:solidFill>
                <a:effectLst/>
                <a:uFillTx/>
                <a:latin typeface="Calibri"/>
                <a:ea typeface="Calibri"/>
              </a:rPr>
              <a:t>●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2"/>
          <p:cNvSpPr/>
          <p:nvPr/>
        </p:nvSpPr>
        <p:spPr>
          <a:xfrm>
            <a:off x="11091600" y="1783080"/>
            <a:ext cx="164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9AA6B4"/>
                </a:solidFill>
                <a:effectLst/>
                <a:uFillTx/>
                <a:latin typeface="Calibri"/>
                <a:ea typeface="Calibri"/>
              </a:rPr>
              <a:t>●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13"/>
          <p:cNvSpPr/>
          <p:nvPr/>
        </p:nvSpPr>
        <p:spPr>
          <a:xfrm>
            <a:off x="11274480" y="1783080"/>
            <a:ext cx="164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E88070"/>
                </a:solidFill>
                <a:effectLst/>
                <a:uFillTx/>
                <a:latin typeface="Calibri"/>
                <a:ea typeface="Calibri"/>
              </a:rPr>
              <a:t>●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14"/>
          <p:cNvSpPr/>
          <p:nvPr/>
        </p:nvSpPr>
        <p:spPr>
          <a:xfrm>
            <a:off x="7992000" y="2185560"/>
            <a:ext cx="3447000" cy="95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7A82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5"/>
          <p:cNvSpPr/>
          <p:nvPr/>
        </p:nvSpPr>
        <p:spPr>
          <a:xfrm>
            <a:off x="8083440" y="2258640"/>
            <a:ext cx="3264120" cy="81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B1B1B"/>
                </a:solidFill>
                <a:effectLst/>
                <a:uFillTx/>
                <a:latin typeface="Calibri"/>
                <a:ea typeface="Calibri"/>
              </a:rPr>
              <a:t>Lista e blerjeve: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B1B1B"/>
                </a:solidFill>
                <a:effectLst/>
                <a:uFillTx/>
                <a:latin typeface="Calibri"/>
                <a:ea typeface="Calibri"/>
              </a:rPr>
              <a:t>- bukë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B1B1B"/>
                </a:solidFill>
                <a:effectLst/>
                <a:uFillTx/>
                <a:latin typeface="Calibri"/>
                <a:ea typeface="Calibri"/>
              </a:rPr>
              <a:t>- vezë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B1B1B"/>
                </a:solidFill>
                <a:effectLst/>
                <a:uFillTx/>
                <a:latin typeface="Calibri"/>
                <a:ea typeface="Calibri"/>
              </a:rPr>
              <a:t>- kafe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16"/>
          <p:cNvSpPr/>
          <p:nvPr/>
        </p:nvSpPr>
        <p:spPr>
          <a:xfrm>
            <a:off x="8814960" y="3300840"/>
            <a:ext cx="1737000" cy="328680"/>
          </a:xfrm>
          <a:prstGeom prst="roundRect">
            <a:avLst>
              <a:gd name="adj" fmla="val 8333"/>
            </a:avLst>
          </a:prstGeom>
          <a:solidFill>
            <a:srgbClr val="E0E0E0"/>
          </a:solidFill>
          <a:ln w="12700">
            <a:solidFill>
              <a:srgbClr val="9AA0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7"/>
          <p:cNvSpPr/>
          <p:nvPr/>
        </p:nvSpPr>
        <p:spPr>
          <a:xfrm>
            <a:off x="8814960" y="3300840"/>
            <a:ext cx="17370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B1B1B"/>
                </a:solidFill>
                <a:effectLst/>
                <a:uFillTx/>
                <a:latin typeface="Calibri"/>
                <a:ea typeface="Calibri"/>
              </a:rPr>
              <a:t>Ruaj në skedar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2" name="Image 1" descr="preencoded.png"/>
          <p:cNvPicPr/>
          <p:nvPr/>
        </p:nvPicPr>
        <p:blipFill>
          <a:blip r:embed="rId2"/>
          <a:stretch/>
        </p:blipFill>
        <p:spPr>
          <a:xfrm>
            <a:off x="9509760" y="38404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3" name="Shape 18"/>
          <p:cNvSpPr/>
          <p:nvPr/>
        </p:nvSpPr>
        <p:spPr>
          <a:xfrm>
            <a:off x="7863840" y="4343400"/>
            <a:ext cx="3702960" cy="1508400"/>
          </a:xfrm>
          <a:prstGeom prst="roundRect">
            <a:avLst>
              <a:gd name="adj" fmla="val 3636"/>
            </a:avLst>
          </a:prstGeom>
          <a:solidFill>
            <a:srgbClr val="FBFDF6"/>
          </a:solidFill>
          <a:ln w="15875">
            <a:solidFill>
              <a:srgbClr val="CBD8B8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19"/>
          <p:cNvSpPr/>
          <p:nvPr/>
        </p:nvSpPr>
        <p:spPr>
          <a:xfrm>
            <a:off x="8028360" y="4325040"/>
            <a:ext cx="2377080" cy="383760"/>
          </a:xfrm>
          <a:prstGeom prst="roundRect">
            <a:avLst>
              <a:gd name="adj" fmla="val 11905"/>
            </a:avLst>
          </a:prstGeom>
          <a:solidFill>
            <a:srgbClr val="5B8C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5" name="Image 2" descr="preencoded.png"/>
          <p:cNvPicPr/>
          <p:nvPr/>
        </p:nvPicPr>
        <p:blipFill>
          <a:blip r:embed="rId3"/>
          <a:stretch/>
        </p:blipFill>
        <p:spPr>
          <a:xfrm>
            <a:off x="8138160" y="439812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6" name="Text 20"/>
          <p:cNvSpPr/>
          <p:nvPr/>
        </p:nvSpPr>
        <p:spPr>
          <a:xfrm>
            <a:off x="8412480" y="4325040"/>
            <a:ext cx="1919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shenimet.txt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21"/>
          <p:cNvSpPr/>
          <p:nvPr/>
        </p:nvSpPr>
        <p:spPr>
          <a:xfrm>
            <a:off x="8138160" y="4846320"/>
            <a:ext cx="32000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E3A22"/>
                </a:solidFill>
                <a:effectLst/>
                <a:uFillTx/>
                <a:latin typeface="Courier New"/>
                <a:ea typeface="Courier New"/>
              </a:rPr>
              <a:t>Lista e blerjeve: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E3A22"/>
                </a:solidFill>
                <a:effectLst/>
                <a:uFillTx/>
                <a:latin typeface="Courier New"/>
                <a:ea typeface="Courier New"/>
              </a:rPr>
              <a:t>- bukë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E3A22"/>
                </a:solidFill>
                <a:effectLst/>
                <a:uFillTx/>
                <a:latin typeface="Courier New"/>
                <a:ea typeface="Courier New"/>
              </a:rPr>
              <a:t>- vezë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E3A22"/>
                </a:solidFill>
                <a:effectLst/>
                <a:uFillTx/>
                <a:latin typeface="Courier New"/>
                <a:ea typeface="Courier New"/>
              </a:rPr>
              <a:t>- kafe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22"/>
          <p:cNvSpPr/>
          <p:nvPr/>
        </p:nvSpPr>
        <p:spPr>
          <a:xfrm>
            <a:off x="7863840" y="5897880"/>
            <a:ext cx="3702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Pamja e dritares </a:t>
            </a:r>
            <a:r>
              <a:rPr lang="en-US" sz="1000" b="0" i="1" u="none" strike="noStrike">
                <a:solidFill>
                  <a:srgbClr val="9AA6B4"/>
                </a:solidFill>
                <a:effectLst/>
                <a:uFillTx/>
                <a:latin typeface="Calibri"/>
                <a:ea typeface="Calibri"/>
              </a:rPr>
              <a:t>(paraqitje — kodi u kompilua)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23"/>
          <p:cNvSpPr/>
          <p:nvPr/>
        </p:nvSpPr>
        <p:spPr>
          <a:xfrm>
            <a:off x="914400" y="5166360"/>
            <a:ext cx="6674760" cy="776880"/>
          </a:xfrm>
          <a:prstGeom prst="roundRect">
            <a:avLst>
              <a:gd name="adj" fmla="val 9412"/>
            </a:avLst>
          </a:prstGeom>
          <a:solidFill>
            <a:srgbClr val="1E3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24"/>
          <p:cNvSpPr/>
          <p:nvPr/>
        </p:nvSpPr>
        <p:spPr>
          <a:xfrm>
            <a:off x="1188720" y="5239440"/>
            <a:ext cx="6171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6A63B"/>
                </a:solidFill>
                <a:effectLst/>
                <a:uFillTx/>
                <a:latin typeface="Courier New"/>
                <a:ea typeface="Courier New"/>
              </a:rPr>
              <a:t>zona.getText()  </a:t>
            </a:r>
            <a:r>
              <a:rPr lang="en-US" sz="1200" b="0" u="none" strike="noStrike">
                <a:solidFill>
                  <a:srgbClr val="D7E0EC"/>
                </a:solidFill>
                <a:effectLst/>
                <a:uFillTx/>
                <a:latin typeface="Calibri"/>
                <a:ea typeface="Calibri"/>
              </a:rPr>
              <a:t>merr GJITHË tekstin e JTextArea-s dhe e shkruan në skedar. Logjika u ekzekutua — skedari djathtas është real.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25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497AC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hape 0"/>
          <p:cNvSpPr/>
          <p:nvPr/>
        </p:nvSpPr>
        <p:spPr>
          <a:xfrm>
            <a:off x="548640" y="45720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3" name="Image 0" descr="preencoded.png"/>
          <p:cNvPicPr/>
          <p:nvPr/>
        </p:nvPicPr>
        <p:blipFill>
          <a:blip r:embed="rId1"/>
          <a:stretch/>
        </p:blipFill>
        <p:spPr>
          <a:xfrm>
            <a:off x="694800" y="6033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4" name="Text 1"/>
          <p:cNvSpPr/>
          <p:nvPr/>
        </p:nvSpPr>
        <p:spPr>
          <a:xfrm>
            <a:off x="1371600" y="457200"/>
            <a:ext cx="9600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SKEDARI KTHEHET NË DRITARE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2"/>
          <p:cNvSpPr/>
          <p:nvPr/>
        </p:nvSpPr>
        <p:spPr>
          <a:xfrm>
            <a:off x="137160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GUI + skedar: hapja e shënimeve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3"/>
          <p:cNvSpPr/>
          <p:nvPr/>
        </p:nvSpPr>
        <p:spPr>
          <a:xfrm>
            <a:off x="594360" y="1645920"/>
            <a:ext cx="6903360" cy="4105440"/>
          </a:xfrm>
          <a:prstGeom prst="roundRect">
            <a:avLst>
              <a:gd name="adj" fmla="val 2004"/>
            </a:avLst>
          </a:prstGeom>
          <a:solidFill>
            <a:srgbClr val="1B2736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4"/>
          <p:cNvSpPr/>
          <p:nvPr/>
        </p:nvSpPr>
        <p:spPr>
          <a:xfrm>
            <a:off x="795600" y="1828800"/>
            <a:ext cx="100080" cy="10008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5"/>
          <p:cNvSpPr/>
          <p:nvPr/>
        </p:nvSpPr>
        <p:spPr>
          <a:xfrm>
            <a:off x="996840" y="1828800"/>
            <a:ext cx="100080" cy="10008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6"/>
          <p:cNvSpPr/>
          <p:nvPr/>
        </p:nvSpPr>
        <p:spPr>
          <a:xfrm>
            <a:off x="1197720" y="1828800"/>
            <a:ext cx="100080" cy="10008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7"/>
          <p:cNvSpPr/>
          <p:nvPr/>
        </p:nvSpPr>
        <p:spPr>
          <a:xfrm>
            <a:off x="850320" y="2103120"/>
            <a:ext cx="6446160" cy="355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JButton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hap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new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JButton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"Hap skedarin"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hap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addActionListener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e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-&gt;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try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2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Scanner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lexues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new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Scanner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new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File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"shenimet.txt"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));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zona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setText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""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2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while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lexues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hasNextLine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())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    zona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append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lexues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nextLine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+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"\n"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lexues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close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();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catch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FileNotFoundException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ex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2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JOptionPane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showMessageDialog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dritarja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,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"Skedari nuk u gjet!"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});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8"/>
          <p:cNvSpPr/>
          <p:nvPr/>
        </p:nvSpPr>
        <p:spPr>
          <a:xfrm>
            <a:off x="7818120" y="1783080"/>
            <a:ext cx="3748680" cy="1234080"/>
          </a:xfrm>
          <a:prstGeom prst="roundRect">
            <a:avLst>
              <a:gd name="adj" fmla="val 4444"/>
            </a:avLst>
          </a:prstGeom>
          <a:solidFill>
            <a:srgbClr val="FBFDF6"/>
          </a:solidFill>
          <a:ln w="15875">
            <a:solidFill>
              <a:srgbClr val="CBD8B8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9"/>
          <p:cNvSpPr/>
          <p:nvPr/>
        </p:nvSpPr>
        <p:spPr>
          <a:xfrm>
            <a:off x="7982640" y="1764720"/>
            <a:ext cx="2377080" cy="383760"/>
          </a:xfrm>
          <a:prstGeom prst="roundRect">
            <a:avLst>
              <a:gd name="adj" fmla="val 11905"/>
            </a:avLst>
          </a:prstGeom>
          <a:solidFill>
            <a:srgbClr val="5B8C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3" name="Image 1" descr="preencoded.png"/>
          <p:cNvPicPr/>
          <p:nvPr/>
        </p:nvPicPr>
        <p:blipFill>
          <a:blip r:embed="rId2"/>
          <a:stretch/>
        </p:blipFill>
        <p:spPr>
          <a:xfrm>
            <a:off x="8092440" y="183780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4" name="Text 10"/>
          <p:cNvSpPr/>
          <p:nvPr/>
        </p:nvSpPr>
        <p:spPr>
          <a:xfrm>
            <a:off x="8366760" y="1764720"/>
            <a:ext cx="1919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shenimet.txt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1"/>
          <p:cNvSpPr/>
          <p:nvPr/>
        </p:nvSpPr>
        <p:spPr>
          <a:xfrm>
            <a:off x="8092440" y="2286000"/>
            <a:ext cx="32457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2E3A22"/>
                </a:solidFill>
                <a:effectLst/>
                <a:uFillTx/>
                <a:latin typeface="Courier New"/>
                <a:ea typeface="Courier New"/>
              </a:rPr>
              <a:t>Lista e blerjeve: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2E3A22"/>
                </a:solidFill>
                <a:effectLst/>
                <a:uFillTx/>
                <a:latin typeface="Courier New"/>
                <a:ea typeface="Courier New"/>
              </a:rPr>
              <a:t>- bukë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2E3A22"/>
                </a:solidFill>
                <a:effectLst/>
                <a:uFillTx/>
                <a:latin typeface="Courier New"/>
                <a:ea typeface="Courier New"/>
              </a:rPr>
              <a:t>- vezë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6" name="Image 2" descr="preencoded.png"/>
          <p:cNvPicPr/>
          <p:nvPr/>
        </p:nvPicPr>
        <p:blipFill>
          <a:blip r:embed="rId3"/>
          <a:stretch/>
        </p:blipFill>
        <p:spPr>
          <a:xfrm>
            <a:off x="9509760" y="31546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7" name="Shape 12"/>
          <p:cNvSpPr/>
          <p:nvPr/>
        </p:nvSpPr>
        <p:spPr>
          <a:xfrm>
            <a:off x="7818120" y="3611880"/>
            <a:ext cx="3748680" cy="1828440"/>
          </a:xfrm>
          <a:prstGeom prst="rect">
            <a:avLst/>
          </a:prstGeom>
          <a:solidFill>
            <a:srgbClr val="ECECEC"/>
          </a:solidFill>
          <a:ln w="12700">
            <a:solidFill>
              <a:srgbClr val="6B7480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13"/>
          <p:cNvSpPr/>
          <p:nvPr/>
        </p:nvSpPr>
        <p:spPr>
          <a:xfrm>
            <a:off x="7818120" y="3611880"/>
            <a:ext cx="3748680" cy="310680"/>
          </a:xfrm>
          <a:prstGeom prst="rect">
            <a:avLst/>
          </a:prstGeom>
          <a:solidFill>
            <a:srgbClr val="0A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14"/>
          <p:cNvSpPr/>
          <p:nvPr/>
        </p:nvSpPr>
        <p:spPr>
          <a:xfrm>
            <a:off x="7946280" y="3611880"/>
            <a:ext cx="28342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Shënimet e mia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5"/>
          <p:cNvSpPr/>
          <p:nvPr/>
        </p:nvSpPr>
        <p:spPr>
          <a:xfrm>
            <a:off x="10908720" y="3611880"/>
            <a:ext cx="164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9AA6B4"/>
                </a:solidFill>
                <a:effectLst/>
                <a:uFillTx/>
                <a:latin typeface="Calibri"/>
                <a:ea typeface="Calibri"/>
              </a:rPr>
              <a:t>●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16"/>
          <p:cNvSpPr/>
          <p:nvPr/>
        </p:nvSpPr>
        <p:spPr>
          <a:xfrm>
            <a:off x="11091600" y="3611880"/>
            <a:ext cx="164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9AA6B4"/>
                </a:solidFill>
                <a:effectLst/>
                <a:uFillTx/>
                <a:latin typeface="Calibri"/>
                <a:ea typeface="Calibri"/>
              </a:rPr>
              <a:t>●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17"/>
          <p:cNvSpPr/>
          <p:nvPr/>
        </p:nvSpPr>
        <p:spPr>
          <a:xfrm>
            <a:off x="11274480" y="3611880"/>
            <a:ext cx="164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E88070"/>
                </a:solidFill>
                <a:effectLst/>
                <a:uFillTx/>
                <a:latin typeface="Calibri"/>
                <a:ea typeface="Calibri"/>
              </a:rPr>
              <a:t>●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18"/>
          <p:cNvSpPr/>
          <p:nvPr/>
        </p:nvSpPr>
        <p:spPr>
          <a:xfrm>
            <a:off x="7946280" y="4014360"/>
            <a:ext cx="3492720" cy="82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7A82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19"/>
          <p:cNvSpPr/>
          <p:nvPr/>
        </p:nvSpPr>
        <p:spPr>
          <a:xfrm>
            <a:off x="8037720" y="4087440"/>
            <a:ext cx="330984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B1B1B"/>
                </a:solidFill>
                <a:effectLst/>
                <a:uFillTx/>
                <a:latin typeface="Calibri"/>
                <a:ea typeface="Calibri"/>
              </a:rPr>
              <a:t>Lista e blerjeve: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B1B1B"/>
                </a:solidFill>
                <a:effectLst/>
                <a:uFillTx/>
                <a:latin typeface="Calibri"/>
                <a:ea typeface="Calibri"/>
              </a:rPr>
              <a:t>- bukë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B1B1B"/>
                </a:solidFill>
                <a:effectLst/>
                <a:uFillTx/>
                <a:latin typeface="Calibri"/>
                <a:ea typeface="Calibri"/>
              </a:rPr>
              <a:t>- vezë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20"/>
          <p:cNvSpPr/>
          <p:nvPr/>
        </p:nvSpPr>
        <p:spPr>
          <a:xfrm>
            <a:off x="8769240" y="4974480"/>
            <a:ext cx="1737000" cy="310680"/>
          </a:xfrm>
          <a:prstGeom prst="roundRect">
            <a:avLst>
              <a:gd name="adj" fmla="val 8824"/>
            </a:avLst>
          </a:prstGeom>
          <a:solidFill>
            <a:srgbClr val="E0E0E0"/>
          </a:solidFill>
          <a:ln w="12700">
            <a:solidFill>
              <a:srgbClr val="9AA0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21"/>
          <p:cNvSpPr/>
          <p:nvPr/>
        </p:nvSpPr>
        <p:spPr>
          <a:xfrm>
            <a:off x="8769240" y="4974480"/>
            <a:ext cx="1737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B1B1B"/>
                </a:solidFill>
                <a:effectLst/>
                <a:uFillTx/>
                <a:latin typeface="Calibri"/>
                <a:ea typeface="Calibri"/>
              </a:rPr>
              <a:t>Hap skedarin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22"/>
          <p:cNvSpPr/>
          <p:nvPr/>
        </p:nvSpPr>
        <p:spPr>
          <a:xfrm>
            <a:off x="7818120" y="5468040"/>
            <a:ext cx="374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Pamja e dritares </a:t>
            </a:r>
            <a:r>
              <a:rPr lang="en-US" sz="1000" b="0" i="1" u="none" strike="noStrike">
                <a:solidFill>
                  <a:srgbClr val="9AA6B4"/>
                </a:solidFill>
                <a:effectLst/>
                <a:uFillTx/>
                <a:latin typeface="Calibri"/>
                <a:ea typeface="Calibri"/>
              </a:rPr>
              <a:t>(paraqitje — kodi u kompilua)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23"/>
          <p:cNvSpPr/>
          <p:nvPr/>
        </p:nvSpPr>
        <p:spPr>
          <a:xfrm>
            <a:off x="594360" y="5486400"/>
            <a:ext cx="6903360" cy="685800"/>
          </a:xfrm>
          <a:prstGeom prst="roundRect">
            <a:avLst>
              <a:gd name="adj" fmla="val 8000"/>
            </a:avLst>
          </a:prstGeom>
          <a:solidFill>
            <a:srgbClr val="FBED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9" name="Image 3" descr="preencoded.png"/>
          <p:cNvPicPr/>
          <p:nvPr/>
        </p:nvPicPr>
        <p:blipFill>
          <a:blip r:embed="rId4"/>
          <a:stretch/>
        </p:blipFill>
        <p:spPr>
          <a:xfrm>
            <a:off x="841320" y="532188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0" name="Text 24"/>
          <p:cNvSpPr/>
          <p:nvPr/>
        </p:nvSpPr>
        <p:spPr>
          <a:xfrm>
            <a:off x="1189080" y="5395320"/>
            <a:ext cx="6126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Cikli i plotë:  </a:t>
            </a:r>
            <a:r>
              <a:rPr lang="en-US" sz="12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zona.append() shton çdo rresht të lexuar; setText("") e pastron më parë. Tani aplikacioni RUAN (slajdi 10) dhe HAP (këtu) — kujtesa e vërtetë!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25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26"/>
          <p:cNvSpPr/>
          <p:nvPr/>
        </p:nvSpPr>
        <p:spPr>
          <a:xfrm>
            <a:off x="548640" y="63550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Java · Leksioni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hape 0"/>
          <p:cNvSpPr/>
          <p:nvPr/>
        </p:nvSpPr>
        <p:spPr>
          <a:xfrm>
            <a:off x="685800" y="50292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4" name="Image 0" descr="preencoded.png"/>
          <p:cNvPicPr/>
          <p:nvPr/>
        </p:nvPicPr>
        <p:blipFill>
          <a:blip r:embed="rId1"/>
          <a:stretch/>
        </p:blipFill>
        <p:spPr>
          <a:xfrm>
            <a:off x="831960" y="6490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5" name="Text 1"/>
          <p:cNvSpPr/>
          <p:nvPr/>
        </p:nvSpPr>
        <p:spPr>
          <a:xfrm>
            <a:off x="150876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SHTIMI DHE RUAJTJA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2"/>
          <p:cNvSpPr/>
          <p:nvPr/>
        </p:nvSpPr>
        <p:spPr>
          <a:xfrm>
            <a:off x="1508760" y="74988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Kapstoni: Regjistri i kontakteve (1/2)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3"/>
          <p:cNvSpPr/>
          <p:nvPr/>
        </p:nvSpPr>
        <p:spPr>
          <a:xfrm>
            <a:off x="914400" y="1600200"/>
            <a:ext cx="6766200" cy="4887000"/>
          </a:xfrm>
          <a:prstGeom prst="roundRect">
            <a:avLst>
              <a:gd name="adj" fmla="val 1684"/>
            </a:avLst>
          </a:prstGeom>
          <a:solidFill>
            <a:srgbClr val="1B2736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4"/>
          <p:cNvSpPr/>
          <p:nvPr/>
        </p:nvSpPr>
        <p:spPr>
          <a:xfrm>
            <a:off x="1115640" y="1783080"/>
            <a:ext cx="100080" cy="10008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5"/>
          <p:cNvSpPr/>
          <p:nvPr/>
        </p:nvSpPr>
        <p:spPr>
          <a:xfrm>
            <a:off x="1316880" y="1783080"/>
            <a:ext cx="100080" cy="10008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6"/>
          <p:cNvSpPr/>
          <p:nvPr/>
        </p:nvSpPr>
        <p:spPr>
          <a:xfrm>
            <a:off x="1517760" y="1783080"/>
            <a:ext cx="100080" cy="10008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7"/>
          <p:cNvSpPr/>
          <p:nvPr/>
        </p:nvSpPr>
        <p:spPr>
          <a:xfrm>
            <a:off x="1170360" y="2057400"/>
            <a:ext cx="6309000" cy="433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static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void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shtoKontaktin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String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emri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fushaEmri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getText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String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tel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fushaTel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getText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if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emri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isEmpty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||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tel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isEmpty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())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2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JOptionPane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showMessageDialog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null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,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    </a:t>
            </a:r>
            <a:r>
              <a:rPr lang="en-US" sz="120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"Ploteso te dyja fushat!"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2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return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00" b="0" u="none" strike="noStrike">
                <a:solidFill>
                  <a:srgbClr val="7B8A99"/>
                </a:solidFill>
                <a:effectLst/>
                <a:uFillTx/>
                <a:latin typeface="Courier New"/>
                <a:ea typeface="Courier New"/>
              </a:rPr>
              <a:t>// SHTON nje rresht: "emri;tel"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try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FileWriter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shkrues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     </a:t>
            </a:r>
            <a:r>
              <a:rPr lang="en-US" sz="12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new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FileWriter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SKEDARI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,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true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))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shkrues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write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emri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+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";"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+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tel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+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"\n"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catch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IOException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ex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/*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...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*/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fushaEmri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setText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""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fushaTel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setText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""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ngarkoKontaktet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();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200" b="0" u="none" strike="noStrike">
                <a:solidFill>
                  <a:srgbClr val="7B8A99"/>
                </a:solidFill>
                <a:effectLst/>
                <a:uFillTx/>
                <a:latin typeface="Courier New"/>
                <a:ea typeface="Courier New"/>
              </a:rPr>
              <a:t>// rifresko listen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8"/>
          <p:cNvSpPr/>
          <p:nvPr/>
        </p:nvSpPr>
        <p:spPr>
          <a:xfrm>
            <a:off x="7955280" y="1737360"/>
            <a:ext cx="3611520" cy="2742840"/>
          </a:xfrm>
          <a:prstGeom prst="rect">
            <a:avLst/>
          </a:prstGeom>
          <a:solidFill>
            <a:srgbClr val="ECECEC"/>
          </a:solidFill>
          <a:ln w="12700">
            <a:solidFill>
              <a:srgbClr val="6B7480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9"/>
          <p:cNvSpPr/>
          <p:nvPr/>
        </p:nvSpPr>
        <p:spPr>
          <a:xfrm>
            <a:off x="7955280" y="1737360"/>
            <a:ext cx="3611520" cy="310680"/>
          </a:xfrm>
          <a:prstGeom prst="rect">
            <a:avLst/>
          </a:prstGeom>
          <a:solidFill>
            <a:srgbClr val="0A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10"/>
          <p:cNvSpPr/>
          <p:nvPr/>
        </p:nvSpPr>
        <p:spPr>
          <a:xfrm>
            <a:off x="8083440" y="1737360"/>
            <a:ext cx="2697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Regjistri i kontakteve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11"/>
          <p:cNvSpPr/>
          <p:nvPr/>
        </p:nvSpPr>
        <p:spPr>
          <a:xfrm>
            <a:off x="10908720" y="1737360"/>
            <a:ext cx="164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9AA6B4"/>
                </a:solidFill>
                <a:effectLst/>
                <a:uFillTx/>
                <a:latin typeface="Calibri"/>
                <a:ea typeface="Calibri"/>
              </a:rPr>
              <a:t>●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12"/>
          <p:cNvSpPr/>
          <p:nvPr/>
        </p:nvSpPr>
        <p:spPr>
          <a:xfrm>
            <a:off x="11091600" y="1737360"/>
            <a:ext cx="164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9AA6B4"/>
                </a:solidFill>
                <a:effectLst/>
                <a:uFillTx/>
                <a:latin typeface="Calibri"/>
                <a:ea typeface="Calibri"/>
              </a:rPr>
              <a:t>●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13"/>
          <p:cNvSpPr/>
          <p:nvPr/>
        </p:nvSpPr>
        <p:spPr>
          <a:xfrm>
            <a:off x="11274480" y="1737360"/>
            <a:ext cx="164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E88070"/>
                </a:solidFill>
                <a:effectLst/>
                <a:uFillTx/>
                <a:latin typeface="Calibri"/>
                <a:ea typeface="Calibri"/>
              </a:rPr>
              <a:t>●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14"/>
          <p:cNvSpPr/>
          <p:nvPr/>
        </p:nvSpPr>
        <p:spPr>
          <a:xfrm>
            <a:off x="8083440" y="218556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02020"/>
                </a:solidFill>
                <a:effectLst/>
                <a:uFillTx/>
                <a:latin typeface="Calibri"/>
                <a:ea typeface="Calibri"/>
              </a:rPr>
              <a:t>Emri: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15"/>
          <p:cNvSpPr/>
          <p:nvPr/>
        </p:nvSpPr>
        <p:spPr>
          <a:xfrm>
            <a:off x="9089280" y="2185560"/>
            <a:ext cx="2285640" cy="29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7A82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16"/>
          <p:cNvSpPr/>
          <p:nvPr/>
        </p:nvSpPr>
        <p:spPr>
          <a:xfrm>
            <a:off x="9162360" y="2185560"/>
            <a:ext cx="2139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B1B1B"/>
                </a:solidFill>
                <a:effectLst/>
                <a:uFillTx/>
                <a:latin typeface="Calibri"/>
                <a:ea typeface="Calibri"/>
              </a:rPr>
              <a:t>Ana Kola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17"/>
          <p:cNvSpPr/>
          <p:nvPr/>
        </p:nvSpPr>
        <p:spPr>
          <a:xfrm>
            <a:off x="8083440" y="259704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02020"/>
                </a:solidFill>
                <a:effectLst/>
                <a:uFillTx/>
                <a:latin typeface="Calibri"/>
                <a:ea typeface="Calibri"/>
              </a:rPr>
              <a:t>Telefoni: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18"/>
          <p:cNvSpPr/>
          <p:nvPr/>
        </p:nvSpPr>
        <p:spPr>
          <a:xfrm>
            <a:off x="9089280" y="2597040"/>
            <a:ext cx="2285640" cy="29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7A82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19"/>
          <p:cNvSpPr/>
          <p:nvPr/>
        </p:nvSpPr>
        <p:spPr>
          <a:xfrm>
            <a:off x="9162360" y="2597040"/>
            <a:ext cx="2139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B1B1B"/>
                </a:solidFill>
                <a:effectLst/>
                <a:uFillTx/>
                <a:latin typeface="Calibri"/>
                <a:ea typeface="Calibri"/>
              </a:rPr>
              <a:t>0691234567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20"/>
          <p:cNvSpPr/>
          <p:nvPr/>
        </p:nvSpPr>
        <p:spPr>
          <a:xfrm>
            <a:off x="9089280" y="3008520"/>
            <a:ext cx="2285640" cy="310680"/>
          </a:xfrm>
          <a:prstGeom prst="roundRect">
            <a:avLst>
              <a:gd name="adj" fmla="val 8824"/>
            </a:avLst>
          </a:prstGeom>
          <a:solidFill>
            <a:srgbClr val="E0E0E0"/>
          </a:solidFill>
          <a:ln w="12700">
            <a:solidFill>
              <a:srgbClr val="9AA0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21"/>
          <p:cNvSpPr/>
          <p:nvPr/>
        </p:nvSpPr>
        <p:spPr>
          <a:xfrm>
            <a:off x="9089280" y="3008520"/>
            <a:ext cx="22856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B1B1B"/>
                </a:solidFill>
                <a:effectLst/>
                <a:uFillTx/>
                <a:latin typeface="Calibri"/>
                <a:ea typeface="Calibri"/>
              </a:rPr>
              <a:t>Shto kontaktin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22"/>
          <p:cNvSpPr/>
          <p:nvPr/>
        </p:nvSpPr>
        <p:spPr>
          <a:xfrm>
            <a:off x="8083440" y="3465720"/>
            <a:ext cx="3355560" cy="95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7A82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23"/>
          <p:cNvSpPr/>
          <p:nvPr/>
        </p:nvSpPr>
        <p:spPr>
          <a:xfrm>
            <a:off x="8174880" y="3538800"/>
            <a:ext cx="3172680" cy="81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B1B1B"/>
                </a:solidFill>
                <a:effectLst/>
                <a:uFillTx/>
                <a:latin typeface="Calibri"/>
                <a:ea typeface="Calibri"/>
              </a:rPr>
              <a:t>1. Ana Kola - 0691234567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B1B1B"/>
                </a:solidFill>
                <a:effectLst/>
                <a:uFillTx/>
                <a:latin typeface="Calibri"/>
                <a:ea typeface="Calibri"/>
              </a:rPr>
              <a:t>2. Beni Doda - 0682345678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24"/>
          <p:cNvSpPr/>
          <p:nvPr/>
        </p:nvSpPr>
        <p:spPr>
          <a:xfrm>
            <a:off x="7955280" y="4572000"/>
            <a:ext cx="3611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Pamja e dritares </a:t>
            </a:r>
            <a:r>
              <a:rPr lang="en-US" sz="1000" b="0" i="1" u="none" strike="noStrike">
                <a:solidFill>
                  <a:srgbClr val="9AA6B4"/>
                </a:solidFill>
                <a:effectLst/>
                <a:uFillTx/>
                <a:latin typeface="Calibri"/>
                <a:ea typeface="Calibri"/>
              </a:rPr>
              <a:t>(paraqitje — kodi u kompilua)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25"/>
          <p:cNvSpPr/>
          <p:nvPr/>
        </p:nvSpPr>
        <p:spPr>
          <a:xfrm>
            <a:off x="7955280" y="4892040"/>
            <a:ext cx="3611520" cy="959760"/>
          </a:xfrm>
          <a:prstGeom prst="roundRect">
            <a:avLst>
              <a:gd name="adj" fmla="val 8571"/>
            </a:avLst>
          </a:prstGeom>
          <a:solidFill>
            <a:srgbClr val="1E3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26"/>
          <p:cNvSpPr/>
          <p:nvPr/>
        </p:nvSpPr>
        <p:spPr>
          <a:xfrm>
            <a:off x="8202240" y="4965120"/>
            <a:ext cx="3154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Validim + append:  </a:t>
            </a:r>
            <a:r>
              <a:rPr lang="en-US" sz="1150" b="0" u="none" strike="noStrike">
                <a:solidFill>
                  <a:srgbClr val="D7E0EC"/>
                </a:solidFill>
                <a:effectLst/>
                <a:uFillTx/>
                <a:latin typeface="Calibri"/>
                <a:ea typeface="Calibri"/>
              </a:rPr>
              <a:t>kontrollon fushat bosh, pastaj SHTON në skedar (true) — çdo kontakt ruhet pa fshirë të tjerët.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27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497AC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Shape 0"/>
          <p:cNvSpPr/>
          <p:nvPr/>
        </p:nvSpPr>
        <p:spPr>
          <a:xfrm>
            <a:off x="548640" y="45720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3" name="Image 0" descr="preencoded.png"/>
          <p:cNvPicPr/>
          <p:nvPr/>
        </p:nvPicPr>
        <p:blipFill>
          <a:blip r:embed="rId1"/>
          <a:stretch/>
        </p:blipFill>
        <p:spPr>
          <a:xfrm>
            <a:off x="694800" y="6033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4" name="Text 1"/>
          <p:cNvSpPr/>
          <p:nvPr/>
        </p:nvSpPr>
        <p:spPr>
          <a:xfrm>
            <a:off x="1371600" y="457200"/>
            <a:ext cx="9600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LEXIMI DHE SHFAQJA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2"/>
          <p:cNvSpPr/>
          <p:nvPr/>
        </p:nvSpPr>
        <p:spPr>
          <a:xfrm>
            <a:off x="137160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Kapstoni: Regjistri i kontakteve (2/2)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3"/>
          <p:cNvSpPr/>
          <p:nvPr/>
        </p:nvSpPr>
        <p:spPr>
          <a:xfrm>
            <a:off x="594360" y="1645920"/>
            <a:ext cx="6720480" cy="5147640"/>
          </a:xfrm>
          <a:prstGeom prst="roundRect">
            <a:avLst>
              <a:gd name="adj" fmla="val 1599"/>
            </a:avLst>
          </a:prstGeom>
          <a:solidFill>
            <a:srgbClr val="1B2736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4"/>
          <p:cNvSpPr/>
          <p:nvPr/>
        </p:nvSpPr>
        <p:spPr>
          <a:xfrm>
            <a:off x="795600" y="1828800"/>
            <a:ext cx="100080" cy="10008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5"/>
          <p:cNvSpPr/>
          <p:nvPr/>
        </p:nvSpPr>
        <p:spPr>
          <a:xfrm>
            <a:off x="996840" y="1828800"/>
            <a:ext cx="100080" cy="10008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6"/>
          <p:cNvSpPr/>
          <p:nvPr/>
        </p:nvSpPr>
        <p:spPr>
          <a:xfrm>
            <a:off x="1197720" y="1828800"/>
            <a:ext cx="100080" cy="10008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7"/>
          <p:cNvSpPr/>
          <p:nvPr/>
        </p:nvSpPr>
        <p:spPr>
          <a:xfrm>
            <a:off x="850320" y="2103120"/>
            <a:ext cx="6263280" cy="459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static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void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ngarkoKontaktet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lista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setText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""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File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skedari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new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File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SKEDARI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if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(!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skedari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exists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())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return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150" b="0" u="none" strike="noStrike">
                <a:solidFill>
                  <a:srgbClr val="7B8A99"/>
                </a:solidFill>
                <a:effectLst/>
                <a:uFillTx/>
                <a:latin typeface="Courier New"/>
                <a:ea typeface="Courier New"/>
              </a:rPr>
              <a:t>// ende bosh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try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Scanner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lexues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new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Scanner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skedari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numri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1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1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while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lexues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hasNextLine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())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    </a:t>
            </a: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String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[]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pjeset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lexues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nextLine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().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split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";"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    </a:t>
            </a:r>
            <a:r>
              <a:rPr lang="en-US" sz="11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if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pjeset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length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==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2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        lista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append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numri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+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". "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+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pjeset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1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0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]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           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+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 - "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+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pjeset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1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1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]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+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"\n"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        numri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++;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   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lexues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close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();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catch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FileNotFoundException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ex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/*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...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*/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8"/>
          <p:cNvSpPr/>
          <p:nvPr/>
        </p:nvSpPr>
        <p:spPr>
          <a:xfrm>
            <a:off x="7635240" y="1737360"/>
            <a:ext cx="3931560" cy="1371240"/>
          </a:xfrm>
          <a:prstGeom prst="roundRect">
            <a:avLst>
              <a:gd name="adj" fmla="val 4000"/>
            </a:avLst>
          </a:prstGeom>
          <a:solidFill>
            <a:srgbClr val="FBFDF6"/>
          </a:solidFill>
          <a:ln w="15875">
            <a:solidFill>
              <a:srgbClr val="CBD8B8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9"/>
          <p:cNvSpPr/>
          <p:nvPr/>
        </p:nvSpPr>
        <p:spPr>
          <a:xfrm>
            <a:off x="7799760" y="1719000"/>
            <a:ext cx="2377080" cy="383760"/>
          </a:xfrm>
          <a:prstGeom prst="roundRect">
            <a:avLst>
              <a:gd name="adj" fmla="val 11905"/>
            </a:avLst>
          </a:prstGeom>
          <a:solidFill>
            <a:srgbClr val="5B8C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3" name="Image 1" descr="preencoded.png"/>
          <p:cNvPicPr/>
          <p:nvPr/>
        </p:nvPicPr>
        <p:blipFill>
          <a:blip r:embed="rId2"/>
          <a:stretch/>
        </p:blipFill>
        <p:spPr>
          <a:xfrm>
            <a:off x="7909560" y="179208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4" name="Text 10"/>
          <p:cNvSpPr/>
          <p:nvPr/>
        </p:nvSpPr>
        <p:spPr>
          <a:xfrm>
            <a:off x="8183880" y="1719000"/>
            <a:ext cx="1919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kontaktet.txt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11"/>
          <p:cNvSpPr/>
          <p:nvPr/>
        </p:nvSpPr>
        <p:spPr>
          <a:xfrm>
            <a:off x="7909560" y="2240280"/>
            <a:ext cx="3428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2E3A22"/>
                </a:solidFill>
                <a:effectLst/>
                <a:uFillTx/>
                <a:latin typeface="Courier New"/>
                <a:ea typeface="Courier New"/>
              </a:rPr>
              <a:t>Ana Kola;0691234567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2E3A22"/>
                </a:solidFill>
                <a:effectLst/>
                <a:uFillTx/>
                <a:latin typeface="Courier New"/>
                <a:ea typeface="Courier New"/>
              </a:rPr>
              <a:t>Beni Doda;0682345678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2E3A22"/>
                </a:solidFill>
                <a:effectLst/>
                <a:uFillTx/>
                <a:latin typeface="Courier New"/>
                <a:ea typeface="Courier New"/>
              </a:rPr>
              <a:t>Vera Hoxha;0673456789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6" name="Image 2" descr="preencoded.png"/>
          <p:cNvPicPr/>
          <p:nvPr/>
        </p:nvPicPr>
        <p:blipFill>
          <a:blip r:embed="rId3"/>
          <a:stretch/>
        </p:blipFill>
        <p:spPr>
          <a:xfrm>
            <a:off x="9464040" y="324612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7" name="Shape 12"/>
          <p:cNvSpPr/>
          <p:nvPr/>
        </p:nvSpPr>
        <p:spPr>
          <a:xfrm>
            <a:off x="7635240" y="3703320"/>
            <a:ext cx="3931560" cy="1599840"/>
          </a:xfrm>
          <a:prstGeom prst="roundRect">
            <a:avLst>
              <a:gd name="adj" fmla="val 4571"/>
            </a:avLst>
          </a:prstGeom>
          <a:solidFill>
            <a:srgbClr val="E9F4EC"/>
          </a:solidFill>
          <a:ln w="12700">
            <a:solidFill>
              <a:srgbClr val="BFE0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8" name="Image 3" descr="preencoded.png"/>
          <p:cNvPicPr/>
          <p:nvPr/>
        </p:nvPicPr>
        <p:blipFill>
          <a:blip r:embed="rId4"/>
          <a:stretch/>
        </p:blipFill>
        <p:spPr>
          <a:xfrm>
            <a:off x="7863840" y="3840480"/>
            <a:ext cx="25560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9" name="Text 13"/>
          <p:cNvSpPr/>
          <p:nvPr/>
        </p:nvSpPr>
        <p:spPr>
          <a:xfrm>
            <a:off x="8192880" y="3822120"/>
            <a:ext cx="3328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F7A38"/>
                </a:solidFill>
                <a:effectLst/>
                <a:uFillTx/>
                <a:latin typeface="Calibri"/>
                <a:ea typeface="Calibri"/>
              </a:rPr>
              <a:t>E shfaqur (ekzekutuar)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14"/>
          <p:cNvSpPr/>
          <p:nvPr/>
        </p:nvSpPr>
        <p:spPr>
          <a:xfrm>
            <a:off x="7882200" y="4160520"/>
            <a:ext cx="35658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16B33"/>
                </a:solidFill>
                <a:effectLst/>
                <a:uFillTx/>
                <a:latin typeface="Courier New"/>
                <a:ea typeface="Courier New"/>
              </a:rPr>
              <a:t>1. Ana Kola - 0691234567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16B33"/>
                </a:solidFill>
                <a:effectLst/>
                <a:uFillTx/>
                <a:latin typeface="Courier New"/>
                <a:ea typeface="Courier New"/>
              </a:rPr>
              <a:t>2. Beni Doda - 0682345678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16B33"/>
                </a:solidFill>
                <a:effectLst/>
                <a:uFillTx/>
                <a:latin typeface="Courier New"/>
                <a:ea typeface="Courier New"/>
              </a:rPr>
              <a:t>3. Vera Hoxha - 0673456789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15"/>
          <p:cNvSpPr/>
          <p:nvPr/>
        </p:nvSpPr>
        <p:spPr>
          <a:xfrm>
            <a:off x="7635240" y="5440680"/>
            <a:ext cx="3931560" cy="658080"/>
          </a:xfrm>
          <a:prstGeom prst="roundRect">
            <a:avLst>
              <a:gd name="adj" fmla="val 11111"/>
            </a:avLst>
          </a:prstGeom>
          <a:solidFill>
            <a:srgbClr val="FBED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16"/>
          <p:cNvSpPr/>
          <p:nvPr/>
        </p:nvSpPr>
        <p:spPr>
          <a:xfrm>
            <a:off x="7863840" y="5504760"/>
            <a:ext cx="35200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E8730C"/>
                </a:solidFill>
                <a:effectLst/>
                <a:uFillTx/>
                <a:latin typeface="Courier New"/>
                <a:ea typeface="Courier New"/>
              </a:rPr>
              <a:t>split(";")  </a:t>
            </a:r>
            <a:r>
              <a:rPr lang="en-US" sz="110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ndan "emri;tel" në dy pjesë — kështu e 'kupton' skedarin.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17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13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18"/>
          <p:cNvSpPr/>
          <p:nvPr/>
        </p:nvSpPr>
        <p:spPr>
          <a:xfrm>
            <a:off x="548640" y="63550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Java · Leksioni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Shape 0"/>
          <p:cNvSpPr/>
          <p:nvPr/>
        </p:nvSpPr>
        <p:spPr>
          <a:xfrm>
            <a:off x="548640" y="45720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6" name="Image 0" descr="preencoded.png"/>
          <p:cNvPicPr/>
          <p:nvPr/>
        </p:nvPicPr>
        <p:blipFill>
          <a:blip r:embed="rId1"/>
          <a:stretch/>
        </p:blipFill>
        <p:spPr>
          <a:xfrm>
            <a:off x="694800" y="6033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7" name="Text 1"/>
          <p:cNvSpPr/>
          <p:nvPr/>
        </p:nvSpPr>
        <p:spPr>
          <a:xfrm>
            <a:off x="1371600" y="457200"/>
            <a:ext cx="9600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FOTOGRAFOJENI KËTË SLAJD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2"/>
          <p:cNvSpPr/>
          <p:nvPr/>
        </p:nvSpPr>
        <p:spPr>
          <a:xfrm>
            <a:off x="137160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Fletë referimi — puna me skedarë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39" name="Table 0"/>
          <p:cNvGraphicFramePr/>
          <p:nvPr/>
        </p:nvGraphicFramePr>
        <p:xfrm>
          <a:off x="594360" y="1645920"/>
          <a:ext cx="11018160" cy="4023000"/>
        </p:xfrm>
        <a:graphic>
          <a:graphicData uri="http://schemas.openxmlformats.org/drawingml/2006/table">
            <a:tbl>
              <a:tblPr/>
              <a:tblGrid>
                <a:gridCol w="4023360"/>
                <a:gridCol w="6995160"/>
              </a:tblGrid>
              <a:tr h="40212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Veprimi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142033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Kodi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142033"/>
                    </a:solidFill>
                  </a:tcPr>
                </a:tc>
              </a:tr>
              <a:tr h="40212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420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Krijo/hap për shkrim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313F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new FileWriter("f.txt")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40212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420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Shkruaj tekst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313F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shkrues.write("...")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420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Shkruaj me rresht të ri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313F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shkrues.println("...")   (PrintWriter)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40212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420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Shto pa fshirë (append)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313F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new FileWriter("f.txt", true)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420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Mbyll (ose try-with-res.)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313F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shkrues.close()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40212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420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Hap për lexim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313F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new Scanner(new File("f.txt"))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420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Lexo rresht pas rreshti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313F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while (l.hasNextLine()) l.nextLine()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40212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420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Ndaj fushat e një rreshti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313F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rreshti.split(";")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420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Trajto gabimet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313F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catch (IOException e)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40" name="Text 3"/>
          <p:cNvSpPr/>
          <p:nvPr/>
        </p:nvSpPr>
        <p:spPr>
          <a:xfrm>
            <a:off x="594360" y="585216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i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Modeli i çdo aplikacioni me të dhëna: SHKRUAJ me ndarës (";") → LEXO me split → SHFAQ. Gjithmonë trajto IOException.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4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14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5"/>
          <p:cNvSpPr/>
          <p:nvPr/>
        </p:nvSpPr>
        <p:spPr>
          <a:xfrm>
            <a:off x="548640" y="63550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Java · Leksioni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Shape 0"/>
          <p:cNvSpPr/>
          <p:nvPr/>
        </p:nvSpPr>
        <p:spPr>
          <a:xfrm>
            <a:off x="-1645920" y="-1645920"/>
            <a:ext cx="5486040" cy="5486040"/>
          </a:xfrm>
          <a:prstGeom prst="ellipse">
            <a:avLst/>
          </a:prstGeom>
          <a:solidFill>
            <a:srgbClr val="E8730C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1"/>
          <p:cNvSpPr/>
          <p:nvPr/>
        </p:nvSpPr>
        <p:spPr>
          <a:xfrm>
            <a:off x="9326880" y="3657600"/>
            <a:ext cx="4571640" cy="4571640"/>
          </a:xfrm>
          <a:prstGeom prst="ellipse">
            <a:avLst/>
          </a:prstGeom>
          <a:solidFill>
            <a:srgbClr val="1E3050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Shape 2"/>
          <p:cNvSpPr/>
          <p:nvPr/>
        </p:nvSpPr>
        <p:spPr>
          <a:xfrm>
            <a:off x="5367600" y="1371600"/>
            <a:ext cx="1462680" cy="1462680"/>
          </a:xfrm>
          <a:prstGeom prst="roundRect">
            <a:avLst>
              <a:gd name="adj" fmla="val 15625"/>
            </a:avLst>
          </a:prstGeom>
          <a:solidFill>
            <a:srgbClr val="E8730C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6" name="Image 0" descr="preencoded.png"/>
          <p:cNvPicPr/>
          <p:nvPr/>
        </p:nvPicPr>
        <p:blipFill>
          <a:blip r:embed="rId1"/>
          <a:stretch/>
        </p:blipFill>
        <p:spPr>
          <a:xfrm>
            <a:off x="5687640" y="1691640"/>
            <a:ext cx="822600" cy="82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7" name="Text 3"/>
          <p:cNvSpPr/>
          <p:nvPr/>
        </p:nvSpPr>
        <p:spPr>
          <a:xfrm>
            <a:off x="1371600" y="3108960"/>
            <a:ext cx="9445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KOHA E QUIZ-it!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4"/>
          <p:cNvSpPr/>
          <p:nvPr/>
        </p:nvSpPr>
        <p:spPr>
          <a:xfrm>
            <a:off x="1371600" y="3931920"/>
            <a:ext cx="9445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4 pyetje · 8 minuta · punoni vetë në letër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5"/>
          <p:cNvSpPr/>
          <p:nvPr/>
        </p:nvSpPr>
        <p:spPr>
          <a:xfrm>
            <a:off x="1828800" y="4572000"/>
            <a:ext cx="8530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AEBCCC"/>
                </a:solidFill>
                <a:effectLst/>
                <a:uFillTx/>
                <a:latin typeface="Calibri"/>
                <a:ea typeface="Calibri"/>
              </a:rPr>
              <a:t>Kujtoni: 'true' te FileWriter do të thotë SHTO; pa të, FSHIN dhe rishkruan.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6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497AC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Shape 0"/>
          <p:cNvSpPr/>
          <p:nvPr/>
        </p:nvSpPr>
        <p:spPr>
          <a:xfrm>
            <a:off x="548640" y="45720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2" name="Image 0" descr="preencoded.png"/>
          <p:cNvPicPr/>
          <p:nvPr/>
        </p:nvPicPr>
        <p:blipFill>
          <a:blip r:embed="rId1"/>
          <a:stretch/>
        </p:blipFill>
        <p:spPr>
          <a:xfrm>
            <a:off x="694800" y="6033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3" name="Text 1"/>
          <p:cNvSpPr/>
          <p:nvPr/>
        </p:nvSpPr>
        <p:spPr>
          <a:xfrm>
            <a:off x="1371600" y="457200"/>
            <a:ext cx="9600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QUIZ · SHKRIMI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2"/>
          <p:cNvSpPr/>
          <p:nvPr/>
        </p:nvSpPr>
        <p:spPr>
          <a:xfrm>
            <a:off x="137160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Pyetjet 1 dhe 2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Shape 3"/>
          <p:cNvSpPr/>
          <p:nvPr/>
        </p:nvSpPr>
        <p:spPr>
          <a:xfrm>
            <a:off x="594360" y="1691640"/>
            <a:ext cx="502560" cy="502560"/>
          </a:xfrm>
          <a:prstGeom prst="ellipse">
            <a:avLst/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4"/>
          <p:cNvSpPr/>
          <p:nvPr/>
        </p:nvSpPr>
        <p:spPr>
          <a:xfrm>
            <a:off x="594360" y="16916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5"/>
          <p:cNvSpPr/>
          <p:nvPr/>
        </p:nvSpPr>
        <p:spPr>
          <a:xfrm>
            <a:off x="1234440" y="1755720"/>
            <a:ext cx="4754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Çfarë përmban out.txt në fund?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6"/>
          <p:cNvSpPr/>
          <p:nvPr/>
        </p:nvSpPr>
        <p:spPr>
          <a:xfrm>
            <a:off x="594360" y="2286000"/>
            <a:ext cx="5394600" cy="1760040"/>
          </a:xfrm>
          <a:prstGeom prst="roundRect">
            <a:avLst>
              <a:gd name="adj" fmla="val 4675"/>
            </a:avLst>
          </a:prstGeom>
          <a:solidFill>
            <a:srgbClr val="1B2736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7"/>
          <p:cNvSpPr/>
          <p:nvPr/>
        </p:nvSpPr>
        <p:spPr>
          <a:xfrm>
            <a:off x="795600" y="2468880"/>
            <a:ext cx="100080" cy="10008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8"/>
          <p:cNvSpPr/>
          <p:nvPr/>
        </p:nvSpPr>
        <p:spPr>
          <a:xfrm>
            <a:off x="996840" y="2468880"/>
            <a:ext cx="100080" cy="10008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9"/>
          <p:cNvSpPr/>
          <p:nvPr/>
        </p:nvSpPr>
        <p:spPr>
          <a:xfrm>
            <a:off x="1197720" y="2468880"/>
            <a:ext cx="100080" cy="10008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10"/>
          <p:cNvSpPr/>
          <p:nvPr/>
        </p:nvSpPr>
        <p:spPr>
          <a:xfrm>
            <a:off x="850320" y="2743200"/>
            <a:ext cx="4937400" cy="121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FileWriter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w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new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FileWriter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"out.txt"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w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write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"A"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w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close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();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FileWriter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w2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new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FileWriter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"out.txt"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w2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write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"B"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w2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close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();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11"/>
          <p:cNvSpPr/>
          <p:nvPr/>
        </p:nvSpPr>
        <p:spPr>
          <a:xfrm>
            <a:off x="685800" y="4892040"/>
            <a:ext cx="5394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a) </a:t>
            </a:r>
            <a:r>
              <a:rPr lang="en-US" sz="1400" b="0" u="none" strike="noStrike">
                <a:solidFill>
                  <a:srgbClr val="26313F"/>
                </a:solidFill>
                <a:effectLst/>
                <a:uFillTx/>
                <a:latin typeface="Courier New"/>
                <a:ea typeface="Courier New"/>
              </a:rPr>
              <a:t>AB      </a:t>
            </a:r>
            <a:r>
              <a:rPr lang="en-US" sz="140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b) </a:t>
            </a:r>
            <a:r>
              <a:rPr lang="en-US" sz="1400" b="0" u="none" strike="noStrike">
                <a:solidFill>
                  <a:srgbClr val="26313F"/>
                </a:solidFill>
                <a:effectLst/>
                <a:uFillTx/>
                <a:latin typeface="Courier New"/>
                <a:ea typeface="Courier New"/>
              </a:rPr>
              <a:t>B      </a:t>
            </a:r>
            <a:r>
              <a:rPr lang="en-US" sz="140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c) </a:t>
            </a:r>
            <a:r>
              <a:rPr lang="en-US" sz="1400" b="0" u="none" strike="noStrike">
                <a:solidFill>
                  <a:srgbClr val="26313F"/>
                </a:solidFill>
                <a:effectLst/>
                <a:uFillTx/>
                <a:latin typeface="Courier New"/>
                <a:ea typeface="Courier New"/>
              </a:rPr>
              <a:t>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12"/>
          <p:cNvSpPr/>
          <p:nvPr/>
        </p:nvSpPr>
        <p:spPr>
          <a:xfrm>
            <a:off x="6400800" y="1691640"/>
            <a:ext cx="502560" cy="502560"/>
          </a:xfrm>
          <a:prstGeom prst="ellipse">
            <a:avLst/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13"/>
          <p:cNvSpPr/>
          <p:nvPr/>
        </p:nvSpPr>
        <p:spPr>
          <a:xfrm>
            <a:off x="6400800" y="16916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14"/>
          <p:cNvSpPr/>
          <p:nvPr/>
        </p:nvSpPr>
        <p:spPr>
          <a:xfrm>
            <a:off x="7040880" y="1719000"/>
            <a:ext cx="45716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Si e SHTON tekstin pa fshirë skedarin ekzistues?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15"/>
          <p:cNvSpPr/>
          <p:nvPr/>
        </p:nvSpPr>
        <p:spPr>
          <a:xfrm>
            <a:off x="7040880" y="2514600"/>
            <a:ext cx="4571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1199"/>
              </a:spcAft>
              <a:tabLst>
                <a:tab pos="0" algn="l"/>
              </a:tabLst>
            </a:pPr>
            <a:r>
              <a:rPr lang="en-US" sz="130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a)  </a:t>
            </a:r>
            <a:r>
              <a:rPr lang="en-US" sz="1300" b="0" u="none" strike="noStrike">
                <a:solidFill>
                  <a:srgbClr val="26313F"/>
                </a:solidFill>
                <a:effectLst/>
                <a:uFillTx/>
                <a:latin typeface="Courier New"/>
                <a:ea typeface="Courier New"/>
              </a:rPr>
              <a:t>new FileWriter("f.txt")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99"/>
              </a:spcAft>
              <a:tabLst>
                <a:tab pos="0" algn="l"/>
              </a:tabLst>
            </a:pPr>
            <a:r>
              <a:rPr lang="en-US" sz="130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b)  </a:t>
            </a:r>
            <a:r>
              <a:rPr lang="en-US" sz="1300" b="0" u="none" strike="noStrike">
                <a:solidFill>
                  <a:srgbClr val="26313F"/>
                </a:solidFill>
                <a:effectLst/>
                <a:uFillTx/>
                <a:latin typeface="Courier New"/>
                <a:ea typeface="Courier New"/>
              </a:rPr>
              <a:t>new FileWriter("f.txt", true)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c)  </a:t>
            </a:r>
            <a:r>
              <a:rPr lang="en-US" sz="1300" b="0" u="none" strike="noStrike">
                <a:solidFill>
                  <a:srgbClr val="26313F"/>
                </a:solidFill>
                <a:effectLst/>
                <a:uFillTx/>
                <a:latin typeface="Courier New"/>
                <a:ea typeface="Courier New"/>
              </a:rPr>
              <a:t>new FileWriter("f.txt", false)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16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16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17"/>
          <p:cNvSpPr/>
          <p:nvPr/>
        </p:nvSpPr>
        <p:spPr>
          <a:xfrm>
            <a:off x="548640" y="63550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Java · Leksioni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Shape 0"/>
          <p:cNvSpPr/>
          <p:nvPr/>
        </p:nvSpPr>
        <p:spPr>
          <a:xfrm>
            <a:off x="548640" y="45720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1" name="Image 0" descr="preencoded.png"/>
          <p:cNvPicPr/>
          <p:nvPr/>
        </p:nvPicPr>
        <p:blipFill>
          <a:blip r:embed="rId1"/>
          <a:stretch/>
        </p:blipFill>
        <p:spPr>
          <a:xfrm>
            <a:off x="694800" y="6033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2" name="Text 1"/>
          <p:cNvSpPr/>
          <p:nvPr/>
        </p:nvSpPr>
        <p:spPr>
          <a:xfrm>
            <a:off x="1371600" y="457200"/>
            <a:ext cx="9600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QUIZ · KONCEPTET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2"/>
          <p:cNvSpPr/>
          <p:nvPr/>
        </p:nvSpPr>
        <p:spPr>
          <a:xfrm>
            <a:off x="137160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Pyetjet 3 dhe 4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Shape 3"/>
          <p:cNvSpPr/>
          <p:nvPr/>
        </p:nvSpPr>
        <p:spPr>
          <a:xfrm>
            <a:off x="594360" y="1691640"/>
            <a:ext cx="502560" cy="502560"/>
          </a:xfrm>
          <a:prstGeom prst="ellipse">
            <a:avLst/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4"/>
          <p:cNvSpPr/>
          <p:nvPr/>
        </p:nvSpPr>
        <p:spPr>
          <a:xfrm>
            <a:off x="594360" y="16916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5"/>
          <p:cNvSpPr/>
          <p:nvPr/>
        </p:nvSpPr>
        <p:spPr>
          <a:xfrm>
            <a:off x="1234440" y="1719000"/>
            <a:ext cx="48459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Cili është avantazhi i try-with-resources?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6"/>
          <p:cNvSpPr/>
          <p:nvPr/>
        </p:nvSpPr>
        <p:spPr>
          <a:xfrm>
            <a:off x="1234440" y="2423160"/>
            <a:ext cx="484596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1199"/>
              </a:spcAft>
              <a:tabLst>
                <a:tab pos="0" algn="l"/>
              </a:tabLst>
            </a:pPr>
            <a:r>
              <a:rPr lang="en-US" sz="135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a)  </a:t>
            </a:r>
            <a:r>
              <a:rPr lang="en-US" sz="13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E bën programin më të shpejtë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99"/>
              </a:spcAft>
              <a:tabLst>
                <a:tab pos="0" algn="l"/>
              </a:tabLst>
            </a:pPr>
            <a:r>
              <a:rPr lang="en-US" sz="135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b)  </a:t>
            </a:r>
            <a:r>
              <a:rPr lang="en-US" sz="13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E mbyll skedarin vetë, edhe kur ka gabim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c)  </a:t>
            </a:r>
            <a:r>
              <a:rPr lang="en-US" sz="13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Nuk të duhet të shkruash tekst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7"/>
          <p:cNvSpPr/>
          <p:nvPr/>
        </p:nvSpPr>
        <p:spPr>
          <a:xfrm>
            <a:off x="6400800" y="1691640"/>
            <a:ext cx="502560" cy="502560"/>
          </a:xfrm>
          <a:prstGeom prst="ellipse">
            <a:avLst/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8"/>
          <p:cNvSpPr/>
          <p:nvPr/>
        </p:nvSpPr>
        <p:spPr>
          <a:xfrm>
            <a:off x="6400800" y="16916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9"/>
          <p:cNvSpPr/>
          <p:nvPr/>
        </p:nvSpPr>
        <p:spPr>
          <a:xfrm>
            <a:off x="7040880" y="1719000"/>
            <a:ext cx="46630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Rreshti "Ana;069" ndahet me split(";"). Sa gjatë është vargu që del?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Shape 10"/>
          <p:cNvSpPr/>
          <p:nvPr/>
        </p:nvSpPr>
        <p:spPr>
          <a:xfrm>
            <a:off x="6400800" y="2514600"/>
            <a:ext cx="4845960" cy="1238760"/>
          </a:xfrm>
          <a:prstGeom prst="roundRect">
            <a:avLst>
              <a:gd name="adj" fmla="val 6642"/>
            </a:avLst>
          </a:prstGeom>
          <a:solidFill>
            <a:srgbClr val="1B2736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Shape 11"/>
          <p:cNvSpPr/>
          <p:nvPr/>
        </p:nvSpPr>
        <p:spPr>
          <a:xfrm>
            <a:off x="6602040" y="2697480"/>
            <a:ext cx="100080" cy="10008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12"/>
          <p:cNvSpPr/>
          <p:nvPr/>
        </p:nvSpPr>
        <p:spPr>
          <a:xfrm>
            <a:off x="6803280" y="2697480"/>
            <a:ext cx="100080" cy="10008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13"/>
          <p:cNvSpPr/>
          <p:nvPr/>
        </p:nvSpPr>
        <p:spPr>
          <a:xfrm>
            <a:off x="7004160" y="2697480"/>
            <a:ext cx="100080" cy="10008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14"/>
          <p:cNvSpPr/>
          <p:nvPr/>
        </p:nvSpPr>
        <p:spPr>
          <a:xfrm>
            <a:off x="6656760" y="2971800"/>
            <a:ext cx="4388760" cy="69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String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[]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p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20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"Ana;069"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split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";"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B8A99"/>
                </a:solidFill>
                <a:effectLst/>
                <a:uFillTx/>
                <a:latin typeface="Courier New"/>
                <a:ea typeface="Courier New"/>
              </a:rPr>
              <a:t>// p[0] = ?  p[1] = 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15"/>
          <p:cNvSpPr/>
          <p:nvPr/>
        </p:nvSpPr>
        <p:spPr>
          <a:xfrm>
            <a:off x="6492240" y="4160520"/>
            <a:ext cx="4845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a) </a:t>
            </a:r>
            <a:r>
              <a:rPr lang="en-US" sz="1400" b="0" u="none" strike="noStrike">
                <a:solidFill>
                  <a:srgbClr val="26313F"/>
                </a:solidFill>
                <a:effectLst/>
                <a:uFillTx/>
                <a:latin typeface="Courier New"/>
                <a:ea typeface="Courier New"/>
              </a:rPr>
              <a:t>1      </a:t>
            </a:r>
            <a:r>
              <a:rPr lang="en-US" sz="140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b) </a:t>
            </a:r>
            <a:r>
              <a:rPr lang="en-US" sz="1400" b="0" u="none" strike="noStrike">
                <a:solidFill>
                  <a:srgbClr val="26313F"/>
                </a:solidFill>
                <a:effectLst/>
                <a:uFillTx/>
                <a:latin typeface="Courier New"/>
                <a:ea typeface="Courier New"/>
              </a:rPr>
              <a:t>2      </a:t>
            </a:r>
            <a:r>
              <a:rPr lang="en-US" sz="140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c) </a:t>
            </a:r>
            <a:r>
              <a:rPr lang="en-US" sz="1400" b="0" u="none" strike="noStrike">
                <a:solidFill>
                  <a:srgbClr val="26313F"/>
                </a:solidFill>
                <a:effectLst/>
                <a:uFillTx/>
                <a:latin typeface="Courier New"/>
                <a:ea typeface="Courier New"/>
              </a:rPr>
              <a:t>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16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17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17"/>
          <p:cNvSpPr/>
          <p:nvPr/>
        </p:nvSpPr>
        <p:spPr>
          <a:xfrm>
            <a:off x="548640" y="63550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Java · Leksioni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Shape 0"/>
          <p:cNvSpPr/>
          <p:nvPr/>
        </p:nvSpPr>
        <p:spPr>
          <a:xfrm>
            <a:off x="548640" y="45720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90" name="Image 0" descr="preencoded.png"/>
          <p:cNvPicPr/>
          <p:nvPr/>
        </p:nvPicPr>
        <p:blipFill>
          <a:blip r:embed="rId1"/>
          <a:stretch/>
        </p:blipFill>
        <p:spPr>
          <a:xfrm>
            <a:off x="694800" y="6033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1" name="Text 1"/>
          <p:cNvSpPr/>
          <p:nvPr/>
        </p:nvSpPr>
        <p:spPr>
          <a:xfrm>
            <a:off x="1371600" y="457200"/>
            <a:ext cx="9600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QUIZ · ZGJIDHJA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2"/>
          <p:cNvSpPr/>
          <p:nvPr/>
        </p:nvSpPr>
        <p:spPr>
          <a:xfrm>
            <a:off x="137160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Përgjigjet dhe shpjegimet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Shape 3"/>
          <p:cNvSpPr/>
          <p:nvPr/>
        </p:nvSpPr>
        <p:spPr>
          <a:xfrm>
            <a:off x="594360" y="1645920"/>
            <a:ext cx="11018160" cy="93240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BE2EA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Shape 4"/>
          <p:cNvSpPr/>
          <p:nvPr/>
        </p:nvSpPr>
        <p:spPr>
          <a:xfrm>
            <a:off x="868680" y="1856160"/>
            <a:ext cx="511560" cy="511560"/>
          </a:xfrm>
          <a:prstGeom prst="ellipse">
            <a:avLst/>
          </a:prstGeom>
          <a:solidFill>
            <a:srgbClr val="2FA8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5"/>
          <p:cNvSpPr/>
          <p:nvPr/>
        </p:nvSpPr>
        <p:spPr>
          <a:xfrm>
            <a:off x="868680" y="185616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6"/>
          <p:cNvSpPr/>
          <p:nvPr/>
        </p:nvSpPr>
        <p:spPr>
          <a:xfrm>
            <a:off x="1645920" y="1810440"/>
            <a:ext cx="42058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42033"/>
                </a:solidFill>
                <a:effectLst/>
                <a:uFillTx/>
                <a:latin typeface="Courier New"/>
                <a:ea typeface="Courier New"/>
              </a:rPr>
              <a:t>b)  B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7"/>
          <p:cNvSpPr/>
          <p:nvPr/>
        </p:nvSpPr>
        <p:spPr>
          <a:xfrm>
            <a:off x="6035040" y="1810440"/>
            <a:ext cx="5394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FileWriter pa 'true' e FSHIN skedarin çdo herë — mbetet vetëm shkrimi i fundit.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8"/>
          <p:cNvSpPr/>
          <p:nvPr/>
        </p:nvSpPr>
        <p:spPr>
          <a:xfrm>
            <a:off x="594360" y="2724840"/>
            <a:ext cx="11018160" cy="93240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BE2EA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9"/>
          <p:cNvSpPr/>
          <p:nvPr/>
        </p:nvSpPr>
        <p:spPr>
          <a:xfrm>
            <a:off x="868680" y="2935080"/>
            <a:ext cx="511560" cy="511560"/>
          </a:xfrm>
          <a:prstGeom prst="ellipse">
            <a:avLst/>
          </a:prstGeom>
          <a:solidFill>
            <a:srgbClr val="2FA8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10"/>
          <p:cNvSpPr/>
          <p:nvPr/>
        </p:nvSpPr>
        <p:spPr>
          <a:xfrm>
            <a:off x="868680" y="293508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11"/>
          <p:cNvSpPr/>
          <p:nvPr/>
        </p:nvSpPr>
        <p:spPr>
          <a:xfrm>
            <a:off x="1645920" y="2889360"/>
            <a:ext cx="42058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42033"/>
                </a:solidFill>
                <a:effectLst/>
                <a:uFillTx/>
                <a:latin typeface="Courier New"/>
                <a:ea typeface="Courier New"/>
              </a:rPr>
              <a:t>b)  new FileWriter("f.txt", true)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12"/>
          <p:cNvSpPr/>
          <p:nvPr/>
        </p:nvSpPr>
        <p:spPr>
          <a:xfrm>
            <a:off x="6035040" y="2889360"/>
            <a:ext cx="5394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Parametri i dytë 'true' aktivizon append-in: shton pa fshirë.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Shape 13"/>
          <p:cNvSpPr/>
          <p:nvPr/>
        </p:nvSpPr>
        <p:spPr>
          <a:xfrm>
            <a:off x="594360" y="3803760"/>
            <a:ext cx="11018160" cy="93240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BE2EA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14"/>
          <p:cNvSpPr/>
          <p:nvPr/>
        </p:nvSpPr>
        <p:spPr>
          <a:xfrm>
            <a:off x="868680" y="4014360"/>
            <a:ext cx="511560" cy="511560"/>
          </a:xfrm>
          <a:prstGeom prst="ellipse">
            <a:avLst/>
          </a:prstGeom>
          <a:solidFill>
            <a:srgbClr val="2FA8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15"/>
          <p:cNvSpPr/>
          <p:nvPr/>
        </p:nvSpPr>
        <p:spPr>
          <a:xfrm>
            <a:off x="868680" y="401436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16"/>
          <p:cNvSpPr/>
          <p:nvPr/>
        </p:nvSpPr>
        <p:spPr>
          <a:xfrm>
            <a:off x="1645920" y="3968640"/>
            <a:ext cx="42058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42033"/>
                </a:solidFill>
                <a:effectLst/>
                <a:uFillTx/>
                <a:latin typeface="Courier New"/>
                <a:ea typeface="Courier New"/>
              </a:rPr>
              <a:t>b)  E mbyll vetë edhe me gabim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17"/>
          <p:cNvSpPr/>
          <p:nvPr/>
        </p:nvSpPr>
        <p:spPr>
          <a:xfrm>
            <a:off x="6035040" y="3968640"/>
            <a:ext cx="5394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Burimi në try(...) mbyllet automatikisht — s'harron close() dhe funksionon me exception.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18"/>
          <p:cNvSpPr/>
          <p:nvPr/>
        </p:nvSpPr>
        <p:spPr>
          <a:xfrm>
            <a:off x="594360" y="4883040"/>
            <a:ext cx="11018160" cy="93240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BE2EA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19"/>
          <p:cNvSpPr/>
          <p:nvPr/>
        </p:nvSpPr>
        <p:spPr>
          <a:xfrm>
            <a:off x="868680" y="5093280"/>
            <a:ext cx="511560" cy="511560"/>
          </a:xfrm>
          <a:prstGeom prst="ellipse">
            <a:avLst/>
          </a:prstGeom>
          <a:solidFill>
            <a:srgbClr val="2FA8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20"/>
          <p:cNvSpPr/>
          <p:nvPr/>
        </p:nvSpPr>
        <p:spPr>
          <a:xfrm>
            <a:off x="868680" y="509328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21"/>
          <p:cNvSpPr/>
          <p:nvPr/>
        </p:nvSpPr>
        <p:spPr>
          <a:xfrm>
            <a:off x="1645920" y="5047560"/>
            <a:ext cx="42058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42033"/>
                </a:solidFill>
                <a:effectLst/>
                <a:uFillTx/>
                <a:latin typeface="Courier New"/>
                <a:ea typeface="Courier New"/>
              </a:rPr>
              <a:t>b)  2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22"/>
          <p:cNvSpPr/>
          <p:nvPr/>
        </p:nvSpPr>
        <p:spPr>
          <a:xfrm>
            <a:off x="6035040" y="5047560"/>
            <a:ext cx="5394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split(";") e ndan "Ana;069" në [Ana, 069] — dy elemente.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23"/>
          <p:cNvSpPr/>
          <p:nvPr/>
        </p:nvSpPr>
        <p:spPr>
          <a:xfrm>
            <a:off x="594360" y="603504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3–4 saktë: gati për aplikacione që ruajnë të dhëna! · 2 saktë: rishikoni slajdet 6 dhe 8 · 0–1: konsultime.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24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18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25"/>
          <p:cNvSpPr/>
          <p:nvPr/>
        </p:nvSpPr>
        <p:spPr>
          <a:xfrm>
            <a:off x="548640" y="63550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Java · Leksioni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Shape 0"/>
          <p:cNvSpPr/>
          <p:nvPr/>
        </p:nvSpPr>
        <p:spPr>
          <a:xfrm>
            <a:off x="-1371600" y="3840480"/>
            <a:ext cx="4571640" cy="4571640"/>
          </a:xfrm>
          <a:prstGeom prst="ellipse">
            <a:avLst/>
          </a:prstGeom>
          <a:solidFill>
            <a:srgbClr val="E8730C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Shape 1"/>
          <p:cNvSpPr/>
          <p:nvPr/>
        </p:nvSpPr>
        <p:spPr>
          <a:xfrm>
            <a:off x="685800" y="54864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8" name="Image 0" descr="preencoded.png"/>
          <p:cNvPicPr/>
          <p:nvPr/>
        </p:nvPicPr>
        <p:blipFill>
          <a:blip r:embed="rId1"/>
          <a:stretch/>
        </p:blipFill>
        <p:spPr>
          <a:xfrm>
            <a:off x="831960" y="69480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9" name="Text 2"/>
          <p:cNvSpPr/>
          <p:nvPr/>
        </p:nvSpPr>
        <p:spPr>
          <a:xfrm>
            <a:off x="1508760" y="5486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PËRMBLEDHJE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3"/>
          <p:cNvSpPr/>
          <p:nvPr/>
        </p:nvSpPr>
        <p:spPr>
          <a:xfrm>
            <a:off x="1508760" y="79560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Çfarë mësuam sot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4"/>
          <p:cNvSpPr/>
          <p:nvPr/>
        </p:nvSpPr>
        <p:spPr>
          <a:xfrm>
            <a:off x="685800" y="1783080"/>
            <a:ext cx="3456000" cy="173700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5"/>
          <p:cNvSpPr/>
          <p:nvPr/>
        </p:nvSpPr>
        <p:spPr>
          <a:xfrm>
            <a:off x="960120" y="2075760"/>
            <a:ext cx="639720" cy="639720"/>
          </a:xfrm>
          <a:prstGeom prst="ellipse">
            <a:avLst/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3" name="Image 1" descr="preencoded.png"/>
          <p:cNvPicPr/>
          <p:nvPr/>
        </p:nvPicPr>
        <p:blipFill>
          <a:blip r:embed="rId2"/>
          <a:stretch/>
        </p:blipFill>
        <p:spPr>
          <a:xfrm>
            <a:off x="1106280" y="222192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4" name="Text 6"/>
          <p:cNvSpPr/>
          <p:nvPr/>
        </p:nvSpPr>
        <p:spPr>
          <a:xfrm>
            <a:off x="1737360" y="2057400"/>
            <a:ext cx="23313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Shkrimi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7"/>
          <p:cNvSpPr/>
          <p:nvPr/>
        </p:nvSpPr>
        <p:spPr>
          <a:xfrm>
            <a:off x="960120" y="2807280"/>
            <a:ext cx="29714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EBCCC"/>
                </a:solidFill>
                <a:effectLst/>
                <a:uFillTx/>
                <a:latin typeface="Calibri"/>
                <a:ea typeface="Calibri"/>
              </a:rPr>
              <a:t>FileWriter, PrintWriter, .write/.println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Shape 8"/>
          <p:cNvSpPr/>
          <p:nvPr/>
        </p:nvSpPr>
        <p:spPr>
          <a:xfrm>
            <a:off x="4389120" y="1783080"/>
            <a:ext cx="3456000" cy="173700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Shape 9"/>
          <p:cNvSpPr/>
          <p:nvPr/>
        </p:nvSpPr>
        <p:spPr>
          <a:xfrm>
            <a:off x="4663440" y="2075760"/>
            <a:ext cx="639720" cy="639720"/>
          </a:xfrm>
          <a:prstGeom prst="ellipse">
            <a:avLst/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8" name="Image 2" descr="preencoded.png"/>
          <p:cNvPicPr/>
          <p:nvPr/>
        </p:nvPicPr>
        <p:blipFill>
          <a:blip r:embed="rId3"/>
          <a:stretch/>
        </p:blipFill>
        <p:spPr>
          <a:xfrm>
            <a:off x="4809600" y="222192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9" name="Text 10"/>
          <p:cNvSpPr/>
          <p:nvPr/>
        </p:nvSpPr>
        <p:spPr>
          <a:xfrm>
            <a:off x="5440680" y="2057400"/>
            <a:ext cx="23313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Append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11"/>
          <p:cNvSpPr/>
          <p:nvPr/>
        </p:nvSpPr>
        <p:spPr>
          <a:xfrm>
            <a:off x="4663440" y="2807280"/>
            <a:ext cx="29714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EBCCC"/>
                </a:solidFill>
                <a:effectLst/>
                <a:uFillTx/>
                <a:latin typeface="Calibri"/>
                <a:ea typeface="Calibri"/>
              </a:rPr>
              <a:t>FileWriter(f, true) — shton pa fshirë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Shape 12"/>
          <p:cNvSpPr/>
          <p:nvPr/>
        </p:nvSpPr>
        <p:spPr>
          <a:xfrm>
            <a:off x="8092440" y="1783080"/>
            <a:ext cx="3456000" cy="173700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Shape 13"/>
          <p:cNvSpPr/>
          <p:nvPr/>
        </p:nvSpPr>
        <p:spPr>
          <a:xfrm>
            <a:off x="8366760" y="2075760"/>
            <a:ext cx="639720" cy="639720"/>
          </a:xfrm>
          <a:prstGeom prst="ellipse">
            <a:avLst/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3" name="Image 3" descr="preencoded.png"/>
          <p:cNvPicPr/>
          <p:nvPr/>
        </p:nvPicPr>
        <p:blipFill>
          <a:blip r:embed="rId4"/>
          <a:stretch/>
        </p:blipFill>
        <p:spPr>
          <a:xfrm>
            <a:off x="8512920" y="222192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4" name="Text 14"/>
          <p:cNvSpPr/>
          <p:nvPr/>
        </p:nvSpPr>
        <p:spPr>
          <a:xfrm>
            <a:off x="9144000" y="2057400"/>
            <a:ext cx="23313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Siguria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15"/>
          <p:cNvSpPr/>
          <p:nvPr/>
        </p:nvSpPr>
        <p:spPr>
          <a:xfrm>
            <a:off x="8366760" y="2807280"/>
            <a:ext cx="29714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EBCCC"/>
                </a:solidFill>
                <a:effectLst/>
                <a:uFillTx/>
                <a:latin typeface="Calibri"/>
                <a:ea typeface="Calibri"/>
              </a:rPr>
              <a:t>IOException + try-with-resources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16"/>
          <p:cNvSpPr/>
          <p:nvPr/>
        </p:nvSpPr>
        <p:spPr>
          <a:xfrm>
            <a:off x="685800" y="3749040"/>
            <a:ext cx="3456000" cy="173700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Shape 17"/>
          <p:cNvSpPr/>
          <p:nvPr/>
        </p:nvSpPr>
        <p:spPr>
          <a:xfrm>
            <a:off x="960120" y="4041720"/>
            <a:ext cx="639720" cy="639720"/>
          </a:xfrm>
          <a:prstGeom prst="ellipse">
            <a:avLst/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8" name="Image 4" descr="preencoded.png"/>
          <p:cNvPicPr/>
          <p:nvPr/>
        </p:nvPicPr>
        <p:blipFill>
          <a:blip r:embed="rId5"/>
          <a:stretch/>
        </p:blipFill>
        <p:spPr>
          <a:xfrm>
            <a:off x="1106280" y="418788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9" name="Text 18"/>
          <p:cNvSpPr/>
          <p:nvPr/>
        </p:nvSpPr>
        <p:spPr>
          <a:xfrm>
            <a:off x="1737360" y="4023360"/>
            <a:ext cx="23313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Leximi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19"/>
          <p:cNvSpPr/>
          <p:nvPr/>
        </p:nvSpPr>
        <p:spPr>
          <a:xfrm>
            <a:off x="960120" y="4773240"/>
            <a:ext cx="29714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EBCCC"/>
                </a:solidFill>
                <a:effectLst/>
                <a:uFillTx/>
                <a:latin typeface="Calibri"/>
                <a:ea typeface="Calibri"/>
              </a:rPr>
              <a:t>Scanner mbi File + split(";")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Shape 20"/>
          <p:cNvSpPr/>
          <p:nvPr/>
        </p:nvSpPr>
        <p:spPr>
          <a:xfrm>
            <a:off x="4389120" y="3749040"/>
            <a:ext cx="3456000" cy="173700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Shape 21"/>
          <p:cNvSpPr/>
          <p:nvPr/>
        </p:nvSpPr>
        <p:spPr>
          <a:xfrm>
            <a:off x="4663440" y="4041720"/>
            <a:ext cx="639720" cy="639720"/>
          </a:xfrm>
          <a:prstGeom prst="ellipse">
            <a:avLst/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3" name="Image 5" descr="preencoded.png"/>
          <p:cNvPicPr/>
          <p:nvPr/>
        </p:nvPicPr>
        <p:blipFill>
          <a:blip r:embed="rId6"/>
          <a:stretch/>
        </p:blipFill>
        <p:spPr>
          <a:xfrm>
            <a:off x="4809600" y="418788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4" name="Text 22"/>
          <p:cNvSpPr/>
          <p:nvPr/>
        </p:nvSpPr>
        <p:spPr>
          <a:xfrm>
            <a:off x="5440680" y="4023360"/>
            <a:ext cx="23313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GUI + skedar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23"/>
          <p:cNvSpPr/>
          <p:nvPr/>
        </p:nvSpPr>
        <p:spPr>
          <a:xfrm>
            <a:off x="4663440" y="4773240"/>
            <a:ext cx="29714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EBCCC"/>
                </a:solidFill>
                <a:effectLst/>
                <a:uFillTx/>
                <a:latin typeface="Calibri"/>
                <a:ea typeface="Calibri"/>
              </a:rPr>
              <a:t>Shënime që ruhen dhe hapen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Shape 24"/>
          <p:cNvSpPr/>
          <p:nvPr/>
        </p:nvSpPr>
        <p:spPr>
          <a:xfrm>
            <a:off x="8092440" y="3749040"/>
            <a:ext cx="3456000" cy="173700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Shape 25"/>
          <p:cNvSpPr/>
          <p:nvPr/>
        </p:nvSpPr>
        <p:spPr>
          <a:xfrm>
            <a:off x="8366760" y="4041720"/>
            <a:ext cx="639720" cy="639720"/>
          </a:xfrm>
          <a:prstGeom prst="ellipse">
            <a:avLst/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8" name="Image 6" descr="preencoded.png"/>
          <p:cNvPicPr/>
          <p:nvPr/>
        </p:nvPicPr>
        <p:blipFill>
          <a:blip r:embed="rId7"/>
          <a:stretch/>
        </p:blipFill>
        <p:spPr>
          <a:xfrm>
            <a:off x="8512920" y="418788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9" name="Text 26"/>
          <p:cNvSpPr/>
          <p:nvPr/>
        </p:nvSpPr>
        <p:spPr>
          <a:xfrm>
            <a:off x="9144000" y="4023360"/>
            <a:ext cx="23313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Kapstoni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27"/>
          <p:cNvSpPr/>
          <p:nvPr/>
        </p:nvSpPr>
        <p:spPr>
          <a:xfrm>
            <a:off x="8366760" y="4773240"/>
            <a:ext cx="29714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EBCCC"/>
                </a:solidFill>
                <a:effectLst/>
                <a:uFillTx/>
                <a:latin typeface="Calibri"/>
                <a:ea typeface="Calibri"/>
              </a:rPr>
              <a:t>Regjistër kontaktesh që mbijeton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28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497AC"/>
                </a:solidFill>
                <a:effectLst/>
                <a:uFillTx/>
                <a:latin typeface="Calibri"/>
                <a:ea typeface="Calibri"/>
              </a:rPr>
              <a:t>19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Shape 0"/>
          <p:cNvSpPr/>
          <p:nvPr/>
        </p:nvSpPr>
        <p:spPr>
          <a:xfrm>
            <a:off x="548640" y="45720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53" name="Image 0" descr="preencoded.png"/>
          <p:cNvPicPr/>
          <p:nvPr/>
        </p:nvPicPr>
        <p:blipFill>
          <a:blip r:embed="rId1"/>
          <a:stretch/>
        </p:blipFill>
        <p:spPr>
          <a:xfrm>
            <a:off x="694800" y="6033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4" name="Text 1"/>
          <p:cNvSpPr/>
          <p:nvPr/>
        </p:nvSpPr>
        <p:spPr>
          <a:xfrm>
            <a:off x="1371600" y="457200"/>
            <a:ext cx="9600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PRAKTIKA E JAVËS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2"/>
          <p:cNvSpPr/>
          <p:nvPr/>
        </p:nvSpPr>
        <p:spPr>
          <a:xfrm>
            <a:off x="137160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Detyra për shtëpi — dorëzim me Git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Shape 3"/>
          <p:cNvSpPr/>
          <p:nvPr/>
        </p:nvSpPr>
        <p:spPr>
          <a:xfrm>
            <a:off x="594360" y="1536120"/>
            <a:ext cx="11018160" cy="840960"/>
          </a:xfrm>
          <a:prstGeom prst="roundRect">
            <a:avLst>
              <a:gd name="adj" fmla="val 9783"/>
            </a:avLst>
          </a:prstGeom>
          <a:solidFill>
            <a:srgbClr val="F8FAFC"/>
          </a:solidFill>
          <a:ln w="12700">
            <a:solidFill>
              <a:srgbClr val="DB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Shape 4"/>
          <p:cNvSpPr/>
          <p:nvPr/>
        </p:nvSpPr>
        <p:spPr>
          <a:xfrm>
            <a:off x="868680" y="1700640"/>
            <a:ext cx="511560" cy="511560"/>
          </a:xfrm>
          <a:prstGeom prst="ellipse">
            <a:avLst/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5"/>
          <p:cNvSpPr/>
          <p:nvPr/>
        </p:nvSpPr>
        <p:spPr>
          <a:xfrm>
            <a:off x="868680" y="170064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 6"/>
          <p:cNvSpPr/>
          <p:nvPr/>
        </p:nvSpPr>
        <p:spPr>
          <a:xfrm>
            <a:off x="1600200" y="1645920"/>
            <a:ext cx="30628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2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Ditari im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 7"/>
          <p:cNvSpPr/>
          <p:nvPr/>
        </p:nvSpPr>
        <p:spPr>
          <a:xfrm>
            <a:off x="4800600" y="1645920"/>
            <a:ext cx="66290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Dritare me JTextArea + buton 'Ruaj'. Kur klikohet, teksti shkruhet në ditari.txt. Shto edhe një buton 'Hap' që e lexon prapa.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Shape 8"/>
          <p:cNvSpPr/>
          <p:nvPr/>
        </p:nvSpPr>
        <p:spPr>
          <a:xfrm>
            <a:off x="594360" y="2496240"/>
            <a:ext cx="11018160" cy="840960"/>
          </a:xfrm>
          <a:prstGeom prst="roundRect">
            <a:avLst>
              <a:gd name="adj" fmla="val 9783"/>
            </a:avLst>
          </a:prstGeom>
          <a:solidFill>
            <a:srgbClr val="F2F5F9"/>
          </a:solidFill>
          <a:ln w="12700">
            <a:solidFill>
              <a:srgbClr val="DB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Shape 9"/>
          <p:cNvSpPr/>
          <p:nvPr/>
        </p:nvSpPr>
        <p:spPr>
          <a:xfrm>
            <a:off x="868680" y="2660760"/>
            <a:ext cx="511560" cy="511560"/>
          </a:xfrm>
          <a:prstGeom prst="ellipse">
            <a:avLst/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10"/>
          <p:cNvSpPr/>
          <p:nvPr/>
        </p:nvSpPr>
        <p:spPr>
          <a:xfrm>
            <a:off x="868680" y="266076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11"/>
          <p:cNvSpPr/>
          <p:nvPr/>
        </p:nvSpPr>
        <p:spPr>
          <a:xfrm>
            <a:off x="1600200" y="2606040"/>
            <a:ext cx="30628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2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Numëruesi që kujton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12"/>
          <p:cNvSpPr/>
          <p:nvPr/>
        </p:nvSpPr>
        <p:spPr>
          <a:xfrm>
            <a:off x="4800600" y="2606040"/>
            <a:ext cx="66290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Zgjero numëruesin e L11: ruaj vlerën në një skedar; kur hapet sërish aplikacioni, e lexon dhe vazhdon nga aty (jo nga 0!).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Shape 13"/>
          <p:cNvSpPr/>
          <p:nvPr/>
        </p:nvSpPr>
        <p:spPr>
          <a:xfrm>
            <a:off x="594360" y="3456360"/>
            <a:ext cx="11018160" cy="840960"/>
          </a:xfrm>
          <a:prstGeom prst="roundRect">
            <a:avLst>
              <a:gd name="adj" fmla="val 9783"/>
            </a:avLst>
          </a:prstGeom>
          <a:solidFill>
            <a:srgbClr val="F8FAFC"/>
          </a:solidFill>
          <a:ln w="12700">
            <a:solidFill>
              <a:srgbClr val="DB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Shape 14"/>
          <p:cNvSpPr/>
          <p:nvPr/>
        </p:nvSpPr>
        <p:spPr>
          <a:xfrm>
            <a:off x="868680" y="3620880"/>
            <a:ext cx="511560" cy="511560"/>
          </a:xfrm>
          <a:prstGeom prst="ellipse">
            <a:avLst/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15"/>
          <p:cNvSpPr/>
          <p:nvPr/>
        </p:nvSpPr>
        <p:spPr>
          <a:xfrm>
            <a:off x="868680" y="362088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16"/>
          <p:cNvSpPr/>
          <p:nvPr/>
        </p:nvSpPr>
        <p:spPr>
          <a:xfrm>
            <a:off x="1600200" y="3566160"/>
            <a:ext cx="30628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2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Regjistri i produkteve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17"/>
          <p:cNvSpPr/>
          <p:nvPr/>
        </p:nvSpPr>
        <p:spPr>
          <a:xfrm>
            <a:off x="4800600" y="3566160"/>
            <a:ext cx="66290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Si kontaktet, por për produkte: emri;çmimi;sasia. Shto, ruaj në skedar, dhe shfaqi të gjitha të renditura me numër.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Shape 18"/>
          <p:cNvSpPr/>
          <p:nvPr/>
        </p:nvSpPr>
        <p:spPr>
          <a:xfrm>
            <a:off x="594360" y="4416480"/>
            <a:ext cx="11018160" cy="840960"/>
          </a:xfrm>
          <a:prstGeom prst="roundRect">
            <a:avLst>
              <a:gd name="adj" fmla="val 9783"/>
            </a:avLst>
          </a:prstGeom>
          <a:solidFill>
            <a:srgbClr val="F2F5F9"/>
          </a:solidFill>
          <a:ln w="12700">
            <a:solidFill>
              <a:srgbClr val="DB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Shape 19"/>
          <p:cNvSpPr/>
          <p:nvPr/>
        </p:nvSpPr>
        <p:spPr>
          <a:xfrm>
            <a:off x="868680" y="4581000"/>
            <a:ext cx="511560" cy="511560"/>
          </a:xfrm>
          <a:prstGeom prst="ellipse">
            <a:avLst/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20"/>
          <p:cNvSpPr/>
          <p:nvPr/>
        </p:nvSpPr>
        <p:spPr>
          <a:xfrm>
            <a:off x="868680" y="458100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21"/>
          <p:cNvSpPr/>
          <p:nvPr/>
        </p:nvSpPr>
        <p:spPr>
          <a:xfrm>
            <a:off x="1600200" y="4526280"/>
            <a:ext cx="30628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2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Sfidë: kërkimi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 22"/>
          <p:cNvSpPr/>
          <p:nvPr/>
        </p:nvSpPr>
        <p:spPr>
          <a:xfrm>
            <a:off x="4800600" y="4526280"/>
            <a:ext cx="66290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Te regjistri i kontakteve shto një fushë kërkimi: shkruaj një emër, dhe shfaq vetëm kontaktet që përputhen (lexo skedarin + filtro).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Shape 23"/>
          <p:cNvSpPr/>
          <p:nvPr/>
        </p:nvSpPr>
        <p:spPr>
          <a:xfrm>
            <a:off x="594360" y="5596200"/>
            <a:ext cx="11018160" cy="548280"/>
          </a:xfrm>
          <a:prstGeom prst="roundRect">
            <a:avLst>
              <a:gd name="adj" fmla="val 13333"/>
            </a:avLst>
          </a:prstGeom>
          <a:solidFill>
            <a:srgbClr val="1420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24"/>
          <p:cNvSpPr/>
          <p:nvPr/>
        </p:nvSpPr>
        <p:spPr>
          <a:xfrm>
            <a:off x="914400" y="5596200"/>
            <a:ext cx="10515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Dorëzimi:  </a:t>
            </a: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repo me 4 commit-e + link + një pamje e aplikacionit. Ngarko edhe skedarin .txt që prodhoi programi juaj!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25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20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26"/>
          <p:cNvSpPr/>
          <p:nvPr/>
        </p:nvSpPr>
        <p:spPr>
          <a:xfrm>
            <a:off x="548640" y="63550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Java · Leksioni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LibreOffice/26.2.2.2$Linux_X86_64 LibreOffice_project/1f77d10d6938fd34972958f64b2bcfa54f8b1ba5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2026-09-04T13:00:30Z</dcterms:created>
  <dc:creator>Kreni</dc:creator>
  <dc:description/>
  <dc:language>en-US</dc:language>
  <cp:lastModifiedBy/>
  <dcterms:modified xsi:type="dcterms:W3CDTF">2026-09-04T15:04:28Z</dcterms:modified>
  <cp:revision>2</cp:revision>
  <dc:subject>PptxGenJS Presentation</dc:subject>
  <dc:title>Java — Leksioni 12: GUI dhe puna me skedarë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20</vt:i4>
  </property>
  <property fmtid="{D5CDD505-2E9C-101B-9397-08002B2CF9AE}" pid="3" name="PresentationFormat">
    <vt:lpwstr>On-screen Show (16:9)</vt:lpwstr>
  </property>
  <property fmtid="{D5CDD505-2E9C-101B-9397-08002B2CF9AE}" pid="4" name="Slides">
    <vt:i4>20</vt:i4>
  </property>
</Properties>
</file>