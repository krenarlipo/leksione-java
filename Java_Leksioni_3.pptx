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Leksioni i tretë dhe i fundit i bllokut 'procedural' — javën tjetër fillojmë klasat dhe objektet. Sot: thellim te metodat (mbingarkimi, metoda që thërrasin metoda) dhe tema kryesore — vargjet. Vizuali në titull tregon menjëherë idenë: kuti të njëpasnjëshme me indekse.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e ardhshme nisin klasat dhe objektet — sot mbyllim themelin procedural. Nëse diskutimi i FizzBuzz zgjat, merrni kohë nga pjesa e ArrayList (mund të shtyhet në fillim të leksionit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Kontrolloni me ngritje dore kush e zgjidhi FizzBuzz. Pyesni: 'kush e vuri 3-shin të parin dhe iu prish 15-a?' — ky është mësimi i vërtetë. Lidheni me else-if nga leksioni 2: ndalon te kushti i parë true. Maksimumi 5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Koncepti: metodat ndërtohen mbi metoda — si tulla mbi tulla. hipotenuza përdor katrori dy herë dhe Math.sqrt të Java-s. Ky është parimi i dekompozimit: problem i madh = metoda të vogla. Përmendni që Math ka edhe Math.pow, Math.abs, Math.max.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Mbingarkimi lidhet direkt me println që studentët e njohin — ky është momenti 'aha'. Kujdes: NUK mjafton të ndryshojë vetëm tipi i kthimit; duhet të ndryshojnë parametrat. max(max(a,b),c) tregon edhe thirrjen e brendshme — lidhje me slajdin e mëparshëm.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Motivimi para sintaksës, si gjithmonë. Pyesni klasën: 'si do t'i ruanit notat e 30 studentëve?' Lërini të ndiejnë dhimbjen e 30 variablave. Pastaj zbulojeni zgjidhjen. Theksoni: i njëjti tip — një varg int mban vetëm 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Slajdi më i rëndësishëm i ditës. Indeksimi nga 0 është burimi #1 i konfuzionit — përsëriteni tri herë: elementi i PARË ka indeksin 0, i FUNDIT ka length-1. Vizuali me kutinë e theksuar (indeksi 2 → vlera 7) e bën konkret.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Mënyra 1 (initializer list) për shembuj dhe testime; mënyra 2 (new int[n]) kur të dhënat vijnë gjatë ekzekutimit. Pyetje kontrolli: çfarë përmban new int[5] fillimisht? (pesë zero). Vlerat default: int→0, double→0.0, boolean→false, String→null.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Lexim me notat[i], shkrim me notat[i] = vlera. .length pa kllapa (ndryshe nga metodat!) — gabim i shpeshtë: notat.length() nuk kompilon. ArrayIndexOutOfBounds do ta shohin të gjithë së shpejti — normalizojeni: 'kur ta shihni, kontrolloni indekset'.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Modeli i artë: for (int i = 0; i &lt; varg.length; i++). Theksoni FORT: &lt; dhe jo &lt;= — me &lt;= merrni OutOfBounds. Kjo lidhet me slajdin 7: indeksi i fundit është length-1. Ky model do t'ju shoqërojë gjithë karrierën.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for-each është sheqer sintaksor — më pak vend për gabime (s'ka indekse, s'ka OutOfBounds). Por kufizimi: NUK mund të ndryshoni elementet e vargut përmes variablës së ciklit (nota = 10 nuk e ndryshon vargun). Për ndryshime — for klasik.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 modelet më të kërkuara në provime dhe intervista. Mesatarja = accumulator i leksionit 2 mbi varg. Te max: pse nisim me notat[0] dhe jo me 0? Sepse me nota negative, 0 do jepte rezultat të gabuar! Kjo pyetje ndan studentët që mendojnë thellë.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Kulmi i tre leksioneve: variabla, cikle, if, metoda dhe vargje — të gjitha në 10 rreshta. Kjo metodë mesatarja(int[]) është e ripërdorshme kudo. Detaj i avancuar (nëse pyesin): vargjet kalohen 'by reference' — ndryshimet brenda metodës ndikojnë vargun origjinal. Përndryshe lëreni për leksionin e klasave.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Hyrje 5-minutëshe — thellimi vjen me klasat javën tjetër (ArrayList ËSHTË klasë, kjo është ura perfekte!). Tri veprimet bazë: add, get, size. Mos hyni te gjeneriket në detaje; thoni vetëm '&lt;String&gt; tregon çfarë mban lista'.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herën e kaluar: 8 minuta, në letër, pa shënime. Të gjitha pyetjet kanë të bëjnë me indekset dhe modelet e sotme. Vëzhgoni ku ngecin — zakonisht te pyetja 4 (metodë + varg).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v[1]=8, v[3]=16, shuma 24 — përgjigja a. Kurthi: kush numëron nga 1 merr 4+15=19 (përgjigja b ekziston pikërisht për ta kapur këtë!). Q2: length=6, kushti &lt; — 6 herë, përgjigja b; printon gjashtë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v[0] merr vlerën e v[2] (9), v[2] mbetet 9 — përgjigja b. Q4: numëron elementet &gt; 10: janë 12 dhe 30 — pra 2, përgjigja a. Kurthi: 10 NUK është &gt; 10 (krahasim strikt)! Kush zgjodhi b, e futi 10-ën gabimisht.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Diskutoni PSE-në për secilën. Q1 dhe Q4 kanë kurthe klasike (numërimi nga 1; krahasimi strikt). Vizatoni vargun e Q3 në tabelë para dhe pas kopjimit. Këto katër pyetje mbulojnë 90% të gabimeve që bëjnë fillestarët me vargjet.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këtë mbyllet blloku procedural: variabla → cikle → metoda → vargje. Java tjetër hapet kapitulli i madh: klasat dhe objektet. Lidhja: ArrayList që pamë sot ËSHTË klasë — tashmë keni prekur botën e objekteve pa e ditur!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 3 kërkon for me indeks zbritës (lidhje me Q1 të quiz-it të leksionit 2!). Detyra 4 është sfiduese — sugjerim nëse pyesin: përdorni një varg të dytë numërues me 11 pozicione, ku indeksi = nota. Kjo i përgatit për konceptin e histogramit.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 (Arrays)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Shumë vlera në një variabël të vetme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41248" y="3383280"/>
            <a:ext cx="960120" cy="64008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33832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" y="40507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801368" y="3383280"/>
            <a:ext cx="960120" cy="64008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01368" y="33832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01368" y="40507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761488" y="3383280"/>
            <a:ext cx="960120" cy="64008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61488" y="33832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61488" y="40507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721608" y="3383280"/>
            <a:ext cx="960120" cy="640080"/>
          </a:xfrm>
          <a:prstGeom prst="rect">
            <a:avLst/>
          </a:prstGeom>
          <a:solidFill>
            <a:srgbClr val="E8730C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21608" y="33832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21608" y="40507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81728" y="3383280"/>
            <a:ext cx="960120" cy="64008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81728" y="338328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81728" y="40507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41248" y="461772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60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Fillestar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60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6243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 &amp; detyrat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04672" y="306324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Metodat, FizzBuzz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6243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më të avancuara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626864" y="306324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Mbingarkimi, thirrje zinxhir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62432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 — hyrje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449056" y="306324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Koncepti, krijimi, indekset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651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 me vargje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804672" y="5404104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Ciklet, shuma, max, metodat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651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— vargu dinamik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4626864" y="5404104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get, size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6519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50" dirty="0"/>
          </a:p>
        </p:txBody>
      </p:sp>
      <p:sp>
        <p:nvSpPr>
          <p:cNvPr id="41" name="Text 32"/>
          <p:cNvSpPr/>
          <p:nvPr/>
        </p:nvSpPr>
        <p:spPr>
          <a:xfrm>
            <a:off x="8449056" y="5404104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4 E JAVËS SË KALUAR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 — zgjidhja e FizzBuzz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30936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585216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"FizzBuzz"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"Fizz"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"Buzz"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0" y="173736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Kurthi kryesor: renditja e kushteve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% 15 == 0 (të dyja) DUHET kontrolluar i pari — përndryshe 15 do të printonte vetëm "Fizz".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funksionon % 15?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numër që pjesëtohet me 3 DHE me 5, pjesëtohet me 15.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Alternativë: (i % 3 == 0 &amp;&amp; i % 5 == 0)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operatorin logjik &amp;&amp; nga leksioni 1.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MË TË AVANCUARA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që thërrasin metoda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85800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640080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katrori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hipotenuza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katrori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katrori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hipotenuza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5.0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092440" y="178308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339328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Zinxhiri i thirrjeve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339328" y="2487168"/>
            <a:ext cx="3017520" cy="475488"/>
          </a:xfrm>
          <a:prstGeom prst="roundRect">
            <a:avLst>
              <a:gd name="adj" fmla="val 13462"/>
            </a:avLst>
          </a:prstGeom>
          <a:solidFill>
            <a:srgbClr val="E8730C"/>
          </a:solidFill>
          <a:ln/>
        </p:spPr>
      </p:sp>
      <p:sp>
        <p:nvSpPr>
          <p:cNvPr id="14" name="Text 11"/>
          <p:cNvSpPr/>
          <p:nvPr/>
        </p:nvSpPr>
        <p:spPr>
          <a:xfrm>
            <a:off x="8503920" y="24871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main(...)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394192" y="3108960"/>
            <a:ext cx="2962656" cy="475488"/>
          </a:xfrm>
          <a:prstGeom prst="roundRect">
            <a:avLst>
              <a:gd name="adj" fmla="val 13462"/>
            </a:avLst>
          </a:prstGeom>
          <a:solidFill>
            <a:srgbClr val="27395C"/>
          </a:solidFill>
          <a:ln/>
        </p:spPr>
      </p:sp>
      <p:sp>
        <p:nvSpPr>
          <p:cNvPr id="16" name="Text 13"/>
          <p:cNvSpPr/>
          <p:nvPr/>
        </p:nvSpPr>
        <p:spPr>
          <a:xfrm>
            <a:off x="8558784" y="3108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hipotenuza(3, 4)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449056" y="3730752"/>
            <a:ext cx="2907792" cy="475488"/>
          </a:xfrm>
          <a:prstGeom prst="roundRect">
            <a:avLst>
              <a:gd name="adj" fmla="val 13462"/>
            </a:avLst>
          </a:prstGeom>
          <a:solidFill>
            <a:srgbClr val="27395C"/>
          </a:solidFill>
          <a:ln/>
        </p:spPr>
      </p:sp>
      <p:sp>
        <p:nvSpPr>
          <p:cNvPr id="18" name="Text 15"/>
          <p:cNvSpPr/>
          <p:nvPr/>
        </p:nvSpPr>
        <p:spPr>
          <a:xfrm>
            <a:off x="8613648" y="37307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katrori(3) → 9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03920" y="4352544"/>
            <a:ext cx="2852928" cy="475488"/>
          </a:xfrm>
          <a:prstGeom prst="roundRect">
            <a:avLst>
              <a:gd name="adj" fmla="val 13462"/>
            </a:avLst>
          </a:prstGeom>
          <a:solidFill>
            <a:srgbClr val="27395C"/>
          </a:solidFill>
          <a:ln/>
        </p:spPr>
      </p:sp>
      <p:sp>
        <p:nvSpPr>
          <p:cNvPr id="20" name="Text 17"/>
          <p:cNvSpPr/>
          <p:nvPr/>
        </p:nvSpPr>
        <p:spPr>
          <a:xfrm>
            <a:off x="8668512" y="435254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katrori(4) → 16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558784" y="4974336"/>
            <a:ext cx="2798064" cy="475488"/>
          </a:xfrm>
          <a:prstGeom prst="roundRect">
            <a:avLst>
              <a:gd name="adj" fmla="val 13462"/>
            </a:avLst>
          </a:prstGeom>
          <a:solidFill>
            <a:srgbClr val="27395C"/>
          </a:solidFill>
          <a:ln/>
        </p:spPr>
      </p:sp>
      <p:sp>
        <p:nvSpPr>
          <p:cNvPr id="22" name="Text 19"/>
          <p:cNvSpPr/>
          <p:nvPr/>
        </p:nvSpPr>
        <p:spPr>
          <a:xfrm>
            <a:off x="8723376" y="49743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Math.sqrt(25) → 5.0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4400" y="5349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Math.sqrt është metodë e gatshme e Java-s — rrënja katrore. Ju tashmë përdorni metoda të të tjerëve çdo ditë!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NJËJTI EMËR, PARAMETRA TË NDRYSHËM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Mbingarkimi i metodave (overloading)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30936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585216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max(4, 9)      -&gt; 9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max(4, 9, 2)   -&gt; 9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0" y="173736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metoda me të njëjtin emër?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Po! — mjafton që parametrat të ndryshojnë (në numër ose tip).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zgjedh vetë versionin e duhur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Sipas argumenteve që jepni në thirrje.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Vëreni elegancën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me 3 numra ripërdor max-in me 2 numra.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315200" y="475488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FBEDD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50749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01000" y="486460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keni parë tashmë: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println pranon int, double, String… — është metodë e mbingarkuar!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DUHEN VARGJET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Problemi: 30 nota, 30 variabla?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VARG — e papërballueshme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1920240"/>
            <a:ext cx="5394960" cy="2542032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77440"/>
            <a:ext cx="49377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nota3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nota4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deri te nota30 ?!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nota2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nota3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A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VARG — një variabël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920240"/>
            <a:ext cx="516636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1031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803136" y="21031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7004304" y="21031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656832" y="2377440"/>
            <a:ext cx="4709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 gjitha notat ne nje strukture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 lexojme dhe perpunojme me cikel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94360" y="4709160"/>
            <a:ext cx="11018520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" y="48646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(array) = radhë kutish të të njëjtit tip, nën një emër të vetëm, ku secila kuti ka numrin e vet (indeksin).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 punojnë dorë për dore me ciklet: cikli kalon nëpër indekse, vargu mban vlerat.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ELEMENTET DHE INDEKSET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e një vargu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5669280" cy="740664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5212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51560" y="3246120"/>
            <a:ext cx="1371600" cy="91440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05156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423160" y="3246120"/>
            <a:ext cx="1371600" cy="91440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2316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42316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794760" y="3246120"/>
            <a:ext cx="1371600" cy="914400"/>
          </a:xfrm>
          <a:prstGeom prst="rect">
            <a:avLst/>
          </a:prstGeom>
          <a:solidFill>
            <a:srgbClr val="E8730C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9476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379476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166360" y="3246120"/>
            <a:ext cx="1371600" cy="91440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16636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537960" y="3246120"/>
            <a:ext cx="1371600" cy="914400"/>
          </a:xfrm>
          <a:prstGeom prst="rect">
            <a:avLst/>
          </a:prstGeom>
          <a:solidFill>
            <a:srgbClr val="1E3050"/>
          </a:solidFill>
          <a:ln w="15875">
            <a:solidFill>
              <a:srgbClr val="3A4E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53796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017520" y="4709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notat[2] → 7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8229600" y="178308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1E3050"/>
          </a:solidFill>
          <a:ln/>
        </p:spPr>
      </p:sp>
      <p:sp>
        <p:nvSpPr>
          <p:cNvPr id="28" name="Text 25"/>
          <p:cNvSpPr/>
          <p:nvPr/>
        </p:nvSpPr>
        <p:spPr>
          <a:xfrm>
            <a:off x="8476488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Mbani mend: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476488" y="2450592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Indekset nisin nga 0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Elementi i parë: notat[0], i fundit: notat[4]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notat.length → 5 (gjatësia)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Indeksi i fundit = length - 1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KRIJIMI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mënyra për të krijuar një varg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69164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916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Me vlera direkt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68680" y="2514600"/>
            <a:ext cx="480060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69848" y="26974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71016" y="26974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72184" y="26974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124712" y="2971800"/>
            <a:ext cx="4343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ditet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"Hene"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"Marte"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"Merkure"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86968" y="48920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i dimë vlerat që në fillim. Gjatësia caktohet vetë.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69164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E8730C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169164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Bosh, me madhësi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92240" y="2514600"/>
            <a:ext cx="480060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93408" y="26974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94576" y="26974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95744" y="26974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748272" y="2971800"/>
            <a:ext cx="434340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{0, 0, 0, 0, 0}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mbushim me vone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10528" y="48920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vlerat vijnë më vonë. int mbushet me 0, String me null.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 BAZË ME ELEMENTE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Leximi, ndryshimi dhe gjatësia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67512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621792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  (lexim)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ndryshim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680960" y="1645920"/>
            <a:ext cx="3931920" cy="2286000"/>
          </a:xfrm>
          <a:prstGeom prst="roundRect">
            <a:avLst>
              <a:gd name="adj" fmla="val 3600"/>
            </a:avLst>
          </a:prstGeom>
          <a:solidFill>
            <a:srgbClr val="FBEAE7"/>
          </a:solidFill>
          <a:ln w="12700">
            <a:solidFill>
              <a:srgbClr val="E8A99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Gabimi më i famshëm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936992" y="2331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notat[5] = 1;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B2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ArrayIndexOutOfBoundsException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me 5 elemente ka indekse 0–4. Indeksi 5 nuk ekziston!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943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pas ndryshimit notat[2] = 10: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21792" y="4846320"/>
            <a:ext cx="12344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BE2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792" y="48463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21792" y="5559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8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1856232" y="4846320"/>
            <a:ext cx="12344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BE2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56232" y="48463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1856232" y="5559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8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090672" y="4846320"/>
            <a:ext cx="1234440" cy="685800"/>
          </a:xfrm>
          <a:prstGeom prst="rect">
            <a:avLst/>
          </a:prstGeom>
          <a:solidFill>
            <a:srgbClr val="E8730C"/>
          </a:solidFill>
          <a:ln w="15875">
            <a:solidFill>
              <a:srgbClr val="DBE2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90672" y="48463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3090672" y="5559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325112" y="4846320"/>
            <a:ext cx="12344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BE2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25112" y="48463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4325112" y="5559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8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559552" y="4846320"/>
            <a:ext cx="12344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BE2E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559552" y="48463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00" dirty="0"/>
          </a:p>
        </p:txBody>
      </p:sp>
      <p:sp>
        <p:nvSpPr>
          <p:cNvPr id="30" name="Text 26"/>
          <p:cNvSpPr/>
          <p:nvPr/>
        </p:nvSpPr>
        <p:spPr>
          <a:xfrm>
            <a:off x="5559552" y="5559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8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 + VARGU = EKIPI PERFEKT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Kalimi nëpër varg me for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766560" cy="1874520"/>
          </a:xfrm>
          <a:prstGeom prst="roundRect">
            <a:avLst>
              <a:gd name="adj" fmla="val 439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6309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 "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4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01000" y="1783080"/>
            <a:ext cx="3611880" cy="2514600"/>
          </a:xfrm>
          <a:prstGeom prst="roundRect">
            <a:avLst>
              <a:gd name="adj" fmla="val 3273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9659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59368" y="1965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75320" y="2404872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0: 8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1: 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2: 7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3: 9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4: 6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914400" y="4206240"/>
            <a:ext cx="10698480" cy="1463040"/>
          </a:xfrm>
          <a:prstGeom prst="roundRect">
            <a:avLst>
              <a:gd name="adj" fmla="val 5625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1188720" y="43708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Vëreni modelin standard: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188720" y="47091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(nisim nga indeksi i parë)   •  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 notat.length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(JO &lt;=, sepse indeksi i fundit është length−1)   •  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notat[i]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(indeksi ndryshon çdo herë)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NUK NA DUHET INDEKSI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for-each — mënyra e shkurtër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44068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49834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 indeks (klasik)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4924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666597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86714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2148840"/>
            <a:ext cx="4892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for-each (i shkurter)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640" y="3429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Lexohet: "për çdo nota në notat…"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94360" y="4069080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E9F4EC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069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 for-each kur: 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vetëm lexon vlerat, një nga një, nga fillimi në fund.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4360" y="5029200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BEDDD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 for me indeks kur: 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duhet indeksi, ndryshon elemente, ose kërcen pozicione.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 ME VARGJE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modele klasike: mesatarja dhe maksimumi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39496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493776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MESATARJA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4924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666597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686714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6519672" y="2148840"/>
            <a:ext cx="489204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MAKSIMUMI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434340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4805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Accumulator-i nga leksioni 2!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shuma += nota është shkurtim i shuma = shuma + nota. (double) detyron pjesëtim me presje.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63640" y="434340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Nisim me elementin e parë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= notat[0]), pastaj krahasojmë me radhë. Çdo herë që gjejmë më të madh — e ruajmë.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GJITHÇKA BASHKOHET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 + metodat = fuqia e plotë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6949440" cy="3584448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240280"/>
            <a:ext cx="64922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mesatarja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shuma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mesatarja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8.0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83880" y="178308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Vëreni: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12480" y="2450592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int[] si tip parametri — vargu udhëton drejt metodës si çdo vlerë tjetër.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funksionon për ÇDO varg — 5 nota apo 5000.</a:t>
            </a:r>
            <a:endParaRPr lang="en-US" sz="13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Kombinon: varg + cikël + accumulator + return.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MADHËSIA NDRYSHON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— vargu dinamik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58368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612648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shton ne fund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"Beni"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"Klea"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Beni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emrat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heq "Ana"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89520" y="1645920"/>
            <a:ext cx="4023360" cy="3794760"/>
          </a:xfrm>
          <a:prstGeom prst="roundRect">
            <a:avLst>
              <a:gd name="adj" fmla="val 2169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 ArrayList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286000"/>
          <a:ext cx="35204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97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int[]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Madhësia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fikse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rritet vetë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v[i]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.get(i)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Gjatësia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.length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.size()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Shtimi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.add(x)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7863840" y="47091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Detaj: ArrayList mban objekte — për numra shkruhet ArrayList&lt;Integer&gt;, jo &lt;int&gt;.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4360" y="5486400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FBEDD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509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55595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 praktik: 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madhësi e njohur → array; lista që rritet/tkurret → ArrayList.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86000" y="4572000"/>
            <a:ext cx="7616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Kujdes te indekset — aty fshihen kurthet!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INDEKSET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ky kod?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herë ekzekutohet println?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92240" y="4297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herë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herë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herë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VARGJE + METODA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ky kod?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1760220"/>
          </a:xfrm>
          <a:prstGeom prst="roundRect">
            <a:avLst>
              <a:gd name="adj" fmla="val 467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42519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3 9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9 9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kthen thirrja numero(v)?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306324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thirrja: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5532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24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06240" y="1810512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v[1] = 8 dhe v[3] = 16 → 8 + 16 = 24. Indekset nisin nga 0!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6 herë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06240" y="2889504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v.length = 6; kushti i &lt; 6 ekzekutohet për i = 0…5. Printon gjashtë zero.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9 9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06240" y="3968496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v[0] = v[2] kopjon vlerën 9 te indeksi 0; v[2] nuk ndryshon.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2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206240" y="504748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Vetëm 12 dhe 30 janë &gt; 10. Kujdes: 10 &gt; 10 është false — krahasim strikt.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gati për klasat! · 2 saktë: përsëritni indekset · 0–1: ushtrohuni me detyrat dhe ejani në konsultime.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të avancuara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Thirrje zinxhir &amp; mbingarkimi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Shumë vlera, një emër, indekse nga 0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.length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Gjatësia; indeksi i fundit = length − 1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&amp; for-each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Kalimi standard nëpër elemente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Modelet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Shuma, mesatarja, maksimumi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dinamik: add, get, size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min(int[] v)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943600" y="164592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Kthen elementin më të vogël të vargut (modeli i max, i përmbysur).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Numërimi i çifteve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0" y="260604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Metodë që kthen sa elemente çift ka një varg int.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Kthimi mbrapsht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943600" y="356616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Printo elementet e një vargu nga fundi te fillimi (indeksi zbritës).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nota më e shpeshtë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5943600" y="452628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një varg notash 1–10, gjej cila notë përsëritet më shumë herë.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tjetër: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klasat dhe objektet — kapitulli i madh i programimit të orientuar nga objektet (OOP).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3: Vargjet (Arrays)</dc:title>
  <dc:subject>PptxGenJS Presentation</dc:subject>
  <dc:creator>Kreni</dc:creator>
  <cp:lastModifiedBy>Kreni</cp:lastModifiedBy>
  <cp:revision>1</cp:revision>
  <dcterms:created xsi:type="dcterms:W3CDTF">2026-07-10T12:50:16Z</dcterms:created>
  <dcterms:modified xsi:type="dcterms:W3CDTF">2026-07-10T12:50:16Z</dcterms:modified>
</cp:coreProperties>
</file>