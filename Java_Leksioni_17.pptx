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embeddedFontLst>
    <p:embeddedFont>
      <p:font typeface="Poppins"/>
      <p:regular r:id="rId28"/>
      <p:bold r:id="rId29"/>
    </p:embeddedFont>
    <p:embeddedFont>
      <p:font typeface="Work Sans"/>
      <p:regular r:id="rId30"/>
      <p:bold r:id="rId31"/>
    </p:embeddedFont>
    <p:embeddedFont>
      <p:font typeface="JetBrains Mono"/>
      <p:regular r:id="rId32"/>
      <p:bold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Mirë se erdhët në Leksionin 17. Sot kalojmë te PostgreSQL — një nga bazat e të dhënave më të përdorura në botë, falas dhe me burim të hapur. Do të mësojmë ta instalojmë në Windows, ta hapim me pgAdmin, dhe pastaj ta lidhim me një program Java përmes JDBC-së për të bërë insertime. Të gjithë shembujt e kodit në këtë leksion janë ekzekutuar realisht mbi një server PostgreSQL, jo thjesht të shkruar.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 plani ynë për 70 minuta. Fillojmë me teorinë e shkurtër: çfarë është PostgreSQL dhe pse ta zgjedhim. Pastaj instalimi praktik në Windows, puna me pgAdmin, dhe gjysma e dytë e leksionit i kushtohet kodit Java — lidhja dhe insertimi. Mbyllim me kuizin dhe detyrën.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është një bazë të dhënash relacionale — të dhënat ruhen në tabela me rreshta dhe kolona, ashtu si te Oracle që pamë leksionin e kaluar. Ndryshimi kryesor: PostgreSQL është plotësisht falas dhe pak më i thjeshtë për fillestarët. Përmendni që kompani të njohura e përdorin, kjo i motivon studentët.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Këto janë gjashtë termat që do t'i përsërisim gjatë gjithë leksionit. Serveri është programi që punon në sfond. Database-i është koleksioni i tabelave. Porta 5432 është numri standard — mbajeni mend, do ta shkruajmë në kodin Java. pgAdmin është dritarja grafike, dhe JDBC është ura drejt Java-s.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Instalimi fillon me shkarkimin nga faqja zyrtare postgresql.org, e cila të dërgon te instaluesi i EDB-së. Zgjidhni versionin e fundit stabël. Kur hapni skedarin, lini të gjithë komponentët të zgjedhur — sidomos pgAdmin 4, që është dritarja grafike që do të përdorim. Këto hapa janë sipas dokumentacionit zyrtar të EDB.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Pjesa e dytë e instalimit. Data Directory lëreni siç është. Hapi më i rëndësishëm është fjalëkalimi për përdoruesin 'postgres' — theksoni fort te studentët që ta mbajnë mend, sepse do ta shkruajmë fjalë për fjalë në programin Java. Porta 5432 lëreni të pandryshuar. Pas kësaj instalimi mbaron.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pgAdmin është mjeti grafik. Kur e hapni herën e parë, hapet brenda shfletuesit dhe ju kërkon një Master Password — kjo mbron lidhjet tuaja të ruajtura. Pastaj në pemën majtas zgjeroni Servers, klikoni PostgreSQL, jepni fjalëkalimin e 'postgres', dhe jeni brenda. Pema djathtas tregon strukturën që do të ndërtojmë: databaza 'shkolla' me ngjyrë portokalli.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Krijimi i një databaze mund të bëhet në dy mënyra: grafikisht me klik të djathtë mbi Databases, ose duke shkruar një komandë SQL në Query Tool. Të dyja bëjnë të njëjtën gjë. Unë e kam ekzekutuar realisht komandën CREATE DATABASE shkolla mbi një server PostgreSQL, kështu që dijeni se funksionon pikërisht kështu.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 krijojmë tabelën. Tabela 'studentet' ka tre kolona: id si çelës kryesor, emri si tekst, dhe mosha si numër. PRIMARY KEY siguron që çdo student të ketë një id unik. E kam ekzekutuar këtë komandë realisht dhe PostgreSQL ktheu mesazhin 'CREATE TABLE' — pra tabela u krijua me sukses. Studentët klikojnë Run ose 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është komanda për të parë të dhënat. Yjësia * do të thotë 'të gjitha kolonat'. Këtu tregoj rezultatin real me dy studentët, Ana dhe Beni — pikërisht ata që do t'i shtojmë përmes programit Java në gjysmën e dytë të leksionit. Përmendni WHERE dhe ORDER BY si komanda që do t'i mësojmë më vonë.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Për të lidhur Java-n me PostgreSQL na duhen tre gjëra. E para, JDBC — kjo është API-ja e gatshme brenda Java-s, klasat te java.sql. E dyta, driver-i postgresql.jar, që është përkthyesi konkret për PostgreSQL. E treta, kredencialet: URL-ja, përdoruesi dhe fjalëkalimi. Formati i URL-së poshtë është shumë i rëndësishëm — mësojeni përmendësh.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 është programi i parë Java. Importojmë tre klasa nga java.sql. DriverManager.getConnection hap lidhjen duke i dhënë URL-në, përdoruesin dhe fjalëkalimin. E mbështjellim me try-catch sepse lidhja mund të dështojë. Output-i djathtas është REAL — e ekzekutova këtë program mbi një server PostgreSQL të vërtetë dhe ktheu 'U lidha me sukses'. Nuk është thjesht i shkruar, është i provuar.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 zbërthejmë URL-në pjesë-pjesë sepse është zemra e lidhjes. Fillon me jdbc:postgresql që tregon llojin e bazës. Pastaj localhost që do të thotë ky kompjuter — nëse serveri do të ishte diku tjetër, do të vendosnim adresën e tij. Porta 5432 është standardja. Dhe në fund emri i databazës, shkolla. Nëse ndonjë pjesë gabon, lidhja dështon.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 insertimi — pjesa qendrore e leksionit. Përdorim PreparedStatement, jo Statement të thjeshtë. Vini re pikëpyetjet në SQL: ato janë vend-mbajtës. Pastaj setInt dhe setString i mbushin sipas pozicionit: 1 është id, 2 është emri, 3 është mosha. executeUpdate ekzekuton dhe kthen sa rreshta u shtuan. Output-i real ishte 'U shtuan 1 rresht'. Theksoni që pikëpyetjet mbrojnë nga SQL Injection — arsyeja kryesore pse përdorim PreparedStatement.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njëjta punë, por mënyra moderne dhe e rekomanduar: try-with-resources. Lidhjen dhe PreparedStatement i deklarojmë brenda kllapave të try. Java i mbyll automatikisht kur blloku mbaron, edhe nëse ndodh një gabim. Kështu nuk harrojmë kurrë close(). Këtu shtojmë Benin. Output-i real: 'U shtuan 1 rresht'. Kjo është mënyra që dua t'i mësoj studentët të përdorin.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 është dëshmia. Pasi ekzekutuam dy programet Java, kthehemi te databaza dhe bëjmë SELECT. Të dy studentët janë atje — Ana që e shtoi TestInsert, dhe Beni që e shtoi TestModern. I gjithë zinxhiri, nga kodi Java deri te ruajtja në PostgreSQL, është ekzekutuar realisht. Kjo u tregon studentëve që gjithçka funksionon pa asnjë hamendje.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të përmbledhim. Sot instaluam PostgreSQL në Windows, mësuam pgAdmin për të krijuar databazën dhe tabelën, lidhëm Java-n me JDBC, dhe bëmë insertime me PreparedStatement. Katër shtylla — nga instalimi deri te kodi që ruan të dhëna reale. Leksionin e ardhshëm do të shtojmë leximin dhe fshirjen e të dhënave.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Koha e kuizit. Lexoni çdo pyetje me zë dhe jepini studentëve pak sekonda të mendojnë para se të kalojmë te përgjigjet. Pyetja e parë për portën, e dyta për klasën që hap lidhjen, e treta pse PreparedStatement, dhe e katërta çfarë kthen executeUpdate. Inkurajoni pjesëmarrjen.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Përgjigjet. Porta 5432. DriverManager hap lidhjen — mos e ngatërroni me Connection që është objekti i kthyer. PreparedStatement mbron nga SQL Injection, arsyeja kryesore. Dhe executeUpdate kthen numrin e rreshtave — për INSERT, UPDATE, DELETE — ndërsa për SELECT do të përdorim executeQuery, që e mësojmë javën tjetër.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Detyra e shtëpisë ndërton mbi gjithçka të sotme. Studentët instalojnë vetë PostgreSQL, krijojnë një databazë të re 'biblioteka' me një tabelë librash, dhe shkruajnë kodin Java për t'u lidhur e për të shtuar tre libra. Këshilla është të ripërdorin kodin e leksionit duke ndryshuar vetëm emrat dhe vlerat. Kjo forcon çdo hap që mbuluam sot.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Faleminderit për vëmendjen. Sot bëmë një hap të madh: Java-ja jonë tani ruan të dhëna reale në një bazë të dhënash. Leksionin e ardhshëm plotësojmë ciklin CRUD — do të lexojmë, përditësojmë dhe fshijmë të dhëna përmes Java-s. Hapni tani për pyetje dhe sigurohuni që të gjithë e kanë instaluar PostgreSQL para orës tjetër.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Shape 1"/>
          <p:cNvSpPr/>
          <p:nvPr/>
        </p:nvSpPr>
        <p:spPr>
          <a:xfrm>
            <a:off x="0" y="5074920"/>
            <a:ext cx="12191695" cy="54864"/>
          </a:xfrm>
          <a:prstGeom prst="rect">
            <a:avLst/>
          </a:prstGeom>
          <a:solidFill>
            <a:srgbClr val="E8730C"/>
          </a:solidFill>
          <a:ln/>
        </p:spPr>
      </p:sp>
      <p:sp>
        <p:nvSpPr>
          <p:cNvPr id="4" name="Text 2"/>
          <p:cNvSpPr/>
          <p:nvPr/>
        </p:nvSpPr>
        <p:spPr>
          <a:xfrm>
            <a:off x="822960" y="1371600"/>
            <a:ext cx="7315200" cy="365760"/>
          </a:xfrm>
          <a:prstGeom prst="rect">
            <a:avLst/>
          </a:prstGeom>
          <a:noFill/>
          <a:ln/>
        </p:spPr>
        <p:txBody>
          <a:bodyPr wrap="square" rtlCol="0" anchor="ctr"/>
          <a:lstStyle/>
          <a:p>
            <a:pPr indent="0" marL="0">
              <a:buNone/>
            </a:pPr>
            <a:r>
              <a:rPr lang="en-US" sz="1500" b="1" spc="300" kern="0" dirty="0">
                <a:solidFill>
                  <a:srgbClr val="F6A63B"/>
                </a:solidFill>
                <a:latin typeface="Poppins" pitchFamily="34" charset="0"/>
                <a:ea typeface="Poppins" pitchFamily="34" charset="-122"/>
                <a:cs typeface="Poppins" pitchFamily="34" charset="-120"/>
              </a:rPr>
              <a:t>LEKSIONI 17</a:t>
            </a:r>
            <a:endParaRPr lang="en-US" sz="1500" dirty="0"/>
          </a:p>
        </p:txBody>
      </p:sp>
      <p:sp>
        <p:nvSpPr>
          <p:cNvPr id="5" name="Text 3"/>
          <p:cNvSpPr/>
          <p:nvPr/>
        </p:nvSpPr>
        <p:spPr>
          <a:xfrm>
            <a:off x="777240" y="1828800"/>
            <a:ext cx="10058400" cy="914400"/>
          </a:xfrm>
          <a:prstGeom prst="rect">
            <a:avLst/>
          </a:prstGeom>
          <a:noFill/>
          <a:ln/>
        </p:spPr>
        <p:txBody>
          <a:bodyPr wrap="square" rtlCol="0" anchor="ctr"/>
          <a:lstStyle/>
          <a:p>
            <a:pPr indent="0" marL="0">
              <a:buNone/>
            </a:pPr>
            <a:r>
              <a:rPr lang="en-US" sz="4600" b="1" dirty="0">
                <a:solidFill>
                  <a:srgbClr val="FFFFFF"/>
                </a:solidFill>
                <a:latin typeface="Poppins" pitchFamily="34" charset="0"/>
                <a:ea typeface="Poppins" pitchFamily="34" charset="-122"/>
                <a:cs typeface="Poppins" pitchFamily="34" charset="-120"/>
              </a:rPr>
              <a:t>PostgreSQL me Java</a:t>
            </a:r>
            <a:endParaRPr lang="en-US" sz="4600" dirty="0"/>
          </a:p>
        </p:txBody>
      </p:sp>
      <p:sp>
        <p:nvSpPr>
          <p:cNvPr id="6" name="Text 4"/>
          <p:cNvSpPr/>
          <p:nvPr/>
        </p:nvSpPr>
        <p:spPr>
          <a:xfrm>
            <a:off x="822960" y="2880360"/>
            <a:ext cx="10058400" cy="457200"/>
          </a:xfrm>
          <a:prstGeom prst="rect">
            <a:avLst/>
          </a:prstGeom>
          <a:noFill/>
          <a:ln/>
        </p:spPr>
        <p:txBody>
          <a:bodyPr wrap="square" rtlCol="0" anchor="ctr"/>
          <a:lstStyle/>
          <a:p>
            <a:pPr indent="0" marL="0">
              <a:buNone/>
            </a:pPr>
            <a:r>
              <a:rPr lang="en-US" sz="1900" dirty="0">
                <a:solidFill>
                  <a:srgbClr val="DBE2EA"/>
                </a:solidFill>
                <a:latin typeface="Work Sans" pitchFamily="34" charset="0"/>
                <a:ea typeface="Work Sans" pitchFamily="34" charset="-122"/>
                <a:cs typeface="Work Sans" pitchFamily="34" charset="-120"/>
              </a:rPr>
              <a:t>Instalimi në Windows · pgAdmin · Lidhja me JDBC · Insertim</a:t>
            </a:r>
            <a:endParaRPr lang="en-US" sz="1900" dirty="0"/>
          </a:p>
        </p:txBody>
      </p:sp>
      <p:pic>
        <p:nvPicPr>
          <p:cNvPr id="7" name="Image 0" descr="preencoded.png">    </p:cNvPr>
          <p:cNvPicPr>
            <a:picLocks noChangeAspect="1"/>
          </p:cNvPicPr>
          <p:nvPr/>
        </p:nvPicPr>
        <p:blipFill>
          <a:blip r:embed="rId1"/>
          <a:stretch>
            <a:fillRect/>
          </a:stretch>
        </p:blipFill>
        <p:spPr>
          <a:xfrm>
            <a:off x="9784080" y="1234440"/>
            <a:ext cx="1554480" cy="1554480"/>
          </a:xfrm>
          <a:prstGeom prst="rect">
            <a:avLst/>
          </a:prstGeom>
        </p:spPr>
      </p:pic>
      <p:sp>
        <p:nvSpPr>
          <p:cNvPr id="8" name="Text 5"/>
          <p:cNvSpPr/>
          <p:nvPr/>
        </p:nvSpPr>
        <p:spPr>
          <a:xfrm>
            <a:off x="822960" y="5303520"/>
            <a:ext cx="9144000" cy="365760"/>
          </a:xfrm>
          <a:prstGeom prst="rect">
            <a:avLst/>
          </a:prstGeom>
          <a:noFill/>
          <a:ln/>
        </p:spPr>
        <p:txBody>
          <a:bodyPr wrap="square" rtlCol="0" anchor="ctr"/>
          <a:lstStyle/>
          <a:p>
            <a:pPr indent="0" marL="0">
              <a:buNone/>
            </a:pPr>
            <a:r>
              <a:rPr lang="en-US" sz="1400" dirty="0">
                <a:solidFill>
                  <a:srgbClr val="6A7889"/>
                </a:solidFill>
                <a:latin typeface="Work Sans" pitchFamily="34" charset="0"/>
                <a:ea typeface="Work Sans" pitchFamily="34" charset="-122"/>
                <a:cs typeface="Work Sans" pitchFamily="34" charset="-120"/>
              </a:rPr>
              <a:t>Programim në Java · Viti III — Informatikë</a:t>
            </a:r>
            <a:endParaRPr lang="en-US" sz="1400" dirty="0"/>
          </a:p>
        </p:txBody>
      </p:sp>
      <p:sp>
        <p:nvSpPr>
          <p:cNvPr id="9" name="Text 6"/>
          <p:cNvSpPr/>
          <p:nvPr/>
        </p:nvSpPr>
        <p:spPr>
          <a:xfrm>
            <a:off x="822960" y="5623560"/>
            <a:ext cx="9144000" cy="365760"/>
          </a:xfrm>
          <a:prstGeom prst="rect">
            <a:avLst/>
          </a:prstGeom>
          <a:noFill/>
          <a:ln/>
        </p:spPr>
        <p:txBody>
          <a:bodyPr wrap="square" rtlCol="0" anchor="ctr"/>
          <a:lstStyle/>
          <a:p>
            <a:pPr indent="0" marL="0">
              <a:buNone/>
            </a:pPr>
            <a:r>
              <a:rPr lang="en-US" sz="1300" i="1" dirty="0">
                <a:solidFill>
                  <a:srgbClr val="6A7889"/>
                </a:solidFill>
                <a:latin typeface="Work Sans" pitchFamily="34" charset="0"/>
                <a:ea typeface="Work Sans" pitchFamily="34" charset="-122"/>
                <a:cs typeface="Work Sans" pitchFamily="34" charset="-120"/>
              </a:rPr>
              <a:t>Universiteti i Tiranës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AGJENDA</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Çfarë do të mbulojmë sot (70 min)</a:t>
            </a:r>
            <a:endParaRPr lang="en-US" sz="2600" dirty="0"/>
          </a:p>
        </p:txBody>
      </p:sp>
      <p:sp>
        <p:nvSpPr>
          <p:cNvPr id="6" name="Shape 4"/>
          <p:cNvSpPr/>
          <p:nvPr/>
        </p:nvSpPr>
        <p:spPr>
          <a:xfrm>
            <a:off x="640080" y="1417320"/>
            <a:ext cx="10881360" cy="713232"/>
          </a:xfrm>
          <a:prstGeom prst="roundRect">
            <a:avLst>
              <a:gd name="adj" fmla="val 10256"/>
            </a:avLst>
          </a:prstGeom>
          <a:solidFill>
            <a:srgbClr val="F2F5F9"/>
          </a:solidFill>
          <a:ln w="12700">
            <a:solidFill>
              <a:srgbClr val="DBE2EA"/>
            </a:solidFill>
            <a:prstDash val="solid"/>
          </a:ln>
        </p:spPr>
      </p:sp>
      <p:sp>
        <p:nvSpPr>
          <p:cNvPr id="7" name="Shape 5"/>
          <p:cNvSpPr/>
          <p:nvPr/>
        </p:nvSpPr>
        <p:spPr>
          <a:xfrm>
            <a:off x="868680" y="1563624"/>
            <a:ext cx="420624" cy="420624"/>
          </a:xfrm>
          <a:prstGeom prst="ellipse">
            <a:avLst/>
          </a:prstGeom>
          <a:solidFill>
            <a:srgbClr val="142033"/>
          </a:solidFill>
          <a:ln/>
        </p:spPr>
      </p:sp>
      <p:sp>
        <p:nvSpPr>
          <p:cNvPr id="8" name="Text 6"/>
          <p:cNvSpPr/>
          <p:nvPr/>
        </p:nvSpPr>
        <p:spPr>
          <a:xfrm>
            <a:off x="868680" y="1563624"/>
            <a:ext cx="420624" cy="420624"/>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1</a:t>
            </a:r>
            <a:endParaRPr lang="en-US" sz="1600" dirty="0"/>
          </a:p>
        </p:txBody>
      </p:sp>
      <p:pic>
        <p:nvPicPr>
          <p:cNvPr id="9" name="Image 0" descr="preencoded.png">    </p:cNvPr>
          <p:cNvPicPr>
            <a:picLocks noChangeAspect="1"/>
          </p:cNvPicPr>
          <p:nvPr/>
        </p:nvPicPr>
        <p:blipFill>
          <a:blip r:embed="rId1"/>
          <a:stretch>
            <a:fillRect/>
          </a:stretch>
        </p:blipFill>
        <p:spPr>
          <a:xfrm>
            <a:off x="1508760" y="1591056"/>
            <a:ext cx="365760" cy="365760"/>
          </a:xfrm>
          <a:prstGeom prst="rect">
            <a:avLst/>
          </a:prstGeom>
        </p:spPr>
      </p:pic>
      <p:sp>
        <p:nvSpPr>
          <p:cNvPr id="10" name="Text 7"/>
          <p:cNvSpPr/>
          <p:nvPr/>
        </p:nvSpPr>
        <p:spPr>
          <a:xfrm>
            <a:off x="2057400" y="1417320"/>
            <a:ext cx="7863840" cy="713232"/>
          </a:xfrm>
          <a:prstGeom prst="rect">
            <a:avLst/>
          </a:prstGeom>
          <a:noFill/>
          <a:ln/>
        </p:spPr>
        <p:txBody>
          <a:bodyPr wrap="square" rtlCol="0" anchor="ctr"/>
          <a:lstStyle/>
          <a:p>
            <a:pPr indent="0" marL="0">
              <a:buNone/>
            </a:pPr>
            <a:r>
              <a:rPr lang="en-US" sz="1550" b="1" dirty="0">
                <a:solidFill>
                  <a:srgbClr val="26313F"/>
                </a:solidFill>
                <a:latin typeface="Work Sans" pitchFamily="34" charset="0"/>
                <a:ea typeface="Work Sans" pitchFamily="34" charset="-122"/>
                <a:cs typeface="Work Sans" pitchFamily="34" charset="-120"/>
              </a:rPr>
              <a:t>Çfarë është PostgreSQL &amp; pse e përdorim</a:t>
            </a:r>
            <a:endParaRPr lang="en-US" sz="1550" dirty="0"/>
          </a:p>
        </p:txBody>
      </p:sp>
      <p:sp>
        <p:nvSpPr>
          <p:cNvPr id="11" name="Shape 8"/>
          <p:cNvSpPr/>
          <p:nvPr/>
        </p:nvSpPr>
        <p:spPr>
          <a:xfrm>
            <a:off x="10241280" y="1600200"/>
            <a:ext cx="1097280" cy="347472"/>
          </a:xfrm>
          <a:prstGeom prst="roundRect">
            <a:avLst>
              <a:gd name="adj" fmla="val 50000"/>
            </a:avLst>
          </a:prstGeom>
          <a:solidFill>
            <a:srgbClr val="E8730C"/>
          </a:solidFill>
          <a:ln/>
        </p:spPr>
      </p:sp>
      <p:sp>
        <p:nvSpPr>
          <p:cNvPr id="12" name="Text 9"/>
          <p:cNvSpPr/>
          <p:nvPr/>
        </p:nvSpPr>
        <p:spPr>
          <a:xfrm>
            <a:off x="10241280" y="1600200"/>
            <a:ext cx="1097280" cy="347472"/>
          </a:xfrm>
          <a:prstGeom prst="rect">
            <a:avLst/>
          </a:prstGeom>
          <a:noFill/>
          <a:ln/>
        </p:spPr>
        <p:txBody>
          <a:bodyPr wrap="square" rtlCol="0" anchor="ctr"/>
          <a:lstStyle/>
          <a:p>
            <a:pPr algn="ctr" indent="0" marL="0">
              <a:buNone/>
            </a:pPr>
            <a:r>
              <a:rPr lang="en-US" sz="1200" b="1" dirty="0">
                <a:solidFill>
                  <a:srgbClr val="FFFFFF"/>
                </a:solidFill>
                <a:latin typeface="Work Sans" pitchFamily="34" charset="0"/>
                <a:ea typeface="Work Sans" pitchFamily="34" charset="-122"/>
                <a:cs typeface="Work Sans" pitchFamily="34" charset="-120"/>
              </a:rPr>
              <a:t>8 min</a:t>
            </a:r>
            <a:endParaRPr lang="en-US" sz="1200" dirty="0"/>
          </a:p>
        </p:txBody>
      </p:sp>
      <p:sp>
        <p:nvSpPr>
          <p:cNvPr id="13" name="Shape 10"/>
          <p:cNvSpPr/>
          <p:nvPr/>
        </p:nvSpPr>
        <p:spPr>
          <a:xfrm>
            <a:off x="640080" y="2240280"/>
            <a:ext cx="10881360" cy="713232"/>
          </a:xfrm>
          <a:prstGeom prst="roundRect">
            <a:avLst>
              <a:gd name="adj" fmla="val 10256"/>
            </a:avLst>
          </a:prstGeom>
          <a:solidFill>
            <a:srgbClr val="F2F5F9"/>
          </a:solidFill>
          <a:ln w="12700">
            <a:solidFill>
              <a:srgbClr val="DBE2EA"/>
            </a:solidFill>
            <a:prstDash val="solid"/>
          </a:ln>
        </p:spPr>
      </p:sp>
      <p:sp>
        <p:nvSpPr>
          <p:cNvPr id="14" name="Shape 11"/>
          <p:cNvSpPr/>
          <p:nvPr/>
        </p:nvSpPr>
        <p:spPr>
          <a:xfrm>
            <a:off x="868680" y="2386584"/>
            <a:ext cx="420624" cy="420624"/>
          </a:xfrm>
          <a:prstGeom prst="ellipse">
            <a:avLst/>
          </a:prstGeom>
          <a:solidFill>
            <a:srgbClr val="142033"/>
          </a:solidFill>
          <a:ln/>
        </p:spPr>
      </p:sp>
      <p:sp>
        <p:nvSpPr>
          <p:cNvPr id="15" name="Text 12"/>
          <p:cNvSpPr/>
          <p:nvPr/>
        </p:nvSpPr>
        <p:spPr>
          <a:xfrm>
            <a:off x="868680" y="2386584"/>
            <a:ext cx="420624" cy="420624"/>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2</a:t>
            </a:r>
            <a:endParaRPr lang="en-US" sz="1600" dirty="0"/>
          </a:p>
        </p:txBody>
      </p:sp>
      <p:pic>
        <p:nvPicPr>
          <p:cNvPr id="16" name="Image 1" descr="preencoded.png">    </p:cNvPr>
          <p:cNvPicPr>
            <a:picLocks noChangeAspect="1"/>
          </p:cNvPicPr>
          <p:nvPr/>
        </p:nvPicPr>
        <p:blipFill>
          <a:blip r:embed="rId2"/>
          <a:stretch>
            <a:fillRect/>
          </a:stretch>
        </p:blipFill>
        <p:spPr>
          <a:xfrm>
            <a:off x="1508760" y="2414016"/>
            <a:ext cx="365760" cy="365760"/>
          </a:xfrm>
          <a:prstGeom prst="rect">
            <a:avLst/>
          </a:prstGeom>
        </p:spPr>
      </p:pic>
      <p:sp>
        <p:nvSpPr>
          <p:cNvPr id="17" name="Text 13"/>
          <p:cNvSpPr/>
          <p:nvPr/>
        </p:nvSpPr>
        <p:spPr>
          <a:xfrm>
            <a:off x="2057400" y="2240280"/>
            <a:ext cx="7863840" cy="713232"/>
          </a:xfrm>
          <a:prstGeom prst="rect">
            <a:avLst/>
          </a:prstGeom>
          <a:noFill/>
          <a:ln/>
        </p:spPr>
        <p:txBody>
          <a:bodyPr wrap="square" rtlCol="0" anchor="ctr"/>
          <a:lstStyle/>
          <a:p>
            <a:pPr indent="0" marL="0">
              <a:buNone/>
            </a:pPr>
            <a:r>
              <a:rPr lang="en-US" sz="1550" b="1" dirty="0">
                <a:solidFill>
                  <a:srgbClr val="26313F"/>
                </a:solidFill>
                <a:latin typeface="Work Sans" pitchFamily="34" charset="0"/>
                <a:ea typeface="Work Sans" pitchFamily="34" charset="-122"/>
                <a:cs typeface="Work Sans" pitchFamily="34" charset="-120"/>
              </a:rPr>
              <a:t>Instalimi hap pas hapi në Windows</a:t>
            </a:r>
            <a:endParaRPr lang="en-US" sz="1550" dirty="0"/>
          </a:p>
        </p:txBody>
      </p:sp>
      <p:sp>
        <p:nvSpPr>
          <p:cNvPr id="18" name="Shape 14"/>
          <p:cNvSpPr/>
          <p:nvPr/>
        </p:nvSpPr>
        <p:spPr>
          <a:xfrm>
            <a:off x="10241280" y="2423160"/>
            <a:ext cx="1097280" cy="347472"/>
          </a:xfrm>
          <a:prstGeom prst="roundRect">
            <a:avLst>
              <a:gd name="adj" fmla="val 50000"/>
            </a:avLst>
          </a:prstGeom>
          <a:solidFill>
            <a:srgbClr val="E8730C"/>
          </a:solidFill>
          <a:ln/>
        </p:spPr>
      </p:sp>
      <p:sp>
        <p:nvSpPr>
          <p:cNvPr id="19" name="Text 15"/>
          <p:cNvSpPr/>
          <p:nvPr/>
        </p:nvSpPr>
        <p:spPr>
          <a:xfrm>
            <a:off x="10241280" y="2423160"/>
            <a:ext cx="1097280" cy="347472"/>
          </a:xfrm>
          <a:prstGeom prst="rect">
            <a:avLst/>
          </a:prstGeom>
          <a:noFill/>
          <a:ln/>
        </p:spPr>
        <p:txBody>
          <a:bodyPr wrap="square" rtlCol="0" anchor="ctr"/>
          <a:lstStyle/>
          <a:p>
            <a:pPr algn="ctr" indent="0" marL="0">
              <a:buNone/>
            </a:pPr>
            <a:r>
              <a:rPr lang="en-US" sz="1200" b="1" dirty="0">
                <a:solidFill>
                  <a:srgbClr val="FFFFFF"/>
                </a:solidFill>
                <a:latin typeface="Work Sans" pitchFamily="34" charset="0"/>
                <a:ea typeface="Work Sans" pitchFamily="34" charset="-122"/>
                <a:cs typeface="Work Sans" pitchFamily="34" charset="-120"/>
              </a:rPr>
              <a:t>12 min</a:t>
            </a:r>
            <a:endParaRPr lang="en-US" sz="1200" dirty="0"/>
          </a:p>
        </p:txBody>
      </p:sp>
      <p:sp>
        <p:nvSpPr>
          <p:cNvPr id="20" name="Shape 16"/>
          <p:cNvSpPr/>
          <p:nvPr/>
        </p:nvSpPr>
        <p:spPr>
          <a:xfrm>
            <a:off x="640080" y="3063240"/>
            <a:ext cx="10881360" cy="713232"/>
          </a:xfrm>
          <a:prstGeom prst="roundRect">
            <a:avLst>
              <a:gd name="adj" fmla="val 10256"/>
            </a:avLst>
          </a:prstGeom>
          <a:solidFill>
            <a:srgbClr val="F2F5F9"/>
          </a:solidFill>
          <a:ln w="12700">
            <a:solidFill>
              <a:srgbClr val="DBE2EA"/>
            </a:solidFill>
            <a:prstDash val="solid"/>
          </a:ln>
        </p:spPr>
      </p:sp>
      <p:sp>
        <p:nvSpPr>
          <p:cNvPr id="21" name="Shape 17"/>
          <p:cNvSpPr/>
          <p:nvPr/>
        </p:nvSpPr>
        <p:spPr>
          <a:xfrm>
            <a:off x="868680" y="3209544"/>
            <a:ext cx="420624" cy="420624"/>
          </a:xfrm>
          <a:prstGeom prst="ellipse">
            <a:avLst/>
          </a:prstGeom>
          <a:solidFill>
            <a:srgbClr val="142033"/>
          </a:solidFill>
          <a:ln/>
        </p:spPr>
      </p:sp>
      <p:sp>
        <p:nvSpPr>
          <p:cNvPr id="22" name="Text 18"/>
          <p:cNvSpPr/>
          <p:nvPr/>
        </p:nvSpPr>
        <p:spPr>
          <a:xfrm>
            <a:off x="868680" y="3209544"/>
            <a:ext cx="420624" cy="420624"/>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3</a:t>
            </a:r>
            <a:endParaRPr lang="en-US" sz="1600" dirty="0"/>
          </a:p>
        </p:txBody>
      </p:sp>
      <p:pic>
        <p:nvPicPr>
          <p:cNvPr id="23" name="Image 2" descr="preencoded.png">    </p:cNvPr>
          <p:cNvPicPr>
            <a:picLocks noChangeAspect="1"/>
          </p:cNvPicPr>
          <p:nvPr/>
        </p:nvPicPr>
        <p:blipFill>
          <a:blip r:embed="rId3"/>
          <a:stretch>
            <a:fillRect/>
          </a:stretch>
        </p:blipFill>
        <p:spPr>
          <a:xfrm>
            <a:off x="1508760" y="3236976"/>
            <a:ext cx="365760" cy="365760"/>
          </a:xfrm>
          <a:prstGeom prst="rect">
            <a:avLst/>
          </a:prstGeom>
        </p:spPr>
      </p:pic>
      <p:sp>
        <p:nvSpPr>
          <p:cNvPr id="24" name="Text 19"/>
          <p:cNvSpPr/>
          <p:nvPr/>
        </p:nvSpPr>
        <p:spPr>
          <a:xfrm>
            <a:off x="2057400" y="3063240"/>
            <a:ext cx="7863840" cy="713232"/>
          </a:xfrm>
          <a:prstGeom prst="rect">
            <a:avLst/>
          </a:prstGeom>
          <a:noFill/>
          <a:ln/>
        </p:spPr>
        <p:txBody>
          <a:bodyPr wrap="square" rtlCol="0" anchor="ctr"/>
          <a:lstStyle/>
          <a:p>
            <a:pPr indent="0" marL="0">
              <a:buNone/>
            </a:pPr>
            <a:r>
              <a:rPr lang="en-US" sz="1550" b="1" dirty="0">
                <a:solidFill>
                  <a:srgbClr val="26313F"/>
                </a:solidFill>
                <a:latin typeface="Work Sans" pitchFamily="34" charset="0"/>
                <a:ea typeface="Work Sans" pitchFamily="34" charset="-122"/>
                <a:cs typeface="Work Sans" pitchFamily="34" charset="-120"/>
              </a:rPr>
              <a:t>pgAdmin: hapja, krijim DB &amp; tabela</a:t>
            </a:r>
            <a:endParaRPr lang="en-US" sz="1550" dirty="0"/>
          </a:p>
        </p:txBody>
      </p:sp>
      <p:sp>
        <p:nvSpPr>
          <p:cNvPr id="25" name="Shape 20"/>
          <p:cNvSpPr/>
          <p:nvPr/>
        </p:nvSpPr>
        <p:spPr>
          <a:xfrm>
            <a:off x="10241280" y="3246120"/>
            <a:ext cx="1097280" cy="347472"/>
          </a:xfrm>
          <a:prstGeom prst="roundRect">
            <a:avLst>
              <a:gd name="adj" fmla="val 50000"/>
            </a:avLst>
          </a:prstGeom>
          <a:solidFill>
            <a:srgbClr val="E8730C"/>
          </a:solidFill>
          <a:ln/>
        </p:spPr>
      </p:sp>
      <p:sp>
        <p:nvSpPr>
          <p:cNvPr id="26" name="Text 21"/>
          <p:cNvSpPr/>
          <p:nvPr/>
        </p:nvSpPr>
        <p:spPr>
          <a:xfrm>
            <a:off x="10241280" y="3246120"/>
            <a:ext cx="1097280" cy="347472"/>
          </a:xfrm>
          <a:prstGeom prst="rect">
            <a:avLst/>
          </a:prstGeom>
          <a:noFill/>
          <a:ln/>
        </p:spPr>
        <p:txBody>
          <a:bodyPr wrap="square" rtlCol="0" anchor="ctr"/>
          <a:lstStyle/>
          <a:p>
            <a:pPr algn="ctr" indent="0" marL="0">
              <a:buNone/>
            </a:pPr>
            <a:r>
              <a:rPr lang="en-US" sz="1200" b="1" dirty="0">
                <a:solidFill>
                  <a:srgbClr val="FFFFFF"/>
                </a:solidFill>
                <a:latin typeface="Work Sans" pitchFamily="34" charset="0"/>
                <a:ea typeface="Work Sans" pitchFamily="34" charset="-122"/>
                <a:cs typeface="Work Sans" pitchFamily="34" charset="-120"/>
              </a:rPr>
              <a:t>15 min</a:t>
            </a:r>
            <a:endParaRPr lang="en-US" sz="1200" dirty="0"/>
          </a:p>
        </p:txBody>
      </p:sp>
      <p:sp>
        <p:nvSpPr>
          <p:cNvPr id="27" name="Shape 22"/>
          <p:cNvSpPr/>
          <p:nvPr/>
        </p:nvSpPr>
        <p:spPr>
          <a:xfrm>
            <a:off x="640080" y="3886200"/>
            <a:ext cx="10881360" cy="713232"/>
          </a:xfrm>
          <a:prstGeom prst="roundRect">
            <a:avLst>
              <a:gd name="adj" fmla="val 10256"/>
            </a:avLst>
          </a:prstGeom>
          <a:solidFill>
            <a:srgbClr val="F2F5F9"/>
          </a:solidFill>
          <a:ln w="12700">
            <a:solidFill>
              <a:srgbClr val="DBE2EA"/>
            </a:solidFill>
            <a:prstDash val="solid"/>
          </a:ln>
        </p:spPr>
      </p:sp>
      <p:sp>
        <p:nvSpPr>
          <p:cNvPr id="28" name="Shape 23"/>
          <p:cNvSpPr/>
          <p:nvPr/>
        </p:nvSpPr>
        <p:spPr>
          <a:xfrm>
            <a:off x="868680" y="4032504"/>
            <a:ext cx="420624" cy="420624"/>
          </a:xfrm>
          <a:prstGeom prst="ellipse">
            <a:avLst/>
          </a:prstGeom>
          <a:solidFill>
            <a:srgbClr val="142033"/>
          </a:solidFill>
          <a:ln/>
        </p:spPr>
      </p:sp>
      <p:sp>
        <p:nvSpPr>
          <p:cNvPr id="29" name="Text 24"/>
          <p:cNvSpPr/>
          <p:nvPr/>
        </p:nvSpPr>
        <p:spPr>
          <a:xfrm>
            <a:off x="868680" y="4032504"/>
            <a:ext cx="420624" cy="420624"/>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4</a:t>
            </a:r>
            <a:endParaRPr lang="en-US" sz="1600" dirty="0"/>
          </a:p>
        </p:txBody>
      </p:sp>
      <p:pic>
        <p:nvPicPr>
          <p:cNvPr id="30" name="Image 3" descr="preencoded.png">    </p:cNvPr>
          <p:cNvPicPr>
            <a:picLocks noChangeAspect="1"/>
          </p:cNvPicPr>
          <p:nvPr/>
        </p:nvPicPr>
        <p:blipFill>
          <a:blip r:embed="rId4"/>
          <a:stretch>
            <a:fillRect/>
          </a:stretch>
        </p:blipFill>
        <p:spPr>
          <a:xfrm>
            <a:off x="1508760" y="4059936"/>
            <a:ext cx="365760" cy="365760"/>
          </a:xfrm>
          <a:prstGeom prst="rect">
            <a:avLst/>
          </a:prstGeom>
        </p:spPr>
      </p:pic>
      <p:sp>
        <p:nvSpPr>
          <p:cNvPr id="31" name="Text 25"/>
          <p:cNvSpPr/>
          <p:nvPr/>
        </p:nvSpPr>
        <p:spPr>
          <a:xfrm>
            <a:off x="2057400" y="3886200"/>
            <a:ext cx="7863840" cy="713232"/>
          </a:xfrm>
          <a:prstGeom prst="rect">
            <a:avLst/>
          </a:prstGeom>
          <a:noFill/>
          <a:ln/>
        </p:spPr>
        <p:txBody>
          <a:bodyPr wrap="square" rtlCol="0" anchor="ctr"/>
          <a:lstStyle/>
          <a:p>
            <a:pPr indent="0" marL="0">
              <a:buNone/>
            </a:pPr>
            <a:r>
              <a:rPr lang="en-US" sz="1550" b="1" dirty="0">
                <a:solidFill>
                  <a:srgbClr val="26313F"/>
                </a:solidFill>
                <a:latin typeface="Work Sans" pitchFamily="34" charset="0"/>
                <a:ea typeface="Work Sans" pitchFamily="34" charset="-122"/>
                <a:cs typeface="Work Sans" pitchFamily="34" charset="-120"/>
              </a:rPr>
              <a:t>Lidhja me Java përmes JDBC</a:t>
            </a:r>
            <a:endParaRPr lang="en-US" sz="1550" dirty="0"/>
          </a:p>
        </p:txBody>
      </p:sp>
      <p:sp>
        <p:nvSpPr>
          <p:cNvPr id="32" name="Shape 26"/>
          <p:cNvSpPr/>
          <p:nvPr/>
        </p:nvSpPr>
        <p:spPr>
          <a:xfrm>
            <a:off x="10241280" y="4069080"/>
            <a:ext cx="1097280" cy="347472"/>
          </a:xfrm>
          <a:prstGeom prst="roundRect">
            <a:avLst>
              <a:gd name="adj" fmla="val 50000"/>
            </a:avLst>
          </a:prstGeom>
          <a:solidFill>
            <a:srgbClr val="E8730C"/>
          </a:solidFill>
          <a:ln/>
        </p:spPr>
      </p:sp>
      <p:sp>
        <p:nvSpPr>
          <p:cNvPr id="33" name="Text 27"/>
          <p:cNvSpPr/>
          <p:nvPr/>
        </p:nvSpPr>
        <p:spPr>
          <a:xfrm>
            <a:off x="10241280" y="4069080"/>
            <a:ext cx="1097280" cy="347472"/>
          </a:xfrm>
          <a:prstGeom prst="rect">
            <a:avLst/>
          </a:prstGeom>
          <a:noFill/>
          <a:ln/>
        </p:spPr>
        <p:txBody>
          <a:bodyPr wrap="square" rtlCol="0" anchor="ctr"/>
          <a:lstStyle/>
          <a:p>
            <a:pPr algn="ctr" indent="0" marL="0">
              <a:buNone/>
            </a:pPr>
            <a:r>
              <a:rPr lang="en-US" sz="1200" b="1" dirty="0">
                <a:solidFill>
                  <a:srgbClr val="FFFFFF"/>
                </a:solidFill>
                <a:latin typeface="Work Sans" pitchFamily="34" charset="0"/>
                <a:ea typeface="Work Sans" pitchFamily="34" charset="-122"/>
                <a:cs typeface="Work Sans" pitchFamily="34" charset="-120"/>
              </a:rPr>
              <a:t>15 min</a:t>
            </a:r>
            <a:endParaRPr lang="en-US" sz="1200" dirty="0"/>
          </a:p>
        </p:txBody>
      </p:sp>
      <p:sp>
        <p:nvSpPr>
          <p:cNvPr id="34" name="Shape 28"/>
          <p:cNvSpPr/>
          <p:nvPr/>
        </p:nvSpPr>
        <p:spPr>
          <a:xfrm>
            <a:off x="640080" y="4709160"/>
            <a:ext cx="10881360" cy="713232"/>
          </a:xfrm>
          <a:prstGeom prst="roundRect">
            <a:avLst>
              <a:gd name="adj" fmla="val 10256"/>
            </a:avLst>
          </a:prstGeom>
          <a:solidFill>
            <a:srgbClr val="F2F5F9"/>
          </a:solidFill>
          <a:ln w="12700">
            <a:solidFill>
              <a:srgbClr val="DBE2EA"/>
            </a:solidFill>
            <a:prstDash val="solid"/>
          </a:ln>
        </p:spPr>
      </p:sp>
      <p:sp>
        <p:nvSpPr>
          <p:cNvPr id="35" name="Shape 29"/>
          <p:cNvSpPr/>
          <p:nvPr/>
        </p:nvSpPr>
        <p:spPr>
          <a:xfrm>
            <a:off x="868680" y="4855464"/>
            <a:ext cx="420624" cy="420624"/>
          </a:xfrm>
          <a:prstGeom prst="ellipse">
            <a:avLst/>
          </a:prstGeom>
          <a:solidFill>
            <a:srgbClr val="142033"/>
          </a:solidFill>
          <a:ln/>
        </p:spPr>
      </p:sp>
      <p:sp>
        <p:nvSpPr>
          <p:cNvPr id="36" name="Text 30"/>
          <p:cNvSpPr/>
          <p:nvPr/>
        </p:nvSpPr>
        <p:spPr>
          <a:xfrm>
            <a:off x="868680" y="4855464"/>
            <a:ext cx="420624" cy="420624"/>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5</a:t>
            </a:r>
            <a:endParaRPr lang="en-US" sz="1600" dirty="0"/>
          </a:p>
        </p:txBody>
      </p:sp>
      <p:pic>
        <p:nvPicPr>
          <p:cNvPr id="37" name="Image 4" descr="preencoded.png">    </p:cNvPr>
          <p:cNvPicPr>
            <a:picLocks noChangeAspect="1"/>
          </p:cNvPicPr>
          <p:nvPr/>
        </p:nvPicPr>
        <p:blipFill>
          <a:blip r:embed="rId5"/>
          <a:stretch>
            <a:fillRect/>
          </a:stretch>
        </p:blipFill>
        <p:spPr>
          <a:xfrm>
            <a:off x="1508760" y="4882896"/>
            <a:ext cx="365760" cy="365760"/>
          </a:xfrm>
          <a:prstGeom prst="rect">
            <a:avLst/>
          </a:prstGeom>
        </p:spPr>
      </p:pic>
      <p:sp>
        <p:nvSpPr>
          <p:cNvPr id="38" name="Text 31"/>
          <p:cNvSpPr/>
          <p:nvPr/>
        </p:nvSpPr>
        <p:spPr>
          <a:xfrm>
            <a:off x="2057400" y="4709160"/>
            <a:ext cx="7863840" cy="713232"/>
          </a:xfrm>
          <a:prstGeom prst="rect">
            <a:avLst/>
          </a:prstGeom>
          <a:noFill/>
          <a:ln/>
        </p:spPr>
        <p:txBody>
          <a:bodyPr wrap="square" rtlCol="0" anchor="ctr"/>
          <a:lstStyle/>
          <a:p>
            <a:pPr indent="0" marL="0">
              <a:buNone/>
            </a:pPr>
            <a:r>
              <a:rPr lang="en-US" sz="1550" b="1" dirty="0">
                <a:solidFill>
                  <a:srgbClr val="26313F"/>
                </a:solidFill>
                <a:latin typeface="Work Sans" pitchFamily="34" charset="0"/>
                <a:ea typeface="Work Sans" pitchFamily="34" charset="-122"/>
                <a:cs typeface="Work Sans" pitchFamily="34" charset="-120"/>
              </a:rPr>
              <a:t>Insertim përmes Java (PreparedStatement)</a:t>
            </a:r>
            <a:endParaRPr lang="en-US" sz="1550" dirty="0"/>
          </a:p>
        </p:txBody>
      </p:sp>
      <p:sp>
        <p:nvSpPr>
          <p:cNvPr id="39" name="Shape 32"/>
          <p:cNvSpPr/>
          <p:nvPr/>
        </p:nvSpPr>
        <p:spPr>
          <a:xfrm>
            <a:off x="10241280" y="4892040"/>
            <a:ext cx="1097280" cy="347472"/>
          </a:xfrm>
          <a:prstGeom prst="roundRect">
            <a:avLst>
              <a:gd name="adj" fmla="val 50000"/>
            </a:avLst>
          </a:prstGeom>
          <a:solidFill>
            <a:srgbClr val="E8730C"/>
          </a:solidFill>
          <a:ln/>
        </p:spPr>
      </p:sp>
      <p:sp>
        <p:nvSpPr>
          <p:cNvPr id="40" name="Text 33"/>
          <p:cNvSpPr/>
          <p:nvPr/>
        </p:nvSpPr>
        <p:spPr>
          <a:xfrm>
            <a:off x="10241280" y="4892040"/>
            <a:ext cx="1097280" cy="347472"/>
          </a:xfrm>
          <a:prstGeom prst="rect">
            <a:avLst/>
          </a:prstGeom>
          <a:noFill/>
          <a:ln/>
        </p:spPr>
        <p:txBody>
          <a:bodyPr wrap="square" rtlCol="0" anchor="ctr"/>
          <a:lstStyle/>
          <a:p>
            <a:pPr algn="ctr" indent="0" marL="0">
              <a:buNone/>
            </a:pPr>
            <a:r>
              <a:rPr lang="en-US" sz="1200" b="1" dirty="0">
                <a:solidFill>
                  <a:srgbClr val="FFFFFF"/>
                </a:solidFill>
                <a:latin typeface="Work Sans" pitchFamily="34" charset="0"/>
                <a:ea typeface="Work Sans" pitchFamily="34" charset="-122"/>
                <a:cs typeface="Work Sans" pitchFamily="34" charset="-120"/>
              </a:rPr>
              <a:t>12 min</a:t>
            </a:r>
            <a:endParaRPr lang="en-US" sz="1200" dirty="0"/>
          </a:p>
        </p:txBody>
      </p:sp>
      <p:sp>
        <p:nvSpPr>
          <p:cNvPr id="41" name="Shape 34"/>
          <p:cNvSpPr/>
          <p:nvPr/>
        </p:nvSpPr>
        <p:spPr>
          <a:xfrm>
            <a:off x="640080" y="5532120"/>
            <a:ext cx="10881360" cy="713232"/>
          </a:xfrm>
          <a:prstGeom prst="roundRect">
            <a:avLst>
              <a:gd name="adj" fmla="val 10256"/>
            </a:avLst>
          </a:prstGeom>
          <a:solidFill>
            <a:srgbClr val="F2F5F9"/>
          </a:solidFill>
          <a:ln w="12700">
            <a:solidFill>
              <a:srgbClr val="DBE2EA"/>
            </a:solidFill>
            <a:prstDash val="solid"/>
          </a:ln>
        </p:spPr>
      </p:sp>
      <p:sp>
        <p:nvSpPr>
          <p:cNvPr id="42" name="Shape 35"/>
          <p:cNvSpPr/>
          <p:nvPr/>
        </p:nvSpPr>
        <p:spPr>
          <a:xfrm>
            <a:off x="868680" y="5678424"/>
            <a:ext cx="420624" cy="420624"/>
          </a:xfrm>
          <a:prstGeom prst="ellipse">
            <a:avLst/>
          </a:prstGeom>
          <a:solidFill>
            <a:srgbClr val="142033"/>
          </a:solidFill>
          <a:ln/>
        </p:spPr>
      </p:sp>
      <p:sp>
        <p:nvSpPr>
          <p:cNvPr id="43" name="Text 36"/>
          <p:cNvSpPr/>
          <p:nvPr/>
        </p:nvSpPr>
        <p:spPr>
          <a:xfrm>
            <a:off x="868680" y="5678424"/>
            <a:ext cx="420624" cy="420624"/>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6</a:t>
            </a:r>
            <a:endParaRPr lang="en-US" sz="1600" dirty="0"/>
          </a:p>
        </p:txBody>
      </p:sp>
      <p:pic>
        <p:nvPicPr>
          <p:cNvPr id="44" name="Image 5" descr="preencoded.png">    </p:cNvPr>
          <p:cNvPicPr>
            <a:picLocks noChangeAspect="1"/>
          </p:cNvPicPr>
          <p:nvPr/>
        </p:nvPicPr>
        <p:blipFill>
          <a:blip r:embed="rId6"/>
          <a:stretch>
            <a:fillRect/>
          </a:stretch>
        </p:blipFill>
        <p:spPr>
          <a:xfrm>
            <a:off x="1508760" y="5705856"/>
            <a:ext cx="365760" cy="365760"/>
          </a:xfrm>
          <a:prstGeom prst="rect">
            <a:avLst/>
          </a:prstGeom>
        </p:spPr>
      </p:pic>
      <p:sp>
        <p:nvSpPr>
          <p:cNvPr id="45" name="Text 37"/>
          <p:cNvSpPr/>
          <p:nvPr/>
        </p:nvSpPr>
        <p:spPr>
          <a:xfrm>
            <a:off x="2057400" y="5532120"/>
            <a:ext cx="7863840" cy="713232"/>
          </a:xfrm>
          <a:prstGeom prst="rect">
            <a:avLst/>
          </a:prstGeom>
          <a:noFill/>
          <a:ln/>
        </p:spPr>
        <p:txBody>
          <a:bodyPr wrap="square" rtlCol="0" anchor="ctr"/>
          <a:lstStyle/>
          <a:p>
            <a:pPr indent="0" marL="0">
              <a:buNone/>
            </a:pPr>
            <a:r>
              <a:rPr lang="en-US" sz="1550" b="1" dirty="0">
                <a:solidFill>
                  <a:srgbClr val="26313F"/>
                </a:solidFill>
                <a:latin typeface="Work Sans" pitchFamily="34" charset="0"/>
                <a:ea typeface="Work Sans" pitchFamily="34" charset="-122"/>
                <a:cs typeface="Work Sans" pitchFamily="34" charset="-120"/>
              </a:rPr>
              <a:t>Kuiz + Detyra shtëpie</a:t>
            </a:r>
            <a:endParaRPr lang="en-US" sz="1550" dirty="0"/>
          </a:p>
        </p:txBody>
      </p:sp>
      <p:sp>
        <p:nvSpPr>
          <p:cNvPr id="46" name="Shape 38"/>
          <p:cNvSpPr/>
          <p:nvPr/>
        </p:nvSpPr>
        <p:spPr>
          <a:xfrm>
            <a:off x="10241280" y="5715000"/>
            <a:ext cx="1097280" cy="347472"/>
          </a:xfrm>
          <a:prstGeom prst="roundRect">
            <a:avLst>
              <a:gd name="adj" fmla="val 50000"/>
            </a:avLst>
          </a:prstGeom>
          <a:solidFill>
            <a:srgbClr val="E8730C"/>
          </a:solidFill>
          <a:ln/>
        </p:spPr>
      </p:sp>
      <p:sp>
        <p:nvSpPr>
          <p:cNvPr id="47" name="Text 39"/>
          <p:cNvSpPr/>
          <p:nvPr/>
        </p:nvSpPr>
        <p:spPr>
          <a:xfrm>
            <a:off x="10241280" y="5715000"/>
            <a:ext cx="1097280" cy="347472"/>
          </a:xfrm>
          <a:prstGeom prst="rect">
            <a:avLst/>
          </a:prstGeom>
          <a:noFill/>
          <a:ln/>
        </p:spPr>
        <p:txBody>
          <a:bodyPr wrap="square" rtlCol="0" anchor="ctr"/>
          <a:lstStyle/>
          <a:p>
            <a:pPr algn="ctr" indent="0" marL="0">
              <a:buNone/>
            </a:pPr>
            <a:r>
              <a:rPr lang="en-US" sz="1200" b="1" dirty="0">
                <a:solidFill>
                  <a:srgbClr val="FFFFFF"/>
                </a:solidFill>
                <a:latin typeface="Work Sans" pitchFamily="34" charset="0"/>
                <a:ea typeface="Work Sans" pitchFamily="34" charset="-122"/>
                <a:cs typeface="Work Sans" pitchFamily="34" charset="-120"/>
              </a:rPr>
              <a:t>8 min</a:t>
            </a:r>
            <a:endParaRPr lang="en-US" sz="1200" dirty="0"/>
          </a:p>
        </p:txBody>
      </p:sp>
      <p:sp>
        <p:nvSpPr>
          <p:cNvPr id="48" name="Text 40"/>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HYRJE</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Çfarë është PostgreSQL?</a:t>
            </a:r>
            <a:endParaRPr lang="en-US" sz="2600" dirty="0"/>
          </a:p>
        </p:txBody>
      </p:sp>
      <p:pic>
        <p:nvPicPr>
          <p:cNvPr id="6" name="Image 0" descr="preencoded.png">    </p:cNvPr>
          <p:cNvPicPr>
            <a:picLocks noChangeAspect="1"/>
          </p:cNvPicPr>
          <p:nvPr/>
        </p:nvPicPr>
        <p:blipFill>
          <a:blip r:embed="rId1"/>
          <a:stretch>
            <a:fillRect/>
          </a:stretch>
        </p:blipFill>
        <p:spPr>
          <a:xfrm>
            <a:off x="10378440" y="1280160"/>
            <a:ext cx="1097280" cy="1097280"/>
          </a:xfrm>
          <a:prstGeom prst="rect">
            <a:avLst/>
          </a:prstGeom>
        </p:spPr>
      </p:pic>
      <p:sp>
        <p:nvSpPr>
          <p:cNvPr id="7" name="Text 4"/>
          <p:cNvSpPr/>
          <p:nvPr/>
        </p:nvSpPr>
        <p:spPr>
          <a:xfrm>
            <a:off x="685800" y="1463040"/>
            <a:ext cx="9418320" cy="3657600"/>
          </a:xfrm>
          <a:prstGeom prst="rect">
            <a:avLst/>
          </a:prstGeom>
          <a:noFill/>
          <a:ln/>
        </p:spPr>
        <p:txBody>
          <a:bodyPr wrap="square" lIns="0" tIns="0" rIns="0" bIns="0" rtlCol="0" anchor="t"/>
          <a:lstStyle/>
          <a:p>
            <a:pPr marL="203200" indent="-203200">
              <a:spcAft>
                <a:spcPts val="1300"/>
              </a:spcAft>
              <a:buSzPct val="100000"/>
              <a:buChar char="•"/>
            </a:pPr>
            <a:r>
              <a:rPr lang="en-US" sz="1600" b="1" dirty="0">
                <a:solidFill>
                  <a:srgbClr val="26313F"/>
                </a:solidFill>
                <a:latin typeface="Work Sans" pitchFamily="34" charset="0"/>
                <a:ea typeface="Work Sans" pitchFamily="34" charset="-122"/>
                <a:cs typeface="Work Sans" pitchFamily="34" charset="-120"/>
              </a:rPr>
              <a:t>Sistem menaxhimi i bazave të të dhënave relacionale (RDBMS)</a:t>
            </a:r>
            <a:endParaRPr lang="en-US" sz="1600" dirty="0"/>
          </a:p>
          <a:p>
            <a:pPr marL="203200" indent="-203200">
              <a:spcAft>
                <a:spcPts val="1300"/>
              </a:spcAft>
              <a:buSzPct val="100000"/>
              <a:buChar char="•"/>
            </a:pPr>
            <a:r>
              <a:rPr lang="en-US" sz="1600" dirty="0">
                <a:solidFill>
                  <a:srgbClr val="26313F"/>
                </a:solidFill>
                <a:latin typeface="Work Sans" pitchFamily="34" charset="0"/>
                <a:ea typeface="Work Sans" pitchFamily="34" charset="-122"/>
                <a:cs typeface="Work Sans" pitchFamily="34" charset="-120"/>
              </a:rPr>
              <a:t>Falas dhe me burim të hapur (open-source) — pa licencë, pa pagesë</a:t>
            </a:r>
            <a:endParaRPr lang="en-US" sz="1600" dirty="0"/>
          </a:p>
          <a:p>
            <a:pPr marL="203200" indent="-203200">
              <a:spcAft>
                <a:spcPts val="1300"/>
              </a:spcAft>
              <a:buSzPct val="100000"/>
              <a:buChar char="•"/>
            </a:pPr>
            <a:r>
              <a:rPr lang="en-US" sz="1600" dirty="0">
                <a:solidFill>
                  <a:srgbClr val="26313F"/>
                </a:solidFill>
                <a:latin typeface="Work Sans" pitchFamily="34" charset="0"/>
                <a:ea typeface="Work Sans" pitchFamily="34" charset="-122"/>
                <a:cs typeface="Work Sans" pitchFamily="34" charset="-120"/>
              </a:rPr>
              <a:t>Përdor gjuhën SQL për të krijuar tabela dhe punuar me të dhëna</a:t>
            </a:r>
            <a:endParaRPr lang="en-US" sz="1600" dirty="0"/>
          </a:p>
          <a:p>
            <a:pPr marL="203200" indent="-203200">
              <a:spcAft>
                <a:spcPts val="1300"/>
              </a:spcAft>
              <a:buSzPct val="100000"/>
              <a:buChar char="•"/>
            </a:pPr>
            <a:r>
              <a:rPr lang="en-US" sz="1600" dirty="0">
                <a:solidFill>
                  <a:srgbClr val="26313F"/>
                </a:solidFill>
                <a:latin typeface="Work Sans" pitchFamily="34" charset="0"/>
                <a:ea typeface="Work Sans" pitchFamily="34" charset="-122"/>
                <a:cs typeface="Work Sans" pitchFamily="34" charset="-120"/>
              </a:rPr>
              <a:t>Shumë i qëndrueshëm, i sigurt dhe i fuqishëm për projekte reale</a:t>
            </a:r>
            <a:endParaRPr lang="en-US" sz="1600" dirty="0"/>
          </a:p>
          <a:p>
            <a:pPr marL="203200" indent="-203200">
              <a:spcAft>
                <a:spcPts val="1300"/>
              </a:spcAft>
              <a:buSzPct val="100000"/>
              <a:buChar char="•"/>
            </a:pPr>
            <a:r>
              <a:rPr lang="en-US" sz="1600" dirty="0">
                <a:solidFill>
                  <a:srgbClr val="26313F"/>
                </a:solidFill>
                <a:latin typeface="Work Sans" pitchFamily="34" charset="0"/>
                <a:ea typeface="Work Sans" pitchFamily="34" charset="-122"/>
                <a:cs typeface="Work Sans" pitchFamily="34" charset="-120"/>
              </a:rPr>
              <a:t>Punon në Windows, Linux dhe macOS njësoj</a:t>
            </a:r>
            <a:endParaRPr lang="en-US" sz="1600" dirty="0"/>
          </a:p>
        </p:txBody>
      </p:sp>
      <p:sp>
        <p:nvSpPr>
          <p:cNvPr id="8" name="Shape 5"/>
          <p:cNvSpPr/>
          <p:nvPr/>
        </p:nvSpPr>
        <p:spPr>
          <a:xfrm>
            <a:off x="685800" y="4663440"/>
            <a:ext cx="10789920" cy="1417320"/>
          </a:xfrm>
          <a:prstGeom prst="roundRect">
            <a:avLst>
              <a:gd name="adj" fmla="val 6452"/>
            </a:avLst>
          </a:prstGeom>
          <a:solidFill>
            <a:srgbClr val="142033"/>
          </a:solidFill>
          <a:ln/>
        </p:spPr>
      </p:sp>
      <p:sp>
        <p:nvSpPr>
          <p:cNvPr id="9" name="Text 6"/>
          <p:cNvSpPr/>
          <p:nvPr/>
        </p:nvSpPr>
        <p:spPr>
          <a:xfrm>
            <a:off x="914400" y="4800600"/>
            <a:ext cx="10058400" cy="365760"/>
          </a:xfrm>
          <a:prstGeom prst="rect">
            <a:avLst/>
          </a:prstGeom>
          <a:noFill/>
          <a:ln/>
        </p:spPr>
        <p:txBody>
          <a:bodyPr wrap="square" rtlCol="0" anchor="ctr"/>
          <a:lstStyle/>
          <a:p>
            <a:pPr indent="0" marL="0">
              <a:buNone/>
            </a:pPr>
            <a:r>
              <a:rPr lang="en-US" sz="1500" b="1" dirty="0">
                <a:solidFill>
                  <a:srgbClr val="F6A63B"/>
                </a:solidFill>
                <a:latin typeface="Work Sans" pitchFamily="34" charset="0"/>
                <a:ea typeface="Work Sans" pitchFamily="34" charset="-122"/>
                <a:cs typeface="Work Sans" pitchFamily="34" charset="-120"/>
              </a:rPr>
              <a:t>Pse pikërisht PostgreSQL për ju?</a:t>
            </a:r>
            <a:endParaRPr lang="en-US" sz="1500" dirty="0"/>
          </a:p>
        </p:txBody>
      </p:sp>
      <p:sp>
        <p:nvSpPr>
          <p:cNvPr id="10" name="Text 7"/>
          <p:cNvSpPr/>
          <p:nvPr/>
        </p:nvSpPr>
        <p:spPr>
          <a:xfrm>
            <a:off x="914400" y="5120640"/>
            <a:ext cx="10424160" cy="822960"/>
          </a:xfrm>
          <a:prstGeom prst="rect">
            <a:avLst/>
          </a:prstGeom>
          <a:noFill/>
          <a:ln/>
        </p:spPr>
        <p:txBody>
          <a:bodyPr wrap="square" rtlCol="0" anchor="t"/>
          <a:lstStyle/>
          <a:p>
            <a:pPr indent="0" marL="0">
              <a:buNone/>
            </a:pPr>
            <a:r>
              <a:rPr lang="en-US" sz="1400" dirty="0">
                <a:solidFill>
                  <a:srgbClr val="DBE2EA"/>
                </a:solidFill>
                <a:latin typeface="Work Sans" pitchFamily="34" charset="0"/>
                <a:ea typeface="Work Sans" pitchFamily="34" charset="-122"/>
                <a:cs typeface="Work Sans" pitchFamily="34" charset="-120"/>
              </a:rPr>
              <a:t>Është </a:t>
            </a:r>
            <a:pPr indent="0" marL="0">
              <a:buNone/>
            </a:pPr>
            <a:r>
              <a:rPr lang="en-US" sz="1400" b="1" dirty="0">
                <a:solidFill>
                  <a:srgbClr val="FFFFFF"/>
                </a:solidFill>
                <a:latin typeface="Work Sans" pitchFamily="34" charset="0"/>
                <a:ea typeface="Work Sans" pitchFamily="34" charset="-122"/>
                <a:cs typeface="Work Sans" pitchFamily="34" charset="-120"/>
              </a:rPr>
              <a:t>më i lehtë për të filluar</a:t>
            </a:r>
            <a:pPr indent="0" marL="0">
              <a:buNone/>
            </a:pPr>
            <a:r>
              <a:rPr lang="en-US" sz="1400" dirty="0">
                <a:solidFill>
                  <a:srgbClr val="DBE2EA"/>
                </a:solidFill>
                <a:latin typeface="Work Sans" pitchFamily="34" charset="0"/>
                <a:ea typeface="Work Sans" pitchFamily="34" charset="-122"/>
                <a:cs typeface="Work Sans" pitchFamily="34" charset="-120"/>
              </a:rPr>
              <a:t> se Oracle, por po aq i fuqishëm. Përdoret nga kompani të mëdha si Apple, Instagram dhe Spotify — pra aftësi që ju vlejnë në punë.</a:t>
            </a:r>
            <a:endParaRPr lang="en-US" sz="1400" dirty="0"/>
          </a:p>
        </p:txBody>
      </p:sp>
      <p:sp>
        <p:nvSpPr>
          <p:cNvPr id="11" name="Text 8"/>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KONCEPTET BAZË</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Terma që do t'i takojmë sot</a:t>
            </a:r>
            <a:endParaRPr lang="en-US" sz="2600" dirty="0"/>
          </a:p>
        </p:txBody>
      </p:sp>
      <p:sp>
        <p:nvSpPr>
          <p:cNvPr id="6" name="Shape 4"/>
          <p:cNvSpPr/>
          <p:nvPr/>
        </p:nvSpPr>
        <p:spPr>
          <a:xfrm>
            <a:off x="640080" y="1417320"/>
            <a:ext cx="3474720" cy="2148840"/>
          </a:xfrm>
          <a:prstGeom prst="roundRect">
            <a:avLst>
              <a:gd name="adj" fmla="val 4255"/>
            </a:avLst>
          </a:prstGeom>
          <a:solidFill>
            <a:srgbClr val="F2F5F9"/>
          </a:solidFill>
          <a:ln w="12700">
            <a:solidFill>
              <a:srgbClr val="DBE2EA"/>
            </a:solidFill>
            <a:prstDash val="solid"/>
          </a:ln>
        </p:spPr>
      </p:sp>
      <p:sp>
        <p:nvSpPr>
          <p:cNvPr id="7" name="Shape 5"/>
          <p:cNvSpPr/>
          <p:nvPr/>
        </p:nvSpPr>
        <p:spPr>
          <a:xfrm>
            <a:off x="640080" y="1417320"/>
            <a:ext cx="3474720" cy="64008"/>
          </a:xfrm>
          <a:prstGeom prst="rect">
            <a:avLst/>
          </a:prstGeom>
          <a:solidFill>
            <a:srgbClr val="E8730C"/>
          </a:solidFill>
          <a:ln/>
        </p:spPr>
      </p:sp>
      <p:pic>
        <p:nvPicPr>
          <p:cNvPr id="8" name="Image 0" descr="preencoded.png">    </p:cNvPr>
          <p:cNvPicPr>
            <a:picLocks noChangeAspect="1"/>
          </p:cNvPicPr>
          <p:nvPr/>
        </p:nvPicPr>
        <p:blipFill>
          <a:blip r:embed="rId1"/>
          <a:stretch>
            <a:fillRect/>
          </a:stretch>
        </p:blipFill>
        <p:spPr>
          <a:xfrm>
            <a:off x="914400" y="1709928"/>
            <a:ext cx="603504" cy="603504"/>
          </a:xfrm>
          <a:prstGeom prst="rect">
            <a:avLst/>
          </a:prstGeom>
        </p:spPr>
      </p:pic>
      <p:sp>
        <p:nvSpPr>
          <p:cNvPr id="9" name="Text 6"/>
          <p:cNvSpPr/>
          <p:nvPr/>
        </p:nvSpPr>
        <p:spPr>
          <a:xfrm>
            <a:off x="1645920" y="1783080"/>
            <a:ext cx="2377440" cy="45720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Server</a:t>
            </a:r>
            <a:endParaRPr lang="en-US" sz="1700" dirty="0"/>
          </a:p>
        </p:txBody>
      </p:sp>
      <p:sp>
        <p:nvSpPr>
          <p:cNvPr id="10" name="Text 7"/>
          <p:cNvSpPr/>
          <p:nvPr/>
        </p:nvSpPr>
        <p:spPr>
          <a:xfrm>
            <a:off x="914400" y="2468880"/>
            <a:ext cx="2971800" cy="960120"/>
          </a:xfrm>
          <a:prstGeom prst="rect">
            <a:avLst/>
          </a:prstGeom>
          <a:noFill/>
          <a:ln/>
        </p:spPr>
        <p:txBody>
          <a:bodyPr wrap="square" rtlCol="0" anchor="t"/>
          <a:lstStyle/>
          <a:p>
            <a:pPr indent="0" marL="0">
              <a:buNone/>
            </a:pPr>
            <a:r>
              <a:rPr lang="en-US" sz="1250" dirty="0">
                <a:solidFill>
                  <a:srgbClr val="26313F"/>
                </a:solidFill>
                <a:latin typeface="Work Sans" pitchFamily="34" charset="0"/>
                <a:ea typeface="Work Sans" pitchFamily="34" charset="-122"/>
                <a:cs typeface="Work Sans" pitchFamily="34" charset="-120"/>
              </a:rPr>
              <a:t>Programi që ruan dhe menaxhon të dhënat. Punon në sfond dhe pret lidhje.</a:t>
            </a:r>
            <a:endParaRPr lang="en-US" sz="1250" dirty="0"/>
          </a:p>
        </p:txBody>
      </p:sp>
      <p:sp>
        <p:nvSpPr>
          <p:cNvPr id="11" name="Shape 8"/>
          <p:cNvSpPr/>
          <p:nvPr/>
        </p:nvSpPr>
        <p:spPr>
          <a:xfrm>
            <a:off x="4343400" y="1417320"/>
            <a:ext cx="3474720" cy="2148840"/>
          </a:xfrm>
          <a:prstGeom prst="roundRect">
            <a:avLst>
              <a:gd name="adj" fmla="val 4255"/>
            </a:avLst>
          </a:prstGeom>
          <a:solidFill>
            <a:srgbClr val="F2F5F9"/>
          </a:solidFill>
          <a:ln w="12700">
            <a:solidFill>
              <a:srgbClr val="DBE2EA"/>
            </a:solidFill>
            <a:prstDash val="solid"/>
          </a:ln>
        </p:spPr>
      </p:sp>
      <p:sp>
        <p:nvSpPr>
          <p:cNvPr id="12" name="Shape 9"/>
          <p:cNvSpPr/>
          <p:nvPr/>
        </p:nvSpPr>
        <p:spPr>
          <a:xfrm>
            <a:off x="4343400" y="1417320"/>
            <a:ext cx="3474720" cy="64008"/>
          </a:xfrm>
          <a:prstGeom prst="rect">
            <a:avLst/>
          </a:prstGeom>
          <a:solidFill>
            <a:srgbClr val="E8730C"/>
          </a:solidFill>
          <a:ln/>
        </p:spPr>
      </p:sp>
      <p:pic>
        <p:nvPicPr>
          <p:cNvPr id="13" name="Image 1" descr="preencoded.png">    </p:cNvPr>
          <p:cNvPicPr>
            <a:picLocks noChangeAspect="1"/>
          </p:cNvPicPr>
          <p:nvPr/>
        </p:nvPicPr>
        <p:blipFill>
          <a:blip r:embed="rId2"/>
          <a:stretch>
            <a:fillRect/>
          </a:stretch>
        </p:blipFill>
        <p:spPr>
          <a:xfrm>
            <a:off x="4617720" y="1709928"/>
            <a:ext cx="603504" cy="603504"/>
          </a:xfrm>
          <a:prstGeom prst="rect">
            <a:avLst/>
          </a:prstGeom>
        </p:spPr>
      </p:pic>
      <p:sp>
        <p:nvSpPr>
          <p:cNvPr id="14" name="Text 10"/>
          <p:cNvSpPr/>
          <p:nvPr/>
        </p:nvSpPr>
        <p:spPr>
          <a:xfrm>
            <a:off x="5349240" y="1783080"/>
            <a:ext cx="2377440" cy="45720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Database</a:t>
            </a:r>
            <a:endParaRPr lang="en-US" sz="1700" dirty="0"/>
          </a:p>
        </p:txBody>
      </p:sp>
      <p:sp>
        <p:nvSpPr>
          <p:cNvPr id="15" name="Text 11"/>
          <p:cNvSpPr/>
          <p:nvPr/>
        </p:nvSpPr>
        <p:spPr>
          <a:xfrm>
            <a:off x="4617720" y="2468880"/>
            <a:ext cx="2971800" cy="960120"/>
          </a:xfrm>
          <a:prstGeom prst="rect">
            <a:avLst/>
          </a:prstGeom>
          <a:noFill/>
          <a:ln/>
        </p:spPr>
        <p:txBody>
          <a:bodyPr wrap="square" rtlCol="0" anchor="t"/>
          <a:lstStyle/>
          <a:p>
            <a:pPr indent="0" marL="0">
              <a:buNone/>
            </a:pPr>
            <a:r>
              <a:rPr lang="en-US" sz="1250" dirty="0">
                <a:solidFill>
                  <a:srgbClr val="26313F"/>
                </a:solidFill>
                <a:latin typeface="Work Sans" pitchFamily="34" charset="0"/>
                <a:ea typeface="Work Sans" pitchFamily="34" charset="-122"/>
                <a:cs typeface="Work Sans" pitchFamily="34" charset="-120"/>
              </a:rPr>
              <a:t>Një koleksion tabelash. Sot krijojmë databazën 'shkolla'.</a:t>
            </a:r>
            <a:endParaRPr lang="en-US" sz="1250" dirty="0"/>
          </a:p>
        </p:txBody>
      </p:sp>
      <p:sp>
        <p:nvSpPr>
          <p:cNvPr id="16" name="Shape 12"/>
          <p:cNvSpPr/>
          <p:nvPr/>
        </p:nvSpPr>
        <p:spPr>
          <a:xfrm>
            <a:off x="8046720" y="1417320"/>
            <a:ext cx="3474720" cy="2148840"/>
          </a:xfrm>
          <a:prstGeom prst="roundRect">
            <a:avLst>
              <a:gd name="adj" fmla="val 4255"/>
            </a:avLst>
          </a:prstGeom>
          <a:solidFill>
            <a:srgbClr val="F2F5F9"/>
          </a:solidFill>
          <a:ln w="12700">
            <a:solidFill>
              <a:srgbClr val="DBE2EA"/>
            </a:solidFill>
            <a:prstDash val="solid"/>
          </a:ln>
        </p:spPr>
      </p:sp>
      <p:sp>
        <p:nvSpPr>
          <p:cNvPr id="17" name="Shape 13"/>
          <p:cNvSpPr/>
          <p:nvPr/>
        </p:nvSpPr>
        <p:spPr>
          <a:xfrm>
            <a:off x="8046720" y="1417320"/>
            <a:ext cx="3474720" cy="64008"/>
          </a:xfrm>
          <a:prstGeom prst="rect">
            <a:avLst/>
          </a:prstGeom>
          <a:solidFill>
            <a:srgbClr val="E8730C"/>
          </a:solidFill>
          <a:ln/>
        </p:spPr>
      </p:sp>
      <p:pic>
        <p:nvPicPr>
          <p:cNvPr id="18" name="Image 2" descr="preencoded.png">    </p:cNvPr>
          <p:cNvPicPr>
            <a:picLocks noChangeAspect="1"/>
          </p:cNvPicPr>
          <p:nvPr/>
        </p:nvPicPr>
        <p:blipFill>
          <a:blip r:embed="rId3"/>
          <a:stretch>
            <a:fillRect/>
          </a:stretch>
        </p:blipFill>
        <p:spPr>
          <a:xfrm>
            <a:off x="8321040" y="1709928"/>
            <a:ext cx="603504" cy="603504"/>
          </a:xfrm>
          <a:prstGeom prst="rect">
            <a:avLst/>
          </a:prstGeom>
        </p:spPr>
      </p:pic>
      <p:sp>
        <p:nvSpPr>
          <p:cNvPr id="19" name="Text 14"/>
          <p:cNvSpPr/>
          <p:nvPr/>
        </p:nvSpPr>
        <p:spPr>
          <a:xfrm>
            <a:off x="9052560" y="1783080"/>
            <a:ext cx="2377440" cy="45720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Tabelë</a:t>
            </a:r>
            <a:endParaRPr lang="en-US" sz="1700" dirty="0"/>
          </a:p>
        </p:txBody>
      </p:sp>
      <p:sp>
        <p:nvSpPr>
          <p:cNvPr id="20" name="Text 15"/>
          <p:cNvSpPr/>
          <p:nvPr/>
        </p:nvSpPr>
        <p:spPr>
          <a:xfrm>
            <a:off x="8321040" y="2468880"/>
            <a:ext cx="2971800" cy="960120"/>
          </a:xfrm>
          <a:prstGeom prst="rect">
            <a:avLst/>
          </a:prstGeom>
          <a:noFill/>
          <a:ln/>
        </p:spPr>
        <p:txBody>
          <a:bodyPr wrap="square" rtlCol="0" anchor="t"/>
          <a:lstStyle/>
          <a:p>
            <a:pPr indent="0" marL="0">
              <a:buNone/>
            </a:pPr>
            <a:r>
              <a:rPr lang="en-US" sz="1250" dirty="0">
                <a:solidFill>
                  <a:srgbClr val="26313F"/>
                </a:solidFill>
                <a:latin typeface="Work Sans" pitchFamily="34" charset="0"/>
                <a:ea typeface="Work Sans" pitchFamily="34" charset="-122"/>
                <a:cs typeface="Work Sans" pitchFamily="34" charset="-120"/>
              </a:rPr>
              <a:t>Struktura me kolona ku ruhen të dhënat, p.sh. 'studentet'.</a:t>
            </a:r>
            <a:endParaRPr lang="en-US" sz="1250" dirty="0"/>
          </a:p>
        </p:txBody>
      </p:sp>
      <p:sp>
        <p:nvSpPr>
          <p:cNvPr id="21" name="Shape 16"/>
          <p:cNvSpPr/>
          <p:nvPr/>
        </p:nvSpPr>
        <p:spPr>
          <a:xfrm>
            <a:off x="640080" y="3749040"/>
            <a:ext cx="3474720" cy="2148840"/>
          </a:xfrm>
          <a:prstGeom prst="roundRect">
            <a:avLst>
              <a:gd name="adj" fmla="val 4255"/>
            </a:avLst>
          </a:prstGeom>
          <a:solidFill>
            <a:srgbClr val="F2F5F9"/>
          </a:solidFill>
          <a:ln w="12700">
            <a:solidFill>
              <a:srgbClr val="DBE2EA"/>
            </a:solidFill>
            <a:prstDash val="solid"/>
          </a:ln>
        </p:spPr>
      </p:sp>
      <p:sp>
        <p:nvSpPr>
          <p:cNvPr id="22" name="Shape 17"/>
          <p:cNvSpPr/>
          <p:nvPr/>
        </p:nvSpPr>
        <p:spPr>
          <a:xfrm>
            <a:off x="640080" y="3749040"/>
            <a:ext cx="3474720" cy="64008"/>
          </a:xfrm>
          <a:prstGeom prst="rect">
            <a:avLst/>
          </a:prstGeom>
          <a:solidFill>
            <a:srgbClr val="E8730C"/>
          </a:solidFill>
          <a:ln/>
        </p:spPr>
      </p:sp>
      <p:pic>
        <p:nvPicPr>
          <p:cNvPr id="23" name="Image 3" descr="preencoded.png">    </p:cNvPr>
          <p:cNvPicPr>
            <a:picLocks noChangeAspect="1"/>
          </p:cNvPicPr>
          <p:nvPr/>
        </p:nvPicPr>
        <p:blipFill>
          <a:blip r:embed="rId4"/>
          <a:stretch>
            <a:fillRect/>
          </a:stretch>
        </p:blipFill>
        <p:spPr>
          <a:xfrm>
            <a:off x="914400" y="4041648"/>
            <a:ext cx="603504" cy="603504"/>
          </a:xfrm>
          <a:prstGeom prst="rect">
            <a:avLst/>
          </a:prstGeom>
        </p:spPr>
      </p:pic>
      <p:sp>
        <p:nvSpPr>
          <p:cNvPr id="24" name="Text 18"/>
          <p:cNvSpPr/>
          <p:nvPr/>
        </p:nvSpPr>
        <p:spPr>
          <a:xfrm>
            <a:off x="1645920" y="4114800"/>
            <a:ext cx="2377440" cy="45720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Porta 5432</a:t>
            </a:r>
            <a:endParaRPr lang="en-US" sz="1700" dirty="0"/>
          </a:p>
        </p:txBody>
      </p:sp>
      <p:sp>
        <p:nvSpPr>
          <p:cNvPr id="25" name="Text 19"/>
          <p:cNvSpPr/>
          <p:nvPr/>
        </p:nvSpPr>
        <p:spPr>
          <a:xfrm>
            <a:off x="914400" y="4800600"/>
            <a:ext cx="2971800" cy="960120"/>
          </a:xfrm>
          <a:prstGeom prst="rect">
            <a:avLst/>
          </a:prstGeom>
          <a:noFill/>
          <a:ln/>
        </p:spPr>
        <p:txBody>
          <a:bodyPr wrap="square" rtlCol="0" anchor="t"/>
          <a:lstStyle/>
          <a:p>
            <a:pPr indent="0" marL="0">
              <a:buNone/>
            </a:pPr>
            <a:r>
              <a:rPr lang="en-US" sz="1250" dirty="0">
                <a:solidFill>
                  <a:srgbClr val="26313F"/>
                </a:solidFill>
                <a:latin typeface="Work Sans" pitchFamily="34" charset="0"/>
                <a:ea typeface="Work Sans" pitchFamily="34" charset="-122"/>
                <a:cs typeface="Work Sans" pitchFamily="34" charset="-120"/>
              </a:rPr>
              <a:t>Numri standard i portës ku PostgreSQL pret lidhjet.</a:t>
            </a:r>
            <a:endParaRPr lang="en-US" sz="1250" dirty="0"/>
          </a:p>
        </p:txBody>
      </p:sp>
      <p:sp>
        <p:nvSpPr>
          <p:cNvPr id="26" name="Shape 20"/>
          <p:cNvSpPr/>
          <p:nvPr/>
        </p:nvSpPr>
        <p:spPr>
          <a:xfrm>
            <a:off x="4343400" y="3749040"/>
            <a:ext cx="3474720" cy="2148840"/>
          </a:xfrm>
          <a:prstGeom prst="roundRect">
            <a:avLst>
              <a:gd name="adj" fmla="val 4255"/>
            </a:avLst>
          </a:prstGeom>
          <a:solidFill>
            <a:srgbClr val="F2F5F9"/>
          </a:solidFill>
          <a:ln w="12700">
            <a:solidFill>
              <a:srgbClr val="DBE2EA"/>
            </a:solidFill>
            <a:prstDash val="solid"/>
          </a:ln>
        </p:spPr>
      </p:sp>
      <p:sp>
        <p:nvSpPr>
          <p:cNvPr id="27" name="Shape 21"/>
          <p:cNvSpPr/>
          <p:nvPr/>
        </p:nvSpPr>
        <p:spPr>
          <a:xfrm>
            <a:off x="4343400" y="3749040"/>
            <a:ext cx="3474720" cy="64008"/>
          </a:xfrm>
          <a:prstGeom prst="rect">
            <a:avLst/>
          </a:prstGeom>
          <a:solidFill>
            <a:srgbClr val="E8730C"/>
          </a:solidFill>
          <a:ln/>
        </p:spPr>
      </p:sp>
      <p:pic>
        <p:nvPicPr>
          <p:cNvPr id="28" name="Image 4" descr="preencoded.png">    </p:cNvPr>
          <p:cNvPicPr>
            <a:picLocks noChangeAspect="1"/>
          </p:cNvPicPr>
          <p:nvPr/>
        </p:nvPicPr>
        <p:blipFill>
          <a:blip r:embed="rId5"/>
          <a:stretch>
            <a:fillRect/>
          </a:stretch>
        </p:blipFill>
        <p:spPr>
          <a:xfrm>
            <a:off x="4617720" y="4041648"/>
            <a:ext cx="603504" cy="603504"/>
          </a:xfrm>
          <a:prstGeom prst="rect">
            <a:avLst/>
          </a:prstGeom>
        </p:spPr>
      </p:pic>
      <p:sp>
        <p:nvSpPr>
          <p:cNvPr id="29" name="Text 22"/>
          <p:cNvSpPr/>
          <p:nvPr/>
        </p:nvSpPr>
        <p:spPr>
          <a:xfrm>
            <a:off x="5349240" y="4114800"/>
            <a:ext cx="2377440" cy="45720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pgAdmin</a:t>
            </a:r>
            <a:endParaRPr lang="en-US" sz="1700" dirty="0"/>
          </a:p>
        </p:txBody>
      </p:sp>
      <p:sp>
        <p:nvSpPr>
          <p:cNvPr id="30" name="Text 23"/>
          <p:cNvSpPr/>
          <p:nvPr/>
        </p:nvSpPr>
        <p:spPr>
          <a:xfrm>
            <a:off x="4617720" y="4800600"/>
            <a:ext cx="2971800" cy="960120"/>
          </a:xfrm>
          <a:prstGeom prst="rect">
            <a:avLst/>
          </a:prstGeom>
          <a:noFill/>
          <a:ln/>
        </p:spPr>
        <p:txBody>
          <a:bodyPr wrap="square" rtlCol="0" anchor="t"/>
          <a:lstStyle/>
          <a:p>
            <a:pPr indent="0" marL="0">
              <a:buNone/>
            </a:pPr>
            <a:r>
              <a:rPr lang="en-US" sz="1250" dirty="0">
                <a:solidFill>
                  <a:srgbClr val="26313F"/>
                </a:solidFill>
                <a:latin typeface="Work Sans" pitchFamily="34" charset="0"/>
                <a:ea typeface="Work Sans" pitchFamily="34" charset="-122"/>
                <a:cs typeface="Work Sans" pitchFamily="34" charset="-120"/>
              </a:rPr>
              <a:t>Mjeti grafik (GUI) për të parë dhe menaxhuar databazat me mouse.</a:t>
            </a:r>
            <a:endParaRPr lang="en-US" sz="1250" dirty="0"/>
          </a:p>
        </p:txBody>
      </p:sp>
      <p:sp>
        <p:nvSpPr>
          <p:cNvPr id="31" name="Shape 24"/>
          <p:cNvSpPr/>
          <p:nvPr/>
        </p:nvSpPr>
        <p:spPr>
          <a:xfrm>
            <a:off x="8046720" y="3749040"/>
            <a:ext cx="3474720" cy="2148840"/>
          </a:xfrm>
          <a:prstGeom prst="roundRect">
            <a:avLst>
              <a:gd name="adj" fmla="val 4255"/>
            </a:avLst>
          </a:prstGeom>
          <a:solidFill>
            <a:srgbClr val="F2F5F9"/>
          </a:solidFill>
          <a:ln w="12700">
            <a:solidFill>
              <a:srgbClr val="DBE2EA"/>
            </a:solidFill>
            <a:prstDash val="solid"/>
          </a:ln>
        </p:spPr>
      </p:sp>
      <p:sp>
        <p:nvSpPr>
          <p:cNvPr id="32" name="Shape 25"/>
          <p:cNvSpPr/>
          <p:nvPr/>
        </p:nvSpPr>
        <p:spPr>
          <a:xfrm>
            <a:off x="8046720" y="3749040"/>
            <a:ext cx="3474720" cy="64008"/>
          </a:xfrm>
          <a:prstGeom prst="rect">
            <a:avLst/>
          </a:prstGeom>
          <a:solidFill>
            <a:srgbClr val="E8730C"/>
          </a:solidFill>
          <a:ln/>
        </p:spPr>
      </p:sp>
      <p:pic>
        <p:nvPicPr>
          <p:cNvPr id="33" name="Image 5" descr="preencoded.png">    </p:cNvPr>
          <p:cNvPicPr>
            <a:picLocks noChangeAspect="1"/>
          </p:cNvPicPr>
          <p:nvPr/>
        </p:nvPicPr>
        <p:blipFill>
          <a:blip r:embed="rId6"/>
          <a:stretch>
            <a:fillRect/>
          </a:stretch>
        </p:blipFill>
        <p:spPr>
          <a:xfrm>
            <a:off x="8321040" y="4041648"/>
            <a:ext cx="603504" cy="603504"/>
          </a:xfrm>
          <a:prstGeom prst="rect">
            <a:avLst/>
          </a:prstGeom>
        </p:spPr>
      </p:pic>
      <p:sp>
        <p:nvSpPr>
          <p:cNvPr id="34" name="Text 26"/>
          <p:cNvSpPr/>
          <p:nvPr/>
        </p:nvSpPr>
        <p:spPr>
          <a:xfrm>
            <a:off x="9052560" y="4114800"/>
            <a:ext cx="2377440" cy="45720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JDBC</a:t>
            </a:r>
            <a:endParaRPr lang="en-US" sz="1700" dirty="0"/>
          </a:p>
        </p:txBody>
      </p:sp>
      <p:sp>
        <p:nvSpPr>
          <p:cNvPr id="35" name="Text 27"/>
          <p:cNvSpPr/>
          <p:nvPr/>
        </p:nvSpPr>
        <p:spPr>
          <a:xfrm>
            <a:off x="8321040" y="4800600"/>
            <a:ext cx="2971800" cy="960120"/>
          </a:xfrm>
          <a:prstGeom prst="rect">
            <a:avLst/>
          </a:prstGeom>
          <a:noFill/>
          <a:ln/>
        </p:spPr>
        <p:txBody>
          <a:bodyPr wrap="square" rtlCol="0" anchor="t"/>
          <a:lstStyle/>
          <a:p>
            <a:pPr indent="0" marL="0">
              <a:buNone/>
            </a:pPr>
            <a:r>
              <a:rPr lang="en-US" sz="1250" dirty="0">
                <a:solidFill>
                  <a:srgbClr val="26313F"/>
                </a:solidFill>
                <a:latin typeface="Work Sans" pitchFamily="34" charset="0"/>
                <a:ea typeface="Work Sans" pitchFamily="34" charset="-122"/>
                <a:cs typeface="Work Sans" pitchFamily="34" charset="-120"/>
              </a:rPr>
              <a:t>Ura që lidh programin Java me PostgreSQL-në.</a:t>
            </a:r>
            <a:endParaRPr lang="en-US" sz="1250" dirty="0"/>
          </a:p>
        </p:txBody>
      </p:sp>
      <p:sp>
        <p:nvSpPr>
          <p:cNvPr id="36" name="Text 28"/>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INSTALIMI · PJESA 1</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Shkarkimi dhe nisja e instaluesit</a:t>
            </a:r>
            <a:endParaRPr lang="en-US" sz="2600" dirty="0"/>
          </a:p>
        </p:txBody>
      </p:sp>
      <p:sp>
        <p:nvSpPr>
          <p:cNvPr id="6" name="Shape 4"/>
          <p:cNvSpPr/>
          <p:nvPr/>
        </p:nvSpPr>
        <p:spPr>
          <a:xfrm>
            <a:off x="640080" y="1417320"/>
            <a:ext cx="10881360" cy="1417320"/>
          </a:xfrm>
          <a:prstGeom prst="roundRect">
            <a:avLst>
              <a:gd name="adj" fmla="val 6452"/>
            </a:avLst>
          </a:prstGeom>
          <a:solidFill>
            <a:srgbClr val="F2F5F9"/>
          </a:solidFill>
          <a:ln w="12700">
            <a:solidFill>
              <a:srgbClr val="DBE2EA"/>
            </a:solidFill>
            <a:prstDash val="solid"/>
          </a:ln>
        </p:spPr>
      </p:sp>
      <p:sp>
        <p:nvSpPr>
          <p:cNvPr id="7" name="Shape 5"/>
          <p:cNvSpPr/>
          <p:nvPr/>
        </p:nvSpPr>
        <p:spPr>
          <a:xfrm>
            <a:off x="640080" y="1417320"/>
            <a:ext cx="109728" cy="1417320"/>
          </a:xfrm>
          <a:prstGeom prst="roundRect">
            <a:avLst>
              <a:gd name="adj" fmla="val 41667"/>
            </a:avLst>
          </a:prstGeom>
          <a:solidFill>
            <a:srgbClr val="E8730C"/>
          </a:solidFill>
          <a:ln/>
        </p:spPr>
      </p:sp>
      <p:pic>
        <p:nvPicPr>
          <p:cNvPr id="8" name="Image 0" descr="preencoded.png">    </p:cNvPr>
          <p:cNvPicPr>
            <a:picLocks noChangeAspect="1"/>
          </p:cNvPicPr>
          <p:nvPr/>
        </p:nvPicPr>
        <p:blipFill>
          <a:blip r:embed="rId1"/>
          <a:stretch>
            <a:fillRect/>
          </a:stretch>
        </p:blipFill>
        <p:spPr>
          <a:xfrm>
            <a:off x="960120" y="1801368"/>
            <a:ext cx="658368" cy="658368"/>
          </a:xfrm>
          <a:prstGeom prst="rect">
            <a:avLst/>
          </a:prstGeom>
        </p:spPr>
      </p:pic>
      <p:sp>
        <p:nvSpPr>
          <p:cNvPr id="9" name="Text 6"/>
          <p:cNvSpPr/>
          <p:nvPr/>
        </p:nvSpPr>
        <p:spPr>
          <a:xfrm>
            <a:off x="1874520" y="1600200"/>
            <a:ext cx="9144000" cy="41148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1. Shkarko instaluesin</a:t>
            </a:r>
            <a:endParaRPr lang="en-US" sz="1700" dirty="0"/>
          </a:p>
        </p:txBody>
      </p:sp>
      <p:sp>
        <p:nvSpPr>
          <p:cNvPr id="10" name="Text 7"/>
          <p:cNvSpPr/>
          <p:nvPr/>
        </p:nvSpPr>
        <p:spPr>
          <a:xfrm>
            <a:off x="1874520" y="2020824"/>
            <a:ext cx="9326880" cy="7315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Hap postgresql.org/download/windows dhe kliko 'Download the installer' (nga EDB). Zgjidh versionin e fundit stabël (17 ose 18).</a:t>
            </a:r>
            <a:endParaRPr lang="en-US" sz="1350" dirty="0"/>
          </a:p>
        </p:txBody>
      </p:sp>
      <p:sp>
        <p:nvSpPr>
          <p:cNvPr id="11" name="Shape 8"/>
          <p:cNvSpPr/>
          <p:nvPr/>
        </p:nvSpPr>
        <p:spPr>
          <a:xfrm>
            <a:off x="640080" y="2990088"/>
            <a:ext cx="10881360" cy="1417320"/>
          </a:xfrm>
          <a:prstGeom prst="roundRect">
            <a:avLst>
              <a:gd name="adj" fmla="val 6452"/>
            </a:avLst>
          </a:prstGeom>
          <a:solidFill>
            <a:srgbClr val="F2F5F9"/>
          </a:solidFill>
          <a:ln w="12700">
            <a:solidFill>
              <a:srgbClr val="DBE2EA"/>
            </a:solidFill>
            <a:prstDash val="solid"/>
          </a:ln>
        </p:spPr>
      </p:sp>
      <p:sp>
        <p:nvSpPr>
          <p:cNvPr id="12" name="Shape 9"/>
          <p:cNvSpPr/>
          <p:nvPr/>
        </p:nvSpPr>
        <p:spPr>
          <a:xfrm>
            <a:off x="640080" y="2990088"/>
            <a:ext cx="109728" cy="1417320"/>
          </a:xfrm>
          <a:prstGeom prst="roundRect">
            <a:avLst>
              <a:gd name="adj" fmla="val 41667"/>
            </a:avLst>
          </a:prstGeom>
          <a:solidFill>
            <a:srgbClr val="E8730C"/>
          </a:solidFill>
          <a:ln/>
        </p:spPr>
      </p:sp>
      <p:pic>
        <p:nvPicPr>
          <p:cNvPr id="13" name="Image 1" descr="preencoded.png">    </p:cNvPr>
          <p:cNvPicPr>
            <a:picLocks noChangeAspect="1"/>
          </p:cNvPicPr>
          <p:nvPr/>
        </p:nvPicPr>
        <p:blipFill>
          <a:blip r:embed="rId2"/>
          <a:stretch>
            <a:fillRect/>
          </a:stretch>
        </p:blipFill>
        <p:spPr>
          <a:xfrm>
            <a:off x="960120" y="3374136"/>
            <a:ext cx="658368" cy="658368"/>
          </a:xfrm>
          <a:prstGeom prst="rect">
            <a:avLst/>
          </a:prstGeom>
        </p:spPr>
      </p:pic>
      <p:sp>
        <p:nvSpPr>
          <p:cNvPr id="14" name="Text 10"/>
          <p:cNvSpPr/>
          <p:nvPr/>
        </p:nvSpPr>
        <p:spPr>
          <a:xfrm>
            <a:off x="1874520" y="3172968"/>
            <a:ext cx="9144000" cy="41148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2. Hap skedarin .exe</a:t>
            </a:r>
            <a:endParaRPr lang="en-US" sz="1700" dirty="0"/>
          </a:p>
        </p:txBody>
      </p:sp>
      <p:sp>
        <p:nvSpPr>
          <p:cNvPr id="15" name="Text 11"/>
          <p:cNvSpPr/>
          <p:nvPr/>
        </p:nvSpPr>
        <p:spPr>
          <a:xfrm>
            <a:off x="1874520" y="3593592"/>
            <a:ext cx="9326880" cy="7315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Kliko dy herë mbi skedarin e shkarkuar. Nëse del njoftimi i Windows, zgjidh 'Yes' për të lejuar instalimin.</a:t>
            </a:r>
            <a:endParaRPr lang="en-US" sz="1350" dirty="0"/>
          </a:p>
        </p:txBody>
      </p:sp>
      <p:sp>
        <p:nvSpPr>
          <p:cNvPr id="16" name="Shape 12"/>
          <p:cNvSpPr/>
          <p:nvPr/>
        </p:nvSpPr>
        <p:spPr>
          <a:xfrm>
            <a:off x="640080" y="4562856"/>
            <a:ext cx="10881360" cy="1417320"/>
          </a:xfrm>
          <a:prstGeom prst="roundRect">
            <a:avLst>
              <a:gd name="adj" fmla="val 6452"/>
            </a:avLst>
          </a:prstGeom>
          <a:solidFill>
            <a:srgbClr val="F2F5F9"/>
          </a:solidFill>
          <a:ln w="12700">
            <a:solidFill>
              <a:srgbClr val="DBE2EA"/>
            </a:solidFill>
            <a:prstDash val="solid"/>
          </a:ln>
        </p:spPr>
      </p:sp>
      <p:sp>
        <p:nvSpPr>
          <p:cNvPr id="17" name="Shape 13"/>
          <p:cNvSpPr/>
          <p:nvPr/>
        </p:nvSpPr>
        <p:spPr>
          <a:xfrm>
            <a:off x="640080" y="4562856"/>
            <a:ext cx="109728" cy="1417320"/>
          </a:xfrm>
          <a:prstGeom prst="roundRect">
            <a:avLst>
              <a:gd name="adj" fmla="val 41667"/>
            </a:avLst>
          </a:prstGeom>
          <a:solidFill>
            <a:srgbClr val="E8730C"/>
          </a:solidFill>
          <a:ln/>
        </p:spPr>
      </p:sp>
      <p:pic>
        <p:nvPicPr>
          <p:cNvPr id="18" name="Image 2" descr="preencoded.png">    </p:cNvPr>
          <p:cNvPicPr>
            <a:picLocks noChangeAspect="1"/>
          </p:cNvPicPr>
          <p:nvPr/>
        </p:nvPicPr>
        <p:blipFill>
          <a:blip r:embed="rId3"/>
          <a:stretch>
            <a:fillRect/>
          </a:stretch>
        </p:blipFill>
        <p:spPr>
          <a:xfrm>
            <a:off x="960120" y="4946904"/>
            <a:ext cx="658368" cy="658368"/>
          </a:xfrm>
          <a:prstGeom prst="rect">
            <a:avLst/>
          </a:prstGeom>
        </p:spPr>
      </p:pic>
      <p:sp>
        <p:nvSpPr>
          <p:cNvPr id="19" name="Text 14"/>
          <p:cNvSpPr/>
          <p:nvPr/>
        </p:nvSpPr>
        <p:spPr>
          <a:xfrm>
            <a:off x="1874520" y="4745736"/>
            <a:ext cx="9144000" cy="41148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3. Zgjidh komponentët</a:t>
            </a:r>
            <a:endParaRPr lang="en-US" sz="1700" dirty="0"/>
          </a:p>
        </p:txBody>
      </p:sp>
      <p:sp>
        <p:nvSpPr>
          <p:cNvPr id="20" name="Text 15"/>
          <p:cNvSpPr/>
          <p:nvPr/>
        </p:nvSpPr>
        <p:spPr>
          <a:xfrm>
            <a:off x="1874520" y="5166360"/>
            <a:ext cx="9326880" cy="7315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Lëri të gjitha të zgjedhura: PostgreSQL Server, pgAdmin 4, Stack Builder dhe Command Line Tools.</a:t>
            </a:r>
            <a:endParaRPr lang="en-US" sz="1350" dirty="0"/>
          </a:p>
        </p:txBody>
      </p:sp>
      <p:sp>
        <p:nvSpPr>
          <p:cNvPr id="21" name="Shape 16"/>
          <p:cNvSpPr/>
          <p:nvPr/>
        </p:nvSpPr>
        <p:spPr>
          <a:xfrm>
            <a:off x="640080" y="6355080"/>
            <a:ext cx="2856586" cy="310896"/>
          </a:xfrm>
          <a:prstGeom prst="roundRect">
            <a:avLst>
              <a:gd name="adj" fmla="val 50000"/>
            </a:avLst>
          </a:prstGeom>
          <a:solidFill>
            <a:srgbClr val="5FB3E0"/>
          </a:solidFill>
          <a:ln/>
        </p:spPr>
      </p:sp>
      <p:pic>
        <p:nvPicPr>
          <p:cNvPr id="22" name="Image 3" descr="preencoded.png">    </p:cNvPr>
          <p:cNvPicPr>
            <a:picLocks noChangeAspect="1"/>
          </p:cNvPicPr>
          <p:nvPr/>
        </p:nvPicPr>
        <p:blipFill>
          <a:blip r:embed="rId4"/>
          <a:stretch>
            <a:fillRect/>
          </a:stretch>
        </p:blipFill>
        <p:spPr>
          <a:xfrm>
            <a:off x="786384" y="6432804"/>
            <a:ext cx="155448" cy="155448"/>
          </a:xfrm>
          <a:prstGeom prst="rect">
            <a:avLst/>
          </a:prstGeom>
        </p:spPr>
      </p:pic>
      <p:sp>
        <p:nvSpPr>
          <p:cNvPr id="23" name="Text 17"/>
          <p:cNvSpPr/>
          <p:nvPr/>
        </p:nvSpPr>
        <p:spPr>
          <a:xfrm>
            <a:off x="950976" y="6355080"/>
            <a:ext cx="2472538"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Sipas dokumentacionit zyrtar EDB</a:t>
            </a:r>
            <a:endParaRPr lang="en-US" sz="1050" dirty="0"/>
          </a:p>
        </p:txBody>
      </p:sp>
      <p:sp>
        <p:nvSpPr>
          <p:cNvPr id="24" name="Text 18"/>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INSTALIMI · PJESA 2</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Konfigurimi: fjalëkalimi dhe porta</a:t>
            </a:r>
            <a:endParaRPr lang="en-US" sz="2600" dirty="0"/>
          </a:p>
        </p:txBody>
      </p:sp>
      <p:sp>
        <p:nvSpPr>
          <p:cNvPr id="6" name="Shape 4"/>
          <p:cNvSpPr/>
          <p:nvPr/>
        </p:nvSpPr>
        <p:spPr>
          <a:xfrm>
            <a:off x="640080" y="1417320"/>
            <a:ext cx="10881360" cy="1417320"/>
          </a:xfrm>
          <a:prstGeom prst="roundRect">
            <a:avLst>
              <a:gd name="adj" fmla="val 6452"/>
            </a:avLst>
          </a:prstGeom>
          <a:solidFill>
            <a:srgbClr val="F2F5F9"/>
          </a:solidFill>
          <a:ln w="12700">
            <a:solidFill>
              <a:srgbClr val="DBE2EA"/>
            </a:solidFill>
            <a:prstDash val="solid"/>
          </a:ln>
        </p:spPr>
      </p:sp>
      <p:sp>
        <p:nvSpPr>
          <p:cNvPr id="7" name="Shape 5"/>
          <p:cNvSpPr/>
          <p:nvPr/>
        </p:nvSpPr>
        <p:spPr>
          <a:xfrm>
            <a:off x="640080" y="1417320"/>
            <a:ext cx="109728" cy="1417320"/>
          </a:xfrm>
          <a:prstGeom prst="roundRect">
            <a:avLst>
              <a:gd name="adj" fmla="val 41667"/>
            </a:avLst>
          </a:prstGeom>
          <a:solidFill>
            <a:srgbClr val="E8730C"/>
          </a:solidFill>
          <a:ln/>
        </p:spPr>
      </p:sp>
      <p:pic>
        <p:nvPicPr>
          <p:cNvPr id="8" name="Image 0" descr="preencoded.png">    </p:cNvPr>
          <p:cNvPicPr>
            <a:picLocks noChangeAspect="1"/>
          </p:cNvPicPr>
          <p:nvPr/>
        </p:nvPicPr>
        <p:blipFill>
          <a:blip r:embed="rId1"/>
          <a:stretch>
            <a:fillRect/>
          </a:stretch>
        </p:blipFill>
        <p:spPr>
          <a:xfrm>
            <a:off x="960120" y="1801368"/>
            <a:ext cx="658368" cy="658368"/>
          </a:xfrm>
          <a:prstGeom prst="rect">
            <a:avLst/>
          </a:prstGeom>
        </p:spPr>
      </p:pic>
      <p:sp>
        <p:nvSpPr>
          <p:cNvPr id="9" name="Text 6"/>
          <p:cNvSpPr/>
          <p:nvPr/>
        </p:nvSpPr>
        <p:spPr>
          <a:xfrm>
            <a:off x="1874520" y="1600200"/>
            <a:ext cx="9144000" cy="41148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4. Data Directory</a:t>
            </a:r>
            <a:endParaRPr lang="en-US" sz="1700" dirty="0"/>
          </a:p>
        </p:txBody>
      </p:sp>
      <p:sp>
        <p:nvSpPr>
          <p:cNvPr id="10" name="Text 7"/>
          <p:cNvSpPr/>
          <p:nvPr/>
        </p:nvSpPr>
        <p:spPr>
          <a:xfrm>
            <a:off x="1874520" y="2020824"/>
            <a:ext cx="9326880" cy="7315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Lëre vendndodhjen e parazgjedhur ku do të ruhen të dhënat. Thjesht kliko 'Next'.</a:t>
            </a:r>
            <a:endParaRPr lang="en-US" sz="1350" dirty="0"/>
          </a:p>
        </p:txBody>
      </p:sp>
      <p:sp>
        <p:nvSpPr>
          <p:cNvPr id="11" name="Shape 8"/>
          <p:cNvSpPr/>
          <p:nvPr/>
        </p:nvSpPr>
        <p:spPr>
          <a:xfrm>
            <a:off x="640080" y="2990088"/>
            <a:ext cx="10881360" cy="1417320"/>
          </a:xfrm>
          <a:prstGeom prst="roundRect">
            <a:avLst>
              <a:gd name="adj" fmla="val 6452"/>
            </a:avLst>
          </a:prstGeom>
          <a:solidFill>
            <a:srgbClr val="F2F5F9"/>
          </a:solidFill>
          <a:ln w="12700">
            <a:solidFill>
              <a:srgbClr val="DBE2EA"/>
            </a:solidFill>
            <a:prstDash val="solid"/>
          </a:ln>
        </p:spPr>
      </p:sp>
      <p:sp>
        <p:nvSpPr>
          <p:cNvPr id="12" name="Shape 9"/>
          <p:cNvSpPr/>
          <p:nvPr/>
        </p:nvSpPr>
        <p:spPr>
          <a:xfrm>
            <a:off x="640080" y="2990088"/>
            <a:ext cx="109728" cy="1417320"/>
          </a:xfrm>
          <a:prstGeom prst="roundRect">
            <a:avLst>
              <a:gd name="adj" fmla="val 41667"/>
            </a:avLst>
          </a:prstGeom>
          <a:solidFill>
            <a:srgbClr val="E8730C"/>
          </a:solidFill>
          <a:ln/>
        </p:spPr>
      </p:sp>
      <p:pic>
        <p:nvPicPr>
          <p:cNvPr id="13" name="Image 1" descr="preencoded.png">    </p:cNvPr>
          <p:cNvPicPr>
            <a:picLocks noChangeAspect="1"/>
          </p:cNvPicPr>
          <p:nvPr/>
        </p:nvPicPr>
        <p:blipFill>
          <a:blip r:embed="rId2"/>
          <a:stretch>
            <a:fillRect/>
          </a:stretch>
        </p:blipFill>
        <p:spPr>
          <a:xfrm>
            <a:off x="960120" y="3374136"/>
            <a:ext cx="658368" cy="658368"/>
          </a:xfrm>
          <a:prstGeom prst="rect">
            <a:avLst/>
          </a:prstGeom>
        </p:spPr>
      </p:pic>
      <p:sp>
        <p:nvSpPr>
          <p:cNvPr id="14" name="Text 10"/>
          <p:cNvSpPr/>
          <p:nvPr/>
        </p:nvSpPr>
        <p:spPr>
          <a:xfrm>
            <a:off x="1874520" y="3172968"/>
            <a:ext cx="9144000" cy="41148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5. Fjalëkalimi i 'postgres'</a:t>
            </a:r>
            <a:endParaRPr lang="en-US" sz="1700" dirty="0"/>
          </a:p>
        </p:txBody>
      </p:sp>
      <p:sp>
        <p:nvSpPr>
          <p:cNvPr id="15" name="Text 11"/>
          <p:cNvSpPr/>
          <p:nvPr/>
        </p:nvSpPr>
        <p:spPr>
          <a:xfrm>
            <a:off x="1874520" y="3593592"/>
            <a:ext cx="9326880" cy="7315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Vendos një fjalëkalim për përdoruesin kryesor 'postgres'. SHËNIM: mbaje mend mirë — do të na duhet në kodin Java!</a:t>
            </a:r>
            <a:endParaRPr lang="en-US" sz="1350" dirty="0"/>
          </a:p>
        </p:txBody>
      </p:sp>
      <p:sp>
        <p:nvSpPr>
          <p:cNvPr id="16" name="Shape 12"/>
          <p:cNvSpPr/>
          <p:nvPr/>
        </p:nvSpPr>
        <p:spPr>
          <a:xfrm>
            <a:off x="640080" y="4562856"/>
            <a:ext cx="10881360" cy="1417320"/>
          </a:xfrm>
          <a:prstGeom prst="roundRect">
            <a:avLst>
              <a:gd name="adj" fmla="val 6452"/>
            </a:avLst>
          </a:prstGeom>
          <a:solidFill>
            <a:srgbClr val="F2F5F9"/>
          </a:solidFill>
          <a:ln w="12700">
            <a:solidFill>
              <a:srgbClr val="DBE2EA"/>
            </a:solidFill>
            <a:prstDash val="solid"/>
          </a:ln>
        </p:spPr>
      </p:sp>
      <p:sp>
        <p:nvSpPr>
          <p:cNvPr id="17" name="Shape 13"/>
          <p:cNvSpPr/>
          <p:nvPr/>
        </p:nvSpPr>
        <p:spPr>
          <a:xfrm>
            <a:off x="640080" y="4562856"/>
            <a:ext cx="109728" cy="1417320"/>
          </a:xfrm>
          <a:prstGeom prst="roundRect">
            <a:avLst>
              <a:gd name="adj" fmla="val 41667"/>
            </a:avLst>
          </a:prstGeom>
          <a:solidFill>
            <a:srgbClr val="E8730C"/>
          </a:solidFill>
          <a:ln/>
        </p:spPr>
      </p:sp>
      <p:pic>
        <p:nvPicPr>
          <p:cNvPr id="18" name="Image 2" descr="preencoded.png">    </p:cNvPr>
          <p:cNvPicPr>
            <a:picLocks noChangeAspect="1"/>
          </p:cNvPicPr>
          <p:nvPr/>
        </p:nvPicPr>
        <p:blipFill>
          <a:blip r:embed="rId3"/>
          <a:stretch>
            <a:fillRect/>
          </a:stretch>
        </p:blipFill>
        <p:spPr>
          <a:xfrm>
            <a:off x="960120" y="4946904"/>
            <a:ext cx="658368" cy="658368"/>
          </a:xfrm>
          <a:prstGeom prst="rect">
            <a:avLst/>
          </a:prstGeom>
        </p:spPr>
      </p:pic>
      <p:sp>
        <p:nvSpPr>
          <p:cNvPr id="19" name="Text 14"/>
          <p:cNvSpPr/>
          <p:nvPr/>
        </p:nvSpPr>
        <p:spPr>
          <a:xfrm>
            <a:off x="1874520" y="4745736"/>
            <a:ext cx="9144000" cy="411480"/>
          </a:xfrm>
          <a:prstGeom prst="rect">
            <a:avLst/>
          </a:prstGeom>
          <a:noFill/>
          <a:ln/>
        </p:spPr>
        <p:txBody>
          <a:bodyPr wrap="square" rtlCol="0" anchor="ctr"/>
          <a:lstStyle/>
          <a:p>
            <a:pPr indent="0" marL="0">
              <a:buNone/>
            </a:pPr>
            <a:r>
              <a:rPr lang="en-US" sz="1700" b="1" dirty="0">
                <a:solidFill>
                  <a:srgbClr val="142033"/>
                </a:solidFill>
                <a:latin typeface="Work Sans" pitchFamily="34" charset="0"/>
                <a:ea typeface="Work Sans" pitchFamily="34" charset="-122"/>
                <a:cs typeface="Work Sans" pitchFamily="34" charset="-120"/>
              </a:rPr>
              <a:t>6. Porta 5432</a:t>
            </a:r>
            <a:endParaRPr lang="en-US" sz="1700" dirty="0"/>
          </a:p>
        </p:txBody>
      </p:sp>
      <p:sp>
        <p:nvSpPr>
          <p:cNvPr id="20" name="Text 15"/>
          <p:cNvSpPr/>
          <p:nvPr/>
        </p:nvSpPr>
        <p:spPr>
          <a:xfrm>
            <a:off x="1874520" y="5166360"/>
            <a:ext cx="9326880" cy="7315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Lëre portën e parazgjedhur 5432. Pastaj 'Next' → 'Next' → instalimi përfundon.</a:t>
            </a:r>
            <a:endParaRPr lang="en-US" sz="1350" dirty="0"/>
          </a:p>
        </p:txBody>
      </p:sp>
      <p:sp>
        <p:nvSpPr>
          <p:cNvPr id="21" name="Shape 16"/>
          <p:cNvSpPr/>
          <p:nvPr/>
        </p:nvSpPr>
        <p:spPr>
          <a:xfrm>
            <a:off x="640080" y="6355080"/>
            <a:ext cx="2856586" cy="310896"/>
          </a:xfrm>
          <a:prstGeom prst="roundRect">
            <a:avLst>
              <a:gd name="adj" fmla="val 50000"/>
            </a:avLst>
          </a:prstGeom>
          <a:solidFill>
            <a:srgbClr val="5FB3E0"/>
          </a:solidFill>
          <a:ln/>
        </p:spPr>
      </p:sp>
      <p:pic>
        <p:nvPicPr>
          <p:cNvPr id="22" name="Image 3" descr="preencoded.png">    </p:cNvPr>
          <p:cNvPicPr>
            <a:picLocks noChangeAspect="1"/>
          </p:cNvPicPr>
          <p:nvPr/>
        </p:nvPicPr>
        <p:blipFill>
          <a:blip r:embed="rId4"/>
          <a:stretch>
            <a:fillRect/>
          </a:stretch>
        </p:blipFill>
        <p:spPr>
          <a:xfrm>
            <a:off x="786384" y="6432804"/>
            <a:ext cx="155448" cy="155448"/>
          </a:xfrm>
          <a:prstGeom prst="rect">
            <a:avLst/>
          </a:prstGeom>
        </p:spPr>
      </p:pic>
      <p:sp>
        <p:nvSpPr>
          <p:cNvPr id="23" name="Text 17"/>
          <p:cNvSpPr/>
          <p:nvPr/>
        </p:nvSpPr>
        <p:spPr>
          <a:xfrm>
            <a:off x="950976" y="6355080"/>
            <a:ext cx="2472538"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Sipas dokumentacionit zyrtar EDB</a:t>
            </a:r>
            <a:endParaRPr lang="en-US" sz="1050" dirty="0"/>
          </a:p>
        </p:txBody>
      </p:sp>
      <p:sp>
        <p:nvSpPr>
          <p:cNvPr id="24" name="Text 18"/>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PGADMIN · HAPJA</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Hapja e parë dhe lidhja me serverin</a:t>
            </a:r>
            <a:endParaRPr lang="en-US" sz="2600" dirty="0"/>
          </a:p>
        </p:txBody>
      </p:sp>
      <p:sp>
        <p:nvSpPr>
          <p:cNvPr id="6" name="Text 4"/>
          <p:cNvSpPr/>
          <p:nvPr/>
        </p:nvSpPr>
        <p:spPr>
          <a:xfrm>
            <a:off x="685800" y="1463040"/>
            <a:ext cx="6035040" cy="3657600"/>
          </a:xfrm>
          <a:prstGeom prst="rect">
            <a:avLst/>
          </a:prstGeom>
          <a:noFill/>
          <a:ln/>
        </p:spPr>
        <p:txBody>
          <a:bodyPr wrap="square" lIns="0" tIns="0" rIns="0" bIns="0" rtlCol="0" anchor="t"/>
          <a:lstStyle/>
          <a:p>
            <a:pPr marL="203200" indent="-203200">
              <a:spcAft>
                <a:spcPts val="1200"/>
              </a:spcAft>
              <a:buSzPct val="100000"/>
              <a:buChar char="•"/>
            </a:pPr>
            <a:r>
              <a:rPr lang="en-US" sz="1500" b="1" dirty="0">
                <a:solidFill>
                  <a:srgbClr val="26313F"/>
                </a:solidFill>
                <a:latin typeface="Work Sans" pitchFamily="34" charset="0"/>
                <a:ea typeface="Work Sans" pitchFamily="34" charset="-122"/>
                <a:cs typeface="Work Sans" pitchFamily="34" charset="-120"/>
              </a:rPr>
              <a:t>Hape pgAdmin 4 nga menyja Start</a:t>
            </a:r>
            <a:endParaRPr lang="en-US" sz="1500" dirty="0"/>
          </a:p>
          <a:p>
            <a:pPr marL="203200" indent="-203200">
              <a:spcAft>
                <a:spcPts val="1200"/>
              </a:spcAft>
              <a:buSzPct val="100000"/>
              <a:buChar char="•"/>
            </a:pPr>
            <a:r>
              <a:rPr lang="en-US" sz="1500" dirty="0">
                <a:solidFill>
                  <a:srgbClr val="26313F"/>
                </a:solidFill>
                <a:latin typeface="Work Sans" pitchFamily="34" charset="0"/>
                <a:ea typeface="Work Sans" pitchFamily="34" charset="-122"/>
                <a:cs typeface="Work Sans" pitchFamily="34" charset="-120"/>
              </a:rPr>
              <a:t>Hapet në shfletues (browser) — kjo është normale</a:t>
            </a:r>
            <a:endParaRPr lang="en-US" sz="1500" dirty="0"/>
          </a:p>
          <a:p>
            <a:pPr marL="203200" indent="-203200">
              <a:spcAft>
                <a:spcPts val="1200"/>
              </a:spcAft>
              <a:buSzPct val="100000"/>
              <a:buChar char="•"/>
            </a:pPr>
            <a:r>
              <a:rPr lang="en-US" sz="1500" dirty="0">
                <a:solidFill>
                  <a:srgbClr val="26313F"/>
                </a:solidFill>
                <a:latin typeface="Work Sans" pitchFamily="34" charset="0"/>
                <a:ea typeface="Work Sans" pitchFamily="34" charset="-122"/>
                <a:cs typeface="Work Sans" pitchFamily="34" charset="-120"/>
              </a:rPr>
              <a:t>Herën e parë të kërkon një 'Master Password' — vendos një dhe mbaje mend</a:t>
            </a:r>
            <a:endParaRPr lang="en-US" sz="1500" dirty="0"/>
          </a:p>
          <a:p>
            <a:pPr marL="203200" indent="-203200">
              <a:spcAft>
                <a:spcPts val="1200"/>
              </a:spcAft>
              <a:buSzPct val="100000"/>
              <a:buChar char="•"/>
            </a:pPr>
            <a:r>
              <a:rPr lang="en-US" sz="1500" b="1" dirty="0">
                <a:solidFill>
                  <a:srgbClr val="26313F"/>
                </a:solidFill>
                <a:latin typeface="Work Sans" pitchFamily="34" charset="0"/>
                <a:ea typeface="Work Sans" pitchFamily="34" charset="-122"/>
                <a:cs typeface="Work Sans" pitchFamily="34" charset="-120"/>
              </a:rPr>
              <a:t>Në të majtë: Servers → PostgreSQL → kliko dy herë</a:t>
            </a:r>
            <a:endParaRPr lang="en-US" sz="1500" dirty="0"/>
          </a:p>
          <a:p>
            <a:pPr marL="203200" indent="-203200">
              <a:spcAft>
                <a:spcPts val="1200"/>
              </a:spcAft>
              <a:buSzPct val="100000"/>
              <a:buChar char="•"/>
            </a:pPr>
            <a:r>
              <a:rPr lang="en-US" sz="1500" dirty="0">
                <a:solidFill>
                  <a:srgbClr val="26313F"/>
                </a:solidFill>
                <a:latin typeface="Work Sans" pitchFamily="34" charset="0"/>
                <a:ea typeface="Work Sans" pitchFamily="34" charset="-122"/>
                <a:cs typeface="Work Sans" pitchFamily="34" charset="-120"/>
              </a:rPr>
              <a:t>Të kërkon fjalëkalimin e 'postgres' (atë të instalimit)</a:t>
            </a:r>
            <a:endParaRPr lang="en-US" sz="1500" dirty="0"/>
          </a:p>
          <a:p>
            <a:pPr marL="203200" indent="-203200">
              <a:spcAft>
                <a:spcPts val="1200"/>
              </a:spcAft>
              <a:buSzPct val="100000"/>
              <a:buChar char="•"/>
            </a:pPr>
            <a:r>
              <a:rPr lang="en-US" sz="1500" dirty="0">
                <a:solidFill>
                  <a:srgbClr val="26313F"/>
                </a:solidFill>
                <a:latin typeface="Work Sans" pitchFamily="34" charset="0"/>
                <a:ea typeface="Work Sans" pitchFamily="34" charset="-122"/>
                <a:cs typeface="Work Sans" pitchFamily="34" charset="-120"/>
              </a:rPr>
              <a:t>Tani je i lidhur dhe sheh databazat!</a:t>
            </a:r>
            <a:endParaRPr lang="en-US" sz="1500" dirty="0"/>
          </a:p>
        </p:txBody>
      </p:sp>
      <p:sp>
        <p:nvSpPr>
          <p:cNvPr id="7" name="Shape 5"/>
          <p:cNvSpPr/>
          <p:nvPr/>
        </p:nvSpPr>
        <p:spPr>
          <a:xfrm>
            <a:off x="7040880" y="1463040"/>
            <a:ext cx="4434840" cy="4480560"/>
          </a:xfrm>
          <a:prstGeom prst="roundRect">
            <a:avLst>
              <a:gd name="adj" fmla="val 1649"/>
            </a:avLst>
          </a:prstGeom>
          <a:solidFill>
            <a:srgbClr val="FFFFFF"/>
          </a:solidFill>
          <a:ln w="19050">
            <a:solidFill>
              <a:srgbClr val="DBE2EA"/>
            </a:solidFill>
            <a:prstDash val="solid"/>
          </a:ln>
        </p:spPr>
      </p:sp>
      <p:sp>
        <p:nvSpPr>
          <p:cNvPr id="8" name="Shape 6"/>
          <p:cNvSpPr/>
          <p:nvPr/>
        </p:nvSpPr>
        <p:spPr>
          <a:xfrm>
            <a:off x="7040880" y="1463040"/>
            <a:ext cx="4434840" cy="457200"/>
          </a:xfrm>
          <a:prstGeom prst="rect">
            <a:avLst/>
          </a:prstGeom>
          <a:solidFill>
            <a:srgbClr val="142033"/>
          </a:solidFill>
          <a:ln/>
        </p:spPr>
      </p:sp>
      <p:sp>
        <p:nvSpPr>
          <p:cNvPr id="9" name="Text 7"/>
          <p:cNvSpPr/>
          <p:nvPr/>
        </p:nvSpPr>
        <p:spPr>
          <a:xfrm>
            <a:off x="7223760" y="1463040"/>
            <a:ext cx="4069080" cy="457200"/>
          </a:xfrm>
          <a:prstGeom prst="rect">
            <a:avLst/>
          </a:prstGeom>
          <a:noFill/>
          <a:ln/>
        </p:spPr>
        <p:txBody>
          <a:bodyPr wrap="square" rtlCol="0" anchor="ctr"/>
          <a:lstStyle/>
          <a:p>
            <a:pPr indent="0" marL="0">
              <a:buNone/>
            </a:pPr>
            <a:r>
              <a:rPr lang="en-US" sz="1200" b="1" dirty="0">
                <a:solidFill>
                  <a:srgbClr val="FFFFFF"/>
                </a:solidFill>
                <a:latin typeface="Work Sans" pitchFamily="34" charset="0"/>
                <a:ea typeface="Work Sans" pitchFamily="34" charset="-122"/>
                <a:cs typeface="Work Sans" pitchFamily="34" charset="-120"/>
              </a:rPr>
              <a:t>pgAdmin 4 — Browser</a:t>
            </a:r>
            <a:endParaRPr lang="en-US" sz="1200" dirty="0"/>
          </a:p>
        </p:txBody>
      </p:sp>
      <p:sp>
        <p:nvSpPr>
          <p:cNvPr id="10" name="Text 8"/>
          <p:cNvSpPr/>
          <p:nvPr/>
        </p:nvSpPr>
        <p:spPr>
          <a:xfrm>
            <a:off x="7315200" y="2148840"/>
            <a:ext cx="3886200" cy="310896"/>
          </a:xfrm>
          <a:prstGeom prst="rect">
            <a:avLst/>
          </a:prstGeom>
          <a:noFill/>
          <a:ln/>
        </p:spPr>
        <p:txBody>
          <a:bodyPr wrap="square" rtlCol="0" anchor="ctr"/>
          <a:lstStyle/>
          <a:p>
            <a:pPr indent="0" marL="0">
              <a:buNone/>
            </a:pPr>
            <a:r>
              <a:rPr lang="en-US" sz="1300" b="1" dirty="0">
                <a:solidFill>
                  <a:srgbClr val="26313F"/>
                </a:solidFill>
                <a:latin typeface="JetBrains Mono" pitchFamily="34" charset="0"/>
                <a:ea typeface="JetBrains Mono" pitchFamily="34" charset="-122"/>
                <a:cs typeface="JetBrains Mono" pitchFamily="34" charset="-120"/>
              </a:rPr>
              <a:t>▼ Servers</a:t>
            </a:r>
            <a:endParaRPr lang="en-US" sz="1300" dirty="0"/>
          </a:p>
        </p:txBody>
      </p:sp>
      <p:sp>
        <p:nvSpPr>
          <p:cNvPr id="11" name="Text 9"/>
          <p:cNvSpPr/>
          <p:nvPr/>
        </p:nvSpPr>
        <p:spPr>
          <a:xfrm>
            <a:off x="7680960" y="2532888"/>
            <a:ext cx="3886200" cy="310896"/>
          </a:xfrm>
          <a:prstGeom prst="rect">
            <a:avLst/>
          </a:prstGeom>
          <a:noFill/>
          <a:ln/>
        </p:spPr>
        <p:txBody>
          <a:bodyPr wrap="square" rtlCol="0" anchor="ctr"/>
          <a:lstStyle/>
          <a:p>
            <a:pPr indent="0" marL="0">
              <a:buNone/>
            </a:pPr>
            <a:r>
              <a:rPr lang="en-US" sz="1300" b="1" dirty="0">
                <a:solidFill>
                  <a:srgbClr val="142033"/>
                </a:solidFill>
                <a:latin typeface="JetBrains Mono" pitchFamily="34" charset="0"/>
                <a:ea typeface="JetBrains Mono" pitchFamily="34" charset="-122"/>
                <a:cs typeface="JetBrains Mono" pitchFamily="34" charset="-120"/>
              </a:rPr>
              <a:t>▼ PostgreSQL 17</a:t>
            </a:r>
            <a:endParaRPr lang="en-US" sz="1300" dirty="0"/>
          </a:p>
        </p:txBody>
      </p:sp>
      <p:sp>
        <p:nvSpPr>
          <p:cNvPr id="12" name="Text 10"/>
          <p:cNvSpPr/>
          <p:nvPr/>
        </p:nvSpPr>
        <p:spPr>
          <a:xfrm>
            <a:off x="8046720" y="2916936"/>
            <a:ext cx="3886200" cy="310896"/>
          </a:xfrm>
          <a:prstGeom prst="rect">
            <a:avLst/>
          </a:prstGeom>
          <a:noFill/>
          <a:ln/>
        </p:spPr>
        <p:txBody>
          <a:bodyPr wrap="square" rtlCol="0" anchor="ctr"/>
          <a:lstStyle/>
          <a:p>
            <a:pPr indent="0" marL="0">
              <a:buNone/>
            </a:pPr>
            <a:r>
              <a:rPr lang="en-US" sz="1300" dirty="0">
                <a:solidFill>
                  <a:srgbClr val="26313F"/>
                </a:solidFill>
                <a:latin typeface="JetBrains Mono" pitchFamily="34" charset="0"/>
                <a:ea typeface="JetBrains Mono" pitchFamily="34" charset="-122"/>
                <a:cs typeface="JetBrains Mono" pitchFamily="34" charset="-120"/>
              </a:rPr>
              <a:t>▼ Databases</a:t>
            </a:r>
            <a:endParaRPr lang="en-US" sz="1300" dirty="0"/>
          </a:p>
        </p:txBody>
      </p:sp>
      <p:sp>
        <p:nvSpPr>
          <p:cNvPr id="13" name="Text 11"/>
          <p:cNvSpPr/>
          <p:nvPr/>
        </p:nvSpPr>
        <p:spPr>
          <a:xfrm>
            <a:off x="8412480" y="3300984"/>
            <a:ext cx="3886200" cy="310896"/>
          </a:xfrm>
          <a:prstGeom prst="rect">
            <a:avLst/>
          </a:prstGeom>
          <a:noFill/>
          <a:ln/>
        </p:spPr>
        <p:txBody>
          <a:bodyPr wrap="square" rtlCol="0" anchor="ctr"/>
          <a:lstStyle/>
          <a:p>
            <a:pPr indent="0" marL="0">
              <a:buNone/>
            </a:pPr>
            <a:r>
              <a:rPr lang="en-US" sz="1300" b="1" dirty="0">
                <a:solidFill>
                  <a:srgbClr val="E8730C"/>
                </a:solidFill>
                <a:latin typeface="JetBrains Mono" pitchFamily="34" charset="0"/>
                <a:ea typeface="JetBrains Mono" pitchFamily="34" charset="-122"/>
                <a:cs typeface="JetBrains Mono" pitchFamily="34" charset="-120"/>
              </a:rPr>
              <a:t>shkolla</a:t>
            </a:r>
            <a:endParaRPr lang="en-US" sz="1300" dirty="0"/>
          </a:p>
        </p:txBody>
      </p:sp>
      <p:sp>
        <p:nvSpPr>
          <p:cNvPr id="14" name="Text 12"/>
          <p:cNvSpPr/>
          <p:nvPr/>
        </p:nvSpPr>
        <p:spPr>
          <a:xfrm>
            <a:off x="8412480" y="3685032"/>
            <a:ext cx="3886200" cy="310896"/>
          </a:xfrm>
          <a:prstGeom prst="rect">
            <a:avLst/>
          </a:prstGeom>
          <a:noFill/>
          <a:ln/>
        </p:spPr>
        <p:txBody>
          <a:bodyPr wrap="square" rtlCol="0" anchor="ctr"/>
          <a:lstStyle/>
          <a:p>
            <a:pPr indent="0" marL="0">
              <a:buNone/>
            </a:pPr>
            <a:r>
              <a:rPr lang="en-US" sz="1300" dirty="0">
                <a:solidFill>
                  <a:srgbClr val="6A7889"/>
                </a:solidFill>
                <a:latin typeface="JetBrains Mono" pitchFamily="34" charset="0"/>
                <a:ea typeface="JetBrains Mono" pitchFamily="34" charset="-122"/>
                <a:cs typeface="JetBrains Mono" pitchFamily="34" charset="-120"/>
              </a:rPr>
              <a:t>postgres</a:t>
            </a:r>
            <a:endParaRPr lang="en-US" sz="1300" dirty="0"/>
          </a:p>
        </p:txBody>
      </p:sp>
      <p:sp>
        <p:nvSpPr>
          <p:cNvPr id="15" name="Text 13"/>
          <p:cNvSpPr/>
          <p:nvPr/>
        </p:nvSpPr>
        <p:spPr>
          <a:xfrm>
            <a:off x="8046720" y="4069080"/>
            <a:ext cx="3886200" cy="310896"/>
          </a:xfrm>
          <a:prstGeom prst="rect">
            <a:avLst/>
          </a:prstGeom>
          <a:noFill/>
          <a:ln/>
        </p:spPr>
        <p:txBody>
          <a:bodyPr wrap="square" rtlCol="0" anchor="ctr"/>
          <a:lstStyle/>
          <a:p>
            <a:pPr indent="0" marL="0">
              <a:buNone/>
            </a:pPr>
            <a:r>
              <a:rPr lang="en-US" sz="1300" dirty="0">
                <a:solidFill>
                  <a:srgbClr val="26313F"/>
                </a:solidFill>
                <a:latin typeface="JetBrains Mono" pitchFamily="34" charset="0"/>
                <a:ea typeface="JetBrains Mono" pitchFamily="34" charset="-122"/>
                <a:cs typeface="JetBrains Mono" pitchFamily="34" charset="-120"/>
              </a:rPr>
              <a:t>▶ Login/Group Roles</a:t>
            </a:r>
            <a:endParaRPr lang="en-US" sz="1300" dirty="0"/>
          </a:p>
        </p:txBody>
      </p:sp>
      <p:sp>
        <p:nvSpPr>
          <p:cNvPr id="16" name="Text 14"/>
          <p:cNvSpPr/>
          <p:nvPr/>
        </p:nvSpPr>
        <p:spPr>
          <a:xfrm>
            <a:off x="8046720" y="4453128"/>
            <a:ext cx="3886200" cy="310896"/>
          </a:xfrm>
          <a:prstGeom prst="rect">
            <a:avLst/>
          </a:prstGeom>
          <a:noFill/>
          <a:ln/>
        </p:spPr>
        <p:txBody>
          <a:bodyPr wrap="square" rtlCol="0" anchor="ctr"/>
          <a:lstStyle/>
          <a:p>
            <a:pPr indent="0" marL="0">
              <a:buNone/>
            </a:pPr>
            <a:r>
              <a:rPr lang="en-US" sz="1300" dirty="0">
                <a:solidFill>
                  <a:srgbClr val="26313F"/>
                </a:solidFill>
                <a:latin typeface="JetBrains Mono" pitchFamily="34" charset="0"/>
                <a:ea typeface="JetBrains Mono" pitchFamily="34" charset="-122"/>
                <a:cs typeface="JetBrains Mono" pitchFamily="34" charset="-120"/>
              </a:rPr>
              <a:t>▶ Tablespaces</a:t>
            </a:r>
            <a:endParaRPr lang="en-US" sz="1300" dirty="0"/>
          </a:p>
        </p:txBody>
      </p:sp>
      <p:pic>
        <p:nvPicPr>
          <p:cNvPr id="17" name="Image 0" descr="preencoded.png">    </p:cNvPr>
          <p:cNvPicPr>
            <a:picLocks noChangeAspect="1"/>
          </p:cNvPicPr>
          <p:nvPr/>
        </p:nvPicPr>
        <p:blipFill>
          <a:blip r:embed="rId1"/>
          <a:stretch>
            <a:fillRect/>
          </a:stretch>
        </p:blipFill>
        <p:spPr>
          <a:xfrm>
            <a:off x="10607040" y="5212080"/>
            <a:ext cx="640080" cy="640080"/>
          </a:xfrm>
          <a:prstGeom prst="rect">
            <a:avLst/>
          </a:prstGeom>
        </p:spPr>
      </p:pic>
      <p:sp>
        <p:nvSpPr>
          <p:cNvPr id="18" name="Text 15"/>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PGADMIN · KRIJIMI</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Krijimi i databazës 'shkolla'</a:t>
            </a:r>
            <a:endParaRPr lang="en-US" sz="2600" dirty="0"/>
          </a:p>
        </p:txBody>
      </p:sp>
      <p:sp>
        <p:nvSpPr>
          <p:cNvPr id="6" name="Text 4"/>
          <p:cNvSpPr/>
          <p:nvPr/>
        </p:nvSpPr>
        <p:spPr>
          <a:xfrm>
            <a:off x="685800" y="1463040"/>
            <a:ext cx="5120640" cy="3657600"/>
          </a:xfrm>
          <a:prstGeom prst="rect">
            <a:avLst/>
          </a:prstGeom>
          <a:noFill/>
          <a:ln/>
        </p:spPr>
        <p:txBody>
          <a:bodyPr wrap="square" lIns="0" tIns="0" rIns="0" bIns="0" rtlCol="0" anchor="t"/>
          <a:lstStyle/>
          <a:p>
            <a:pPr marL="203200" indent="-203200">
              <a:spcAft>
                <a:spcPts val="1200"/>
              </a:spcAft>
              <a:buSzPct val="100000"/>
              <a:buChar char="•"/>
            </a:pPr>
            <a:r>
              <a:rPr lang="en-US" sz="1500" b="1" dirty="0">
                <a:solidFill>
                  <a:srgbClr val="E8730C"/>
                </a:solidFill>
                <a:latin typeface="Work Sans" pitchFamily="34" charset="0"/>
                <a:ea typeface="Work Sans" pitchFamily="34" charset="-122"/>
                <a:cs typeface="Work Sans" pitchFamily="34" charset="-120"/>
              </a:rPr>
              <a:t>Mënyra grafike:</a:t>
            </a:r>
            <a:endParaRPr lang="en-US" sz="1500" dirty="0"/>
          </a:p>
          <a:p>
            <a:pPr marL="203200" indent="-203200">
              <a:spcAft>
                <a:spcPts val="1200"/>
              </a:spcAft>
              <a:buSzPct val="100000"/>
              <a:buChar char="•"/>
            </a:pPr>
            <a:r>
              <a:rPr lang="en-US" sz="1500" dirty="0">
                <a:solidFill>
                  <a:srgbClr val="26313F"/>
                </a:solidFill>
                <a:latin typeface="Work Sans" pitchFamily="34" charset="0"/>
                <a:ea typeface="Work Sans" pitchFamily="34" charset="-122"/>
                <a:cs typeface="Work Sans" pitchFamily="34" charset="-120"/>
              </a:rPr>
              <a:t>Kliko me të djathtën mbi 'Databases'</a:t>
            </a:r>
            <a:endParaRPr lang="en-US" sz="1500" dirty="0"/>
          </a:p>
          <a:p>
            <a:pPr marL="203200" indent="-203200">
              <a:spcAft>
                <a:spcPts val="1200"/>
              </a:spcAft>
              <a:buSzPct val="100000"/>
              <a:buChar char="•"/>
            </a:pPr>
            <a:r>
              <a:rPr lang="en-US" sz="1500" dirty="0">
                <a:solidFill>
                  <a:srgbClr val="26313F"/>
                </a:solidFill>
                <a:latin typeface="Work Sans" pitchFamily="34" charset="0"/>
                <a:ea typeface="Work Sans" pitchFamily="34" charset="-122"/>
                <a:cs typeface="Work Sans" pitchFamily="34" charset="-120"/>
              </a:rPr>
              <a:t>Zgjidh Create → Database…</a:t>
            </a:r>
            <a:endParaRPr lang="en-US" sz="1500" dirty="0"/>
          </a:p>
          <a:p>
            <a:pPr marL="203200" indent="-203200">
              <a:spcAft>
                <a:spcPts val="1200"/>
              </a:spcAft>
              <a:buSzPct val="100000"/>
              <a:buChar char="•"/>
            </a:pPr>
            <a:r>
              <a:rPr lang="en-US" sz="1500" dirty="0">
                <a:solidFill>
                  <a:srgbClr val="26313F"/>
                </a:solidFill>
                <a:latin typeface="Work Sans" pitchFamily="34" charset="0"/>
                <a:ea typeface="Work Sans" pitchFamily="34" charset="-122"/>
                <a:cs typeface="Work Sans" pitchFamily="34" charset="-120"/>
              </a:rPr>
              <a:t>Shkruaj emrin: shkolla → Save</a:t>
            </a:r>
            <a:endParaRPr lang="en-US" sz="1500" dirty="0"/>
          </a:p>
          <a:p>
            <a:pPr marL="203200" indent="-203200">
              <a:spcAft>
                <a:spcPts val="1200"/>
              </a:spcAft>
              <a:buSzPct val="100000"/>
              <a:buChar char="•"/>
            </a:pPr>
            <a:r>
              <a:rPr lang="en-US" sz="1500" b="1" dirty="0">
                <a:solidFill>
                  <a:srgbClr val="E8730C"/>
                </a:solidFill>
                <a:latin typeface="Work Sans" pitchFamily="34" charset="0"/>
                <a:ea typeface="Work Sans" pitchFamily="34" charset="-122"/>
                <a:cs typeface="Work Sans" pitchFamily="34" charset="-120"/>
              </a:rPr>
              <a:t>Ose me SQL (Query Tool):</a:t>
            </a:r>
            <a:endParaRPr lang="en-US" sz="1500" dirty="0"/>
          </a:p>
        </p:txBody>
      </p:sp>
      <p:sp>
        <p:nvSpPr>
          <p:cNvPr id="7" name="Shape 5"/>
          <p:cNvSpPr/>
          <p:nvPr/>
        </p:nvSpPr>
        <p:spPr>
          <a:xfrm>
            <a:off x="685800" y="3977640"/>
            <a:ext cx="5120640" cy="717804"/>
          </a:xfrm>
          <a:prstGeom prst="roundRect">
            <a:avLst>
              <a:gd name="adj" fmla="val 10191"/>
            </a:avLst>
          </a:prstGeom>
          <a:solidFill>
            <a:srgbClr val="1B2736"/>
          </a:solidFill>
          <a:ln w="12700">
            <a:solidFill>
              <a:srgbClr val="2A3A4C"/>
            </a:solidFill>
            <a:prstDash val="solid"/>
          </a:ln>
        </p:spPr>
      </p:sp>
      <p:sp>
        <p:nvSpPr>
          <p:cNvPr id="8" name="Text 6"/>
          <p:cNvSpPr/>
          <p:nvPr/>
        </p:nvSpPr>
        <p:spPr>
          <a:xfrm>
            <a:off x="822960" y="4050792"/>
            <a:ext cx="402336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SQL</a:t>
            </a:r>
            <a:endParaRPr lang="en-US" sz="1000" dirty="0"/>
          </a:p>
        </p:txBody>
      </p:sp>
      <p:sp>
        <p:nvSpPr>
          <p:cNvPr id="9" name="Text 7"/>
          <p:cNvSpPr/>
          <p:nvPr/>
        </p:nvSpPr>
        <p:spPr>
          <a:xfrm>
            <a:off x="886968" y="4361688"/>
            <a:ext cx="4718304" cy="196596"/>
          </a:xfrm>
          <a:prstGeom prst="rect">
            <a:avLst/>
          </a:prstGeom>
          <a:noFill/>
          <a:ln/>
        </p:spPr>
        <p:txBody>
          <a:bodyPr wrap="square" lIns="0" tIns="0" rIns="0" bIns="0" rtlCol="0" anchor="t"/>
          <a:lstStyle/>
          <a:p>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CREATE</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DATABASE</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shkolla</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endParaRPr lang="en-US" sz="1400" dirty="0"/>
          </a:p>
        </p:txBody>
      </p:sp>
      <p:sp>
        <p:nvSpPr>
          <p:cNvPr id="10" name="Shape 8"/>
          <p:cNvSpPr/>
          <p:nvPr/>
        </p:nvSpPr>
        <p:spPr>
          <a:xfrm>
            <a:off x="6309360" y="1463040"/>
            <a:ext cx="5166360" cy="4480560"/>
          </a:xfrm>
          <a:prstGeom prst="roundRect">
            <a:avLst>
              <a:gd name="adj" fmla="val 2041"/>
            </a:avLst>
          </a:prstGeom>
          <a:solidFill>
            <a:srgbClr val="F2F5F9"/>
          </a:solidFill>
          <a:ln w="12700">
            <a:solidFill>
              <a:srgbClr val="DBE2EA"/>
            </a:solidFill>
            <a:prstDash val="solid"/>
          </a:ln>
        </p:spPr>
      </p:sp>
      <p:pic>
        <p:nvPicPr>
          <p:cNvPr id="11" name="Image 0" descr="preencoded.png">    </p:cNvPr>
          <p:cNvPicPr>
            <a:picLocks noChangeAspect="1"/>
          </p:cNvPicPr>
          <p:nvPr/>
        </p:nvPicPr>
        <p:blipFill>
          <a:blip r:embed="rId1"/>
          <a:stretch>
            <a:fillRect/>
          </a:stretch>
        </p:blipFill>
        <p:spPr>
          <a:xfrm>
            <a:off x="8503920" y="1920240"/>
            <a:ext cx="868680" cy="868680"/>
          </a:xfrm>
          <a:prstGeom prst="rect">
            <a:avLst/>
          </a:prstGeom>
        </p:spPr>
      </p:pic>
      <p:sp>
        <p:nvSpPr>
          <p:cNvPr id="12" name="Text 9"/>
          <p:cNvSpPr/>
          <p:nvPr/>
        </p:nvSpPr>
        <p:spPr>
          <a:xfrm>
            <a:off x="6309360" y="2926080"/>
            <a:ext cx="5166360" cy="411480"/>
          </a:xfrm>
          <a:prstGeom prst="rect">
            <a:avLst/>
          </a:prstGeom>
          <a:noFill/>
          <a:ln/>
        </p:spPr>
        <p:txBody>
          <a:bodyPr wrap="square" rtlCol="0" anchor="ctr"/>
          <a:lstStyle/>
          <a:p>
            <a:pPr algn="ctr" indent="0" marL="0">
              <a:buNone/>
            </a:pPr>
            <a:r>
              <a:rPr lang="en-US" sz="1800" b="1" dirty="0">
                <a:solidFill>
                  <a:srgbClr val="142033"/>
                </a:solidFill>
                <a:latin typeface="Work Sans" pitchFamily="34" charset="0"/>
                <a:ea typeface="Work Sans" pitchFamily="34" charset="-122"/>
                <a:cs typeface="Work Sans" pitchFamily="34" charset="-120"/>
              </a:rPr>
              <a:t>Databaza 'shkolla'</a:t>
            </a:r>
            <a:endParaRPr lang="en-US" sz="1800" dirty="0"/>
          </a:p>
        </p:txBody>
      </p:sp>
      <p:sp>
        <p:nvSpPr>
          <p:cNvPr id="13" name="Text 10"/>
          <p:cNvSpPr/>
          <p:nvPr/>
        </p:nvSpPr>
        <p:spPr>
          <a:xfrm>
            <a:off x="6583680" y="3429000"/>
            <a:ext cx="4617720" cy="914400"/>
          </a:xfrm>
          <a:prstGeom prst="rect">
            <a:avLst/>
          </a:prstGeom>
          <a:noFill/>
          <a:ln/>
        </p:spPr>
        <p:txBody>
          <a:bodyPr wrap="square" rtlCol="0" anchor="t"/>
          <a:lstStyle/>
          <a:p>
            <a:pPr algn="ctr" indent="0" marL="0">
              <a:buNone/>
            </a:pPr>
            <a:r>
              <a:rPr lang="en-US" sz="1350" dirty="0">
                <a:solidFill>
                  <a:srgbClr val="26313F"/>
                </a:solidFill>
                <a:latin typeface="Work Sans" pitchFamily="34" charset="0"/>
                <a:ea typeface="Work Sans" pitchFamily="34" charset="-122"/>
                <a:cs typeface="Work Sans" pitchFamily="34" charset="-120"/>
              </a:rPr>
              <a:t>Këtu do të ruajmë të gjitha tabelat tona.</a:t>
            </a:r>
            <a:endParaRPr lang="en-US" sz="1350" dirty="0"/>
          </a:p>
          <a:p>
            <a:pPr algn="ctr" indent="0" marL="0">
              <a:buNone/>
            </a:pPr>
            <a:r>
              <a:rPr lang="en-US" sz="1350" dirty="0">
                <a:solidFill>
                  <a:srgbClr val="26313F"/>
                </a:solidFill>
                <a:latin typeface="Work Sans" pitchFamily="34" charset="0"/>
                <a:ea typeface="Work Sans" pitchFamily="34" charset="-122"/>
                <a:cs typeface="Work Sans" pitchFamily="34" charset="-120"/>
              </a:rPr>
              <a:t>Një databazë mund të mbajë shumë tabela.</a:t>
            </a:r>
            <a:endParaRPr lang="en-US" sz="1350" dirty="0"/>
          </a:p>
        </p:txBody>
      </p:sp>
      <p:sp>
        <p:nvSpPr>
          <p:cNvPr id="14" name="Shape 11"/>
          <p:cNvSpPr/>
          <p:nvPr/>
        </p:nvSpPr>
        <p:spPr>
          <a:xfrm>
            <a:off x="6583680" y="5120640"/>
            <a:ext cx="2556662" cy="310896"/>
          </a:xfrm>
          <a:prstGeom prst="roundRect">
            <a:avLst>
              <a:gd name="adj" fmla="val 50000"/>
            </a:avLst>
          </a:prstGeom>
          <a:solidFill>
            <a:srgbClr val="3FB57A"/>
          </a:solidFill>
          <a:ln/>
        </p:spPr>
      </p:sp>
      <p:pic>
        <p:nvPicPr>
          <p:cNvPr id="15" name="Image 1" descr="preencoded.png">    </p:cNvPr>
          <p:cNvPicPr>
            <a:picLocks noChangeAspect="1"/>
          </p:cNvPicPr>
          <p:nvPr/>
        </p:nvPicPr>
        <p:blipFill>
          <a:blip r:embed="rId2"/>
          <a:stretch>
            <a:fillRect/>
          </a:stretch>
        </p:blipFill>
        <p:spPr>
          <a:xfrm>
            <a:off x="6729984" y="5198364"/>
            <a:ext cx="155448" cy="155448"/>
          </a:xfrm>
          <a:prstGeom prst="rect">
            <a:avLst/>
          </a:prstGeom>
        </p:spPr>
      </p:pic>
      <p:sp>
        <p:nvSpPr>
          <p:cNvPr id="16" name="Text 12"/>
          <p:cNvSpPr/>
          <p:nvPr/>
        </p:nvSpPr>
        <p:spPr>
          <a:xfrm>
            <a:off x="6894576" y="5120640"/>
            <a:ext cx="2172614"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Ekzekutuar mbi PostgreSQL 16</a:t>
            </a:r>
            <a:endParaRPr lang="en-US" sz="1050" dirty="0"/>
          </a:p>
        </p:txBody>
      </p:sp>
      <p:sp>
        <p:nvSpPr>
          <p:cNvPr id="17" name="Text 13"/>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PGADMIN · TABELA</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Krijimi i tabelës 'studentet' me SQL</a:t>
            </a:r>
            <a:endParaRPr lang="en-US" sz="2600" dirty="0"/>
          </a:p>
        </p:txBody>
      </p:sp>
      <p:sp>
        <p:nvSpPr>
          <p:cNvPr id="6" name="Text 4"/>
          <p:cNvSpPr/>
          <p:nvPr/>
        </p:nvSpPr>
        <p:spPr>
          <a:xfrm>
            <a:off x="685800" y="1371600"/>
            <a:ext cx="10789920" cy="365760"/>
          </a:xfrm>
          <a:prstGeom prst="rect">
            <a:avLst/>
          </a:prstGeom>
          <a:noFill/>
          <a:ln/>
        </p:spPr>
        <p:txBody>
          <a:bodyPr wrap="square" rtlCol="0" anchor="ctr"/>
          <a:lstStyle/>
          <a:p>
            <a:pPr indent="0" marL="0">
              <a:buNone/>
            </a:pPr>
            <a:r>
              <a:rPr lang="en-US" sz="1450" dirty="0">
                <a:solidFill>
                  <a:srgbClr val="26313F"/>
                </a:solidFill>
                <a:latin typeface="Work Sans" pitchFamily="34" charset="0"/>
                <a:ea typeface="Work Sans" pitchFamily="34" charset="-122"/>
                <a:cs typeface="Work Sans" pitchFamily="34" charset="-120"/>
              </a:rPr>
              <a:t>Hap Query Tool (ikona rrufe) mbi databazën 'shkolla' dhe shkruaj:</a:t>
            </a:r>
            <a:endParaRPr lang="en-US" sz="1450" dirty="0"/>
          </a:p>
        </p:txBody>
      </p:sp>
      <p:sp>
        <p:nvSpPr>
          <p:cNvPr id="7" name="Shape 5"/>
          <p:cNvSpPr/>
          <p:nvPr/>
        </p:nvSpPr>
        <p:spPr>
          <a:xfrm>
            <a:off x="685800" y="1828800"/>
            <a:ext cx="6400800" cy="1760220"/>
          </a:xfrm>
          <a:prstGeom prst="roundRect">
            <a:avLst>
              <a:gd name="adj" fmla="val 4156"/>
            </a:avLst>
          </a:prstGeom>
          <a:solidFill>
            <a:srgbClr val="1B2736"/>
          </a:solidFill>
          <a:ln w="12700">
            <a:solidFill>
              <a:srgbClr val="2A3A4C"/>
            </a:solidFill>
            <a:prstDash val="solid"/>
          </a:ln>
        </p:spPr>
      </p:sp>
      <p:sp>
        <p:nvSpPr>
          <p:cNvPr id="8" name="Text 6"/>
          <p:cNvSpPr/>
          <p:nvPr/>
        </p:nvSpPr>
        <p:spPr>
          <a:xfrm>
            <a:off x="822960" y="1901952"/>
            <a:ext cx="530352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SQL — Query Tool</a:t>
            </a:r>
            <a:endParaRPr lang="en-US" sz="1000" dirty="0"/>
          </a:p>
        </p:txBody>
      </p:sp>
      <p:sp>
        <p:nvSpPr>
          <p:cNvPr id="9" name="Text 7"/>
          <p:cNvSpPr/>
          <p:nvPr/>
        </p:nvSpPr>
        <p:spPr>
          <a:xfrm>
            <a:off x="886968" y="2212848"/>
            <a:ext cx="5998464" cy="1239012"/>
          </a:xfrm>
          <a:prstGeom prst="rect">
            <a:avLst/>
          </a:prstGeom>
          <a:noFill/>
          <a:ln/>
        </p:spPr>
        <p:txBody>
          <a:bodyPr wrap="square" lIns="0" tIns="0" rIns="0" bIns="0" rtlCol="0" anchor="t"/>
          <a:lstStyle/>
          <a:p>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CREATE</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TABLE</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studentet</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endParaRPr lang="en-US" sz="1400" dirty="0"/>
          </a:p>
          <a:p>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id</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INTEGER</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PRIMARY</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KEY</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endParaRPr lang="en-US" sz="1400" dirty="0"/>
          </a:p>
          <a:p>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emri</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VARCHAR</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400" dirty="0">
                <a:solidFill>
                  <a:srgbClr val="D9A066"/>
                </a:solidFill>
                <a:latin typeface="JetBrains Mono" pitchFamily="34" charset="0"/>
                <a:ea typeface="JetBrains Mono" pitchFamily="34" charset="-122"/>
                <a:cs typeface="JetBrains Mono" pitchFamily="34" charset="-120"/>
              </a:rPr>
              <a:t>100</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endParaRPr lang="en-US" sz="1400" dirty="0"/>
          </a:p>
          <a:p>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mosha</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INTEGER</a:t>
            </a:r>
            <a:endParaRPr lang="en-US" sz="1400" dirty="0"/>
          </a:p>
          <a:p>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endParaRPr lang="en-US" sz="1400" dirty="0"/>
          </a:p>
        </p:txBody>
      </p:sp>
      <p:sp>
        <p:nvSpPr>
          <p:cNvPr id="10" name="Text 8"/>
          <p:cNvSpPr/>
          <p:nvPr/>
        </p:nvSpPr>
        <p:spPr>
          <a:xfrm>
            <a:off x="7360920" y="1965960"/>
            <a:ext cx="4114800" cy="3657600"/>
          </a:xfrm>
          <a:prstGeom prst="rect">
            <a:avLst/>
          </a:prstGeom>
          <a:noFill/>
          <a:ln/>
        </p:spPr>
        <p:txBody>
          <a:bodyPr wrap="square" lIns="0" tIns="0" rIns="0" bIns="0" rtlCol="0" anchor="t"/>
          <a:lstStyle/>
          <a:p>
            <a:pPr marL="203200" indent="-203200">
              <a:spcAft>
                <a:spcPts val="1200"/>
              </a:spcAft>
              <a:buSzPct val="100000"/>
              <a:buChar char="•"/>
            </a:pPr>
            <a:r>
              <a:rPr lang="en-US" sz="1350" b="1" dirty="0">
                <a:solidFill>
                  <a:srgbClr val="26313F"/>
                </a:solidFill>
                <a:latin typeface="Work Sans" pitchFamily="34" charset="0"/>
                <a:ea typeface="Work Sans" pitchFamily="34" charset="-122"/>
                <a:cs typeface="Work Sans" pitchFamily="34" charset="-120"/>
              </a:rPr>
              <a:t>id — numër unik, çelësi kryesor</a:t>
            </a:r>
            <a:endParaRPr lang="en-US" sz="1350" dirty="0"/>
          </a:p>
          <a:p>
            <a:pPr marL="203200" indent="-203200">
              <a:spcAft>
                <a:spcPts val="1200"/>
              </a:spcAft>
              <a:buSzPct val="100000"/>
              <a:buChar char="•"/>
            </a:pPr>
            <a:r>
              <a:rPr lang="en-US" sz="1350" b="1" dirty="0">
                <a:solidFill>
                  <a:srgbClr val="26313F"/>
                </a:solidFill>
                <a:latin typeface="Work Sans" pitchFamily="34" charset="0"/>
                <a:ea typeface="Work Sans" pitchFamily="34" charset="-122"/>
                <a:cs typeface="Work Sans" pitchFamily="34" charset="-120"/>
              </a:rPr>
              <a:t>emri — tekst deri në 100 shkronja</a:t>
            </a:r>
            <a:endParaRPr lang="en-US" sz="1350" dirty="0"/>
          </a:p>
          <a:p>
            <a:pPr marL="203200" indent="-203200">
              <a:spcAft>
                <a:spcPts val="1200"/>
              </a:spcAft>
              <a:buSzPct val="100000"/>
              <a:buChar char="•"/>
            </a:pPr>
            <a:r>
              <a:rPr lang="en-US" sz="1350" b="1" dirty="0">
                <a:solidFill>
                  <a:srgbClr val="26313F"/>
                </a:solidFill>
                <a:latin typeface="Work Sans" pitchFamily="34" charset="0"/>
                <a:ea typeface="Work Sans" pitchFamily="34" charset="-122"/>
                <a:cs typeface="Work Sans" pitchFamily="34" charset="-120"/>
              </a:rPr>
              <a:t>mosha — numër i plotë</a:t>
            </a:r>
            <a:endParaRPr lang="en-US" sz="1350" dirty="0"/>
          </a:p>
          <a:p>
            <a:pPr marL="203200" indent="-203200">
              <a:spcAft>
                <a:spcPts val="1200"/>
              </a:spcAft>
              <a:buSzPct val="100000"/>
              <a:buChar char="•"/>
            </a:pPr>
            <a:r>
              <a:rPr lang="en-US" sz="1350" i="1" dirty="0">
                <a:solidFill>
                  <a:srgbClr val="6A7889"/>
                </a:solidFill>
                <a:latin typeface="Work Sans" pitchFamily="34" charset="0"/>
                <a:ea typeface="Work Sans" pitchFamily="34" charset="-122"/>
                <a:cs typeface="Work Sans" pitchFamily="34" charset="-120"/>
              </a:rPr>
              <a:t>PRIMARY KEY = identifikuesi unik i çdo rreshti</a:t>
            </a:r>
            <a:endParaRPr lang="en-US" sz="1350" dirty="0"/>
          </a:p>
        </p:txBody>
      </p:sp>
      <p:sp>
        <p:nvSpPr>
          <p:cNvPr id="11" name="Shape 9"/>
          <p:cNvSpPr/>
          <p:nvPr/>
        </p:nvSpPr>
        <p:spPr>
          <a:xfrm>
            <a:off x="685800" y="4343400"/>
            <a:ext cx="6400800" cy="777240"/>
          </a:xfrm>
          <a:prstGeom prst="roundRect">
            <a:avLst>
              <a:gd name="adj" fmla="val 7059"/>
            </a:avLst>
          </a:prstGeom>
          <a:solidFill>
            <a:srgbClr val="0E1622"/>
          </a:solidFill>
          <a:ln w="12700">
            <a:solidFill>
              <a:srgbClr val="3FB57A"/>
            </a:solidFill>
            <a:prstDash val="solid"/>
          </a:ln>
        </p:spPr>
      </p:sp>
      <p:sp>
        <p:nvSpPr>
          <p:cNvPr id="12" name="Text 10"/>
          <p:cNvSpPr/>
          <p:nvPr/>
        </p:nvSpPr>
        <p:spPr>
          <a:xfrm>
            <a:off x="822960" y="4416552"/>
            <a:ext cx="6126480" cy="237744"/>
          </a:xfrm>
          <a:prstGeom prst="rect">
            <a:avLst/>
          </a:prstGeom>
          <a:noFill/>
          <a:ln/>
        </p:spPr>
        <p:txBody>
          <a:bodyPr wrap="square" rtlCol="0" anchor="ctr"/>
          <a:lstStyle/>
          <a:p>
            <a:pPr indent="0" marL="0">
              <a:buNone/>
            </a:pPr>
            <a:r>
              <a:rPr lang="en-US" sz="1000" b="1" spc="100" kern="0" dirty="0">
                <a:solidFill>
                  <a:srgbClr val="3FB57A"/>
                </a:solidFill>
                <a:latin typeface="JetBrains Mono" pitchFamily="34" charset="0"/>
                <a:ea typeface="JetBrains Mono" pitchFamily="34" charset="-122"/>
                <a:cs typeface="JetBrains Mono" pitchFamily="34" charset="-120"/>
              </a:rPr>
              <a:t>▶ Rezultati në pgAdmin</a:t>
            </a:r>
            <a:endParaRPr lang="en-US" sz="1000" dirty="0"/>
          </a:p>
        </p:txBody>
      </p:sp>
      <p:sp>
        <p:nvSpPr>
          <p:cNvPr id="13" name="Text 11"/>
          <p:cNvSpPr/>
          <p:nvPr/>
        </p:nvSpPr>
        <p:spPr>
          <a:xfrm>
            <a:off x="868680" y="4709160"/>
            <a:ext cx="6035040" cy="320040"/>
          </a:xfrm>
          <a:prstGeom prst="rect">
            <a:avLst/>
          </a:prstGeom>
          <a:noFill/>
          <a:ln/>
        </p:spPr>
        <p:txBody>
          <a:bodyPr wrap="square" lIns="0" tIns="0" rIns="0" bIns="0" rtlCol="0" anchor="t"/>
          <a:lstStyle/>
          <a:p>
            <a:pPr indent="0" marL="0">
              <a:buNone/>
            </a:pPr>
            <a:r>
              <a:rPr lang="en-US" sz="1250" dirty="0">
                <a:solidFill>
                  <a:srgbClr val="7FD6A0"/>
                </a:solidFill>
                <a:latin typeface="JetBrains Mono" pitchFamily="34" charset="0"/>
                <a:ea typeface="JetBrains Mono" pitchFamily="34" charset="-122"/>
                <a:cs typeface="JetBrains Mono" pitchFamily="34" charset="-120"/>
              </a:rPr>
              <a:t>CREATE TABLE</a:t>
            </a:r>
            <a:endParaRPr lang="en-US" sz="1250" dirty="0"/>
          </a:p>
        </p:txBody>
      </p:sp>
      <p:sp>
        <p:nvSpPr>
          <p:cNvPr id="14" name="Shape 12"/>
          <p:cNvSpPr/>
          <p:nvPr/>
        </p:nvSpPr>
        <p:spPr>
          <a:xfrm>
            <a:off x="685800" y="5257800"/>
            <a:ext cx="1881835" cy="310896"/>
          </a:xfrm>
          <a:prstGeom prst="roundRect">
            <a:avLst>
              <a:gd name="adj" fmla="val 50000"/>
            </a:avLst>
          </a:prstGeom>
          <a:solidFill>
            <a:srgbClr val="3FB57A"/>
          </a:solidFill>
          <a:ln/>
        </p:spPr>
      </p:sp>
      <p:pic>
        <p:nvPicPr>
          <p:cNvPr id="15" name="Image 0" descr="preencoded.png">    </p:cNvPr>
          <p:cNvPicPr>
            <a:picLocks noChangeAspect="1"/>
          </p:cNvPicPr>
          <p:nvPr/>
        </p:nvPicPr>
        <p:blipFill>
          <a:blip r:embed="rId1"/>
          <a:stretch>
            <a:fillRect/>
          </a:stretch>
        </p:blipFill>
        <p:spPr>
          <a:xfrm>
            <a:off x="832104" y="5335524"/>
            <a:ext cx="155448" cy="155448"/>
          </a:xfrm>
          <a:prstGeom prst="rect">
            <a:avLst/>
          </a:prstGeom>
        </p:spPr>
      </p:pic>
      <p:sp>
        <p:nvSpPr>
          <p:cNvPr id="16" name="Text 13"/>
          <p:cNvSpPr/>
          <p:nvPr/>
        </p:nvSpPr>
        <p:spPr>
          <a:xfrm>
            <a:off x="996696" y="5257800"/>
            <a:ext cx="1497787"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Ekzekutuar realisht</a:t>
            </a:r>
            <a:endParaRPr lang="en-US" sz="1050" dirty="0"/>
          </a:p>
        </p:txBody>
      </p:sp>
      <p:sp>
        <p:nvSpPr>
          <p:cNvPr id="17" name="Text 14"/>
          <p:cNvSpPr/>
          <p:nvPr/>
        </p:nvSpPr>
        <p:spPr>
          <a:xfrm>
            <a:off x="685800" y="5715000"/>
            <a:ext cx="10698480" cy="457200"/>
          </a:xfrm>
          <a:prstGeom prst="rect">
            <a:avLst/>
          </a:prstGeom>
          <a:noFill/>
          <a:ln/>
        </p:spPr>
        <p:txBody>
          <a:bodyPr wrap="square" rtlCol="0" anchor="ctr"/>
          <a:lstStyle/>
          <a:p>
            <a:pPr indent="0" marL="0">
              <a:buNone/>
            </a:pPr>
            <a:r>
              <a:rPr lang="en-US" sz="1300" i="1" dirty="0">
                <a:solidFill>
                  <a:srgbClr val="6A7889"/>
                </a:solidFill>
                <a:latin typeface="Work Sans" pitchFamily="34" charset="0"/>
                <a:ea typeface="Work Sans" pitchFamily="34" charset="-122"/>
                <a:cs typeface="Work Sans" pitchFamily="34" charset="-120"/>
              </a:rPr>
              <a:t>Kliko 'Run' (▶ ose F5) për ta ekzekutuar. Mesazhi 'CREATE TABLE' tregon sukses.</a:t>
            </a:r>
            <a:endParaRPr lang="en-US" sz="1300" dirty="0"/>
          </a:p>
        </p:txBody>
      </p:sp>
      <p:sp>
        <p:nvSpPr>
          <p:cNvPr id="18" name="Text 15"/>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PGADMIN · TË DHËNAT</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Shikimi i të dhënave me SELECT</a:t>
            </a:r>
            <a:endParaRPr lang="en-US" sz="2600" dirty="0"/>
          </a:p>
        </p:txBody>
      </p:sp>
      <p:sp>
        <p:nvSpPr>
          <p:cNvPr id="6" name="Text 4"/>
          <p:cNvSpPr/>
          <p:nvPr/>
        </p:nvSpPr>
        <p:spPr>
          <a:xfrm>
            <a:off x="685800" y="1371600"/>
            <a:ext cx="10789920" cy="365760"/>
          </a:xfrm>
          <a:prstGeom prst="rect">
            <a:avLst/>
          </a:prstGeom>
          <a:noFill/>
          <a:ln/>
        </p:spPr>
        <p:txBody>
          <a:bodyPr wrap="square" rtlCol="0" anchor="ctr"/>
          <a:lstStyle/>
          <a:p>
            <a:pPr indent="0" marL="0">
              <a:buNone/>
            </a:pPr>
            <a:r>
              <a:rPr lang="en-US" sz="1450" dirty="0">
                <a:solidFill>
                  <a:srgbClr val="26313F"/>
                </a:solidFill>
                <a:latin typeface="Work Sans" pitchFamily="34" charset="0"/>
                <a:ea typeface="Work Sans" pitchFamily="34" charset="-122"/>
                <a:cs typeface="Work Sans" pitchFamily="34" charset="-120"/>
              </a:rPr>
              <a:t>Komanda SELECT tregon të gjitha rreshtat e një tabele:</a:t>
            </a:r>
            <a:endParaRPr lang="en-US" sz="1450" dirty="0"/>
          </a:p>
        </p:txBody>
      </p:sp>
      <p:sp>
        <p:nvSpPr>
          <p:cNvPr id="7" name="Shape 5"/>
          <p:cNvSpPr/>
          <p:nvPr/>
        </p:nvSpPr>
        <p:spPr>
          <a:xfrm>
            <a:off x="685800" y="1783080"/>
            <a:ext cx="5943600" cy="717804"/>
          </a:xfrm>
          <a:prstGeom prst="roundRect">
            <a:avLst>
              <a:gd name="adj" fmla="val 10191"/>
            </a:avLst>
          </a:prstGeom>
          <a:solidFill>
            <a:srgbClr val="1B2736"/>
          </a:solidFill>
          <a:ln w="12700">
            <a:solidFill>
              <a:srgbClr val="2A3A4C"/>
            </a:solidFill>
            <a:prstDash val="solid"/>
          </a:ln>
        </p:spPr>
      </p:sp>
      <p:sp>
        <p:nvSpPr>
          <p:cNvPr id="8" name="Text 6"/>
          <p:cNvSpPr/>
          <p:nvPr/>
        </p:nvSpPr>
        <p:spPr>
          <a:xfrm>
            <a:off x="822960" y="1856232"/>
            <a:ext cx="484632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SQL</a:t>
            </a:r>
            <a:endParaRPr lang="en-US" sz="1000" dirty="0"/>
          </a:p>
        </p:txBody>
      </p:sp>
      <p:sp>
        <p:nvSpPr>
          <p:cNvPr id="9" name="Text 7"/>
          <p:cNvSpPr/>
          <p:nvPr/>
        </p:nvSpPr>
        <p:spPr>
          <a:xfrm>
            <a:off x="886968" y="2167128"/>
            <a:ext cx="5541264" cy="196596"/>
          </a:xfrm>
          <a:prstGeom prst="rect">
            <a:avLst/>
          </a:prstGeom>
          <a:noFill/>
          <a:ln/>
        </p:spPr>
        <p:txBody>
          <a:bodyPr wrap="square" lIns="0" tIns="0" rIns="0" bIns="0" rtlCol="0" anchor="t"/>
          <a:lstStyle/>
          <a:p>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SELECT</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963C"/>
                </a:solidFill>
                <a:latin typeface="JetBrains Mono" pitchFamily="34" charset="0"/>
                <a:ea typeface="JetBrains Mono" pitchFamily="34" charset="-122"/>
                <a:cs typeface="JetBrains Mono" pitchFamily="34" charset="-120"/>
              </a:rPr>
              <a:t>FROM</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400" dirty="0">
                <a:solidFill>
                  <a:srgbClr val="E8EEF4"/>
                </a:solidFill>
                <a:latin typeface="JetBrains Mono" pitchFamily="34" charset="0"/>
                <a:ea typeface="JetBrains Mono" pitchFamily="34" charset="-122"/>
                <a:cs typeface="JetBrains Mono" pitchFamily="34" charset="-120"/>
              </a:rPr>
              <a:t>studentet</a:t>
            </a:r>
            <a:pPr indent="0" marL="0">
              <a:lnSpc>
                <a:spcPct val="98000"/>
              </a:lnSpc>
              <a:buNone/>
            </a:pPr>
            <a:r>
              <a:rPr lang="en-US" sz="1400" dirty="0">
                <a:solidFill>
                  <a:srgbClr val="C3CBD6"/>
                </a:solidFill>
                <a:latin typeface="JetBrains Mono" pitchFamily="34" charset="0"/>
                <a:ea typeface="JetBrains Mono" pitchFamily="34" charset="-122"/>
                <a:cs typeface="JetBrains Mono" pitchFamily="34" charset="-120"/>
              </a:rPr>
              <a:t>;</a:t>
            </a:r>
            <a:endParaRPr lang="en-US" sz="1400" dirty="0"/>
          </a:p>
        </p:txBody>
      </p:sp>
      <p:sp>
        <p:nvSpPr>
          <p:cNvPr id="10" name="Text 8"/>
          <p:cNvSpPr/>
          <p:nvPr/>
        </p:nvSpPr>
        <p:spPr>
          <a:xfrm>
            <a:off x="685800" y="2743200"/>
            <a:ext cx="5486400" cy="320040"/>
          </a:xfrm>
          <a:prstGeom prst="rect">
            <a:avLst/>
          </a:prstGeom>
          <a:noFill/>
          <a:ln/>
        </p:spPr>
        <p:txBody>
          <a:bodyPr wrap="square" rtlCol="0" anchor="ctr"/>
          <a:lstStyle/>
          <a:p>
            <a:pPr indent="0" marL="0">
              <a:buNone/>
            </a:pPr>
            <a:r>
              <a:rPr lang="en-US" sz="1200" b="1" dirty="0">
                <a:solidFill>
                  <a:srgbClr val="6A7889"/>
                </a:solidFill>
                <a:latin typeface="Work Sans" pitchFamily="34" charset="0"/>
                <a:ea typeface="Work Sans" pitchFamily="34" charset="-122"/>
                <a:cs typeface="Work Sans" pitchFamily="34" charset="-120"/>
              </a:rPr>
              <a:t>Rezultati (Data Output):</a:t>
            </a:r>
            <a:endParaRPr lang="en-US" sz="1200" dirty="0"/>
          </a:p>
        </p:txBody>
      </p:sp>
      <p:sp>
        <p:nvSpPr>
          <p:cNvPr id="11" name="Shape 9"/>
          <p:cNvSpPr/>
          <p:nvPr/>
        </p:nvSpPr>
        <p:spPr>
          <a:xfrm>
            <a:off x="685800" y="3108960"/>
            <a:ext cx="1188720" cy="384048"/>
          </a:xfrm>
          <a:prstGeom prst="rect">
            <a:avLst/>
          </a:prstGeom>
          <a:solidFill>
            <a:srgbClr val="142033"/>
          </a:solidFill>
          <a:ln w="12700">
            <a:solidFill>
              <a:srgbClr val="DBE2EA"/>
            </a:solidFill>
            <a:prstDash val="solid"/>
          </a:ln>
        </p:spPr>
      </p:sp>
      <p:sp>
        <p:nvSpPr>
          <p:cNvPr id="12" name="Text 10"/>
          <p:cNvSpPr/>
          <p:nvPr/>
        </p:nvSpPr>
        <p:spPr>
          <a:xfrm>
            <a:off x="777240" y="3108960"/>
            <a:ext cx="1005840" cy="384048"/>
          </a:xfrm>
          <a:prstGeom prst="rect">
            <a:avLst/>
          </a:prstGeom>
          <a:noFill/>
          <a:ln/>
        </p:spPr>
        <p:txBody>
          <a:bodyPr wrap="square" rtlCol="0" anchor="ctr"/>
          <a:lstStyle/>
          <a:p>
            <a:pPr indent="0" marL="0">
              <a:buNone/>
            </a:pPr>
            <a:r>
              <a:rPr lang="en-US" sz="1250" b="1" dirty="0">
                <a:solidFill>
                  <a:srgbClr val="FFFFFF"/>
                </a:solidFill>
                <a:latin typeface="JetBrains Mono" pitchFamily="34" charset="0"/>
                <a:ea typeface="JetBrains Mono" pitchFamily="34" charset="-122"/>
                <a:cs typeface="JetBrains Mono" pitchFamily="34" charset="-120"/>
              </a:rPr>
              <a:t>id</a:t>
            </a:r>
            <a:endParaRPr lang="en-US" sz="1250" dirty="0"/>
          </a:p>
        </p:txBody>
      </p:sp>
      <p:sp>
        <p:nvSpPr>
          <p:cNvPr id="13" name="Shape 11"/>
          <p:cNvSpPr/>
          <p:nvPr/>
        </p:nvSpPr>
        <p:spPr>
          <a:xfrm>
            <a:off x="1874520" y="3108960"/>
            <a:ext cx="3108960" cy="384048"/>
          </a:xfrm>
          <a:prstGeom prst="rect">
            <a:avLst/>
          </a:prstGeom>
          <a:solidFill>
            <a:srgbClr val="142033"/>
          </a:solidFill>
          <a:ln w="12700">
            <a:solidFill>
              <a:srgbClr val="DBE2EA"/>
            </a:solidFill>
            <a:prstDash val="solid"/>
          </a:ln>
        </p:spPr>
      </p:sp>
      <p:sp>
        <p:nvSpPr>
          <p:cNvPr id="14" name="Text 12"/>
          <p:cNvSpPr/>
          <p:nvPr/>
        </p:nvSpPr>
        <p:spPr>
          <a:xfrm>
            <a:off x="1965960" y="3108960"/>
            <a:ext cx="2926080" cy="384048"/>
          </a:xfrm>
          <a:prstGeom prst="rect">
            <a:avLst/>
          </a:prstGeom>
          <a:noFill/>
          <a:ln/>
        </p:spPr>
        <p:txBody>
          <a:bodyPr wrap="square" rtlCol="0" anchor="ctr"/>
          <a:lstStyle/>
          <a:p>
            <a:pPr indent="0" marL="0">
              <a:buNone/>
            </a:pPr>
            <a:r>
              <a:rPr lang="en-US" sz="1250" b="1" dirty="0">
                <a:solidFill>
                  <a:srgbClr val="FFFFFF"/>
                </a:solidFill>
                <a:latin typeface="JetBrains Mono" pitchFamily="34" charset="0"/>
                <a:ea typeface="JetBrains Mono" pitchFamily="34" charset="-122"/>
                <a:cs typeface="JetBrains Mono" pitchFamily="34" charset="-120"/>
              </a:rPr>
              <a:t>emri</a:t>
            </a:r>
            <a:endParaRPr lang="en-US" sz="1250" dirty="0"/>
          </a:p>
        </p:txBody>
      </p:sp>
      <p:sp>
        <p:nvSpPr>
          <p:cNvPr id="15" name="Shape 13"/>
          <p:cNvSpPr/>
          <p:nvPr/>
        </p:nvSpPr>
        <p:spPr>
          <a:xfrm>
            <a:off x="4983480" y="3108960"/>
            <a:ext cx="1645920" cy="384048"/>
          </a:xfrm>
          <a:prstGeom prst="rect">
            <a:avLst/>
          </a:prstGeom>
          <a:solidFill>
            <a:srgbClr val="142033"/>
          </a:solidFill>
          <a:ln w="12700">
            <a:solidFill>
              <a:srgbClr val="DBE2EA"/>
            </a:solidFill>
            <a:prstDash val="solid"/>
          </a:ln>
        </p:spPr>
      </p:sp>
      <p:sp>
        <p:nvSpPr>
          <p:cNvPr id="16" name="Text 14"/>
          <p:cNvSpPr/>
          <p:nvPr/>
        </p:nvSpPr>
        <p:spPr>
          <a:xfrm>
            <a:off x="5074920" y="3108960"/>
            <a:ext cx="1463040" cy="384048"/>
          </a:xfrm>
          <a:prstGeom prst="rect">
            <a:avLst/>
          </a:prstGeom>
          <a:noFill/>
          <a:ln/>
        </p:spPr>
        <p:txBody>
          <a:bodyPr wrap="square" rtlCol="0" anchor="ctr"/>
          <a:lstStyle/>
          <a:p>
            <a:pPr indent="0" marL="0">
              <a:buNone/>
            </a:pPr>
            <a:r>
              <a:rPr lang="en-US" sz="1250" b="1" dirty="0">
                <a:solidFill>
                  <a:srgbClr val="FFFFFF"/>
                </a:solidFill>
                <a:latin typeface="JetBrains Mono" pitchFamily="34" charset="0"/>
                <a:ea typeface="JetBrains Mono" pitchFamily="34" charset="-122"/>
                <a:cs typeface="JetBrains Mono" pitchFamily="34" charset="-120"/>
              </a:rPr>
              <a:t>mosha</a:t>
            </a:r>
            <a:endParaRPr lang="en-US" sz="1250" dirty="0"/>
          </a:p>
        </p:txBody>
      </p:sp>
      <p:sp>
        <p:nvSpPr>
          <p:cNvPr id="17" name="Shape 15"/>
          <p:cNvSpPr/>
          <p:nvPr/>
        </p:nvSpPr>
        <p:spPr>
          <a:xfrm>
            <a:off x="685800" y="3493008"/>
            <a:ext cx="1188720" cy="384048"/>
          </a:xfrm>
          <a:prstGeom prst="rect">
            <a:avLst/>
          </a:prstGeom>
          <a:solidFill>
            <a:srgbClr val="F2F5F9"/>
          </a:solidFill>
          <a:ln w="12700">
            <a:solidFill>
              <a:srgbClr val="DBE2EA"/>
            </a:solidFill>
            <a:prstDash val="solid"/>
          </a:ln>
        </p:spPr>
      </p:sp>
      <p:sp>
        <p:nvSpPr>
          <p:cNvPr id="18" name="Text 16"/>
          <p:cNvSpPr/>
          <p:nvPr/>
        </p:nvSpPr>
        <p:spPr>
          <a:xfrm>
            <a:off x="777240" y="3493008"/>
            <a:ext cx="1005840" cy="384048"/>
          </a:xfrm>
          <a:prstGeom prst="rect">
            <a:avLst/>
          </a:prstGeom>
          <a:noFill/>
          <a:ln/>
        </p:spPr>
        <p:txBody>
          <a:bodyPr wrap="square" rtlCol="0" anchor="ctr"/>
          <a:lstStyle/>
          <a:p>
            <a:pPr indent="0" marL="0">
              <a:buNone/>
            </a:pPr>
            <a:r>
              <a:rPr lang="en-US" sz="1250" dirty="0">
                <a:solidFill>
                  <a:srgbClr val="26313F"/>
                </a:solidFill>
                <a:latin typeface="JetBrains Mono" pitchFamily="34" charset="0"/>
                <a:ea typeface="JetBrains Mono" pitchFamily="34" charset="-122"/>
                <a:cs typeface="JetBrains Mono" pitchFamily="34" charset="-120"/>
              </a:rPr>
              <a:t>1</a:t>
            </a:r>
            <a:endParaRPr lang="en-US" sz="1250" dirty="0"/>
          </a:p>
        </p:txBody>
      </p:sp>
      <p:sp>
        <p:nvSpPr>
          <p:cNvPr id="19" name="Shape 17"/>
          <p:cNvSpPr/>
          <p:nvPr/>
        </p:nvSpPr>
        <p:spPr>
          <a:xfrm>
            <a:off x="1874520" y="3493008"/>
            <a:ext cx="3108960" cy="384048"/>
          </a:xfrm>
          <a:prstGeom prst="rect">
            <a:avLst/>
          </a:prstGeom>
          <a:solidFill>
            <a:srgbClr val="F2F5F9"/>
          </a:solidFill>
          <a:ln w="12700">
            <a:solidFill>
              <a:srgbClr val="DBE2EA"/>
            </a:solidFill>
            <a:prstDash val="solid"/>
          </a:ln>
        </p:spPr>
      </p:sp>
      <p:sp>
        <p:nvSpPr>
          <p:cNvPr id="20" name="Text 18"/>
          <p:cNvSpPr/>
          <p:nvPr/>
        </p:nvSpPr>
        <p:spPr>
          <a:xfrm>
            <a:off x="1965960" y="3493008"/>
            <a:ext cx="2926080" cy="384048"/>
          </a:xfrm>
          <a:prstGeom prst="rect">
            <a:avLst/>
          </a:prstGeom>
          <a:noFill/>
          <a:ln/>
        </p:spPr>
        <p:txBody>
          <a:bodyPr wrap="square" rtlCol="0" anchor="ctr"/>
          <a:lstStyle/>
          <a:p>
            <a:pPr indent="0" marL="0">
              <a:buNone/>
            </a:pPr>
            <a:r>
              <a:rPr lang="en-US" sz="1250" dirty="0">
                <a:solidFill>
                  <a:srgbClr val="26313F"/>
                </a:solidFill>
                <a:latin typeface="JetBrains Mono" pitchFamily="34" charset="0"/>
                <a:ea typeface="JetBrains Mono" pitchFamily="34" charset="-122"/>
                <a:cs typeface="JetBrains Mono" pitchFamily="34" charset="-120"/>
              </a:rPr>
              <a:t>Ana Kola</a:t>
            </a:r>
            <a:endParaRPr lang="en-US" sz="1250" dirty="0"/>
          </a:p>
        </p:txBody>
      </p:sp>
      <p:sp>
        <p:nvSpPr>
          <p:cNvPr id="21" name="Shape 19"/>
          <p:cNvSpPr/>
          <p:nvPr/>
        </p:nvSpPr>
        <p:spPr>
          <a:xfrm>
            <a:off x="4983480" y="3493008"/>
            <a:ext cx="1645920" cy="384048"/>
          </a:xfrm>
          <a:prstGeom prst="rect">
            <a:avLst/>
          </a:prstGeom>
          <a:solidFill>
            <a:srgbClr val="F2F5F9"/>
          </a:solidFill>
          <a:ln w="12700">
            <a:solidFill>
              <a:srgbClr val="DBE2EA"/>
            </a:solidFill>
            <a:prstDash val="solid"/>
          </a:ln>
        </p:spPr>
      </p:sp>
      <p:sp>
        <p:nvSpPr>
          <p:cNvPr id="22" name="Text 20"/>
          <p:cNvSpPr/>
          <p:nvPr/>
        </p:nvSpPr>
        <p:spPr>
          <a:xfrm>
            <a:off x="5074920" y="3493008"/>
            <a:ext cx="1463040" cy="384048"/>
          </a:xfrm>
          <a:prstGeom prst="rect">
            <a:avLst/>
          </a:prstGeom>
          <a:noFill/>
          <a:ln/>
        </p:spPr>
        <p:txBody>
          <a:bodyPr wrap="square" rtlCol="0" anchor="ctr"/>
          <a:lstStyle/>
          <a:p>
            <a:pPr indent="0" marL="0">
              <a:buNone/>
            </a:pPr>
            <a:r>
              <a:rPr lang="en-US" sz="1250" dirty="0">
                <a:solidFill>
                  <a:srgbClr val="26313F"/>
                </a:solidFill>
                <a:latin typeface="JetBrains Mono" pitchFamily="34" charset="0"/>
                <a:ea typeface="JetBrains Mono" pitchFamily="34" charset="-122"/>
                <a:cs typeface="JetBrains Mono" pitchFamily="34" charset="-120"/>
              </a:rPr>
              <a:t>20</a:t>
            </a:r>
            <a:endParaRPr lang="en-US" sz="1250" dirty="0"/>
          </a:p>
        </p:txBody>
      </p:sp>
      <p:sp>
        <p:nvSpPr>
          <p:cNvPr id="23" name="Shape 21"/>
          <p:cNvSpPr/>
          <p:nvPr/>
        </p:nvSpPr>
        <p:spPr>
          <a:xfrm>
            <a:off x="685800" y="3877056"/>
            <a:ext cx="1188720" cy="384048"/>
          </a:xfrm>
          <a:prstGeom prst="rect">
            <a:avLst/>
          </a:prstGeom>
          <a:solidFill>
            <a:srgbClr val="FFFFFF"/>
          </a:solidFill>
          <a:ln w="12700">
            <a:solidFill>
              <a:srgbClr val="DBE2EA"/>
            </a:solidFill>
            <a:prstDash val="solid"/>
          </a:ln>
        </p:spPr>
      </p:sp>
      <p:sp>
        <p:nvSpPr>
          <p:cNvPr id="24" name="Text 22"/>
          <p:cNvSpPr/>
          <p:nvPr/>
        </p:nvSpPr>
        <p:spPr>
          <a:xfrm>
            <a:off x="777240" y="3877056"/>
            <a:ext cx="1005840" cy="384048"/>
          </a:xfrm>
          <a:prstGeom prst="rect">
            <a:avLst/>
          </a:prstGeom>
          <a:noFill/>
          <a:ln/>
        </p:spPr>
        <p:txBody>
          <a:bodyPr wrap="square" rtlCol="0" anchor="ctr"/>
          <a:lstStyle/>
          <a:p>
            <a:pPr indent="0" marL="0">
              <a:buNone/>
            </a:pPr>
            <a:r>
              <a:rPr lang="en-US" sz="1250" dirty="0">
                <a:solidFill>
                  <a:srgbClr val="26313F"/>
                </a:solidFill>
                <a:latin typeface="JetBrains Mono" pitchFamily="34" charset="0"/>
                <a:ea typeface="JetBrains Mono" pitchFamily="34" charset="-122"/>
                <a:cs typeface="JetBrains Mono" pitchFamily="34" charset="-120"/>
              </a:rPr>
              <a:t>2</a:t>
            </a:r>
            <a:endParaRPr lang="en-US" sz="1250" dirty="0"/>
          </a:p>
        </p:txBody>
      </p:sp>
      <p:sp>
        <p:nvSpPr>
          <p:cNvPr id="25" name="Shape 23"/>
          <p:cNvSpPr/>
          <p:nvPr/>
        </p:nvSpPr>
        <p:spPr>
          <a:xfrm>
            <a:off x="1874520" y="3877056"/>
            <a:ext cx="3108960" cy="384048"/>
          </a:xfrm>
          <a:prstGeom prst="rect">
            <a:avLst/>
          </a:prstGeom>
          <a:solidFill>
            <a:srgbClr val="FFFFFF"/>
          </a:solidFill>
          <a:ln w="12700">
            <a:solidFill>
              <a:srgbClr val="DBE2EA"/>
            </a:solidFill>
            <a:prstDash val="solid"/>
          </a:ln>
        </p:spPr>
      </p:sp>
      <p:sp>
        <p:nvSpPr>
          <p:cNvPr id="26" name="Text 24"/>
          <p:cNvSpPr/>
          <p:nvPr/>
        </p:nvSpPr>
        <p:spPr>
          <a:xfrm>
            <a:off x="1965960" y="3877056"/>
            <a:ext cx="2926080" cy="384048"/>
          </a:xfrm>
          <a:prstGeom prst="rect">
            <a:avLst/>
          </a:prstGeom>
          <a:noFill/>
          <a:ln/>
        </p:spPr>
        <p:txBody>
          <a:bodyPr wrap="square" rtlCol="0" anchor="ctr"/>
          <a:lstStyle/>
          <a:p>
            <a:pPr indent="0" marL="0">
              <a:buNone/>
            </a:pPr>
            <a:r>
              <a:rPr lang="en-US" sz="1250" dirty="0">
                <a:solidFill>
                  <a:srgbClr val="26313F"/>
                </a:solidFill>
                <a:latin typeface="JetBrains Mono" pitchFamily="34" charset="0"/>
                <a:ea typeface="JetBrains Mono" pitchFamily="34" charset="-122"/>
                <a:cs typeface="JetBrains Mono" pitchFamily="34" charset="-120"/>
              </a:rPr>
              <a:t>Beni Doda</a:t>
            </a:r>
            <a:endParaRPr lang="en-US" sz="1250" dirty="0"/>
          </a:p>
        </p:txBody>
      </p:sp>
      <p:sp>
        <p:nvSpPr>
          <p:cNvPr id="27" name="Shape 25"/>
          <p:cNvSpPr/>
          <p:nvPr/>
        </p:nvSpPr>
        <p:spPr>
          <a:xfrm>
            <a:off x="4983480" y="3877056"/>
            <a:ext cx="1645920" cy="384048"/>
          </a:xfrm>
          <a:prstGeom prst="rect">
            <a:avLst/>
          </a:prstGeom>
          <a:solidFill>
            <a:srgbClr val="FFFFFF"/>
          </a:solidFill>
          <a:ln w="12700">
            <a:solidFill>
              <a:srgbClr val="DBE2EA"/>
            </a:solidFill>
            <a:prstDash val="solid"/>
          </a:ln>
        </p:spPr>
      </p:sp>
      <p:sp>
        <p:nvSpPr>
          <p:cNvPr id="28" name="Text 26"/>
          <p:cNvSpPr/>
          <p:nvPr/>
        </p:nvSpPr>
        <p:spPr>
          <a:xfrm>
            <a:off x="5074920" y="3877056"/>
            <a:ext cx="1463040" cy="384048"/>
          </a:xfrm>
          <a:prstGeom prst="rect">
            <a:avLst/>
          </a:prstGeom>
          <a:noFill/>
          <a:ln/>
        </p:spPr>
        <p:txBody>
          <a:bodyPr wrap="square" rtlCol="0" anchor="ctr"/>
          <a:lstStyle/>
          <a:p>
            <a:pPr indent="0" marL="0">
              <a:buNone/>
            </a:pPr>
            <a:r>
              <a:rPr lang="en-US" sz="1250" dirty="0">
                <a:solidFill>
                  <a:srgbClr val="26313F"/>
                </a:solidFill>
                <a:latin typeface="JetBrains Mono" pitchFamily="34" charset="0"/>
                <a:ea typeface="JetBrains Mono" pitchFamily="34" charset="-122"/>
                <a:cs typeface="JetBrains Mono" pitchFamily="34" charset="-120"/>
              </a:rPr>
              <a:t>22</a:t>
            </a:r>
            <a:endParaRPr lang="en-US" sz="1250" dirty="0"/>
          </a:p>
        </p:txBody>
      </p:sp>
      <p:sp>
        <p:nvSpPr>
          <p:cNvPr id="29" name="Text 27"/>
          <p:cNvSpPr/>
          <p:nvPr/>
        </p:nvSpPr>
        <p:spPr>
          <a:xfrm>
            <a:off x="7315200" y="1920240"/>
            <a:ext cx="4114800" cy="3657600"/>
          </a:xfrm>
          <a:prstGeom prst="rect">
            <a:avLst/>
          </a:prstGeom>
          <a:noFill/>
          <a:ln/>
        </p:spPr>
        <p:txBody>
          <a:bodyPr wrap="square" lIns="0" tIns="0" rIns="0" bIns="0" rtlCol="0" anchor="t"/>
          <a:lstStyle/>
          <a:p>
            <a:pPr marL="203200" indent="-203200">
              <a:spcAft>
                <a:spcPts val="1200"/>
              </a:spcAft>
              <a:buSzPct val="100000"/>
              <a:buChar char="•"/>
            </a:pPr>
            <a:r>
              <a:rPr lang="en-US" sz="1400" b="1" dirty="0">
                <a:solidFill>
                  <a:srgbClr val="26313F"/>
                </a:solidFill>
                <a:latin typeface="Work Sans" pitchFamily="34" charset="0"/>
                <a:ea typeface="Work Sans" pitchFamily="34" charset="-122"/>
                <a:cs typeface="Work Sans" pitchFamily="34" charset="-120"/>
              </a:rPr>
              <a:t>SELECT * → të gjitha kolonat</a:t>
            </a:r>
            <a:endParaRPr lang="en-US" sz="1400" dirty="0"/>
          </a:p>
          <a:p>
            <a:pPr marL="203200" indent="-203200">
              <a:spcAft>
                <a:spcPts val="1200"/>
              </a:spcAft>
              <a:buSzPct val="100000"/>
              <a:buChar char="•"/>
            </a:pPr>
            <a:r>
              <a:rPr lang="en-US" sz="1400" dirty="0">
                <a:solidFill>
                  <a:srgbClr val="26313F"/>
                </a:solidFill>
                <a:latin typeface="Work Sans" pitchFamily="34" charset="0"/>
                <a:ea typeface="Work Sans" pitchFamily="34" charset="-122"/>
                <a:cs typeface="Work Sans" pitchFamily="34" charset="-120"/>
              </a:rPr>
              <a:t>FROM studentet → nga cila tabelë</a:t>
            </a:r>
            <a:endParaRPr lang="en-US" sz="1400" dirty="0"/>
          </a:p>
          <a:p>
            <a:pPr marL="203200" indent="-203200">
              <a:spcAft>
                <a:spcPts val="1200"/>
              </a:spcAft>
              <a:buSzPct val="100000"/>
              <a:buChar char="•"/>
            </a:pPr>
            <a:r>
              <a:rPr lang="en-US" sz="1400" dirty="0">
                <a:solidFill>
                  <a:srgbClr val="26313F"/>
                </a:solidFill>
                <a:latin typeface="Work Sans" pitchFamily="34" charset="0"/>
                <a:ea typeface="Work Sans" pitchFamily="34" charset="-122"/>
                <a:cs typeface="Work Sans" pitchFamily="34" charset="-120"/>
              </a:rPr>
              <a:t>Mund të shtosh WHERE mosha &gt; 20</a:t>
            </a:r>
            <a:endParaRPr lang="en-US" sz="1400" dirty="0"/>
          </a:p>
          <a:p>
            <a:pPr marL="203200" indent="-203200">
              <a:spcAft>
                <a:spcPts val="1200"/>
              </a:spcAft>
              <a:buSzPct val="100000"/>
              <a:buChar char="•"/>
            </a:pPr>
            <a:r>
              <a:rPr lang="en-US" sz="1400" dirty="0">
                <a:solidFill>
                  <a:srgbClr val="26313F"/>
                </a:solidFill>
                <a:latin typeface="Work Sans" pitchFamily="34" charset="0"/>
                <a:ea typeface="Work Sans" pitchFamily="34" charset="-122"/>
                <a:cs typeface="Work Sans" pitchFamily="34" charset="-120"/>
              </a:rPr>
              <a:t>Ose ORDER BY emri për renditje</a:t>
            </a:r>
            <a:endParaRPr lang="en-US" sz="1400" dirty="0"/>
          </a:p>
        </p:txBody>
      </p:sp>
      <p:sp>
        <p:nvSpPr>
          <p:cNvPr id="30" name="Text 28"/>
          <p:cNvSpPr/>
          <p:nvPr/>
        </p:nvSpPr>
        <p:spPr>
          <a:xfrm>
            <a:off x="685800" y="4663440"/>
            <a:ext cx="6400800" cy="457200"/>
          </a:xfrm>
          <a:prstGeom prst="rect">
            <a:avLst/>
          </a:prstGeom>
          <a:noFill/>
          <a:ln/>
        </p:spPr>
        <p:txBody>
          <a:bodyPr wrap="square" rtlCol="0" anchor="ctr"/>
          <a:lstStyle/>
          <a:p>
            <a:pPr indent="0" marL="0">
              <a:buNone/>
            </a:pPr>
            <a:r>
              <a:rPr lang="en-US" sz="1250" i="1" dirty="0">
                <a:solidFill>
                  <a:srgbClr val="E8730C"/>
                </a:solidFill>
                <a:latin typeface="Work Sans" pitchFamily="34" charset="0"/>
                <a:ea typeface="Work Sans" pitchFamily="34" charset="-122"/>
                <a:cs typeface="Work Sans" pitchFamily="34" charset="-120"/>
              </a:rPr>
              <a:t>Këto dy rreshta i shtuam përmes Java-s — shihni pjesën tjetër!</a:t>
            </a:r>
            <a:endParaRPr lang="en-US" sz="1250" dirty="0"/>
          </a:p>
        </p:txBody>
      </p:sp>
      <p:sp>
        <p:nvSpPr>
          <p:cNvPr id="31" name="Text 29"/>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Text 1"/>
          <p:cNvSpPr/>
          <p:nvPr/>
        </p:nvSpPr>
        <p:spPr>
          <a:xfrm>
            <a:off x="548640" y="320040"/>
            <a:ext cx="10972800" cy="274320"/>
          </a:xfrm>
          <a:prstGeom prst="rect">
            <a:avLst/>
          </a:prstGeom>
          <a:noFill/>
          <a:ln/>
        </p:spPr>
        <p:txBody>
          <a:bodyPr wrap="square" rtlCol="0" anchor="ctr"/>
          <a:lstStyle/>
          <a:p>
            <a:pPr indent="0" marL="0">
              <a:buNone/>
            </a:pPr>
            <a:r>
              <a:rPr lang="en-US" sz="1200" b="1" spc="200" kern="0" dirty="0">
                <a:solidFill>
                  <a:srgbClr val="F6A63B"/>
                </a:solidFill>
                <a:latin typeface="Poppins" pitchFamily="34" charset="0"/>
                <a:ea typeface="Poppins" pitchFamily="34" charset="-122"/>
                <a:cs typeface="Poppins" pitchFamily="34" charset="-120"/>
              </a:rPr>
              <a:t>LIDHJA ME JAVA</a:t>
            </a:r>
            <a:endParaRPr lang="en-US" sz="1200" dirty="0"/>
          </a:p>
        </p:txBody>
      </p:sp>
      <p:sp>
        <p:nvSpPr>
          <p:cNvPr id="4" name="Text 2"/>
          <p:cNvSpPr/>
          <p:nvPr/>
        </p:nvSpPr>
        <p:spPr>
          <a:xfrm>
            <a:off x="548640" y="621792"/>
            <a:ext cx="11064240" cy="658368"/>
          </a:xfrm>
          <a:prstGeom prst="rect">
            <a:avLst/>
          </a:prstGeom>
          <a:noFill/>
          <a:ln/>
        </p:spPr>
        <p:txBody>
          <a:bodyPr wrap="square" rtlCol="0" anchor="ctr"/>
          <a:lstStyle/>
          <a:p>
            <a:pPr indent="0" marL="0">
              <a:buNone/>
            </a:pPr>
            <a:r>
              <a:rPr lang="en-US" sz="2800" b="1" dirty="0">
                <a:solidFill>
                  <a:srgbClr val="FFFFFF"/>
                </a:solidFill>
                <a:latin typeface="Poppins" pitchFamily="34" charset="0"/>
                <a:ea typeface="Poppins" pitchFamily="34" charset="-122"/>
                <a:cs typeface="Poppins" pitchFamily="34" charset="-120"/>
              </a:rPr>
              <a:t>Çfarë na duhet për JDBC?</a:t>
            </a:r>
            <a:endParaRPr lang="en-US" sz="2800" dirty="0"/>
          </a:p>
        </p:txBody>
      </p:sp>
      <p:sp>
        <p:nvSpPr>
          <p:cNvPr id="5" name="Shape 3"/>
          <p:cNvSpPr/>
          <p:nvPr/>
        </p:nvSpPr>
        <p:spPr>
          <a:xfrm>
            <a:off x="640080" y="1828800"/>
            <a:ext cx="3474720" cy="2743200"/>
          </a:xfrm>
          <a:prstGeom prst="roundRect">
            <a:avLst>
              <a:gd name="adj" fmla="val 3333"/>
            </a:avLst>
          </a:prstGeom>
          <a:solidFill>
            <a:srgbClr val="1E3050"/>
          </a:solidFill>
          <a:ln w="12700">
            <a:solidFill>
              <a:srgbClr val="2E4568"/>
            </a:solidFill>
            <a:prstDash val="solid"/>
          </a:ln>
        </p:spPr>
      </p:sp>
      <p:pic>
        <p:nvPicPr>
          <p:cNvPr id="6" name="Image 0" descr="preencoded.png">    </p:cNvPr>
          <p:cNvPicPr>
            <a:picLocks noChangeAspect="1"/>
          </p:cNvPicPr>
          <p:nvPr/>
        </p:nvPicPr>
        <p:blipFill>
          <a:blip r:embed="rId1"/>
          <a:stretch>
            <a:fillRect/>
          </a:stretch>
        </p:blipFill>
        <p:spPr>
          <a:xfrm>
            <a:off x="2011680" y="2148840"/>
            <a:ext cx="777240" cy="777240"/>
          </a:xfrm>
          <a:prstGeom prst="rect">
            <a:avLst/>
          </a:prstGeom>
        </p:spPr>
      </p:pic>
      <p:sp>
        <p:nvSpPr>
          <p:cNvPr id="7" name="Text 4"/>
          <p:cNvSpPr/>
          <p:nvPr/>
        </p:nvSpPr>
        <p:spPr>
          <a:xfrm>
            <a:off x="640080" y="3063240"/>
            <a:ext cx="3474720" cy="457200"/>
          </a:xfrm>
          <a:prstGeom prst="rect">
            <a:avLst/>
          </a:prstGeom>
          <a:noFill/>
          <a:ln/>
        </p:spPr>
        <p:txBody>
          <a:bodyPr wrap="square" rtlCol="0" anchor="ctr"/>
          <a:lstStyle/>
          <a:p>
            <a:pPr algn="ctr" indent="0" marL="0">
              <a:buNone/>
            </a:pPr>
            <a:r>
              <a:rPr lang="en-US" sz="1900" b="1" dirty="0">
                <a:solidFill>
                  <a:srgbClr val="F6A63B"/>
                </a:solidFill>
                <a:latin typeface="Work Sans" pitchFamily="34" charset="0"/>
                <a:ea typeface="Work Sans" pitchFamily="34" charset="-122"/>
                <a:cs typeface="Work Sans" pitchFamily="34" charset="-120"/>
              </a:rPr>
              <a:t>JDBC</a:t>
            </a:r>
            <a:endParaRPr lang="en-US" sz="1900" dirty="0"/>
          </a:p>
        </p:txBody>
      </p:sp>
      <p:sp>
        <p:nvSpPr>
          <p:cNvPr id="8" name="Text 5"/>
          <p:cNvSpPr/>
          <p:nvPr/>
        </p:nvSpPr>
        <p:spPr>
          <a:xfrm>
            <a:off x="914400" y="3611880"/>
            <a:ext cx="2926080" cy="914400"/>
          </a:xfrm>
          <a:prstGeom prst="rect">
            <a:avLst/>
          </a:prstGeom>
          <a:noFill/>
          <a:ln/>
        </p:spPr>
        <p:txBody>
          <a:bodyPr wrap="square" rtlCol="0" anchor="t"/>
          <a:lstStyle/>
          <a:p>
            <a:pPr algn="ctr" indent="0" marL="0">
              <a:buNone/>
            </a:pPr>
            <a:r>
              <a:rPr lang="en-US" sz="1300" dirty="0">
                <a:solidFill>
                  <a:srgbClr val="DBE2EA"/>
                </a:solidFill>
                <a:latin typeface="Work Sans" pitchFamily="34" charset="0"/>
                <a:ea typeface="Work Sans" pitchFamily="34" charset="-122"/>
                <a:cs typeface="Work Sans" pitchFamily="34" charset="-120"/>
              </a:rPr>
              <a:t>API-ja standarde e Java-s për të folur me baza të dhënash. Klasat janë te java.sql.</a:t>
            </a:r>
            <a:endParaRPr lang="en-US" sz="1300" dirty="0"/>
          </a:p>
        </p:txBody>
      </p:sp>
      <p:sp>
        <p:nvSpPr>
          <p:cNvPr id="9" name="Shape 6"/>
          <p:cNvSpPr/>
          <p:nvPr/>
        </p:nvSpPr>
        <p:spPr>
          <a:xfrm>
            <a:off x="4343400" y="1828800"/>
            <a:ext cx="3474720" cy="2743200"/>
          </a:xfrm>
          <a:prstGeom prst="roundRect">
            <a:avLst>
              <a:gd name="adj" fmla="val 3333"/>
            </a:avLst>
          </a:prstGeom>
          <a:solidFill>
            <a:srgbClr val="1E3050"/>
          </a:solidFill>
          <a:ln w="12700">
            <a:solidFill>
              <a:srgbClr val="2E4568"/>
            </a:solidFill>
            <a:prstDash val="solid"/>
          </a:ln>
        </p:spPr>
      </p:sp>
      <p:pic>
        <p:nvPicPr>
          <p:cNvPr id="10" name="Image 1" descr="preencoded.png">    </p:cNvPr>
          <p:cNvPicPr>
            <a:picLocks noChangeAspect="1"/>
          </p:cNvPicPr>
          <p:nvPr/>
        </p:nvPicPr>
        <p:blipFill>
          <a:blip r:embed="rId2"/>
          <a:stretch>
            <a:fillRect/>
          </a:stretch>
        </p:blipFill>
        <p:spPr>
          <a:xfrm>
            <a:off x="5715000" y="2148840"/>
            <a:ext cx="777240" cy="777240"/>
          </a:xfrm>
          <a:prstGeom prst="rect">
            <a:avLst/>
          </a:prstGeom>
        </p:spPr>
      </p:pic>
      <p:sp>
        <p:nvSpPr>
          <p:cNvPr id="11" name="Text 7"/>
          <p:cNvSpPr/>
          <p:nvPr/>
        </p:nvSpPr>
        <p:spPr>
          <a:xfrm>
            <a:off x="4343400" y="3063240"/>
            <a:ext cx="3474720" cy="457200"/>
          </a:xfrm>
          <a:prstGeom prst="rect">
            <a:avLst/>
          </a:prstGeom>
          <a:noFill/>
          <a:ln/>
        </p:spPr>
        <p:txBody>
          <a:bodyPr wrap="square" rtlCol="0" anchor="ctr"/>
          <a:lstStyle/>
          <a:p>
            <a:pPr algn="ctr" indent="0" marL="0">
              <a:buNone/>
            </a:pPr>
            <a:r>
              <a:rPr lang="en-US" sz="1900" b="1" dirty="0">
                <a:solidFill>
                  <a:srgbClr val="F6A63B"/>
                </a:solidFill>
                <a:latin typeface="Work Sans" pitchFamily="34" charset="0"/>
                <a:ea typeface="Work Sans" pitchFamily="34" charset="-122"/>
                <a:cs typeface="Work Sans" pitchFamily="34" charset="-120"/>
              </a:rPr>
              <a:t>Driver-i</a:t>
            </a:r>
            <a:endParaRPr lang="en-US" sz="1900" dirty="0"/>
          </a:p>
        </p:txBody>
      </p:sp>
      <p:sp>
        <p:nvSpPr>
          <p:cNvPr id="12" name="Text 8"/>
          <p:cNvSpPr/>
          <p:nvPr/>
        </p:nvSpPr>
        <p:spPr>
          <a:xfrm>
            <a:off x="4617720" y="3611880"/>
            <a:ext cx="2926080" cy="914400"/>
          </a:xfrm>
          <a:prstGeom prst="rect">
            <a:avLst/>
          </a:prstGeom>
          <a:noFill/>
          <a:ln/>
        </p:spPr>
        <p:txBody>
          <a:bodyPr wrap="square" rtlCol="0" anchor="t"/>
          <a:lstStyle/>
          <a:p>
            <a:pPr algn="ctr" indent="0" marL="0">
              <a:buNone/>
            </a:pPr>
            <a:r>
              <a:rPr lang="en-US" sz="1300" dirty="0">
                <a:solidFill>
                  <a:srgbClr val="DBE2EA"/>
                </a:solidFill>
                <a:latin typeface="Work Sans" pitchFamily="34" charset="0"/>
                <a:ea typeface="Work Sans" pitchFamily="34" charset="-122"/>
                <a:cs typeface="Work Sans" pitchFamily="34" charset="-120"/>
              </a:rPr>
              <a:t>postgresql-42.x.jar — 'përkthyesi' mes Java-s dhe PostgreSQL. Shtohet në projekt.</a:t>
            </a:r>
            <a:endParaRPr lang="en-US" sz="1300" dirty="0"/>
          </a:p>
        </p:txBody>
      </p:sp>
      <p:sp>
        <p:nvSpPr>
          <p:cNvPr id="13" name="Shape 9"/>
          <p:cNvSpPr/>
          <p:nvPr/>
        </p:nvSpPr>
        <p:spPr>
          <a:xfrm>
            <a:off x="8046720" y="1828800"/>
            <a:ext cx="3474720" cy="2743200"/>
          </a:xfrm>
          <a:prstGeom prst="roundRect">
            <a:avLst>
              <a:gd name="adj" fmla="val 3333"/>
            </a:avLst>
          </a:prstGeom>
          <a:solidFill>
            <a:srgbClr val="1E3050"/>
          </a:solidFill>
          <a:ln w="12700">
            <a:solidFill>
              <a:srgbClr val="2E4568"/>
            </a:solidFill>
            <a:prstDash val="solid"/>
          </a:ln>
        </p:spPr>
      </p:sp>
      <p:pic>
        <p:nvPicPr>
          <p:cNvPr id="14" name="Image 2" descr="preencoded.png">    </p:cNvPr>
          <p:cNvPicPr>
            <a:picLocks noChangeAspect="1"/>
          </p:cNvPicPr>
          <p:nvPr/>
        </p:nvPicPr>
        <p:blipFill>
          <a:blip r:embed="rId3"/>
          <a:stretch>
            <a:fillRect/>
          </a:stretch>
        </p:blipFill>
        <p:spPr>
          <a:xfrm>
            <a:off x="9418320" y="2148840"/>
            <a:ext cx="777240" cy="777240"/>
          </a:xfrm>
          <a:prstGeom prst="rect">
            <a:avLst/>
          </a:prstGeom>
        </p:spPr>
      </p:pic>
      <p:sp>
        <p:nvSpPr>
          <p:cNvPr id="15" name="Text 10"/>
          <p:cNvSpPr/>
          <p:nvPr/>
        </p:nvSpPr>
        <p:spPr>
          <a:xfrm>
            <a:off x="8046720" y="3063240"/>
            <a:ext cx="3474720" cy="457200"/>
          </a:xfrm>
          <a:prstGeom prst="rect">
            <a:avLst/>
          </a:prstGeom>
          <a:noFill/>
          <a:ln/>
        </p:spPr>
        <p:txBody>
          <a:bodyPr wrap="square" rtlCol="0" anchor="ctr"/>
          <a:lstStyle/>
          <a:p>
            <a:pPr algn="ctr" indent="0" marL="0">
              <a:buNone/>
            </a:pPr>
            <a:r>
              <a:rPr lang="en-US" sz="1900" b="1" dirty="0">
                <a:solidFill>
                  <a:srgbClr val="F6A63B"/>
                </a:solidFill>
                <a:latin typeface="Work Sans" pitchFamily="34" charset="0"/>
                <a:ea typeface="Work Sans" pitchFamily="34" charset="-122"/>
                <a:cs typeface="Work Sans" pitchFamily="34" charset="-120"/>
              </a:rPr>
              <a:t>Kredencialet</a:t>
            </a:r>
            <a:endParaRPr lang="en-US" sz="1900" dirty="0"/>
          </a:p>
        </p:txBody>
      </p:sp>
      <p:sp>
        <p:nvSpPr>
          <p:cNvPr id="16" name="Text 11"/>
          <p:cNvSpPr/>
          <p:nvPr/>
        </p:nvSpPr>
        <p:spPr>
          <a:xfrm>
            <a:off x="8321040" y="3611880"/>
            <a:ext cx="2926080" cy="914400"/>
          </a:xfrm>
          <a:prstGeom prst="rect">
            <a:avLst/>
          </a:prstGeom>
          <a:noFill/>
          <a:ln/>
        </p:spPr>
        <p:txBody>
          <a:bodyPr wrap="square" rtlCol="0" anchor="t"/>
          <a:lstStyle/>
          <a:p>
            <a:pPr algn="ctr" indent="0" marL="0">
              <a:buNone/>
            </a:pPr>
            <a:r>
              <a:rPr lang="en-US" sz="1300" dirty="0">
                <a:solidFill>
                  <a:srgbClr val="DBE2EA"/>
                </a:solidFill>
                <a:latin typeface="Work Sans" pitchFamily="34" charset="0"/>
                <a:ea typeface="Work Sans" pitchFamily="34" charset="-122"/>
                <a:cs typeface="Work Sans" pitchFamily="34" charset="-120"/>
              </a:rPr>
              <a:t>URL, përdoruesi 'postgres' dhe fjalëkalimi që vendosët gjatë instalimit.</a:t>
            </a:r>
            <a:endParaRPr lang="en-US" sz="1300" dirty="0"/>
          </a:p>
        </p:txBody>
      </p:sp>
      <p:sp>
        <p:nvSpPr>
          <p:cNvPr id="17" name="Shape 12"/>
          <p:cNvSpPr/>
          <p:nvPr/>
        </p:nvSpPr>
        <p:spPr>
          <a:xfrm>
            <a:off x="640080" y="4937760"/>
            <a:ext cx="10881360" cy="1051560"/>
          </a:xfrm>
          <a:prstGeom prst="roundRect">
            <a:avLst>
              <a:gd name="adj" fmla="val 8696"/>
            </a:avLst>
          </a:prstGeom>
          <a:solidFill>
            <a:srgbClr val="1B2736"/>
          </a:solidFill>
          <a:ln w="12700">
            <a:solidFill>
              <a:srgbClr val="E8730C"/>
            </a:solidFill>
            <a:prstDash val="solid"/>
          </a:ln>
        </p:spPr>
      </p:sp>
      <p:sp>
        <p:nvSpPr>
          <p:cNvPr id="18" name="Text 13"/>
          <p:cNvSpPr/>
          <p:nvPr/>
        </p:nvSpPr>
        <p:spPr>
          <a:xfrm>
            <a:off x="914400" y="5074920"/>
            <a:ext cx="2743200" cy="365760"/>
          </a:xfrm>
          <a:prstGeom prst="rect">
            <a:avLst/>
          </a:prstGeom>
          <a:noFill/>
          <a:ln/>
        </p:spPr>
        <p:txBody>
          <a:bodyPr wrap="square" rtlCol="0" anchor="ctr"/>
          <a:lstStyle/>
          <a:p>
            <a:pPr indent="0" marL="0">
              <a:buNone/>
            </a:pPr>
            <a:r>
              <a:rPr lang="en-US" sz="1300" b="1" dirty="0">
                <a:solidFill>
                  <a:srgbClr val="F6A63B"/>
                </a:solidFill>
                <a:latin typeface="Work Sans" pitchFamily="34" charset="0"/>
                <a:ea typeface="Work Sans" pitchFamily="34" charset="-122"/>
                <a:cs typeface="Work Sans" pitchFamily="34" charset="-120"/>
              </a:rPr>
              <a:t>Formati i URL-së:</a:t>
            </a:r>
            <a:endParaRPr lang="en-US" sz="1300" dirty="0"/>
          </a:p>
        </p:txBody>
      </p:sp>
      <p:sp>
        <p:nvSpPr>
          <p:cNvPr id="19" name="Text 14"/>
          <p:cNvSpPr/>
          <p:nvPr/>
        </p:nvSpPr>
        <p:spPr>
          <a:xfrm>
            <a:off x="914400" y="5440680"/>
            <a:ext cx="10058400" cy="411480"/>
          </a:xfrm>
          <a:prstGeom prst="rect">
            <a:avLst/>
          </a:prstGeom>
          <a:noFill/>
          <a:ln/>
        </p:spPr>
        <p:txBody>
          <a:bodyPr wrap="square" rtlCol="0" anchor="ctr"/>
          <a:lstStyle/>
          <a:p>
            <a:pPr indent="0" marL="0">
              <a:buNone/>
            </a:pPr>
            <a:r>
              <a:rPr lang="en-US" sz="1800" b="1" dirty="0">
                <a:solidFill>
                  <a:srgbClr val="E8EEF4"/>
                </a:solidFill>
                <a:latin typeface="JetBrains Mono" pitchFamily="34" charset="0"/>
                <a:ea typeface="JetBrains Mono" pitchFamily="34" charset="-122"/>
                <a:cs typeface="JetBrains Mono" pitchFamily="34" charset="-120"/>
              </a:rPr>
              <a:t>jdbc:postgresql://localhost:5432/shkolla</a:t>
            </a:r>
            <a:endParaRPr lang="en-US" sz="1800" dirty="0"/>
          </a:p>
        </p:txBody>
      </p:sp>
      <p:sp>
        <p:nvSpPr>
          <p:cNvPr id="20" name="Text 15"/>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LIDHJA · KODI</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Programi i parë: lidhja me PostgreSQL</a:t>
            </a:r>
            <a:endParaRPr lang="en-US" sz="2600" dirty="0"/>
          </a:p>
        </p:txBody>
      </p:sp>
      <p:sp>
        <p:nvSpPr>
          <p:cNvPr id="6" name="Shape 4"/>
          <p:cNvSpPr/>
          <p:nvPr/>
        </p:nvSpPr>
        <p:spPr>
          <a:xfrm>
            <a:off x="685800" y="1371600"/>
            <a:ext cx="6903720" cy="5148072"/>
          </a:xfrm>
          <a:prstGeom prst="roundRect">
            <a:avLst>
              <a:gd name="adj" fmla="val 1421"/>
            </a:avLst>
          </a:prstGeom>
          <a:solidFill>
            <a:srgbClr val="1B2736"/>
          </a:solidFill>
          <a:ln w="12700">
            <a:solidFill>
              <a:srgbClr val="2A3A4C"/>
            </a:solidFill>
            <a:prstDash val="solid"/>
          </a:ln>
        </p:spPr>
      </p:sp>
      <p:sp>
        <p:nvSpPr>
          <p:cNvPr id="7" name="Text 5"/>
          <p:cNvSpPr/>
          <p:nvPr/>
        </p:nvSpPr>
        <p:spPr>
          <a:xfrm>
            <a:off x="822960" y="1444752"/>
            <a:ext cx="580644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TestConnect.java</a:t>
            </a:r>
            <a:endParaRPr lang="en-US" sz="1000" dirty="0"/>
          </a:p>
        </p:txBody>
      </p:sp>
      <p:sp>
        <p:nvSpPr>
          <p:cNvPr id="8" name="Text 6"/>
          <p:cNvSpPr/>
          <p:nvPr/>
        </p:nvSpPr>
        <p:spPr>
          <a:xfrm>
            <a:off x="886968" y="1755648"/>
            <a:ext cx="6501384" cy="4626864"/>
          </a:xfrm>
          <a:prstGeom prst="rect">
            <a:avLst/>
          </a:prstGeom>
          <a:noFill/>
          <a:ln/>
        </p:spPr>
        <p:txBody>
          <a:bodyPr wrap="square" lIns="0" tIns="0" rIns="0" bIns="0" rtlCol="0" anchor="t"/>
          <a:lstStyle/>
          <a:p>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import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java</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sql</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5FB3E0"/>
                </a:solidFill>
                <a:latin typeface="JetBrains Mono" pitchFamily="34" charset="0"/>
                <a:ea typeface="JetBrains Mono" pitchFamily="34" charset="-122"/>
                <a:cs typeface="JetBrains Mono" pitchFamily="34" charset="-120"/>
              </a:rPr>
              <a:t>Connection</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import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java</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sql</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5FB3E0"/>
                </a:solidFill>
                <a:latin typeface="JetBrains Mono" pitchFamily="34" charset="0"/>
                <a:ea typeface="JetBrains Mono" pitchFamily="34" charset="-122"/>
                <a:cs typeface="JetBrains Mono" pitchFamily="34" charset="-120"/>
              </a:rPr>
              <a:t>DriverManager</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import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java</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sql</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5FB3E0"/>
                </a:solidFill>
                <a:latin typeface="JetBrains Mono" pitchFamily="34" charset="0"/>
                <a:ea typeface="JetBrains Mono" pitchFamily="34" charset="-122"/>
                <a:cs typeface="JetBrains Mono" pitchFamily="34" charset="-120"/>
              </a:rPr>
              <a:t>SQLException</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endParaRPr lang="en-US" sz="1200" dirty="0"/>
          </a:p>
          <a:p>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public</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class</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TestConnect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public</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static</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void</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main</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args</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url</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8FCB6B"/>
                </a:solidFill>
                <a:latin typeface="JetBrains Mono" pitchFamily="34" charset="0"/>
                <a:ea typeface="JetBrains Mono" pitchFamily="34" charset="-122"/>
                <a:cs typeface="JetBrains Mono" pitchFamily="34" charset="-120"/>
              </a:rPr>
              <a:t>"jdbc:postgresql://localhost:5432/shkolla"</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try</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5FB3E0"/>
                </a:solidFill>
                <a:latin typeface="JetBrains Mono" pitchFamily="34" charset="0"/>
                <a:ea typeface="JetBrains Mono" pitchFamily="34" charset="-122"/>
                <a:cs typeface="JetBrains Mono" pitchFamily="34" charset="-120"/>
              </a:rPr>
              <a:t>Connection</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lidhja</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5FB3E0"/>
                </a:solidFill>
                <a:latin typeface="JetBrains Mono" pitchFamily="34" charset="0"/>
                <a:ea typeface="JetBrains Mono" pitchFamily="34" charset="-122"/>
                <a:cs typeface="JetBrains Mono" pitchFamily="34" charset="-120"/>
              </a:rPr>
              <a:t>DriverManager</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getConnection</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url</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8FCB6B"/>
                </a:solidFill>
                <a:latin typeface="JetBrains Mono" pitchFamily="34" charset="0"/>
                <a:ea typeface="JetBrains Mono" pitchFamily="34" charset="-122"/>
                <a:cs typeface="JetBrains Mono" pitchFamily="34" charset="-120"/>
              </a:rPr>
              <a:t>"postgres"</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8FCB6B"/>
                </a:solidFill>
                <a:latin typeface="JetBrains Mono" pitchFamily="34" charset="0"/>
                <a:ea typeface="JetBrains Mono" pitchFamily="34" charset="-122"/>
                <a:cs typeface="JetBrains Mono" pitchFamily="34" charset="-120"/>
              </a:rPr>
              <a:t>"fjalekalimi"</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8FCB6B"/>
                </a:solidFill>
                <a:latin typeface="JetBrains Mono" pitchFamily="34" charset="0"/>
                <a:ea typeface="JetBrains Mono" pitchFamily="34" charset="-122"/>
                <a:cs typeface="JetBrains Mono" pitchFamily="34" charset="-120"/>
              </a:rPr>
              <a:t>"U lidha me sukses!"</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lidhja</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close</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963C"/>
                </a:solidFill>
                <a:latin typeface="JetBrains Mono" pitchFamily="34" charset="0"/>
                <a:ea typeface="JetBrains Mono" pitchFamily="34" charset="-122"/>
                <a:cs typeface="JetBrains Mono" pitchFamily="34" charset="-120"/>
              </a:rPr>
              <a:t>catch</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5FB3E0"/>
                </a:solidFill>
                <a:latin typeface="JetBrains Mono" pitchFamily="34" charset="0"/>
                <a:ea typeface="JetBrains Mono" pitchFamily="34" charset="-122"/>
                <a:cs typeface="JetBrains Mono" pitchFamily="34" charset="-120"/>
              </a:rPr>
              <a:t>SQLException</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8FCB6B"/>
                </a:solidFill>
                <a:latin typeface="JetBrains Mono" pitchFamily="34" charset="0"/>
                <a:ea typeface="JetBrains Mono" pitchFamily="34" charset="-122"/>
                <a:cs typeface="JetBrains Mono" pitchFamily="34" charset="-120"/>
              </a:rPr>
              <a:t>"Gabim: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getMessage</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a:p>
            <a:pPr indent="0" marL="0">
              <a:lnSpc>
                <a:spcPct val="98000"/>
              </a:lnSpc>
              <a:buNone/>
            </a:pPr>
            <a:r>
              <a:rPr lang="en-US" sz="1200" dirty="0">
                <a:solidFill>
                  <a:srgbClr val="C3CBD6"/>
                </a:solidFill>
                <a:latin typeface="JetBrains Mono" pitchFamily="34" charset="0"/>
                <a:ea typeface="JetBrains Mono" pitchFamily="34" charset="-122"/>
                <a:cs typeface="JetBrains Mono" pitchFamily="34" charset="-120"/>
              </a:rPr>
              <a:t>}</a:t>
            </a:r>
            <a:endParaRPr lang="en-US" sz="1200" dirty="0"/>
          </a:p>
        </p:txBody>
      </p:sp>
      <p:sp>
        <p:nvSpPr>
          <p:cNvPr id="9" name="Shape 7"/>
          <p:cNvSpPr/>
          <p:nvPr/>
        </p:nvSpPr>
        <p:spPr>
          <a:xfrm>
            <a:off x="7818120" y="1417320"/>
            <a:ext cx="3657600" cy="1051560"/>
          </a:xfrm>
          <a:prstGeom prst="roundRect">
            <a:avLst>
              <a:gd name="adj" fmla="val 5217"/>
            </a:avLst>
          </a:prstGeom>
          <a:solidFill>
            <a:srgbClr val="0E1622"/>
          </a:solidFill>
          <a:ln w="12700">
            <a:solidFill>
              <a:srgbClr val="3FB57A"/>
            </a:solidFill>
            <a:prstDash val="solid"/>
          </a:ln>
        </p:spPr>
      </p:sp>
      <p:sp>
        <p:nvSpPr>
          <p:cNvPr id="10" name="Text 8"/>
          <p:cNvSpPr/>
          <p:nvPr/>
        </p:nvSpPr>
        <p:spPr>
          <a:xfrm>
            <a:off x="7955280" y="1490472"/>
            <a:ext cx="3383280" cy="237744"/>
          </a:xfrm>
          <a:prstGeom prst="rect">
            <a:avLst/>
          </a:prstGeom>
          <a:noFill/>
          <a:ln/>
        </p:spPr>
        <p:txBody>
          <a:bodyPr wrap="square" rtlCol="0" anchor="ctr"/>
          <a:lstStyle/>
          <a:p>
            <a:pPr indent="0" marL="0">
              <a:buNone/>
            </a:pPr>
            <a:r>
              <a:rPr lang="en-US" sz="1000" b="1" spc="100" kern="0" dirty="0">
                <a:solidFill>
                  <a:srgbClr val="3FB57A"/>
                </a:solidFill>
                <a:latin typeface="JetBrains Mono" pitchFamily="34" charset="0"/>
                <a:ea typeface="JetBrains Mono" pitchFamily="34" charset="-122"/>
                <a:cs typeface="JetBrains Mono" pitchFamily="34" charset="-120"/>
              </a:rPr>
              <a:t>▶ Output real</a:t>
            </a:r>
            <a:endParaRPr lang="en-US" sz="1000" dirty="0"/>
          </a:p>
        </p:txBody>
      </p:sp>
      <p:sp>
        <p:nvSpPr>
          <p:cNvPr id="11" name="Text 9"/>
          <p:cNvSpPr/>
          <p:nvPr/>
        </p:nvSpPr>
        <p:spPr>
          <a:xfrm>
            <a:off x="8001000" y="1783080"/>
            <a:ext cx="3291840" cy="594360"/>
          </a:xfrm>
          <a:prstGeom prst="rect">
            <a:avLst/>
          </a:prstGeom>
          <a:noFill/>
          <a:ln/>
        </p:spPr>
        <p:txBody>
          <a:bodyPr wrap="square" lIns="0" tIns="0" rIns="0" bIns="0" rtlCol="0" anchor="t"/>
          <a:lstStyle/>
          <a:p>
            <a:pPr indent="0" marL="0">
              <a:buNone/>
            </a:pPr>
            <a:r>
              <a:rPr lang="en-US" sz="1250" dirty="0">
                <a:solidFill>
                  <a:srgbClr val="7FD6A0"/>
                </a:solidFill>
                <a:latin typeface="JetBrains Mono" pitchFamily="34" charset="0"/>
                <a:ea typeface="JetBrains Mono" pitchFamily="34" charset="-122"/>
                <a:cs typeface="JetBrains Mono" pitchFamily="34" charset="-120"/>
              </a:rPr>
              <a:t>U lidha me sukses me</a:t>
            </a:r>
            <a:endParaRPr lang="en-US" sz="1250" dirty="0"/>
          </a:p>
          <a:p>
            <a:pPr indent="0" marL="0">
              <a:buNone/>
            </a:pPr>
            <a:r>
              <a:rPr lang="en-US" sz="1250" dirty="0">
                <a:solidFill>
                  <a:srgbClr val="7FD6A0"/>
                </a:solidFill>
                <a:latin typeface="JetBrains Mono" pitchFamily="34" charset="0"/>
                <a:ea typeface="JetBrains Mono" pitchFamily="34" charset="-122"/>
                <a:cs typeface="JetBrains Mono" pitchFamily="34" charset="-120"/>
              </a:rPr>
              <a:t>PostgreSQL!</a:t>
            </a:r>
            <a:endParaRPr lang="en-US" sz="1250" dirty="0"/>
          </a:p>
        </p:txBody>
      </p:sp>
      <p:sp>
        <p:nvSpPr>
          <p:cNvPr id="12" name="Shape 10"/>
          <p:cNvSpPr/>
          <p:nvPr/>
        </p:nvSpPr>
        <p:spPr>
          <a:xfrm>
            <a:off x="7818120" y="2606040"/>
            <a:ext cx="2406701" cy="310896"/>
          </a:xfrm>
          <a:prstGeom prst="roundRect">
            <a:avLst>
              <a:gd name="adj" fmla="val 50000"/>
            </a:avLst>
          </a:prstGeom>
          <a:solidFill>
            <a:srgbClr val="3FB57A"/>
          </a:solidFill>
          <a:ln/>
        </p:spPr>
      </p:sp>
      <p:pic>
        <p:nvPicPr>
          <p:cNvPr id="13" name="Image 0" descr="preencoded.png">    </p:cNvPr>
          <p:cNvPicPr>
            <a:picLocks noChangeAspect="1"/>
          </p:cNvPicPr>
          <p:nvPr/>
        </p:nvPicPr>
        <p:blipFill>
          <a:blip r:embed="rId1"/>
          <a:stretch>
            <a:fillRect/>
          </a:stretch>
        </p:blipFill>
        <p:spPr>
          <a:xfrm>
            <a:off x="7964424" y="2683764"/>
            <a:ext cx="155448" cy="155448"/>
          </a:xfrm>
          <a:prstGeom prst="rect">
            <a:avLst/>
          </a:prstGeom>
        </p:spPr>
      </p:pic>
      <p:sp>
        <p:nvSpPr>
          <p:cNvPr id="14" name="Text 11"/>
          <p:cNvSpPr/>
          <p:nvPr/>
        </p:nvSpPr>
        <p:spPr>
          <a:xfrm>
            <a:off x="8129016" y="2606040"/>
            <a:ext cx="2022653"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Ekzekutuar mbi server real</a:t>
            </a:r>
            <a:endParaRPr lang="en-US" sz="1050" dirty="0"/>
          </a:p>
        </p:txBody>
      </p:sp>
      <p:sp>
        <p:nvSpPr>
          <p:cNvPr id="15" name="Text 12"/>
          <p:cNvSpPr/>
          <p:nvPr/>
        </p:nvSpPr>
        <p:spPr>
          <a:xfrm>
            <a:off x="7818120" y="3108960"/>
            <a:ext cx="3657600" cy="3657600"/>
          </a:xfrm>
          <a:prstGeom prst="rect">
            <a:avLst/>
          </a:prstGeom>
          <a:noFill/>
          <a:ln/>
        </p:spPr>
        <p:txBody>
          <a:bodyPr wrap="square" lIns="0" tIns="0" rIns="0" bIns="0" rtlCol="0" anchor="t"/>
          <a:lstStyle/>
          <a:p>
            <a:pPr marL="203200" indent="-203200">
              <a:spcAft>
                <a:spcPts val="1000"/>
              </a:spcAft>
              <a:buSzPct val="100000"/>
              <a:buChar char="•"/>
            </a:pPr>
            <a:r>
              <a:rPr lang="en-US" sz="1300" b="1" dirty="0">
                <a:solidFill>
                  <a:srgbClr val="26313F"/>
                </a:solidFill>
                <a:latin typeface="Work Sans" pitchFamily="34" charset="0"/>
                <a:ea typeface="Work Sans" pitchFamily="34" charset="-122"/>
                <a:cs typeface="Work Sans" pitchFamily="34" charset="-120"/>
              </a:rPr>
              <a:t>getConnection() hap lidhjen</a:t>
            </a:r>
            <a:endParaRPr lang="en-US" sz="1300" dirty="0"/>
          </a:p>
          <a:p>
            <a:pPr marL="203200" indent="-203200">
              <a:spcAft>
                <a:spcPts val="1000"/>
              </a:spcAft>
              <a:buSzPct val="100000"/>
              <a:buChar char="•"/>
            </a:pPr>
            <a:r>
              <a:rPr lang="en-US" sz="1300" dirty="0">
                <a:solidFill>
                  <a:srgbClr val="26313F"/>
                </a:solidFill>
                <a:latin typeface="Work Sans" pitchFamily="34" charset="0"/>
                <a:ea typeface="Work Sans" pitchFamily="34" charset="-122"/>
                <a:cs typeface="Work Sans" pitchFamily="34" charset="-120"/>
              </a:rPr>
              <a:t>try-catch kap gabimet e SQL</a:t>
            </a:r>
            <a:endParaRPr lang="en-US" sz="1300" dirty="0"/>
          </a:p>
          <a:p>
            <a:pPr marL="203200" indent="-203200">
              <a:spcAft>
                <a:spcPts val="1000"/>
              </a:spcAft>
              <a:buSzPct val="100000"/>
              <a:buChar char="•"/>
            </a:pPr>
            <a:r>
              <a:rPr lang="en-US" sz="1300" dirty="0">
                <a:solidFill>
                  <a:srgbClr val="26313F"/>
                </a:solidFill>
                <a:latin typeface="Work Sans" pitchFamily="34" charset="0"/>
                <a:ea typeface="Work Sans" pitchFamily="34" charset="-122"/>
                <a:cs typeface="Work Sans" pitchFamily="34" charset="-120"/>
              </a:rPr>
              <a:t>Gjithmonë close() në fund</a:t>
            </a:r>
            <a:endParaRPr lang="en-US" sz="1300" dirty="0"/>
          </a:p>
          <a:p>
            <a:pPr marL="203200" indent="-203200">
              <a:spcAft>
                <a:spcPts val="1000"/>
              </a:spcAft>
              <a:buSzPct val="100000"/>
              <a:buChar char="•"/>
            </a:pPr>
            <a:r>
              <a:rPr lang="en-US" sz="1250" i="1" dirty="0">
                <a:solidFill>
                  <a:srgbClr val="6A7889"/>
                </a:solidFill>
                <a:latin typeface="Work Sans" pitchFamily="34" charset="0"/>
                <a:ea typeface="Work Sans" pitchFamily="34" charset="-122"/>
                <a:cs typeface="Work Sans" pitchFamily="34" charset="-120"/>
              </a:rPr>
              <a:t>Nëse fjalëkalimi gabon → SQLException</a:t>
            </a:r>
            <a:endParaRPr lang="en-US" sz="1300" dirty="0"/>
          </a:p>
        </p:txBody>
      </p:sp>
      <p:sp>
        <p:nvSpPr>
          <p:cNvPr id="16" name="Text 13"/>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LIDHJA · DETAJE</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Si lexohet URL-ja e JDBC?</a:t>
            </a:r>
            <a:endParaRPr lang="en-US" sz="2600" dirty="0"/>
          </a:p>
        </p:txBody>
      </p:sp>
      <p:sp>
        <p:nvSpPr>
          <p:cNvPr id="6" name="Shape 4"/>
          <p:cNvSpPr/>
          <p:nvPr/>
        </p:nvSpPr>
        <p:spPr>
          <a:xfrm>
            <a:off x="685800" y="1463040"/>
            <a:ext cx="10789920" cy="822960"/>
          </a:xfrm>
          <a:prstGeom prst="roundRect">
            <a:avLst>
              <a:gd name="adj" fmla="val 11111"/>
            </a:avLst>
          </a:prstGeom>
          <a:solidFill>
            <a:srgbClr val="1B2736"/>
          </a:solidFill>
          <a:ln w="12700">
            <a:solidFill>
              <a:srgbClr val="DBE2EA"/>
            </a:solidFill>
            <a:prstDash val="solid"/>
          </a:ln>
        </p:spPr>
      </p:sp>
      <p:sp>
        <p:nvSpPr>
          <p:cNvPr id="7" name="Text 5"/>
          <p:cNvSpPr/>
          <p:nvPr/>
        </p:nvSpPr>
        <p:spPr>
          <a:xfrm>
            <a:off x="868680" y="1463040"/>
            <a:ext cx="10424160" cy="822960"/>
          </a:xfrm>
          <a:prstGeom prst="rect">
            <a:avLst/>
          </a:prstGeom>
          <a:noFill/>
          <a:ln/>
        </p:spPr>
        <p:txBody>
          <a:bodyPr wrap="square" rtlCol="0" anchor="ctr"/>
          <a:lstStyle/>
          <a:p>
            <a:pPr indent="0" marL="0">
              <a:buNone/>
            </a:pPr>
            <a:r>
              <a:rPr lang="en-US" sz="2100" b="1" dirty="0">
                <a:solidFill>
                  <a:srgbClr val="E8730C"/>
                </a:solidFill>
                <a:latin typeface="JetBrains Mono" pitchFamily="34" charset="0"/>
                <a:ea typeface="JetBrains Mono" pitchFamily="34" charset="-122"/>
                <a:cs typeface="JetBrains Mono" pitchFamily="34" charset="-120"/>
              </a:rPr>
              <a:t>jdbc:postgresql:</a:t>
            </a:r>
            <a:pPr indent="0" marL="0">
              <a:buNone/>
            </a:pPr>
            <a:r>
              <a:rPr lang="en-US" sz="2100" b="1" dirty="0">
                <a:solidFill>
                  <a:srgbClr val="5FB3E0"/>
                </a:solidFill>
                <a:latin typeface="JetBrains Mono" pitchFamily="34" charset="0"/>
                <a:ea typeface="JetBrains Mono" pitchFamily="34" charset="-122"/>
                <a:cs typeface="JetBrains Mono" pitchFamily="34" charset="-120"/>
              </a:rPr>
              <a:t>//localhost</a:t>
            </a:r>
            <a:pPr indent="0" marL="0">
              <a:buNone/>
            </a:pPr>
            <a:r>
              <a:rPr lang="en-US" sz="2100" b="1" dirty="0">
                <a:solidFill>
                  <a:srgbClr val="7FD6A0"/>
                </a:solidFill>
                <a:latin typeface="JetBrains Mono" pitchFamily="34" charset="0"/>
                <a:ea typeface="JetBrains Mono" pitchFamily="34" charset="-122"/>
                <a:cs typeface="JetBrains Mono" pitchFamily="34" charset="-120"/>
              </a:rPr>
              <a:t>:5432</a:t>
            </a:r>
            <a:pPr indent="0" marL="0">
              <a:buNone/>
            </a:pPr>
            <a:r>
              <a:rPr lang="en-US" sz="2100" b="1" dirty="0">
                <a:solidFill>
                  <a:srgbClr val="F6A63B"/>
                </a:solidFill>
                <a:latin typeface="JetBrains Mono" pitchFamily="34" charset="0"/>
                <a:ea typeface="JetBrains Mono" pitchFamily="34" charset="-122"/>
                <a:cs typeface="JetBrains Mono" pitchFamily="34" charset="-120"/>
              </a:rPr>
              <a:t>/shkolla</a:t>
            </a:r>
            <a:endParaRPr lang="en-US" sz="2100" dirty="0"/>
          </a:p>
        </p:txBody>
      </p:sp>
      <p:sp>
        <p:nvSpPr>
          <p:cNvPr id="8" name="Shape 6"/>
          <p:cNvSpPr/>
          <p:nvPr/>
        </p:nvSpPr>
        <p:spPr>
          <a:xfrm>
            <a:off x="685800" y="2606040"/>
            <a:ext cx="10789920" cy="749808"/>
          </a:xfrm>
          <a:prstGeom prst="roundRect">
            <a:avLst>
              <a:gd name="adj" fmla="val 9756"/>
            </a:avLst>
          </a:prstGeom>
          <a:solidFill>
            <a:srgbClr val="F2F5F9"/>
          </a:solidFill>
          <a:ln w="12700">
            <a:solidFill>
              <a:srgbClr val="DBE2EA"/>
            </a:solidFill>
            <a:prstDash val="solid"/>
          </a:ln>
        </p:spPr>
      </p:sp>
      <p:sp>
        <p:nvSpPr>
          <p:cNvPr id="9" name="Shape 7"/>
          <p:cNvSpPr/>
          <p:nvPr/>
        </p:nvSpPr>
        <p:spPr>
          <a:xfrm>
            <a:off x="868680" y="2752344"/>
            <a:ext cx="2743200" cy="457200"/>
          </a:xfrm>
          <a:prstGeom prst="roundRect">
            <a:avLst>
              <a:gd name="adj" fmla="val 12000"/>
            </a:avLst>
          </a:prstGeom>
          <a:solidFill>
            <a:srgbClr val="142033"/>
          </a:solidFill>
          <a:ln/>
        </p:spPr>
      </p:sp>
      <p:sp>
        <p:nvSpPr>
          <p:cNvPr id="10" name="Text 8"/>
          <p:cNvSpPr/>
          <p:nvPr/>
        </p:nvSpPr>
        <p:spPr>
          <a:xfrm>
            <a:off x="868680" y="2752344"/>
            <a:ext cx="2743200" cy="457200"/>
          </a:xfrm>
          <a:prstGeom prst="rect">
            <a:avLst/>
          </a:prstGeom>
          <a:noFill/>
          <a:ln/>
        </p:spPr>
        <p:txBody>
          <a:bodyPr wrap="square" rtlCol="0" anchor="ctr"/>
          <a:lstStyle/>
          <a:p>
            <a:pPr algn="ctr" indent="0" marL="0">
              <a:buNone/>
            </a:pPr>
            <a:r>
              <a:rPr lang="en-US" sz="1400" b="1" dirty="0">
                <a:solidFill>
                  <a:srgbClr val="E8730C"/>
                </a:solidFill>
                <a:latin typeface="JetBrains Mono" pitchFamily="34" charset="0"/>
                <a:ea typeface="JetBrains Mono" pitchFamily="34" charset="-122"/>
                <a:cs typeface="JetBrains Mono" pitchFamily="34" charset="-120"/>
              </a:rPr>
              <a:t>jdbc:postgresql:</a:t>
            </a:r>
            <a:endParaRPr lang="en-US" sz="1400" dirty="0"/>
          </a:p>
        </p:txBody>
      </p:sp>
      <p:sp>
        <p:nvSpPr>
          <p:cNvPr id="11" name="Text 9"/>
          <p:cNvSpPr/>
          <p:nvPr/>
        </p:nvSpPr>
        <p:spPr>
          <a:xfrm>
            <a:off x="3840480" y="2606040"/>
            <a:ext cx="7406640" cy="749808"/>
          </a:xfrm>
          <a:prstGeom prst="rect">
            <a:avLst/>
          </a:prstGeom>
          <a:noFill/>
          <a:ln/>
        </p:spPr>
        <p:txBody>
          <a:bodyPr wrap="square" rtlCol="0" anchor="ctr"/>
          <a:lstStyle/>
          <a:p>
            <a:pPr indent="0" marL="0">
              <a:buNone/>
            </a:pPr>
            <a:r>
              <a:rPr lang="en-US" sz="1450" dirty="0">
                <a:solidFill>
                  <a:srgbClr val="26313F"/>
                </a:solidFill>
                <a:latin typeface="Work Sans" pitchFamily="34" charset="0"/>
                <a:ea typeface="Work Sans" pitchFamily="34" charset="-122"/>
                <a:cs typeface="Work Sans" pitchFamily="34" charset="-120"/>
              </a:rPr>
              <a:t>Protokolli — thotë 'po flas me PostgreSQL përmes JDBC'</a:t>
            </a:r>
            <a:endParaRPr lang="en-US" sz="1450" dirty="0"/>
          </a:p>
        </p:txBody>
      </p:sp>
      <p:sp>
        <p:nvSpPr>
          <p:cNvPr id="12" name="Shape 10"/>
          <p:cNvSpPr/>
          <p:nvPr/>
        </p:nvSpPr>
        <p:spPr>
          <a:xfrm>
            <a:off x="685800" y="3474720"/>
            <a:ext cx="10789920" cy="749808"/>
          </a:xfrm>
          <a:prstGeom prst="roundRect">
            <a:avLst>
              <a:gd name="adj" fmla="val 9756"/>
            </a:avLst>
          </a:prstGeom>
          <a:solidFill>
            <a:srgbClr val="F2F5F9"/>
          </a:solidFill>
          <a:ln w="12700">
            <a:solidFill>
              <a:srgbClr val="DBE2EA"/>
            </a:solidFill>
            <a:prstDash val="solid"/>
          </a:ln>
        </p:spPr>
      </p:sp>
      <p:sp>
        <p:nvSpPr>
          <p:cNvPr id="13" name="Shape 11"/>
          <p:cNvSpPr/>
          <p:nvPr/>
        </p:nvSpPr>
        <p:spPr>
          <a:xfrm>
            <a:off x="868680" y="3621024"/>
            <a:ext cx="2743200" cy="457200"/>
          </a:xfrm>
          <a:prstGeom prst="roundRect">
            <a:avLst>
              <a:gd name="adj" fmla="val 12000"/>
            </a:avLst>
          </a:prstGeom>
          <a:solidFill>
            <a:srgbClr val="142033"/>
          </a:solidFill>
          <a:ln/>
        </p:spPr>
      </p:sp>
      <p:sp>
        <p:nvSpPr>
          <p:cNvPr id="14" name="Text 12"/>
          <p:cNvSpPr/>
          <p:nvPr/>
        </p:nvSpPr>
        <p:spPr>
          <a:xfrm>
            <a:off x="868680" y="3621024"/>
            <a:ext cx="2743200" cy="457200"/>
          </a:xfrm>
          <a:prstGeom prst="rect">
            <a:avLst/>
          </a:prstGeom>
          <a:noFill/>
          <a:ln/>
        </p:spPr>
        <p:txBody>
          <a:bodyPr wrap="square" rtlCol="0" anchor="ctr"/>
          <a:lstStyle/>
          <a:p>
            <a:pPr algn="ctr" indent="0" marL="0">
              <a:buNone/>
            </a:pPr>
            <a:r>
              <a:rPr lang="en-US" sz="1400" b="1" dirty="0">
                <a:solidFill>
                  <a:srgbClr val="5FB3E0"/>
                </a:solidFill>
                <a:latin typeface="JetBrains Mono" pitchFamily="34" charset="0"/>
                <a:ea typeface="JetBrains Mono" pitchFamily="34" charset="-122"/>
                <a:cs typeface="JetBrains Mono" pitchFamily="34" charset="-120"/>
              </a:rPr>
              <a:t>//localhost</a:t>
            </a:r>
            <a:endParaRPr lang="en-US" sz="1400" dirty="0"/>
          </a:p>
        </p:txBody>
      </p:sp>
      <p:sp>
        <p:nvSpPr>
          <p:cNvPr id="15" name="Text 13"/>
          <p:cNvSpPr/>
          <p:nvPr/>
        </p:nvSpPr>
        <p:spPr>
          <a:xfrm>
            <a:off x="3840480" y="3474720"/>
            <a:ext cx="7406640" cy="749808"/>
          </a:xfrm>
          <a:prstGeom prst="rect">
            <a:avLst/>
          </a:prstGeom>
          <a:noFill/>
          <a:ln/>
        </p:spPr>
        <p:txBody>
          <a:bodyPr wrap="square" rtlCol="0" anchor="ctr"/>
          <a:lstStyle/>
          <a:p>
            <a:pPr indent="0" marL="0">
              <a:buNone/>
            </a:pPr>
            <a:r>
              <a:rPr lang="en-US" sz="1450" dirty="0">
                <a:solidFill>
                  <a:srgbClr val="26313F"/>
                </a:solidFill>
                <a:latin typeface="Work Sans" pitchFamily="34" charset="0"/>
                <a:ea typeface="Work Sans" pitchFamily="34" charset="-122"/>
                <a:cs typeface="Work Sans" pitchFamily="34" charset="-120"/>
              </a:rPr>
              <a:t>Adresa e serverit. localhost = ky kompjuter</a:t>
            </a:r>
            <a:endParaRPr lang="en-US" sz="1450" dirty="0"/>
          </a:p>
        </p:txBody>
      </p:sp>
      <p:sp>
        <p:nvSpPr>
          <p:cNvPr id="16" name="Shape 14"/>
          <p:cNvSpPr/>
          <p:nvPr/>
        </p:nvSpPr>
        <p:spPr>
          <a:xfrm>
            <a:off x="685800" y="4343400"/>
            <a:ext cx="10789920" cy="749808"/>
          </a:xfrm>
          <a:prstGeom prst="roundRect">
            <a:avLst>
              <a:gd name="adj" fmla="val 9756"/>
            </a:avLst>
          </a:prstGeom>
          <a:solidFill>
            <a:srgbClr val="F2F5F9"/>
          </a:solidFill>
          <a:ln w="12700">
            <a:solidFill>
              <a:srgbClr val="DBE2EA"/>
            </a:solidFill>
            <a:prstDash val="solid"/>
          </a:ln>
        </p:spPr>
      </p:sp>
      <p:sp>
        <p:nvSpPr>
          <p:cNvPr id="17" name="Shape 15"/>
          <p:cNvSpPr/>
          <p:nvPr/>
        </p:nvSpPr>
        <p:spPr>
          <a:xfrm>
            <a:off x="868680" y="4489704"/>
            <a:ext cx="2743200" cy="457200"/>
          </a:xfrm>
          <a:prstGeom prst="roundRect">
            <a:avLst>
              <a:gd name="adj" fmla="val 12000"/>
            </a:avLst>
          </a:prstGeom>
          <a:solidFill>
            <a:srgbClr val="142033"/>
          </a:solidFill>
          <a:ln/>
        </p:spPr>
      </p:sp>
      <p:sp>
        <p:nvSpPr>
          <p:cNvPr id="18" name="Text 16"/>
          <p:cNvSpPr/>
          <p:nvPr/>
        </p:nvSpPr>
        <p:spPr>
          <a:xfrm>
            <a:off x="868680" y="4489704"/>
            <a:ext cx="2743200" cy="457200"/>
          </a:xfrm>
          <a:prstGeom prst="rect">
            <a:avLst/>
          </a:prstGeom>
          <a:noFill/>
          <a:ln/>
        </p:spPr>
        <p:txBody>
          <a:bodyPr wrap="square" rtlCol="0" anchor="ctr"/>
          <a:lstStyle/>
          <a:p>
            <a:pPr algn="ctr" indent="0" marL="0">
              <a:buNone/>
            </a:pPr>
            <a:r>
              <a:rPr lang="en-US" sz="1400" b="1" dirty="0">
                <a:solidFill>
                  <a:srgbClr val="3FB57A"/>
                </a:solidFill>
                <a:latin typeface="JetBrains Mono" pitchFamily="34" charset="0"/>
                <a:ea typeface="JetBrains Mono" pitchFamily="34" charset="-122"/>
                <a:cs typeface="JetBrains Mono" pitchFamily="34" charset="-120"/>
              </a:rPr>
              <a:t>:5432</a:t>
            </a:r>
            <a:endParaRPr lang="en-US" sz="1400" dirty="0"/>
          </a:p>
        </p:txBody>
      </p:sp>
      <p:sp>
        <p:nvSpPr>
          <p:cNvPr id="19" name="Text 17"/>
          <p:cNvSpPr/>
          <p:nvPr/>
        </p:nvSpPr>
        <p:spPr>
          <a:xfrm>
            <a:off x="3840480" y="4343400"/>
            <a:ext cx="7406640" cy="749808"/>
          </a:xfrm>
          <a:prstGeom prst="rect">
            <a:avLst/>
          </a:prstGeom>
          <a:noFill/>
          <a:ln/>
        </p:spPr>
        <p:txBody>
          <a:bodyPr wrap="square" rtlCol="0" anchor="ctr"/>
          <a:lstStyle/>
          <a:p>
            <a:pPr indent="0" marL="0">
              <a:buNone/>
            </a:pPr>
            <a:r>
              <a:rPr lang="en-US" sz="1450" dirty="0">
                <a:solidFill>
                  <a:srgbClr val="26313F"/>
                </a:solidFill>
                <a:latin typeface="Work Sans" pitchFamily="34" charset="0"/>
                <a:ea typeface="Work Sans" pitchFamily="34" charset="-122"/>
                <a:cs typeface="Work Sans" pitchFamily="34" charset="-120"/>
              </a:rPr>
              <a:t>Porta standarde e PostgreSQL</a:t>
            </a:r>
            <a:endParaRPr lang="en-US" sz="1450" dirty="0"/>
          </a:p>
        </p:txBody>
      </p:sp>
      <p:sp>
        <p:nvSpPr>
          <p:cNvPr id="20" name="Shape 18"/>
          <p:cNvSpPr/>
          <p:nvPr/>
        </p:nvSpPr>
        <p:spPr>
          <a:xfrm>
            <a:off x="685800" y="5212080"/>
            <a:ext cx="10789920" cy="749808"/>
          </a:xfrm>
          <a:prstGeom prst="roundRect">
            <a:avLst>
              <a:gd name="adj" fmla="val 9756"/>
            </a:avLst>
          </a:prstGeom>
          <a:solidFill>
            <a:srgbClr val="F2F5F9"/>
          </a:solidFill>
          <a:ln w="12700">
            <a:solidFill>
              <a:srgbClr val="DBE2EA"/>
            </a:solidFill>
            <a:prstDash val="solid"/>
          </a:ln>
        </p:spPr>
      </p:sp>
      <p:sp>
        <p:nvSpPr>
          <p:cNvPr id="21" name="Shape 19"/>
          <p:cNvSpPr/>
          <p:nvPr/>
        </p:nvSpPr>
        <p:spPr>
          <a:xfrm>
            <a:off x="868680" y="5358384"/>
            <a:ext cx="2743200" cy="457200"/>
          </a:xfrm>
          <a:prstGeom prst="roundRect">
            <a:avLst>
              <a:gd name="adj" fmla="val 12000"/>
            </a:avLst>
          </a:prstGeom>
          <a:solidFill>
            <a:srgbClr val="142033"/>
          </a:solidFill>
          <a:ln/>
        </p:spPr>
      </p:sp>
      <p:sp>
        <p:nvSpPr>
          <p:cNvPr id="22" name="Text 20"/>
          <p:cNvSpPr/>
          <p:nvPr/>
        </p:nvSpPr>
        <p:spPr>
          <a:xfrm>
            <a:off x="868680" y="5358384"/>
            <a:ext cx="2743200" cy="457200"/>
          </a:xfrm>
          <a:prstGeom prst="rect">
            <a:avLst/>
          </a:prstGeom>
          <a:noFill/>
          <a:ln/>
        </p:spPr>
        <p:txBody>
          <a:bodyPr wrap="square" rtlCol="0" anchor="ctr"/>
          <a:lstStyle/>
          <a:p>
            <a:pPr algn="ctr" indent="0" marL="0">
              <a:buNone/>
            </a:pPr>
            <a:r>
              <a:rPr lang="en-US" sz="1400" b="1" dirty="0">
                <a:solidFill>
                  <a:srgbClr val="F6A63B"/>
                </a:solidFill>
                <a:latin typeface="JetBrains Mono" pitchFamily="34" charset="0"/>
                <a:ea typeface="JetBrains Mono" pitchFamily="34" charset="-122"/>
                <a:cs typeface="JetBrains Mono" pitchFamily="34" charset="-120"/>
              </a:rPr>
              <a:t>/shkolla</a:t>
            </a:r>
            <a:endParaRPr lang="en-US" sz="1400" dirty="0"/>
          </a:p>
        </p:txBody>
      </p:sp>
      <p:sp>
        <p:nvSpPr>
          <p:cNvPr id="23" name="Text 21"/>
          <p:cNvSpPr/>
          <p:nvPr/>
        </p:nvSpPr>
        <p:spPr>
          <a:xfrm>
            <a:off x="3840480" y="5212080"/>
            <a:ext cx="7406640" cy="749808"/>
          </a:xfrm>
          <a:prstGeom prst="rect">
            <a:avLst/>
          </a:prstGeom>
          <a:noFill/>
          <a:ln/>
        </p:spPr>
        <p:txBody>
          <a:bodyPr wrap="square" rtlCol="0" anchor="ctr"/>
          <a:lstStyle/>
          <a:p>
            <a:pPr indent="0" marL="0">
              <a:buNone/>
            </a:pPr>
            <a:r>
              <a:rPr lang="en-US" sz="1450" dirty="0">
                <a:solidFill>
                  <a:srgbClr val="26313F"/>
                </a:solidFill>
                <a:latin typeface="Work Sans" pitchFamily="34" charset="0"/>
                <a:ea typeface="Work Sans" pitchFamily="34" charset="-122"/>
                <a:cs typeface="Work Sans" pitchFamily="34" charset="-120"/>
              </a:rPr>
              <a:t>Emri i databazës me të cilën lidhemi</a:t>
            </a:r>
            <a:endParaRPr lang="en-US" sz="1450" dirty="0"/>
          </a:p>
        </p:txBody>
      </p:sp>
      <p:sp>
        <p:nvSpPr>
          <p:cNvPr id="24" name="Text 22"/>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INSERTIM · KODI</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Shtimi i një studenti me PreparedStatement</a:t>
            </a:r>
            <a:endParaRPr lang="en-US" sz="2600" dirty="0"/>
          </a:p>
        </p:txBody>
      </p:sp>
      <p:sp>
        <p:nvSpPr>
          <p:cNvPr id="6" name="Shape 4"/>
          <p:cNvSpPr/>
          <p:nvPr/>
        </p:nvSpPr>
        <p:spPr>
          <a:xfrm>
            <a:off x="685800" y="1371600"/>
            <a:ext cx="6903720" cy="4105656"/>
          </a:xfrm>
          <a:prstGeom prst="roundRect">
            <a:avLst>
              <a:gd name="adj" fmla="val 1782"/>
            </a:avLst>
          </a:prstGeom>
          <a:solidFill>
            <a:srgbClr val="1B2736"/>
          </a:solidFill>
          <a:ln w="12700">
            <a:solidFill>
              <a:srgbClr val="2A3A4C"/>
            </a:solidFill>
            <a:prstDash val="solid"/>
          </a:ln>
        </p:spPr>
      </p:sp>
      <p:sp>
        <p:nvSpPr>
          <p:cNvPr id="7" name="Text 5"/>
          <p:cNvSpPr/>
          <p:nvPr/>
        </p:nvSpPr>
        <p:spPr>
          <a:xfrm>
            <a:off x="822960" y="1444752"/>
            <a:ext cx="580644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TestInsert.java</a:t>
            </a:r>
            <a:endParaRPr lang="en-US" sz="1000" dirty="0"/>
          </a:p>
        </p:txBody>
      </p:sp>
      <p:sp>
        <p:nvSpPr>
          <p:cNvPr id="8" name="Text 6"/>
          <p:cNvSpPr/>
          <p:nvPr/>
        </p:nvSpPr>
        <p:spPr>
          <a:xfrm>
            <a:off x="886968" y="1755648"/>
            <a:ext cx="6501384" cy="3584448"/>
          </a:xfrm>
          <a:prstGeom prst="rect">
            <a:avLst/>
          </a:prstGeom>
          <a:noFill/>
          <a:ln/>
        </p:spPr>
        <p:txBody>
          <a:bodyPr wrap="square" lIns="0" tIns="0" rIns="0" bIns="0" rtlCol="0" anchor="t"/>
          <a:lstStyle/>
          <a:p>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sql</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8FCB6B"/>
                </a:solidFill>
                <a:latin typeface="JetBrains Mono" pitchFamily="34" charset="0"/>
                <a:ea typeface="JetBrains Mono" pitchFamily="34" charset="-122"/>
                <a:cs typeface="JetBrains Mono" pitchFamily="34" charset="-120"/>
              </a:rPr>
              <a:t>"INSERT INTO studentet"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8FCB6B"/>
                </a:solidFill>
                <a:latin typeface="JetBrains Mono" pitchFamily="34" charset="0"/>
                <a:ea typeface="JetBrains Mono" pitchFamily="34" charset="-122"/>
                <a:cs typeface="JetBrains Mono" pitchFamily="34" charset="-120"/>
              </a:rPr>
              <a:t>" (id, emri, mosha) VALUES (?, ?,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endParaRPr lang="en-US" sz="1250" dirty="0"/>
          </a:p>
          <a:p>
            <a:pPr indent="0" marL="0">
              <a:lnSpc>
                <a:spcPct val="98000"/>
              </a:lnSpc>
              <a:buNone/>
            </a:pPr>
            <a:r>
              <a:rPr lang="en-US" sz="1250" dirty="0">
                <a:solidFill>
                  <a:srgbClr val="5FB3E0"/>
                </a:solidFill>
                <a:latin typeface="JetBrains Mono" pitchFamily="34" charset="0"/>
                <a:ea typeface="JetBrains Mono" pitchFamily="34" charset="-122"/>
                <a:cs typeface="JetBrains Mono" pitchFamily="34" charset="-120"/>
              </a:rPr>
              <a:t>Connection</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lidhja</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5FB3E0"/>
                </a:solidFill>
                <a:latin typeface="JetBrains Mono" pitchFamily="34" charset="0"/>
                <a:ea typeface="JetBrains Mono" pitchFamily="34" charset="-122"/>
                <a:cs typeface="JetBrains Mono" pitchFamily="34" charset="-120"/>
              </a:rPr>
              <a:t>DriverManager</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getConnection</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url</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8FCB6B"/>
                </a:solidFill>
                <a:latin typeface="JetBrains Mono" pitchFamily="34" charset="0"/>
                <a:ea typeface="JetBrains Mono" pitchFamily="34" charset="-122"/>
                <a:cs typeface="JetBrains Mono" pitchFamily="34" charset="-120"/>
              </a:rPr>
              <a:t>"postgres"</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8FCB6B"/>
                </a:solidFill>
                <a:latin typeface="JetBrains Mono" pitchFamily="34" charset="0"/>
                <a:ea typeface="JetBrains Mono" pitchFamily="34" charset="-122"/>
                <a:cs typeface="JetBrains Mono" pitchFamily="34" charset="-120"/>
              </a:rPr>
              <a:t>"fjalekalimi"</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endParaRPr lang="en-US" sz="1250" dirty="0"/>
          </a:p>
          <a:p>
            <a:pPr indent="0" marL="0">
              <a:lnSpc>
                <a:spcPct val="98000"/>
              </a:lnSpc>
              <a:buNone/>
            </a:pPr>
            <a:r>
              <a:rPr lang="en-US" sz="1250" dirty="0">
                <a:solidFill>
                  <a:srgbClr val="5FB3E0"/>
                </a:solidFill>
                <a:latin typeface="JetBrains Mono" pitchFamily="34" charset="0"/>
                <a:ea typeface="JetBrains Mono" pitchFamily="34" charset="-122"/>
                <a:cs typeface="JetBrains Mono" pitchFamily="34" charset="-120"/>
              </a:rPr>
              <a:t>PreparedStatement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lidhja</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prepareStatement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sql</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setInt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1</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1</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setString</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2</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8FCB6B"/>
                </a:solidFill>
                <a:latin typeface="JetBrains Mono" pitchFamily="34" charset="0"/>
                <a:ea typeface="JetBrains Mono" pitchFamily="34" charset="-122"/>
                <a:cs typeface="JetBrains Mono" pitchFamily="34" charset="-120"/>
              </a:rPr>
              <a:t>"Ana Kola"</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setInt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3</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D9A066"/>
                </a:solidFill>
                <a:latin typeface="JetBrains Mono" pitchFamily="34" charset="0"/>
                <a:ea typeface="JetBrains Mono" pitchFamily="34" charset="-122"/>
                <a:cs typeface="JetBrains Mono" pitchFamily="34" charset="-120"/>
              </a:rPr>
              <a:t>20</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endParaRPr lang="en-US" sz="1250" dirty="0"/>
          </a:p>
          <a:p>
            <a:pPr indent="0" marL="0">
              <a:lnSpc>
                <a:spcPct val="98000"/>
              </a:lnSpc>
              <a:buNone/>
            </a:pPr>
            <a:r>
              <a:rPr lang="en-US" sz="1250" dirty="0">
                <a:solidFill>
                  <a:srgbClr val="E8963C"/>
                </a:solidFill>
                <a:latin typeface="JetBrains Mono" pitchFamily="34" charset="0"/>
                <a:ea typeface="JetBrains Mono" pitchFamily="34" charset="-122"/>
                <a:cs typeface="JetBrains Mono" pitchFamily="34" charset="-120"/>
              </a:rPr>
              <a:t>int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rreshta</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executeUpdate</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a:p>
            <a:pPr indent="0" marL="0">
              <a:lnSpc>
                <a:spcPct val="98000"/>
              </a:lnSpc>
              <a:buNone/>
            </a:pPr>
            <a:r>
              <a:rPr lang="en-US" sz="125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8FCB6B"/>
                </a:solidFill>
                <a:latin typeface="JetBrains Mono" pitchFamily="34" charset="0"/>
                <a:ea typeface="JetBrains Mono" pitchFamily="34" charset="-122"/>
                <a:cs typeface="JetBrains Mono" pitchFamily="34" charset="-120"/>
              </a:rPr>
              <a:t>"U shtuan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250" dirty="0">
                <a:solidFill>
                  <a:srgbClr val="E8EEF4"/>
                </a:solidFill>
                <a:latin typeface="JetBrains Mono" pitchFamily="34" charset="0"/>
                <a:ea typeface="JetBrains Mono" pitchFamily="34" charset="-122"/>
                <a:cs typeface="JetBrains Mono" pitchFamily="34" charset="-120"/>
              </a:rPr>
              <a:t>rreshta</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250" dirty="0">
                <a:solidFill>
                  <a:srgbClr val="C3CBD6"/>
                </a:solidFill>
                <a:latin typeface="JetBrains Mono" pitchFamily="34" charset="0"/>
                <a:ea typeface="JetBrains Mono" pitchFamily="34" charset="-122"/>
                <a:cs typeface="JetBrains Mono" pitchFamily="34" charset="-120"/>
              </a:rPr>
              <a:t>;</a:t>
            </a:r>
            <a:endParaRPr lang="en-US" sz="1250" dirty="0"/>
          </a:p>
        </p:txBody>
      </p:sp>
      <p:sp>
        <p:nvSpPr>
          <p:cNvPr id="9" name="Shape 7"/>
          <p:cNvSpPr/>
          <p:nvPr/>
        </p:nvSpPr>
        <p:spPr>
          <a:xfrm>
            <a:off x="7818120" y="1417320"/>
            <a:ext cx="3657600" cy="777240"/>
          </a:xfrm>
          <a:prstGeom prst="roundRect">
            <a:avLst>
              <a:gd name="adj" fmla="val 7059"/>
            </a:avLst>
          </a:prstGeom>
          <a:solidFill>
            <a:srgbClr val="0E1622"/>
          </a:solidFill>
          <a:ln w="12700">
            <a:solidFill>
              <a:srgbClr val="3FB57A"/>
            </a:solidFill>
            <a:prstDash val="solid"/>
          </a:ln>
        </p:spPr>
      </p:sp>
      <p:sp>
        <p:nvSpPr>
          <p:cNvPr id="10" name="Text 8"/>
          <p:cNvSpPr/>
          <p:nvPr/>
        </p:nvSpPr>
        <p:spPr>
          <a:xfrm>
            <a:off x="7955280" y="1490472"/>
            <a:ext cx="3383280" cy="237744"/>
          </a:xfrm>
          <a:prstGeom prst="rect">
            <a:avLst/>
          </a:prstGeom>
          <a:noFill/>
          <a:ln/>
        </p:spPr>
        <p:txBody>
          <a:bodyPr wrap="square" rtlCol="0" anchor="ctr"/>
          <a:lstStyle/>
          <a:p>
            <a:pPr indent="0" marL="0">
              <a:buNone/>
            </a:pPr>
            <a:r>
              <a:rPr lang="en-US" sz="1000" b="1" spc="100" kern="0" dirty="0">
                <a:solidFill>
                  <a:srgbClr val="3FB57A"/>
                </a:solidFill>
                <a:latin typeface="JetBrains Mono" pitchFamily="34" charset="0"/>
                <a:ea typeface="JetBrains Mono" pitchFamily="34" charset="-122"/>
                <a:cs typeface="JetBrains Mono" pitchFamily="34" charset="-120"/>
              </a:rPr>
              <a:t>▶ Output real</a:t>
            </a:r>
            <a:endParaRPr lang="en-US" sz="1000" dirty="0"/>
          </a:p>
        </p:txBody>
      </p:sp>
      <p:sp>
        <p:nvSpPr>
          <p:cNvPr id="11" name="Text 9"/>
          <p:cNvSpPr/>
          <p:nvPr/>
        </p:nvSpPr>
        <p:spPr>
          <a:xfrm>
            <a:off x="8001000" y="1783080"/>
            <a:ext cx="3291840" cy="320040"/>
          </a:xfrm>
          <a:prstGeom prst="rect">
            <a:avLst/>
          </a:prstGeom>
          <a:noFill/>
          <a:ln/>
        </p:spPr>
        <p:txBody>
          <a:bodyPr wrap="square" lIns="0" tIns="0" rIns="0" bIns="0" rtlCol="0" anchor="t"/>
          <a:lstStyle/>
          <a:p>
            <a:pPr indent="0" marL="0">
              <a:buNone/>
            </a:pPr>
            <a:r>
              <a:rPr lang="en-US" sz="1250" dirty="0">
                <a:solidFill>
                  <a:srgbClr val="7FD6A0"/>
                </a:solidFill>
                <a:latin typeface="JetBrains Mono" pitchFamily="34" charset="0"/>
                <a:ea typeface="JetBrains Mono" pitchFamily="34" charset="-122"/>
                <a:cs typeface="JetBrains Mono" pitchFamily="34" charset="-120"/>
              </a:rPr>
              <a:t>U shtuan 1 rresht(a).</a:t>
            </a:r>
            <a:endParaRPr lang="en-US" sz="1250" dirty="0"/>
          </a:p>
        </p:txBody>
      </p:sp>
      <p:sp>
        <p:nvSpPr>
          <p:cNvPr id="12" name="Shape 10"/>
          <p:cNvSpPr/>
          <p:nvPr/>
        </p:nvSpPr>
        <p:spPr>
          <a:xfrm>
            <a:off x="7818120" y="2286000"/>
            <a:ext cx="1881835" cy="310896"/>
          </a:xfrm>
          <a:prstGeom prst="roundRect">
            <a:avLst>
              <a:gd name="adj" fmla="val 50000"/>
            </a:avLst>
          </a:prstGeom>
          <a:solidFill>
            <a:srgbClr val="3FB57A"/>
          </a:solidFill>
          <a:ln/>
        </p:spPr>
      </p:sp>
      <p:pic>
        <p:nvPicPr>
          <p:cNvPr id="13" name="Image 0" descr="preencoded.png">    </p:cNvPr>
          <p:cNvPicPr>
            <a:picLocks noChangeAspect="1"/>
          </p:cNvPicPr>
          <p:nvPr/>
        </p:nvPicPr>
        <p:blipFill>
          <a:blip r:embed="rId1"/>
          <a:stretch>
            <a:fillRect/>
          </a:stretch>
        </p:blipFill>
        <p:spPr>
          <a:xfrm>
            <a:off x="7964424" y="2363724"/>
            <a:ext cx="155448" cy="155448"/>
          </a:xfrm>
          <a:prstGeom prst="rect">
            <a:avLst/>
          </a:prstGeom>
        </p:spPr>
      </p:pic>
      <p:sp>
        <p:nvSpPr>
          <p:cNvPr id="14" name="Text 11"/>
          <p:cNvSpPr/>
          <p:nvPr/>
        </p:nvSpPr>
        <p:spPr>
          <a:xfrm>
            <a:off x="8129016" y="2286000"/>
            <a:ext cx="1497787"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Ekzekutuar realisht</a:t>
            </a:r>
            <a:endParaRPr lang="en-US" sz="1050" dirty="0"/>
          </a:p>
        </p:txBody>
      </p:sp>
      <p:sp>
        <p:nvSpPr>
          <p:cNvPr id="15" name="Text 12"/>
          <p:cNvSpPr/>
          <p:nvPr/>
        </p:nvSpPr>
        <p:spPr>
          <a:xfrm>
            <a:off x="7818120" y="2788920"/>
            <a:ext cx="3657600" cy="3657600"/>
          </a:xfrm>
          <a:prstGeom prst="rect">
            <a:avLst/>
          </a:prstGeom>
          <a:noFill/>
          <a:ln/>
        </p:spPr>
        <p:txBody>
          <a:bodyPr wrap="square" lIns="0" tIns="0" rIns="0" bIns="0" rtlCol="0" anchor="t"/>
          <a:lstStyle/>
          <a:p>
            <a:pPr marL="203200" indent="-203200">
              <a:spcAft>
                <a:spcPts val="900"/>
              </a:spcAft>
              <a:buSzPct val="100000"/>
              <a:buChar char="•"/>
            </a:pPr>
            <a:r>
              <a:rPr lang="en-US" sz="1250" b="1" dirty="0">
                <a:solidFill>
                  <a:srgbClr val="E8730C"/>
                </a:solidFill>
                <a:latin typeface="Work Sans" pitchFamily="34" charset="0"/>
                <a:ea typeface="Work Sans" pitchFamily="34" charset="-122"/>
                <a:cs typeface="Work Sans" pitchFamily="34" charset="-120"/>
              </a:rPr>
              <a:t>? = vend-mbajtës i sigurt</a:t>
            </a:r>
            <a:endParaRPr lang="en-US" sz="1250" dirty="0"/>
          </a:p>
          <a:p>
            <a:pPr marL="203200" indent="-203200">
              <a:spcAft>
                <a:spcPts val="900"/>
              </a:spcAft>
              <a:buSzPct val="100000"/>
              <a:buChar char="•"/>
            </a:pPr>
            <a:r>
              <a:rPr lang="en-US" sz="1250" dirty="0">
                <a:solidFill>
                  <a:srgbClr val="26313F"/>
                </a:solidFill>
                <a:latin typeface="Work Sans" pitchFamily="34" charset="0"/>
                <a:ea typeface="Work Sans" pitchFamily="34" charset="-122"/>
                <a:cs typeface="Work Sans" pitchFamily="34" charset="-120"/>
              </a:rPr>
              <a:t>setInt / setString mbushin ?-at</a:t>
            </a:r>
            <a:endParaRPr lang="en-US" sz="1250" dirty="0"/>
          </a:p>
          <a:p>
            <a:pPr marL="203200" indent="-203200">
              <a:spcAft>
                <a:spcPts val="900"/>
              </a:spcAft>
              <a:buSzPct val="100000"/>
              <a:buChar char="•"/>
            </a:pPr>
            <a:r>
              <a:rPr lang="en-US" sz="1250" dirty="0">
                <a:solidFill>
                  <a:srgbClr val="26313F"/>
                </a:solidFill>
                <a:latin typeface="Work Sans" pitchFamily="34" charset="0"/>
                <a:ea typeface="Work Sans" pitchFamily="34" charset="-122"/>
                <a:cs typeface="Work Sans" pitchFamily="34" charset="-120"/>
              </a:rPr>
              <a:t>Numrat 1,2,3 = pozicioni i ?</a:t>
            </a:r>
            <a:endParaRPr lang="en-US" sz="1250" dirty="0"/>
          </a:p>
          <a:p>
            <a:pPr marL="203200" indent="-203200">
              <a:spcAft>
                <a:spcPts val="900"/>
              </a:spcAft>
              <a:buSzPct val="100000"/>
              <a:buChar char="•"/>
            </a:pPr>
            <a:r>
              <a:rPr lang="en-US" sz="1250" b="1" dirty="0">
                <a:solidFill>
                  <a:srgbClr val="26313F"/>
                </a:solidFill>
                <a:latin typeface="Work Sans" pitchFamily="34" charset="0"/>
                <a:ea typeface="Work Sans" pitchFamily="34" charset="-122"/>
                <a:cs typeface="Work Sans" pitchFamily="34" charset="-120"/>
              </a:rPr>
              <a:t>executeUpdate() → sa rreshta u prekën</a:t>
            </a:r>
            <a:endParaRPr lang="en-US" sz="1250" dirty="0"/>
          </a:p>
          <a:p>
            <a:pPr marL="203200" indent="-203200">
              <a:spcAft>
                <a:spcPts val="900"/>
              </a:spcAft>
              <a:buSzPct val="100000"/>
              <a:buChar char="•"/>
            </a:pPr>
            <a:r>
              <a:rPr lang="en-US" sz="1250" b="1" dirty="0">
                <a:solidFill>
                  <a:srgbClr val="3FB57A"/>
                </a:solidFill>
                <a:latin typeface="Work Sans" pitchFamily="34" charset="0"/>
                <a:ea typeface="Work Sans" pitchFamily="34" charset="-122"/>
                <a:cs typeface="Work Sans" pitchFamily="34" charset="-120"/>
              </a:rPr>
              <a:t>Mbron nga SQL Injection!</a:t>
            </a:r>
            <a:endParaRPr lang="en-US" sz="1250" dirty="0"/>
          </a:p>
        </p:txBody>
      </p:sp>
      <p:sp>
        <p:nvSpPr>
          <p:cNvPr id="16" name="Text 13"/>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INSERTIM · MËNYRA MODERNE</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try-with-resources: mbyllje automatike</a:t>
            </a:r>
            <a:endParaRPr lang="en-US" sz="2600" dirty="0"/>
          </a:p>
        </p:txBody>
      </p:sp>
      <p:sp>
        <p:nvSpPr>
          <p:cNvPr id="6" name="Shape 4"/>
          <p:cNvSpPr/>
          <p:nvPr/>
        </p:nvSpPr>
        <p:spPr>
          <a:xfrm>
            <a:off x="685800" y="1371600"/>
            <a:ext cx="6903720" cy="4887468"/>
          </a:xfrm>
          <a:prstGeom prst="roundRect">
            <a:avLst>
              <a:gd name="adj" fmla="val 1497"/>
            </a:avLst>
          </a:prstGeom>
          <a:solidFill>
            <a:srgbClr val="1B2736"/>
          </a:solidFill>
          <a:ln w="12700">
            <a:solidFill>
              <a:srgbClr val="2A3A4C"/>
            </a:solidFill>
            <a:prstDash val="solid"/>
          </a:ln>
        </p:spPr>
      </p:sp>
      <p:sp>
        <p:nvSpPr>
          <p:cNvPr id="7" name="Text 5"/>
          <p:cNvSpPr/>
          <p:nvPr/>
        </p:nvSpPr>
        <p:spPr>
          <a:xfrm>
            <a:off x="822960" y="1444752"/>
            <a:ext cx="580644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TestModern.java</a:t>
            </a:r>
            <a:endParaRPr lang="en-US" sz="1000" dirty="0"/>
          </a:p>
        </p:txBody>
      </p:sp>
      <p:sp>
        <p:nvSpPr>
          <p:cNvPr id="8" name="Text 6"/>
          <p:cNvSpPr/>
          <p:nvPr/>
        </p:nvSpPr>
        <p:spPr>
          <a:xfrm>
            <a:off x="886968" y="1755648"/>
            <a:ext cx="6501384" cy="4366260"/>
          </a:xfrm>
          <a:prstGeom prst="rect">
            <a:avLst/>
          </a:prstGeom>
          <a:noFill/>
          <a:ln/>
        </p:spPr>
        <p:txBody>
          <a:bodyPr wrap="square" lIns="0" tIns="0" rIns="0" bIns="0" rtlCol="0" anchor="t"/>
          <a:lstStyle/>
          <a:p>
            <a:pPr indent="0" marL="0">
              <a:lnSpc>
                <a:spcPct val="98000"/>
              </a:lnSpc>
              <a:buNone/>
            </a:pPr>
            <a:r>
              <a:rPr lang="en-US" sz="1150" dirty="0">
                <a:solidFill>
                  <a:srgbClr val="E8963C"/>
                </a:solidFill>
                <a:latin typeface="JetBrains Mono" pitchFamily="34" charset="0"/>
                <a:ea typeface="JetBrains Mono" pitchFamily="34" charset="-122"/>
                <a:cs typeface="JetBrains Mono" pitchFamily="34" charset="-120"/>
              </a:rPr>
              <a:t>String</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sql</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"INSERT INTO studentet"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 (id, emri, mosha) VALUES (?, ?,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endParaRPr lang="en-US" sz="1150" dirty="0"/>
          </a:p>
          <a:p>
            <a:pPr indent="0" marL="0">
              <a:lnSpc>
                <a:spcPct val="98000"/>
              </a:lnSpc>
              <a:buNone/>
            </a:pPr>
            <a:r>
              <a:rPr lang="en-US" sz="1150" dirty="0">
                <a:solidFill>
                  <a:srgbClr val="E8963C"/>
                </a:solidFill>
                <a:latin typeface="JetBrains Mono" pitchFamily="34" charset="0"/>
                <a:ea typeface="JetBrains Mono" pitchFamily="34" charset="-122"/>
                <a:cs typeface="JetBrains Mono" pitchFamily="34" charset="-120"/>
              </a:rPr>
              <a:t>try</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5FB3E0"/>
                </a:solidFill>
                <a:latin typeface="JetBrains Mono" pitchFamily="34" charset="0"/>
                <a:ea typeface="JetBrains Mono" pitchFamily="34" charset="-122"/>
                <a:cs typeface="JetBrains Mono" pitchFamily="34" charset="-120"/>
              </a:rPr>
              <a:t>Connection</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lidhja</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5FB3E0"/>
                </a:solidFill>
                <a:latin typeface="JetBrains Mono" pitchFamily="34" charset="0"/>
                <a:ea typeface="JetBrains Mono" pitchFamily="34" charset="-122"/>
                <a:cs typeface="JetBrains Mono" pitchFamily="34" charset="-120"/>
              </a:rPr>
              <a:t>DriverManager</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getConnection</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url</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"postgres"</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"fjalekalimi"</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5FB3E0"/>
                </a:solidFill>
                <a:latin typeface="JetBrains Mono" pitchFamily="34" charset="0"/>
                <a:ea typeface="JetBrains Mono" pitchFamily="34" charset="-122"/>
                <a:cs typeface="JetBrains Mono" pitchFamily="34" charset="-120"/>
              </a:rPr>
              <a:t>PreparedStatement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lidhja</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prepareStatement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sql</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setInt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D9A066"/>
                </a:solidFill>
                <a:latin typeface="JetBrains Mono" pitchFamily="34" charset="0"/>
                <a:ea typeface="JetBrains Mono" pitchFamily="34" charset="-122"/>
                <a:cs typeface="JetBrains Mono" pitchFamily="34" charset="-120"/>
              </a:rPr>
              <a:t>1</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D9A066"/>
                </a:solidFill>
                <a:latin typeface="JetBrains Mono" pitchFamily="34" charset="0"/>
                <a:ea typeface="JetBrains Mono" pitchFamily="34" charset="-122"/>
                <a:cs typeface="JetBrains Mono" pitchFamily="34" charset="-120"/>
              </a:rPr>
              <a:t>2</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setString</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D9A066"/>
                </a:solidFill>
                <a:latin typeface="JetBrains Mono" pitchFamily="34" charset="0"/>
                <a:ea typeface="JetBrains Mono" pitchFamily="34" charset="-122"/>
                <a:cs typeface="JetBrains Mono" pitchFamily="34" charset="-120"/>
              </a:rPr>
              <a:t>2</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"Beni Doda"</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setInt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D9A066"/>
                </a:solidFill>
                <a:latin typeface="JetBrains Mono" pitchFamily="34" charset="0"/>
                <a:ea typeface="JetBrains Mono" pitchFamily="34" charset="-122"/>
                <a:cs typeface="JetBrains Mono" pitchFamily="34" charset="-120"/>
              </a:rPr>
              <a:t>3</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D9A066"/>
                </a:solidFill>
                <a:latin typeface="JetBrains Mono" pitchFamily="34" charset="0"/>
                <a:ea typeface="JetBrains Mono" pitchFamily="34" charset="-122"/>
                <a:cs typeface="JetBrains Mono" pitchFamily="34" charset="-120"/>
              </a:rPr>
              <a:t>22</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963C"/>
                </a:solidFill>
                <a:latin typeface="JetBrains Mono" pitchFamily="34" charset="0"/>
                <a:ea typeface="JetBrains Mono" pitchFamily="34" charset="-122"/>
                <a:cs typeface="JetBrains Mono" pitchFamily="34" charset="-120"/>
              </a:rPr>
              <a:t>int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rreshta</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ps</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executeUpdate</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"U shtuan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rreshta</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endParaRPr lang="en-US" sz="1150" dirty="0"/>
          </a:p>
          <a:p>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963C"/>
                </a:solidFill>
                <a:latin typeface="JetBrains Mono" pitchFamily="34" charset="0"/>
                <a:ea typeface="JetBrains Mono" pitchFamily="34" charset="-122"/>
                <a:cs typeface="JetBrains Mono" pitchFamily="34" charset="-120"/>
              </a:rPr>
              <a:t>catch</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5FB3E0"/>
                </a:solidFill>
                <a:latin typeface="JetBrains Mono" pitchFamily="34" charset="0"/>
                <a:ea typeface="JetBrains Mono" pitchFamily="34" charset="-122"/>
                <a:cs typeface="JetBrains Mono" pitchFamily="34" charset="-120"/>
              </a:rPr>
              <a:t>SQLException</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5FB3E0"/>
                </a:solidFill>
                <a:latin typeface="JetBrains Mono" pitchFamily="34" charset="0"/>
                <a:ea typeface="JetBrains Mono" pitchFamily="34" charset="-122"/>
                <a:cs typeface="JetBrains Mono" pitchFamily="34" charset="-120"/>
              </a:rPr>
              <a:t>System</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out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println</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8FCB6B"/>
                </a:solidFill>
                <a:latin typeface="JetBrains Mono" pitchFamily="34" charset="0"/>
                <a:ea typeface="JetBrains Mono" pitchFamily="34" charset="-122"/>
                <a:cs typeface="JetBrains Mono" pitchFamily="34" charset="-120"/>
              </a:rPr>
              <a:t>"Gabim: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e</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E8EEF4"/>
                </a:solidFill>
                <a:latin typeface="JetBrains Mono" pitchFamily="34" charset="0"/>
                <a:ea typeface="JetBrains Mono" pitchFamily="34" charset="-122"/>
                <a:cs typeface="JetBrains Mono" pitchFamily="34" charset="-120"/>
              </a:rPr>
              <a:t>getMessage</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a:p>
            <a:pPr indent="0" marL="0">
              <a:lnSpc>
                <a:spcPct val="98000"/>
              </a:lnSpc>
              <a:buNone/>
            </a:pPr>
            <a:r>
              <a:rPr lang="en-US" sz="1150" dirty="0">
                <a:solidFill>
                  <a:srgbClr val="C3CBD6"/>
                </a:solidFill>
                <a:latin typeface="JetBrains Mono" pitchFamily="34" charset="0"/>
                <a:ea typeface="JetBrains Mono" pitchFamily="34" charset="-122"/>
                <a:cs typeface="JetBrains Mono" pitchFamily="34" charset="-120"/>
              </a:rPr>
              <a:t>}</a:t>
            </a:r>
            <a:endParaRPr lang="en-US" sz="1150" dirty="0"/>
          </a:p>
        </p:txBody>
      </p:sp>
      <p:sp>
        <p:nvSpPr>
          <p:cNvPr id="9" name="Shape 7"/>
          <p:cNvSpPr/>
          <p:nvPr/>
        </p:nvSpPr>
        <p:spPr>
          <a:xfrm>
            <a:off x="7818120" y="1417320"/>
            <a:ext cx="3657600" cy="777240"/>
          </a:xfrm>
          <a:prstGeom prst="roundRect">
            <a:avLst>
              <a:gd name="adj" fmla="val 7059"/>
            </a:avLst>
          </a:prstGeom>
          <a:solidFill>
            <a:srgbClr val="0E1622"/>
          </a:solidFill>
          <a:ln w="12700">
            <a:solidFill>
              <a:srgbClr val="3FB57A"/>
            </a:solidFill>
            <a:prstDash val="solid"/>
          </a:ln>
        </p:spPr>
      </p:sp>
      <p:sp>
        <p:nvSpPr>
          <p:cNvPr id="10" name="Text 8"/>
          <p:cNvSpPr/>
          <p:nvPr/>
        </p:nvSpPr>
        <p:spPr>
          <a:xfrm>
            <a:off x="7955280" y="1490472"/>
            <a:ext cx="3383280" cy="237744"/>
          </a:xfrm>
          <a:prstGeom prst="rect">
            <a:avLst/>
          </a:prstGeom>
          <a:noFill/>
          <a:ln/>
        </p:spPr>
        <p:txBody>
          <a:bodyPr wrap="square" rtlCol="0" anchor="ctr"/>
          <a:lstStyle/>
          <a:p>
            <a:pPr indent="0" marL="0">
              <a:buNone/>
            </a:pPr>
            <a:r>
              <a:rPr lang="en-US" sz="1000" b="1" spc="100" kern="0" dirty="0">
                <a:solidFill>
                  <a:srgbClr val="3FB57A"/>
                </a:solidFill>
                <a:latin typeface="JetBrains Mono" pitchFamily="34" charset="0"/>
                <a:ea typeface="JetBrains Mono" pitchFamily="34" charset="-122"/>
                <a:cs typeface="JetBrains Mono" pitchFamily="34" charset="-120"/>
              </a:rPr>
              <a:t>▶ Output real</a:t>
            </a:r>
            <a:endParaRPr lang="en-US" sz="1000" dirty="0"/>
          </a:p>
        </p:txBody>
      </p:sp>
      <p:sp>
        <p:nvSpPr>
          <p:cNvPr id="11" name="Text 9"/>
          <p:cNvSpPr/>
          <p:nvPr/>
        </p:nvSpPr>
        <p:spPr>
          <a:xfrm>
            <a:off x="8001000" y="1783080"/>
            <a:ext cx="3291840" cy="320040"/>
          </a:xfrm>
          <a:prstGeom prst="rect">
            <a:avLst/>
          </a:prstGeom>
          <a:noFill/>
          <a:ln/>
        </p:spPr>
        <p:txBody>
          <a:bodyPr wrap="square" lIns="0" tIns="0" rIns="0" bIns="0" rtlCol="0" anchor="t"/>
          <a:lstStyle/>
          <a:p>
            <a:pPr indent="0" marL="0">
              <a:buNone/>
            </a:pPr>
            <a:r>
              <a:rPr lang="en-US" sz="1250" dirty="0">
                <a:solidFill>
                  <a:srgbClr val="7FD6A0"/>
                </a:solidFill>
                <a:latin typeface="JetBrains Mono" pitchFamily="34" charset="0"/>
                <a:ea typeface="JetBrains Mono" pitchFamily="34" charset="-122"/>
                <a:cs typeface="JetBrains Mono" pitchFamily="34" charset="-120"/>
              </a:rPr>
              <a:t>U shtuan 1 rresht(a).</a:t>
            </a:r>
            <a:endParaRPr lang="en-US" sz="1250" dirty="0"/>
          </a:p>
        </p:txBody>
      </p:sp>
      <p:sp>
        <p:nvSpPr>
          <p:cNvPr id="12" name="Shape 10"/>
          <p:cNvSpPr/>
          <p:nvPr/>
        </p:nvSpPr>
        <p:spPr>
          <a:xfrm>
            <a:off x="7818120" y="2286000"/>
            <a:ext cx="1881835" cy="310896"/>
          </a:xfrm>
          <a:prstGeom prst="roundRect">
            <a:avLst>
              <a:gd name="adj" fmla="val 50000"/>
            </a:avLst>
          </a:prstGeom>
          <a:solidFill>
            <a:srgbClr val="3FB57A"/>
          </a:solidFill>
          <a:ln/>
        </p:spPr>
      </p:sp>
      <p:pic>
        <p:nvPicPr>
          <p:cNvPr id="13" name="Image 0" descr="preencoded.png">    </p:cNvPr>
          <p:cNvPicPr>
            <a:picLocks noChangeAspect="1"/>
          </p:cNvPicPr>
          <p:nvPr/>
        </p:nvPicPr>
        <p:blipFill>
          <a:blip r:embed="rId1"/>
          <a:stretch>
            <a:fillRect/>
          </a:stretch>
        </p:blipFill>
        <p:spPr>
          <a:xfrm>
            <a:off x="7964424" y="2363724"/>
            <a:ext cx="155448" cy="155448"/>
          </a:xfrm>
          <a:prstGeom prst="rect">
            <a:avLst/>
          </a:prstGeom>
        </p:spPr>
      </p:pic>
      <p:sp>
        <p:nvSpPr>
          <p:cNvPr id="14" name="Text 11"/>
          <p:cNvSpPr/>
          <p:nvPr/>
        </p:nvSpPr>
        <p:spPr>
          <a:xfrm>
            <a:off x="8129016" y="2286000"/>
            <a:ext cx="1497787"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Ekzekutuar realisht</a:t>
            </a:r>
            <a:endParaRPr lang="en-US" sz="1050" dirty="0"/>
          </a:p>
        </p:txBody>
      </p:sp>
      <p:sp>
        <p:nvSpPr>
          <p:cNvPr id="15" name="Text 12"/>
          <p:cNvSpPr/>
          <p:nvPr/>
        </p:nvSpPr>
        <p:spPr>
          <a:xfrm>
            <a:off x="7818120" y="2788920"/>
            <a:ext cx="3657600" cy="3657600"/>
          </a:xfrm>
          <a:prstGeom prst="rect">
            <a:avLst/>
          </a:prstGeom>
          <a:noFill/>
          <a:ln/>
        </p:spPr>
        <p:txBody>
          <a:bodyPr wrap="square" lIns="0" tIns="0" rIns="0" bIns="0" rtlCol="0" anchor="t"/>
          <a:lstStyle/>
          <a:p>
            <a:pPr marL="203200" indent="-203200">
              <a:spcAft>
                <a:spcPts val="1000"/>
              </a:spcAft>
              <a:buSzPct val="100000"/>
              <a:buChar char="•"/>
            </a:pPr>
            <a:r>
              <a:rPr lang="en-US" sz="1300" b="1" dirty="0">
                <a:solidFill>
                  <a:srgbClr val="26313F"/>
                </a:solidFill>
                <a:latin typeface="Work Sans" pitchFamily="34" charset="0"/>
                <a:ea typeface="Work Sans" pitchFamily="34" charset="-122"/>
                <a:cs typeface="Work Sans" pitchFamily="34" charset="-120"/>
              </a:rPr>
              <a:t>Lidhja hapet brenda try(...)</a:t>
            </a:r>
            <a:endParaRPr lang="en-US" sz="1300" dirty="0"/>
          </a:p>
          <a:p>
            <a:pPr marL="203200" indent="-203200">
              <a:spcAft>
                <a:spcPts val="1000"/>
              </a:spcAft>
              <a:buSzPct val="100000"/>
              <a:buChar char="•"/>
            </a:pPr>
            <a:r>
              <a:rPr lang="en-US" sz="1300" dirty="0">
                <a:solidFill>
                  <a:srgbClr val="26313F"/>
                </a:solidFill>
                <a:latin typeface="Work Sans" pitchFamily="34" charset="0"/>
                <a:ea typeface="Work Sans" pitchFamily="34" charset="-122"/>
                <a:cs typeface="Work Sans" pitchFamily="34" charset="-120"/>
              </a:rPr>
              <a:t>Mbyllet VETVETIU në fund</a:t>
            </a:r>
            <a:endParaRPr lang="en-US" sz="1300" dirty="0"/>
          </a:p>
          <a:p>
            <a:pPr marL="203200" indent="-203200">
              <a:spcAft>
                <a:spcPts val="1000"/>
              </a:spcAft>
              <a:buSzPct val="100000"/>
              <a:buChar char="•"/>
            </a:pPr>
            <a:r>
              <a:rPr lang="en-US" sz="1300" dirty="0">
                <a:solidFill>
                  <a:srgbClr val="26313F"/>
                </a:solidFill>
                <a:latin typeface="Work Sans" pitchFamily="34" charset="0"/>
                <a:ea typeface="Work Sans" pitchFamily="34" charset="-122"/>
                <a:cs typeface="Work Sans" pitchFamily="34" charset="-120"/>
              </a:rPr>
              <a:t>Nuk harron kurrë close()</a:t>
            </a:r>
            <a:endParaRPr lang="en-US" sz="1300" dirty="0"/>
          </a:p>
          <a:p>
            <a:pPr marL="203200" indent="-203200">
              <a:spcAft>
                <a:spcPts val="1000"/>
              </a:spcAft>
              <a:buSzPct val="100000"/>
              <a:buChar char="•"/>
            </a:pPr>
            <a:r>
              <a:rPr lang="en-US" sz="1300" b="1" dirty="0">
                <a:solidFill>
                  <a:srgbClr val="3FB57A"/>
                </a:solidFill>
                <a:latin typeface="Work Sans" pitchFamily="34" charset="0"/>
                <a:ea typeface="Work Sans" pitchFamily="34" charset="-122"/>
                <a:cs typeface="Work Sans" pitchFamily="34" charset="-120"/>
              </a:rPr>
              <a:t>Mënyra e rekomanduar sot!</a:t>
            </a:r>
            <a:endParaRPr lang="en-US" sz="1300" dirty="0"/>
          </a:p>
        </p:txBody>
      </p:sp>
      <p:sp>
        <p:nvSpPr>
          <p:cNvPr id="16" name="Text 13"/>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Text 1"/>
          <p:cNvSpPr/>
          <p:nvPr/>
        </p:nvSpPr>
        <p:spPr>
          <a:xfrm>
            <a:off x="548640" y="320040"/>
            <a:ext cx="10972800" cy="274320"/>
          </a:xfrm>
          <a:prstGeom prst="rect">
            <a:avLst/>
          </a:prstGeom>
          <a:noFill/>
          <a:ln/>
        </p:spPr>
        <p:txBody>
          <a:bodyPr wrap="square" rtlCol="0" anchor="ctr"/>
          <a:lstStyle/>
          <a:p>
            <a:pPr indent="0" marL="0">
              <a:buNone/>
            </a:pPr>
            <a:r>
              <a:rPr lang="en-US" sz="1200" b="1" spc="200" kern="0" dirty="0">
                <a:solidFill>
                  <a:srgbClr val="F6A63B"/>
                </a:solidFill>
                <a:latin typeface="Poppins" pitchFamily="34" charset="0"/>
                <a:ea typeface="Poppins" pitchFamily="34" charset="-122"/>
                <a:cs typeface="Poppins" pitchFamily="34" charset="-120"/>
              </a:rPr>
              <a:t>VERIFIKIMI</a:t>
            </a:r>
            <a:endParaRPr lang="en-US" sz="1200" dirty="0"/>
          </a:p>
        </p:txBody>
      </p:sp>
      <p:sp>
        <p:nvSpPr>
          <p:cNvPr id="4" name="Text 2"/>
          <p:cNvSpPr/>
          <p:nvPr/>
        </p:nvSpPr>
        <p:spPr>
          <a:xfrm>
            <a:off x="548640" y="621792"/>
            <a:ext cx="11064240" cy="658368"/>
          </a:xfrm>
          <a:prstGeom prst="rect">
            <a:avLst/>
          </a:prstGeom>
          <a:noFill/>
          <a:ln/>
        </p:spPr>
        <p:txBody>
          <a:bodyPr wrap="square" rtlCol="0" anchor="ctr"/>
          <a:lstStyle/>
          <a:p>
            <a:pPr indent="0" marL="0">
              <a:buNone/>
            </a:pPr>
            <a:r>
              <a:rPr lang="en-US" sz="2800" b="1" dirty="0">
                <a:solidFill>
                  <a:srgbClr val="FFFFFF"/>
                </a:solidFill>
                <a:latin typeface="Poppins" pitchFamily="34" charset="0"/>
                <a:ea typeface="Poppins" pitchFamily="34" charset="-122"/>
                <a:cs typeface="Poppins" pitchFamily="34" charset="-120"/>
              </a:rPr>
              <a:t>A u shtuan vërtet të dhënat?</a:t>
            </a:r>
            <a:endParaRPr lang="en-US" sz="2800" dirty="0"/>
          </a:p>
        </p:txBody>
      </p:sp>
      <p:sp>
        <p:nvSpPr>
          <p:cNvPr id="5" name="Text 3"/>
          <p:cNvSpPr/>
          <p:nvPr/>
        </p:nvSpPr>
        <p:spPr>
          <a:xfrm>
            <a:off x="640080" y="1600200"/>
            <a:ext cx="10789920" cy="365760"/>
          </a:xfrm>
          <a:prstGeom prst="rect">
            <a:avLst/>
          </a:prstGeom>
          <a:noFill/>
          <a:ln/>
        </p:spPr>
        <p:txBody>
          <a:bodyPr wrap="square" rtlCol="0" anchor="ctr"/>
          <a:lstStyle/>
          <a:p>
            <a:pPr indent="0" marL="0">
              <a:buNone/>
            </a:pPr>
            <a:r>
              <a:rPr lang="en-US" sz="1500" dirty="0">
                <a:solidFill>
                  <a:srgbClr val="DBE2EA"/>
                </a:solidFill>
                <a:latin typeface="Work Sans" pitchFamily="34" charset="0"/>
                <a:ea typeface="Work Sans" pitchFamily="34" charset="-122"/>
                <a:cs typeface="Work Sans" pitchFamily="34" charset="-120"/>
              </a:rPr>
              <a:t>Pas dy programeve Java, ekzekutojmë SELECT në databazë:</a:t>
            </a:r>
            <a:endParaRPr lang="en-US" sz="1500" dirty="0"/>
          </a:p>
        </p:txBody>
      </p:sp>
      <p:sp>
        <p:nvSpPr>
          <p:cNvPr id="6" name="Shape 4"/>
          <p:cNvSpPr/>
          <p:nvPr/>
        </p:nvSpPr>
        <p:spPr>
          <a:xfrm>
            <a:off x="640080" y="2057400"/>
            <a:ext cx="6035040" cy="717804"/>
          </a:xfrm>
          <a:prstGeom prst="roundRect">
            <a:avLst>
              <a:gd name="adj" fmla="val 10191"/>
            </a:avLst>
          </a:prstGeom>
          <a:solidFill>
            <a:srgbClr val="1B2736"/>
          </a:solidFill>
          <a:ln w="12700">
            <a:solidFill>
              <a:srgbClr val="2A3A4C"/>
            </a:solidFill>
            <a:prstDash val="solid"/>
          </a:ln>
        </p:spPr>
      </p:sp>
      <p:sp>
        <p:nvSpPr>
          <p:cNvPr id="7" name="Text 5"/>
          <p:cNvSpPr/>
          <p:nvPr/>
        </p:nvSpPr>
        <p:spPr>
          <a:xfrm>
            <a:off x="777240" y="2130552"/>
            <a:ext cx="4937760" cy="256032"/>
          </a:xfrm>
          <a:prstGeom prst="rect">
            <a:avLst/>
          </a:prstGeom>
          <a:noFill/>
          <a:ln/>
        </p:spPr>
        <p:txBody>
          <a:bodyPr wrap="square" rtlCol="0" anchor="ctr"/>
          <a:lstStyle/>
          <a:p>
            <a:pPr indent="0" marL="0">
              <a:buNone/>
            </a:pPr>
            <a:r>
              <a:rPr lang="en-US" sz="1000" b="1" spc="100" kern="0" dirty="0">
                <a:solidFill>
                  <a:srgbClr val="6A7889"/>
                </a:solidFill>
                <a:latin typeface="JetBrains Mono" pitchFamily="34" charset="0"/>
                <a:ea typeface="JetBrains Mono" pitchFamily="34" charset="-122"/>
                <a:cs typeface="JetBrains Mono" pitchFamily="34" charset="-120"/>
              </a:rPr>
              <a:t>SQL</a:t>
            </a:r>
            <a:endParaRPr lang="en-US" sz="1000" dirty="0"/>
          </a:p>
        </p:txBody>
      </p:sp>
      <p:sp>
        <p:nvSpPr>
          <p:cNvPr id="8" name="Text 6"/>
          <p:cNvSpPr/>
          <p:nvPr/>
        </p:nvSpPr>
        <p:spPr>
          <a:xfrm>
            <a:off x="841248" y="2441448"/>
            <a:ext cx="5632704" cy="196596"/>
          </a:xfrm>
          <a:prstGeom prst="rect">
            <a:avLst/>
          </a:prstGeom>
          <a:noFill/>
          <a:ln/>
        </p:spPr>
        <p:txBody>
          <a:bodyPr wrap="square" lIns="0" tIns="0" rIns="0" bIns="0" rtlCol="0" anchor="t"/>
          <a:lstStyle/>
          <a:p>
            <a:pPr indent="0" marL="0">
              <a:lnSpc>
                <a:spcPct val="98000"/>
              </a:lnSpc>
              <a:buNone/>
            </a:pPr>
            <a:r>
              <a:rPr lang="en-US" sz="1350" dirty="0">
                <a:solidFill>
                  <a:srgbClr val="E8963C"/>
                </a:solidFill>
                <a:latin typeface="JetBrains Mono" pitchFamily="34" charset="0"/>
                <a:ea typeface="JetBrains Mono" pitchFamily="34" charset="-122"/>
                <a:cs typeface="JetBrains Mono" pitchFamily="34" charset="-120"/>
              </a:rPr>
              <a:t>SELECT</a:t>
            </a:r>
            <a:pPr indent="0" marL="0">
              <a:lnSpc>
                <a:spcPct val="98000"/>
              </a:lnSpc>
              <a:buNone/>
            </a:pPr>
            <a:r>
              <a:rPr lang="en-US" sz="13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350" dirty="0">
                <a:solidFill>
                  <a:srgbClr val="C3CBD6"/>
                </a:solidFill>
                <a:latin typeface="JetBrains Mono" pitchFamily="34" charset="0"/>
                <a:ea typeface="JetBrains Mono" pitchFamily="34" charset="-122"/>
                <a:cs typeface="JetBrains Mono" pitchFamily="34" charset="-120"/>
              </a:rPr>
              <a:t>*</a:t>
            </a:r>
            <a:pPr indent="0" marL="0">
              <a:lnSpc>
                <a:spcPct val="98000"/>
              </a:lnSpc>
              <a:buNone/>
            </a:pPr>
            <a:r>
              <a:rPr lang="en-US" sz="13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350" dirty="0">
                <a:solidFill>
                  <a:srgbClr val="E8963C"/>
                </a:solidFill>
                <a:latin typeface="JetBrains Mono" pitchFamily="34" charset="0"/>
                <a:ea typeface="JetBrains Mono" pitchFamily="34" charset="-122"/>
                <a:cs typeface="JetBrains Mono" pitchFamily="34" charset="-120"/>
              </a:rPr>
              <a:t>FROM</a:t>
            </a:r>
            <a:pPr indent="0" marL="0">
              <a:lnSpc>
                <a:spcPct val="98000"/>
              </a:lnSpc>
              <a:buNone/>
            </a:pPr>
            <a:r>
              <a:rPr lang="en-US" sz="13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350" dirty="0">
                <a:solidFill>
                  <a:srgbClr val="E8EEF4"/>
                </a:solidFill>
                <a:latin typeface="JetBrains Mono" pitchFamily="34" charset="0"/>
                <a:ea typeface="JetBrains Mono" pitchFamily="34" charset="-122"/>
                <a:cs typeface="JetBrains Mono" pitchFamily="34" charset="-120"/>
              </a:rPr>
              <a:t>studentet</a:t>
            </a:r>
            <a:pPr indent="0" marL="0">
              <a:lnSpc>
                <a:spcPct val="98000"/>
              </a:lnSpc>
              <a:buNone/>
            </a:pPr>
            <a:r>
              <a:rPr lang="en-US" sz="13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350" dirty="0">
                <a:solidFill>
                  <a:srgbClr val="E8963C"/>
                </a:solidFill>
                <a:latin typeface="JetBrains Mono" pitchFamily="34" charset="0"/>
                <a:ea typeface="JetBrains Mono" pitchFamily="34" charset="-122"/>
                <a:cs typeface="JetBrains Mono" pitchFamily="34" charset="-120"/>
              </a:rPr>
              <a:t>ORDER</a:t>
            </a:r>
            <a:pPr indent="0" marL="0">
              <a:lnSpc>
                <a:spcPct val="98000"/>
              </a:lnSpc>
              <a:buNone/>
            </a:pPr>
            <a:r>
              <a:rPr lang="en-US" sz="13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350" dirty="0">
                <a:solidFill>
                  <a:srgbClr val="E8963C"/>
                </a:solidFill>
                <a:latin typeface="JetBrains Mono" pitchFamily="34" charset="0"/>
                <a:ea typeface="JetBrains Mono" pitchFamily="34" charset="-122"/>
                <a:cs typeface="JetBrains Mono" pitchFamily="34" charset="-120"/>
              </a:rPr>
              <a:t>BY</a:t>
            </a:r>
            <a:pPr indent="0" marL="0">
              <a:lnSpc>
                <a:spcPct val="98000"/>
              </a:lnSpc>
              <a:buNone/>
            </a:pPr>
            <a:r>
              <a:rPr lang="en-US" sz="1350" dirty="0">
                <a:solidFill>
                  <a:srgbClr val="E8EEF4"/>
                </a:solidFill>
                <a:latin typeface="JetBrains Mono" pitchFamily="34" charset="0"/>
                <a:ea typeface="JetBrains Mono" pitchFamily="34" charset="-122"/>
                <a:cs typeface="JetBrains Mono" pitchFamily="34" charset="-120"/>
              </a:rPr>
              <a:t> </a:t>
            </a:r>
            <a:pPr indent="0" marL="0">
              <a:lnSpc>
                <a:spcPct val="98000"/>
              </a:lnSpc>
              <a:buNone/>
            </a:pPr>
            <a:r>
              <a:rPr lang="en-US" sz="1350" dirty="0">
                <a:solidFill>
                  <a:srgbClr val="E8EEF4"/>
                </a:solidFill>
                <a:latin typeface="JetBrains Mono" pitchFamily="34" charset="0"/>
                <a:ea typeface="JetBrains Mono" pitchFamily="34" charset="-122"/>
                <a:cs typeface="JetBrains Mono" pitchFamily="34" charset="-120"/>
              </a:rPr>
              <a:t>id</a:t>
            </a:r>
            <a:pPr indent="0" marL="0">
              <a:lnSpc>
                <a:spcPct val="98000"/>
              </a:lnSpc>
              <a:buNone/>
            </a:pPr>
            <a:r>
              <a:rPr lang="en-US" sz="1350" dirty="0">
                <a:solidFill>
                  <a:srgbClr val="C3CBD6"/>
                </a:solidFill>
                <a:latin typeface="JetBrains Mono" pitchFamily="34" charset="0"/>
                <a:ea typeface="JetBrains Mono" pitchFamily="34" charset="-122"/>
                <a:cs typeface="JetBrains Mono" pitchFamily="34" charset="-120"/>
              </a:rPr>
              <a:t>;</a:t>
            </a:r>
            <a:endParaRPr lang="en-US" sz="1350" dirty="0"/>
          </a:p>
        </p:txBody>
      </p:sp>
      <p:sp>
        <p:nvSpPr>
          <p:cNvPr id="9" name="Shape 7"/>
          <p:cNvSpPr/>
          <p:nvPr/>
        </p:nvSpPr>
        <p:spPr>
          <a:xfrm>
            <a:off x="640080" y="3200400"/>
            <a:ext cx="1097280" cy="438912"/>
          </a:xfrm>
          <a:prstGeom prst="rect">
            <a:avLst/>
          </a:prstGeom>
          <a:solidFill>
            <a:srgbClr val="E8730C"/>
          </a:solidFill>
          <a:ln w="12700">
            <a:solidFill>
              <a:srgbClr val="2E4568"/>
            </a:solidFill>
            <a:prstDash val="solid"/>
          </a:ln>
        </p:spPr>
      </p:sp>
      <p:sp>
        <p:nvSpPr>
          <p:cNvPr id="10" name="Text 8"/>
          <p:cNvSpPr/>
          <p:nvPr/>
        </p:nvSpPr>
        <p:spPr>
          <a:xfrm>
            <a:off x="749808" y="3200400"/>
            <a:ext cx="877824" cy="438912"/>
          </a:xfrm>
          <a:prstGeom prst="rect">
            <a:avLst/>
          </a:prstGeom>
          <a:noFill/>
          <a:ln/>
        </p:spPr>
        <p:txBody>
          <a:bodyPr wrap="square" rtlCol="0" anchor="ctr"/>
          <a:lstStyle/>
          <a:p>
            <a:pPr indent="0" marL="0">
              <a:buNone/>
            </a:pPr>
            <a:r>
              <a:rPr lang="en-US" sz="1350" b="1" dirty="0">
                <a:solidFill>
                  <a:srgbClr val="FFFFFF"/>
                </a:solidFill>
                <a:latin typeface="JetBrains Mono" pitchFamily="34" charset="0"/>
                <a:ea typeface="JetBrains Mono" pitchFamily="34" charset="-122"/>
                <a:cs typeface="JetBrains Mono" pitchFamily="34" charset="-120"/>
              </a:rPr>
              <a:t>id</a:t>
            </a:r>
            <a:endParaRPr lang="en-US" sz="1350" dirty="0"/>
          </a:p>
        </p:txBody>
      </p:sp>
      <p:sp>
        <p:nvSpPr>
          <p:cNvPr id="11" name="Shape 9"/>
          <p:cNvSpPr/>
          <p:nvPr/>
        </p:nvSpPr>
        <p:spPr>
          <a:xfrm>
            <a:off x="1737360" y="3200400"/>
            <a:ext cx="2926080" cy="438912"/>
          </a:xfrm>
          <a:prstGeom prst="rect">
            <a:avLst/>
          </a:prstGeom>
          <a:solidFill>
            <a:srgbClr val="E8730C"/>
          </a:solidFill>
          <a:ln w="12700">
            <a:solidFill>
              <a:srgbClr val="2E4568"/>
            </a:solidFill>
            <a:prstDash val="solid"/>
          </a:ln>
        </p:spPr>
      </p:sp>
      <p:sp>
        <p:nvSpPr>
          <p:cNvPr id="12" name="Text 10"/>
          <p:cNvSpPr/>
          <p:nvPr/>
        </p:nvSpPr>
        <p:spPr>
          <a:xfrm>
            <a:off x="1847088" y="3200400"/>
            <a:ext cx="2706624" cy="438912"/>
          </a:xfrm>
          <a:prstGeom prst="rect">
            <a:avLst/>
          </a:prstGeom>
          <a:noFill/>
          <a:ln/>
        </p:spPr>
        <p:txBody>
          <a:bodyPr wrap="square" rtlCol="0" anchor="ctr"/>
          <a:lstStyle/>
          <a:p>
            <a:pPr indent="0" marL="0">
              <a:buNone/>
            </a:pPr>
            <a:r>
              <a:rPr lang="en-US" sz="1350" b="1" dirty="0">
                <a:solidFill>
                  <a:srgbClr val="FFFFFF"/>
                </a:solidFill>
                <a:latin typeface="JetBrains Mono" pitchFamily="34" charset="0"/>
                <a:ea typeface="JetBrains Mono" pitchFamily="34" charset="-122"/>
                <a:cs typeface="JetBrains Mono" pitchFamily="34" charset="-120"/>
              </a:rPr>
              <a:t>emri</a:t>
            </a:r>
            <a:endParaRPr lang="en-US" sz="1350" dirty="0"/>
          </a:p>
        </p:txBody>
      </p:sp>
      <p:sp>
        <p:nvSpPr>
          <p:cNvPr id="13" name="Shape 11"/>
          <p:cNvSpPr/>
          <p:nvPr/>
        </p:nvSpPr>
        <p:spPr>
          <a:xfrm>
            <a:off x="4663440" y="3200400"/>
            <a:ext cx="1463040" cy="438912"/>
          </a:xfrm>
          <a:prstGeom prst="rect">
            <a:avLst/>
          </a:prstGeom>
          <a:solidFill>
            <a:srgbClr val="E8730C"/>
          </a:solidFill>
          <a:ln w="12700">
            <a:solidFill>
              <a:srgbClr val="2E4568"/>
            </a:solidFill>
            <a:prstDash val="solid"/>
          </a:ln>
        </p:spPr>
      </p:sp>
      <p:sp>
        <p:nvSpPr>
          <p:cNvPr id="14" name="Text 12"/>
          <p:cNvSpPr/>
          <p:nvPr/>
        </p:nvSpPr>
        <p:spPr>
          <a:xfrm>
            <a:off x="4773168" y="3200400"/>
            <a:ext cx="1243584" cy="438912"/>
          </a:xfrm>
          <a:prstGeom prst="rect">
            <a:avLst/>
          </a:prstGeom>
          <a:noFill/>
          <a:ln/>
        </p:spPr>
        <p:txBody>
          <a:bodyPr wrap="square" rtlCol="0" anchor="ctr"/>
          <a:lstStyle/>
          <a:p>
            <a:pPr indent="0" marL="0">
              <a:buNone/>
            </a:pPr>
            <a:r>
              <a:rPr lang="en-US" sz="1350" b="1" dirty="0">
                <a:solidFill>
                  <a:srgbClr val="FFFFFF"/>
                </a:solidFill>
                <a:latin typeface="JetBrains Mono" pitchFamily="34" charset="0"/>
                <a:ea typeface="JetBrains Mono" pitchFamily="34" charset="-122"/>
                <a:cs typeface="JetBrains Mono" pitchFamily="34" charset="-120"/>
              </a:rPr>
              <a:t>mosha</a:t>
            </a:r>
            <a:endParaRPr lang="en-US" sz="1350" dirty="0"/>
          </a:p>
        </p:txBody>
      </p:sp>
      <p:sp>
        <p:nvSpPr>
          <p:cNvPr id="15" name="Shape 13"/>
          <p:cNvSpPr/>
          <p:nvPr/>
        </p:nvSpPr>
        <p:spPr>
          <a:xfrm>
            <a:off x="640080" y="3639312"/>
            <a:ext cx="1097280" cy="438912"/>
          </a:xfrm>
          <a:prstGeom prst="rect">
            <a:avLst/>
          </a:prstGeom>
          <a:solidFill>
            <a:srgbClr val="1E3050"/>
          </a:solidFill>
          <a:ln w="12700">
            <a:solidFill>
              <a:srgbClr val="2E4568"/>
            </a:solidFill>
            <a:prstDash val="solid"/>
          </a:ln>
        </p:spPr>
      </p:sp>
      <p:sp>
        <p:nvSpPr>
          <p:cNvPr id="16" name="Text 14"/>
          <p:cNvSpPr/>
          <p:nvPr/>
        </p:nvSpPr>
        <p:spPr>
          <a:xfrm>
            <a:off x="749808" y="3639312"/>
            <a:ext cx="877824" cy="438912"/>
          </a:xfrm>
          <a:prstGeom prst="rect">
            <a:avLst/>
          </a:prstGeom>
          <a:noFill/>
          <a:ln/>
        </p:spPr>
        <p:txBody>
          <a:bodyPr wrap="square" rtlCol="0" anchor="ctr"/>
          <a:lstStyle/>
          <a:p>
            <a:pPr indent="0" marL="0">
              <a:buNone/>
            </a:pPr>
            <a:r>
              <a:rPr lang="en-US" sz="1350" dirty="0">
                <a:solidFill>
                  <a:srgbClr val="FFFFFF"/>
                </a:solidFill>
                <a:latin typeface="JetBrains Mono" pitchFamily="34" charset="0"/>
                <a:ea typeface="JetBrains Mono" pitchFamily="34" charset="-122"/>
                <a:cs typeface="JetBrains Mono" pitchFamily="34" charset="-120"/>
              </a:rPr>
              <a:t>1</a:t>
            </a:r>
            <a:endParaRPr lang="en-US" sz="1350" dirty="0"/>
          </a:p>
        </p:txBody>
      </p:sp>
      <p:sp>
        <p:nvSpPr>
          <p:cNvPr id="17" name="Shape 15"/>
          <p:cNvSpPr/>
          <p:nvPr/>
        </p:nvSpPr>
        <p:spPr>
          <a:xfrm>
            <a:off x="1737360" y="3639312"/>
            <a:ext cx="2926080" cy="438912"/>
          </a:xfrm>
          <a:prstGeom prst="rect">
            <a:avLst/>
          </a:prstGeom>
          <a:solidFill>
            <a:srgbClr val="1E3050"/>
          </a:solidFill>
          <a:ln w="12700">
            <a:solidFill>
              <a:srgbClr val="2E4568"/>
            </a:solidFill>
            <a:prstDash val="solid"/>
          </a:ln>
        </p:spPr>
      </p:sp>
      <p:sp>
        <p:nvSpPr>
          <p:cNvPr id="18" name="Text 16"/>
          <p:cNvSpPr/>
          <p:nvPr/>
        </p:nvSpPr>
        <p:spPr>
          <a:xfrm>
            <a:off x="1847088" y="3639312"/>
            <a:ext cx="2706624" cy="438912"/>
          </a:xfrm>
          <a:prstGeom prst="rect">
            <a:avLst/>
          </a:prstGeom>
          <a:noFill/>
          <a:ln/>
        </p:spPr>
        <p:txBody>
          <a:bodyPr wrap="square" rtlCol="0" anchor="ctr"/>
          <a:lstStyle/>
          <a:p>
            <a:pPr indent="0" marL="0">
              <a:buNone/>
            </a:pPr>
            <a:r>
              <a:rPr lang="en-US" sz="1350" dirty="0">
                <a:solidFill>
                  <a:srgbClr val="FFFFFF"/>
                </a:solidFill>
                <a:latin typeface="JetBrains Mono" pitchFamily="34" charset="0"/>
                <a:ea typeface="JetBrains Mono" pitchFamily="34" charset="-122"/>
                <a:cs typeface="JetBrains Mono" pitchFamily="34" charset="-120"/>
              </a:rPr>
              <a:t>Ana Kola</a:t>
            </a:r>
            <a:endParaRPr lang="en-US" sz="1350" dirty="0"/>
          </a:p>
        </p:txBody>
      </p:sp>
      <p:sp>
        <p:nvSpPr>
          <p:cNvPr id="19" name="Shape 17"/>
          <p:cNvSpPr/>
          <p:nvPr/>
        </p:nvSpPr>
        <p:spPr>
          <a:xfrm>
            <a:off x="4663440" y="3639312"/>
            <a:ext cx="1463040" cy="438912"/>
          </a:xfrm>
          <a:prstGeom prst="rect">
            <a:avLst/>
          </a:prstGeom>
          <a:solidFill>
            <a:srgbClr val="1E3050"/>
          </a:solidFill>
          <a:ln w="12700">
            <a:solidFill>
              <a:srgbClr val="2E4568"/>
            </a:solidFill>
            <a:prstDash val="solid"/>
          </a:ln>
        </p:spPr>
      </p:sp>
      <p:sp>
        <p:nvSpPr>
          <p:cNvPr id="20" name="Text 18"/>
          <p:cNvSpPr/>
          <p:nvPr/>
        </p:nvSpPr>
        <p:spPr>
          <a:xfrm>
            <a:off x="4773168" y="3639312"/>
            <a:ext cx="1243584" cy="438912"/>
          </a:xfrm>
          <a:prstGeom prst="rect">
            <a:avLst/>
          </a:prstGeom>
          <a:noFill/>
          <a:ln/>
        </p:spPr>
        <p:txBody>
          <a:bodyPr wrap="square" rtlCol="0" anchor="ctr"/>
          <a:lstStyle/>
          <a:p>
            <a:pPr indent="0" marL="0">
              <a:buNone/>
            </a:pPr>
            <a:r>
              <a:rPr lang="en-US" sz="1350" dirty="0">
                <a:solidFill>
                  <a:srgbClr val="FFFFFF"/>
                </a:solidFill>
                <a:latin typeface="JetBrains Mono" pitchFamily="34" charset="0"/>
                <a:ea typeface="JetBrains Mono" pitchFamily="34" charset="-122"/>
                <a:cs typeface="JetBrains Mono" pitchFamily="34" charset="-120"/>
              </a:rPr>
              <a:t>20</a:t>
            </a:r>
            <a:endParaRPr lang="en-US" sz="1350" dirty="0"/>
          </a:p>
        </p:txBody>
      </p:sp>
      <p:sp>
        <p:nvSpPr>
          <p:cNvPr id="21" name="Shape 19"/>
          <p:cNvSpPr/>
          <p:nvPr/>
        </p:nvSpPr>
        <p:spPr>
          <a:xfrm>
            <a:off x="640080" y="4078224"/>
            <a:ext cx="1097280" cy="438912"/>
          </a:xfrm>
          <a:prstGeom prst="rect">
            <a:avLst/>
          </a:prstGeom>
          <a:solidFill>
            <a:srgbClr val="1E3050"/>
          </a:solidFill>
          <a:ln w="12700">
            <a:solidFill>
              <a:srgbClr val="2E4568"/>
            </a:solidFill>
            <a:prstDash val="solid"/>
          </a:ln>
        </p:spPr>
      </p:sp>
      <p:sp>
        <p:nvSpPr>
          <p:cNvPr id="22" name="Text 20"/>
          <p:cNvSpPr/>
          <p:nvPr/>
        </p:nvSpPr>
        <p:spPr>
          <a:xfrm>
            <a:off x="749808" y="4078224"/>
            <a:ext cx="877824" cy="438912"/>
          </a:xfrm>
          <a:prstGeom prst="rect">
            <a:avLst/>
          </a:prstGeom>
          <a:noFill/>
          <a:ln/>
        </p:spPr>
        <p:txBody>
          <a:bodyPr wrap="square" rtlCol="0" anchor="ctr"/>
          <a:lstStyle/>
          <a:p>
            <a:pPr indent="0" marL="0">
              <a:buNone/>
            </a:pPr>
            <a:r>
              <a:rPr lang="en-US" sz="1350" dirty="0">
                <a:solidFill>
                  <a:srgbClr val="FFFFFF"/>
                </a:solidFill>
                <a:latin typeface="JetBrains Mono" pitchFamily="34" charset="0"/>
                <a:ea typeface="JetBrains Mono" pitchFamily="34" charset="-122"/>
                <a:cs typeface="JetBrains Mono" pitchFamily="34" charset="-120"/>
              </a:rPr>
              <a:t>2</a:t>
            </a:r>
            <a:endParaRPr lang="en-US" sz="1350" dirty="0"/>
          </a:p>
        </p:txBody>
      </p:sp>
      <p:sp>
        <p:nvSpPr>
          <p:cNvPr id="23" name="Shape 21"/>
          <p:cNvSpPr/>
          <p:nvPr/>
        </p:nvSpPr>
        <p:spPr>
          <a:xfrm>
            <a:off x="1737360" y="4078224"/>
            <a:ext cx="2926080" cy="438912"/>
          </a:xfrm>
          <a:prstGeom prst="rect">
            <a:avLst/>
          </a:prstGeom>
          <a:solidFill>
            <a:srgbClr val="1E3050"/>
          </a:solidFill>
          <a:ln w="12700">
            <a:solidFill>
              <a:srgbClr val="2E4568"/>
            </a:solidFill>
            <a:prstDash val="solid"/>
          </a:ln>
        </p:spPr>
      </p:sp>
      <p:sp>
        <p:nvSpPr>
          <p:cNvPr id="24" name="Text 22"/>
          <p:cNvSpPr/>
          <p:nvPr/>
        </p:nvSpPr>
        <p:spPr>
          <a:xfrm>
            <a:off x="1847088" y="4078224"/>
            <a:ext cx="2706624" cy="438912"/>
          </a:xfrm>
          <a:prstGeom prst="rect">
            <a:avLst/>
          </a:prstGeom>
          <a:noFill/>
          <a:ln/>
        </p:spPr>
        <p:txBody>
          <a:bodyPr wrap="square" rtlCol="0" anchor="ctr"/>
          <a:lstStyle/>
          <a:p>
            <a:pPr indent="0" marL="0">
              <a:buNone/>
            </a:pPr>
            <a:r>
              <a:rPr lang="en-US" sz="1350" dirty="0">
                <a:solidFill>
                  <a:srgbClr val="FFFFFF"/>
                </a:solidFill>
                <a:latin typeface="JetBrains Mono" pitchFamily="34" charset="0"/>
                <a:ea typeface="JetBrains Mono" pitchFamily="34" charset="-122"/>
                <a:cs typeface="JetBrains Mono" pitchFamily="34" charset="-120"/>
              </a:rPr>
              <a:t>Beni Doda</a:t>
            </a:r>
            <a:endParaRPr lang="en-US" sz="1350" dirty="0"/>
          </a:p>
        </p:txBody>
      </p:sp>
      <p:sp>
        <p:nvSpPr>
          <p:cNvPr id="25" name="Shape 23"/>
          <p:cNvSpPr/>
          <p:nvPr/>
        </p:nvSpPr>
        <p:spPr>
          <a:xfrm>
            <a:off x="4663440" y="4078224"/>
            <a:ext cx="1463040" cy="438912"/>
          </a:xfrm>
          <a:prstGeom prst="rect">
            <a:avLst/>
          </a:prstGeom>
          <a:solidFill>
            <a:srgbClr val="1E3050"/>
          </a:solidFill>
          <a:ln w="12700">
            <a:solidFill>
              <a:srgbClr val="2E4568"/>
            </a:solidFill>
            <a:prstDash val="solid"/>
          </a:ln>
        </p:spPr>
      </p:sp>
      <p:sp>
        <p:nvSpPr>
          <p:cNvPr id="26" name="Text 24"/>
          <p:cNvSpPr/>
          <p:nvPr/>
        </p:nvSpPr>
        <p:spPr>
          <a:xfrm>
            <a:off x="4773168" y="4078224"/>
            <a:ext cx="1243584" cy="438912"/>
          </a:xfrm>
          <a:prstGeom prst="rect">
            <a:avLst/>
          </a:prstGeom>
          <a:noFill/>
          <a:ln/>
        </p:spPr>
        <p:txBody>
          <a:bodyPr wrap="square" rtlCol="0" anchor="ctr"/>
          <a:lstStyle/>
          <a:p>
            <a:pPr indent="0" marL="0">
              <a:buNone/>
            </a:pPr>
            <a:r>
              <a:rPr lang="en-US" sz="1350" dirty="0">
                <a:solidFill>
                  <a:srgbClr val="FFFFFF"/>
                </a:solidFill>
                <a:latin typeface="JetBrains Mono" pitchFamily="34" charset="0"/>
                <a:ea typeface="JetBrains Mono" pitchFamily="34" charset="-122"/>
                <a:cs typeface="JetBrains Mono" pitchFamily="34" charset="-120"/>
              </a:rPr>
              <a:t>22</a:t>
            </a:r>
            <a:endParaRPr lang="en-US" sz="1350" dirty="0"/>
          </a:p>
        </p:txBody>
      </p:sp>
      <p:sp>
        <p:nvSpPr>
          <p:cNvPr id="27" name="Text 25"/>
          <p:cNvSpPr/>
          <p:nvPr/>
        </p:nvSpPr>
        <p:spPr>
          <a:xfrm>
            <a:off x="640080" y="4562856"/>
            <a:ext cx="3657600" cy="320040"/>
          </a:xfrm>
          <a:prstGeom prst="rect">
            <a:avLst/>
          </a:prstGeom>
          <a:noFill/>
          <a:ln/>
        </p:spPr>
        <p:txBody>
          <a:bodyPr wrap="square" rtlCol="0" anchor="ctr"/>
          <a:lstStyle/>
          <a:p>
            <a:pPr indent="0" marL="0">
              <a:buNone/>
            </a:pPr>
            <a:r>
              <a:rPr lang="en-US" sz="1200" i="1" dirty="0">
                <a:solidFill>
                  <a:srgbClr val="6A7889"/>
                </a:solidFill>
                <a:latin typeface="JetBrains Mono" pitchFamily="34" charset="0"/>
                <a:ea typeface="JetBrains Mono" pitchFamily="34" charset="-122"/>
                <a:cs typeface="JetBrains Mono" pitchFamily="34" charset="-120"/>
              </a:rPr>
              <a:t>(2 rreshta)</a:t>
            </a:r>
            <a:endParaRPr lang="en-US" sz="1200" dirty="0"/>
          </a:p>
        </p:txBody>
      </p:sp>
      <p:sp>
        <p:nvSpPr>
          <p:cNvPr id="28" name="Shape 26"/>
          <p:cNvSpPr/>
          <p:nvPr/>
        </p:nvSpPr>
        <p:spPr>
          <a:xfrm>
            <a:off x="7040880" y="2057400"/>
            <a:ext cx="4434840" cy="3108960"/>
          </a:xfrm>
          <a:prstGeom prst="roundRect">
            <a:avLst>
              <a:gd name="adj" fmla="val 2941"/>
            </a:avLst>
          </a:prstGeom>
          <a:solidFill>
            <a:srgbClr val="1E3050"/>
          </a:solidFill>
          <a:ln w="19050">
            <a:solidFill>
              <a:srgbClr val="3FB57A"/>
            </a:solidFill>
            <a:prstDash val="solid"/>
          </a:ln>
        </p:spPr>
      </p:sp>
      <p:pic>
        <p:nvPicPr>
          <p:cNvPr id="29" name="Image 0" descr="preencoded.png">    </p:cNvPr>
          <p:cNvPicPr>
            <a:picLocks noChangeAspect="1"/>
          </p:cNvPicPr>
          <p:nvPr/>
        </p:nvPicPr>
        <p:blipFill>
          <a:blip r:embed="rId1"/>
          <a:stretch>
            <a:fillRect/>
          </a:stretch>
        </p:blipFill>
        <p:spPr>
          <a:xfrm>
            <a:off x="8915400" y="2331720"/>
            <a:ext cx="777240" cy="777240"/>
          </a:xfrm>
          <a:prstGeom prst="rect">
            <a:avLst/>
          </a:prstGeom>
        </p:spPr>
      </p:pic>
      <p:sp>
        <p:nvSpPr>
          <p:cNvPr id="30" name="Text 27"/>
          <p:cNvSpPr/>
          <p:nvPr/>
        </p:nvSpPr>
        <p:spPr>
          <a:xfrm>
            <a:off x="7269480" y="3246120"/>
            <a:ext cx="3977640" cy="640080"/>
          </a:xfrm>
          <a:prstGeom prst="rect">
            <a:avLst/>
          </a:prstGeom>
          <a:noFill/>
          <a:ln/>
        </p:spPr>
        <p:txBody>
          <a:bodyPr wrap="square" rtlCol="0" anchor="ctr"/>
          <a:lstStyle/>
          <a:p>
            <a:pPr algn="ctr" indent="0" marL="0">
              <a:buNone/>
            </a:pPr>
            <a:r>
              <a:rPr lang="en-US" sz="1700" b="1" dirty="0">
                <a:solidFill>
                  <a:srgbClr val="FFFFFF"/>
                </a:solidFill>
                <a:latin typeface="Work Sans" pitchFamily="34" charset="0"/>
                <a:ea typeface="Work Sans" pitchFamily="34" charset="-122"/>
                <a:cs typeface="Work Sans" pitchFamily="34" charset="-120"/>
              </a:rPr>
              <a:t>Të dyja rreshtat janë në databazë!</a:t>
            </a:r>
            <a:endParaRPr lang="en-US" sz="1700" dirty="0"/>
          </a:p>
        </p:txBody>
      </p:sp>
      <p:sp>
        <p:nvSpPr>
          <p:cNvPr id="31" name="Text 28"/>
          <p:cNvSpPr/>
          <p:nvPr/>
        </p:nvSpPr>
        <p:spPr>
          <a:xfrm>
            <a:off x="7269480" y="3977640"/>
            <a:ext cx="3977640" cy="1097280"/>
          </a:xfrm>
          <a:prstGeom prst="rect">
            <a:avLst/>
          </a:prstGeom>
          <a:noFill/>
          <a:ln/>
        </p:spPr>
        <p:txBody>
          <a:bodyPr wrap="square" rtlCol="0" anchor="t"/>
          <a:lstStyle/>
          <a:p>
            <a:pPr algn="ctr" indent="0" marL="0">
              <a:buNone/>
            </a:pPr>
            <a:r>
              <a:rPr lang="en-US" sz="1300" dirty="0">
                <a:solidFill>
                  <a:srgbClr val="DBE2EA"/>
                </a:solidFill>
                <a:latin typeface="Work Sans" pitchFamily="34" charset="0"/>
                <a:ea typeface="Work Sans" pitchFamily="34" charset="-122"/>
                <a:cs typeface="Work Sans" pitchFamily="34" charset="-120"/>
              </a:rPr>
              <a:t>Ana Kola u shtua nga TestInsert.</a:t>
            </a:r>
            <a:endParaRPr lang="en-US" sz="1300" dirty="0"/>
          </a:p>
          <a:p>
            <a:pPr algn="ctr" indent="0" marL="0">
              <a:buNone/>
            </a:pPr>
            <a:r>
              <a:rPr lang="en-US" sz="1300" dirty="0">
                <a:solidFill>
                  <a:srgbClr val="DBE2EA"/>
                </a:solidFill>
                <a:latin typeface="Work Sans" pitchFamily="34" charset="0"/>
                <a:ea typeface="Work Sans" pitchFamily="34" charset="-122"/>
                <a:cs typeface="Work Sans" pitchFamily="34" charset="-120"/>
              </a:rPr>
              <a:t>Beni Doda u shtua nga TestModern.</a:t>
            </a:r>
            <a:endParaRPr lang="en-US" sz="1300" dirty="0"/>
          </a:p>
          <a:p>
            <a:pPr algn="ctr" indent="0" marL="0">
              <a:buNone/>
            </a:pPr>
            <a:r>
              <a:rPr lang="en-US" sz="1300" dirty="0">
                <a:solidFill>
                  <a:srgbClr val="DBE2EA"/>
                </a:solidFill>
                <a:latin typeface="Work Sans" pitchFamily="34" charset="0"/>
                <a:ea typeface="Work Sans" pitchFamily="34" charset="-122"/>
                <a:cs typeface="Work Sans" pitchFamily="34" charset="-120"/>
              </a:rPr>
              <a:t>Java → PostgreSQL funksionon plotësisht.</a:t>
            </a:r>
            <a:endParaRPr lang="en-US" sz="1300" dirty="0"/>
          </a:p>
        </p:txBody>
      </p:sp>
      <p:sp>
        <p:nvSpPr>
          <p:cNvPr id="32" name="Shape 29"/>
          <p:cNvSpPr/>
          <p:nvPr/>
        </p:nvSpPr>
        <p:spPr>
          <a:xfrm>
            <a:off x="640080" y="5852160"/>
            <a:ext cx="4731106" cy="310896"/>
          </a:xfrm>
          <a:prstGeom prst="roundRect">
            <a:avLst>
              <a:gd name="adj" fmla="val 50000"/>
            </a:avLst>
          </a:prstGeom>
          <a:solidFill>
            <a:srgbClr val="3FB57A"/>
          </a:solidFill>
          <a:ln/>
        </p:spPr>
      </p:sp>
      <p:pic>
        <p:nvPicPr>
          <p:cNvPr id="33" name="Image 1" descr="preencoded.png">    </p:cNvPr>
          <p:cNvPicPr>
            <a:picLocks noChangeAspect="1"/>
          </p:cNvPicPr>
          <p:nvPr/>
        </p:nvPicPr>
        <p:blipFill>
          <a:blip r:embed="rId2"/>
          <a:stretch>
            <a:fillRect/>
          </a:stretch>
        </p:blipFill>
        <p:spPr>
          <a:xfrm>
            <a:off x="786384" y="5929884"/>
            <a:ext cx="155448" cy="155448"/>
          </a:xfrm>
          <a:prstGeom prst="rect">
            <a:avLst/>
          </a:prstGeom>
        </p:spPr>
      </p:pic>
      <p:sp>
        <p:nvSpPr>
          <p:cNvPr id="34" name="Text 30"/>
          <p:cNvSpPr/>
          <p:nvPr/>
        </p:nvSpPr>
        <p:spPr>
          <a:xfrm>
            <a:off x="950976" y="5852160"/>
            <a:ext cx="4347058" cy="310896"/>
          </a:xfrm>
          <a:prstGeom prst="rect">
            <a:avLst/>
          </a:prstGeom>
          <a:noFill/>
          <a:ln/>
        </p:spPr>
        <p:txBody>
          <a:bodyPr wrap="square" rtlCol="0" anchor="ctr"/>
          <a:lstStyle/>
          <a:p>
            <a:pPr algn="l" indent="0" marL="0">
              <a:buNone/>
            </a:pPr>
            <a:r>
              <a:rPr lang="en-US" sz="1050" b="1" dirty="0">
                <a:solidFill>
                  <a:srgbClr val="FFFFFF"/>
                </a:solidFill>
                <a:latin typeface="Work Sans" pitchFamily="34" charset="0"/>
                <a:ea typeface="Work Sans" pitchFamily="34" charset="-122"/>
                <a:cs typeface="Work Sans" pitchFamily="34" charset="-120"/>
              </a:rPr>
              <a:t>I gjithë zinxhiri i ekzekutuar realisht mbi PostgreSQL 16</a:t>
            </a:r>
            <a:endParaRPr lang="en-US" sz="1050" dirty="0"/>
          </a:p>
        </p:txBody>
      </p:sp>
      <p:sp>
        <p:nvSpPr>
          <p:cNvPr id="35" name="Text 31"/>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PËRMBLEDHJE</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Çfarë mësuam sot</a:t>
            </a:r>
            <a:endParaRPr lang="en-US" sz="2600" dirty="0"/>
          </a:p>
        </p:txBody>
      </p:sp>
      <p:sp>
        <p:nvSpPr>
          <p:cNvPr id="6" name="Shape 4"/>
          <p:cNvSpPr/>
          <p:nvPr/>
        </p:nvSpPr>
        <p:spPr>
          <a:xfrm>
            <a:off x="640080" y="1463040"/>
            <a:ext cx="5257800" cy="2148840"/>
          </a:xfrm>
          <a:prstGeom prst="roundRect">
            <a:avLst>
              <a:gd name="adj" fmla="val 4255"/>
            </a:avLst>
          </a:prstGeom>
          <a:solidFill>
            <a:srgbClr val="F2F5F9"/>
          </a:solidFill>
          <a:ln w="12700">
            <a:solidFill>
              <a:srgbClr val="DBE2EA"/>
            </a:solidFill>
            <a:prstDash val="solid"/>
          </a:ln>
        </p:spPr>
      </p:sp>
      <p:sp>
        <p:nvSpPr>
          <p:cNvPr id="7" name="Shape 5"/>
          <p:cNvSpPr/>
          <p:nvPr/>
        </p:nvSpPr>
        <p:spPr>
          <a:xfrm>
            <a:off x="640080" y="1463040"/>
            <a:ext cx="91440" cy="2148840"/>
          </a:xfrm>
          <a:prstGeom prst="rect">
            <a:avLst/>
          </a:prstGeom>
          <a:solidFill>
            <a:srgbClr val="E8730C"/>
          </a:solidFill>
          <a:ln/>
        </p:spPr>
      </p:sp>
      <p:pic>
        <p:nvPicPr>
          <p:cNvPr id="8" name="Image 0" descr="preencoded.png">    </p:cNvPr>
          <p:cNvPicPr>
            <a:picLocks noChangeAspect="1"/>
          </p:cNvPicPr>
          <p:nvPr/>
        </p:nvPicPr>
        <p:blipFill>
          <a:blip r:embed="rId1"/>
          <a:stretch>
            <a:fillRect/>
          </a:stretch>
        </p:blipFill>
        <p:spPr>
          <a:xfrm>
            <a:off x="960120" y="1783080"/>
            <a:ext cx="685800" cy="685800"/>
          </a:xfrm>
          <a:prstGeom prst="rect">
            <a:avLst/>
          </a:prstGeom>
        </p:spPr>
      </p:pic>
      <p:sp>
        <p:nvSpPr>
          <p:cNvPr id="9" name="Text 6"/>
          <p:cNvSpPr/>
          <p:nvPr/>
        </p:nvSpPr>
        <p:spPr>
          <a:xfrm>
            <a:off x="1828800" y="1847088"/>
            <a:ext cx="3931920" cy="548640"/>
          </a:xfrm>
          <a:prstGeom prst="rect">
            <a:avLst/>
          </a:prstGeom>
          <a:noFill/>
          <a:ln/>
        </p:spPr>
        <p:txBody>
          <a:bodyPr wrap="square" rtlCol="0" anchor="ctr"/>
          <a:lstStyle/>
          <a:p>
            <a:pPr indent="0" marL="0">
              <a:buNone/>
            </a:pPr>
            <a:r>
              <a:rPr lang="en-US" sz="1900" b="1" dirty="0">
                <a:solidFill>
                  <a:srgbClr val="142033"/>
                </a:solidFill>
                <a:latin typeface="Work Sans" pitchFamily="34" charset="0"/>
                <a:ea typeface="Work Sans" pitchFamily="34" charset="-122"/>
                <a:cs typeface="Work Sans" pitchFamily="34" charset="-120"/>
              </a:rPr>
              <a:t>Instalimi</a:t>
            </a:r>
            <a:endParaRPr lang="en-US" sz="1900" dirty="0"/>
          </a:p>
        </p:txBody>
      </p:sp>
      <p:sp>
        <p:nvSpPr>
          <p:cNvPr id="10" name="Text 7"/>
          <p:cNvSpPr/>
          <p:nvPr/>
        </p:nvSpPr>
        <p:spPr>
          <a:xfrm>
            <a:off x="960120" y="2606040"/>
            <a:ext cx="4754880" cy="86868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PostgreSQL në Windows me instaluesin EDB — porta 5432, përdoruesi 'postgres'.</a:t>
            </a:r>
            <a:endParaRPr lang="en-US" sz="1350" dirty="0"/>
          </a:p>
        </p:txBody>
      </p:sp>
      <p:sp>
        <p:nvSpPr>
          <p:cNvPr id="11" name="Shape 8"/>
          <p:cNvSpPr/>
          <p:nvPr/>
        </p:nvSpPr>
        <p:spPr>
          <a:xfrm>
            <a:off x="6126480" y="1463040"/>
            <a:ext cx="5257800" cy="2148840"/>
          </a:xfrm>
          <a:prstGeom prst="roundRect">
            <a:avLst>
              <a:gd name="adj" fmla="val 4255"/>
            </a:avLst>
          </a:prstGeom>
          <a:solidFill>
            <a:srgbClr val="F2F5F9"/>
          </a:solidFill>
          <a:ln w="12700">
            <a:solidFill>
              <a:srgbClr val="DBE2EA"/>
            </a:solidFill>
            <a:prstDash val="solid"/>
          </a:ln>
        </p:spPr>
      </p:sp>
      <p:sp>
        <p:nvSpPr>
          <p:cNvPr id="12" name="Shape 9"/>
          <p:cNvSpPr/>
          <p:nvPr/>
        </p:nvSpPr>
        <p:spPr>
          <a:xfrm>
            <a:off x="6126480" y="1463040"/>
            <a:ext cx="91440" cy="2148840"/>
          </a:xfrm>
          <a:prstGeom prst="rect">
            <a:avLst/>
          </a:prstGeom>
          <a:solidFill>
            <a:srgbClr val="E8730C"/>
          </a:solidFill>
          <a:ln/>
        </p:spPr>
      </p:sp>
      <p:pic>
        <p:nvPicPr>
          <p:cNvPr id="13" name="Image 1" descr="preencoded.png">    </p:cNvPr>
          <p:cNvPicPr>
            <a:picLocks noChangeAspect="1"/>
          </p:cNvPicPr>
          <p:nvPr/>
        </p:nvPicPr>
        <p:blipFill>
          <a:blip r:embed="rId2"/>
          <a:stretch>
            <a:fillRect/>
          </a:stretch>
        </p:blipFill>
        <p:spPr>
          <a:xfrm>
            <a:off x="6446520" y="1783080"/>
            <a:ext cx="685800" cy="685800"/>
          </a:xfrm>
          <a:prstGeom prst="rect">
            <a:avLst/>
          </a:prstGeom>
        </p:spPr>
      </p:pic>
      <p:sp>
        <p:nvSpPr>
          <p:cNvPr id="14" name="Text 10"/>
          <p:cNvSpPr/>
          <p:nvPr/>
        </p:nvSpPr>
        <p:spPr>
          <a:xfrm>
            <a:off x="7315200" y="1847088"/>
            <a:ext cx="3931920" cy="548640"/>
          </a:xfrm>
          <a:prstGeom prst="rect">
            <a:avLst/>
          </a:prstGeom>
          <a:noFill/>
          <a:ln/>
        </p:spPr>
        <p:txBody>
          <a:bodyPr wrap="square" rtlCol="0" anchor="ctr"/>
          <a:lstStyle/>
          <a:p>
            <a:pPr indent="0" marL="0">
              <a:buNone/>
            </a:pPr>
            <a:r>
              <a:rPr lang="en-US" sz="1900" b="1" dirty="0">
                <a:solidFill>
                  <a:srgbClr val="142033"/>
                </a:solidFill>
                <a:latin typeface="Work Sans" pitchFamily="34" charset="0"/>
                <a:ea typeface="Work Sans" pitchFamily="34" charset="-122"/>
                <a:cs typeface="Work Sans" pitchFamily="34" charset="-120"/>
              </a:rPr>
              <a:t>pgAdmin</a:t>
            </a:r>
            <a:endParaRPr lang="en-US" sz="1900" dirty="0"/>
          </a:p>
        </p:txBody>
      </p:sp>
      <p:sp>
        <p:nvSpPr>
          <p:cNvPr id="15" name="Text 11"/>
          <p:cNvSpPr/>
          <p:nvPr/>
        </p:nvSpPr>
        <p:spPr>
          <a:xfrm>
            <a:off x="6446520" y="2606040"/>
            <a:ext cx="4754880" cy="86868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Krijuam databazën 'shkolla' dhe tabelën 'studentet' me SQL.</a:t>
            </a:r>
            <a:endParaRPr lang="en-US" sz="1350" dirty="0"/>
          </a:p>
        </p:txBody>
      </p:sp>
      <p:sp>
        <p:nvSpPr>
          <p:cNvPr id="16" name="Shape 12"/>
          <p:cNvSpPr/>
          <p:nvPr/>
        </p:nvSpPr>
        <p:spPr>
          <a:xfrm>
            <a:off x="640080" y="3794760"/>
            <a:ext cx="5257800" cy="2148840"/>
          </a:xfrm>
          <a:prstGeom prst="roundRect">
            <a:avLst>
              <a:gd name="adj" fmla="val 4255"/>
            </a:avLst>
          </a:prstGeom>
          <a:solidFill>
            <a:srgbClr val="F2F5F9"/>
          </a:solidFill>
          <a:ln w="12700">
            <a:solidFill>
              <a:srgbClr val="DBE2EA"/>
            </a:solidFill>
            <a:prstDash val="solid"/>
          </a:ln>
        </p:spPr>
      </p:sp>
      <p:sp>
        <p:nvSpPr>
          <p:cNvPr id="17" name="Shape 13"/>
          <p:cNvSpPr/>
          <p:nvPr/>
        </p:nvSpPr>
        <p:spPr>
          <a:xfrm>
            <a:off x="640080" y="3794760"/>
            <a:ext cx="91440" cy="2148840"/>
          </a:xfrm>
          <a:prstGeom prst="rect">
            <a:avLst/>
          </a:prstGeom>
          <a:solidFill>
            <a:srgbClr val="E8730C"/>
          </a:solidFill>
          <a:ln/>
        </p:spPr>
      </p:sp>
      <p:pic>
        <p:nvPicPr>
          <p:cNvPr id="18" name="Image 2" descr="preencoded.png">    </p:cNvPr>
          <p:cNvPicPr>
            <a:picLocks noChangeAspect="1"/>
          </p:cNvPicPr>
          <p:nvPr/>
        </p:nvPicPr>
        <p:blipFill>
          <a:blip r:embed="rId3"/>
          <a:stretch>
            <a:fillRect/>
          </a:stretch>
        </p:blipFill>
        <p:spPr>
          <a:xfrm>
            <a:off x="960120" y="4114800"/>
            <a:ext cx="685800" cy="685800"/>
          </a:xfrm>
          <a:prstGeom prst="rect">
            <a:avLst/>
          </a:prstGeom>
        </p:spPr>
      </p:pic>
      <p:sp>
        <p:nvSpPr>
          <p:cNvPr id="19" name="Text 14"/>
          <p:cNvSpPr/>
          <p:nvPr/>
        </p:nvSpPr>
        <p:spPr>
          <a:xfrm>
            <a:off x="1828800" y="4178808"/>
            <a:ext cx="3931920" cy="548640"/>
          </a:xfrm>
          <a:prstGeom prst="rect">
            <a:avLst/>
          </a:prstGeom>
          <a:noFill/>
          <a:ln/>
        </p:spPr>
        <p:txBody>
          <a:bodyPr wrap="square" rtlCol="0" anchor="ctr"/>
          <a:lstStyle/>
          <a:p>
            <a:pPr indent="0" marL="0">
              <a:buNone/>
            </a:pPr>
            <a:r>
              <a:rPr lang="en-US" sz="1900" b="1" dirty="0">
                <a:solidFill>
                  <a:srgbClr val="142033"/>
                </a:solidFill>
                <a:latin typeface="Work Sans" pitchFamily="34" charset="0"/>
                <a:ea typeface="Work Sans" pitchFamily="34" charset="-122"/>
                <a:cs typeface="Work Sans" pitchFamily="34" charset="-120"/>
              </a:rPr>
              <a:t>Lidhja JDBC</a:t>
            </a:r>
            <a:endParaRPr lang="en-US" sz="1900" dirty="0"/>
          </a:p>
        </p:txBody>
      </p:sp>
      <p:sp>
        <p:nvSpPr>
          <p:cNvPr id="20" name="Text 15"/>
          <p:cNvSpPr/>
          <p:nvPr/>
        </p:nvSpPr>
        <p:spPr>
          <a:xfrm>
            <a:off x="960120" y="4937760"/>
            <a:ext cx="4754880" cy="86868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DriverManager.getConnection me URL jdbc:postgresql://localhost:5432/shkolla.</a:t>
            </a:r>
            <a:endParaRPr lang="en-US" sz="1350" dirty="0"/>
          </a:p>
        </p:txBody>
      </p:sp>
      <p:sp>
        <p:nvSpPr>
          <p:cNvPr id="21" name="Shape 16"/>
          <p:cNvSpPr/>
          <p:nvPr/>
        </p:nvSpPr>
        <p:spPr>
          <a:xfrm>
            <a:off x="6126480" y="3794760"/>
            <a:ext cx="5257800" cy="2148840"/>
          </a:xfrm>
          <a:prstGeom prst="roundRect">
            <a:avLst>
              <a:gd name="adj" fmla="val 4255"/>
            </a:avLst>
          </a:prstGeom>
          <a:solidFill>
            <a:srgbClr val="F2F5F9"/>
          </a:solidFill>
          <a:ln w="12700">
            <a:solidFill>
              <a:srgbClr val="DBE2EA"/>
            </a:solidFill>
            <a:prstDash val="solid"/>
          </a:ln>
        </p:spPr>
      </p:sp>
      <p:sp>
        <p:nvSpPr>
          <p:cNvPr id="22" name="Shape 17"/>
          <p:cNvSpPr/>
          <p:nvPr/>
        </p:nvSpPr>
        <p:spPr>
          <a:xfrm>
            <a:off x="6126480" y="3794760"/>
            <a:ext cx="91440" cy="2148840"/>
          </a:xfrm>
          <a:prstGeom prst="rect">
            <a:avLst/>
          </a:prstGeom>
          <a:solidFill>
            <a:srgbClr val="E8730C"/>
          </a:solidFill>
          <a:ln/>
        </p:spPr>
      </p:sp>
      <p:pic>
        <p:nvPicPr>
          <p:cNvPr id="23" name="Image 3" descr="preencoded.png">    </p:cNvPr>
          <p:cNvPicPr>
            <a:picLocks noChangeAspect="1"/>
          </p:cNvPicPr>
          <p:nvPr/>
        </p:nvPicPr>
        <p:blipFill>
          <a:blip r:embed="rId4"/>
          <a:stretch>
            <a:fillRect/>
          </a:stretch>
        </p:blipFill>
        <p:spPr>
          <a:xfrm>
            <a:off x="6446520" y="4114800"/>
            <a:ext cx="685800" cy="685800"/>
          </a:xfrm>
          <a:prstGeom prst="rect">
            <a:avLst/>
          </a:prstGeom>
        </p:spPr>
      </p:pic>
      <p:sp>
        <p:nvSpPr>
          <p:cNvPr id="24" name="Text 18"/>
          <p:cNvSpPr/>
          <p:nvPr/>
        </p:nvSpPr>
        <p:spPr>
          <a:xfrm>
            <a:off x="7315200" y="4178808"/>
            <a:ext cx="3931920" cy="548640"/>
          </a:xfrm>
          <a:prstGeom prst="rect">
            <a:avLst/>
          </a:prstGeom>
          <a:noFill/>
          <a:ln/>
        </p:spPr>
        <p:txBody>
          <a:bodyPr wrap="square" rtlCol="0" anchor="ctr"/>
          <a:lstStyle/>
          <a:p>
            <a:pPr indent="0" marL="0">
              <a:buNone/>
            </a:pPr>
            <a:r>
              <a:rPr lang="en-US" sz="1900" b="1" dirty="0">
                <a:solidFill>
                  <a:srgbClr val="142033"/>
                </a:solidFill>
                <a:latin typeface="Work Sans" pitchFamily="34" charset="0"/>
                <a:ea typeface="Work Sans" pitchFamily="34" charset="-122"/>
                <a:cs typeface="Work Sans" pitchFamily="34" charset="-120"/>
              </a:rPr>
              <a:t>Insertim</a:t>
            </a:r>
            <a:endParaRPr lang="en-US" sz="1900" dirty="0"/>
          </a:p>
        </p:txBody>
      </p:sp>
      <p:sp>
        <p:nvSpPr>
          <p:cNvPr id="25" name="Text 19"/>
          <p:cNvSpPr/>
          <p:nvPr/>
        </p:nvSpPr>
        <p:spPr>
          <a:xfrm>
            <a:off x="6446520" y="4937760"/>
            <a:ext cx="4754880" cy="86868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PreparedStatement me ?-at dhe executeUpdate() — edhe try-with-resources.</a:t>
            </a:r>
            <a:endParaRPr lang="en-US" sz="1350" dirty="0"/>
          </a:p>
        </p:txBody>
      </p:sp>
      <p:sp>
        <p:nvSpPr>
          <p:cNvPr id="26" name="Text 20"/>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Text 1"/>
          <p:cNvSpPr/>
          <p:nvPr/>
        </p:nvSpPr>
        <p:spPr>
          <a:xfrm>
            <a:off x="548640" y="320040"/>
            <a:ext cx="10972800" cy="274320"/>
          </a:xfrm>
          <a:prstGeom prst="rect">
            <a:avLst/>
          </a:prstGeom>
          <a:noFill/>
          <a:ln/>
        </p:spPr>
        <p:txBody>
          <a:bodyPr wrap="square" rtlCol="0" anchor="ctr"/>
          <a:lstStyle/>
          <a:p>
            <a:pPr indent="0" marL="0">
              <a:buNone/>
            </a:pPr>
            <a:r>
              <a:rPr lang="en-US" sz="1200" b="1" spc="200" kern="0" dirty="0">
                <a:solidFill>
                  <a:srgbClr val="F6A63B"/>
                </a:solidFill>
                <a:latin typeface="Poppins" pitchFamily="34" charset="0"/>
                <a:ea typeface="Poppins" pitchFamily="34" charset="-122"/>
                <a:cs typeface="Poppins" pitchFamily="34" charset="-120"/>
              </a:rPr>
              <a:t>KUIZ</a:t>
            </a:r>
            <a:endParaRPr lang="en-US" sz="1200" dirty="0"/>
          </a:p>
        </p:txBody>
      </p:sp>
      <p:sp>
        <p:nvSpPr>
          <p:cNvPr id="4" name="Text 2"/>
          <p:cNvSpPr/>
          <p:nvPr/>
        </p:nvSpPr>
        <p:spPr>
          <a:xfrm>
            <a:off x="548640" y="621792"/>
            <a:ext cx="11064240" cy="658368"/>
          </a:xfrm>
          <a:prstGeom prst="rect">
            <a:avLst/>
          </a:prstGeom>
          <a:noFill/>
          <a:ln/>
        </p:spPr>
        <p:txBody>
          <a:bodyPr wrap="square" rtlCol="0" anchor="ctr"/>
          <a:lstStyle/>
          <a:p>
            <a:pPr indent="0" marL="0">
              <a:buNone/>
            </a:pPr>
            <a:r>
              <a:rPr lang="en-US" sz="2800" b="1" dirty="0">
                <a:solidFill>
                  <a:srgbClr val="FFFFFF"/>
                </a:solidFill>
                <a:latin typeface="Poppins" pitchFamily="34" charset="0"/>
                <a:ea typeface="Poppins" pitchFamily="34" charset="-122"/>
                <a:cs typeface="Poppins" pitchFamily="34" charset="-120"/>
              </a:rPr>
              <a:t>Pyetje për të kontrolluar njohuritë</a:t>
            </a:r>
            <a:endParaRPr lang="en-US" sz="2800" dirty="0"/>
          </a:p>
        </p:txBody>
      </p:sp>
      <p:sp>
        <p:nvSpPr>
          <p:cNvPr id="5" name="Shape 3"/>
          <p:cNvSpPr/>
          <p:nvPr/>
        </p:nvSpPr>
        <p:spPr>
          <a:xfrm>
            <a:off x="640080" y="1691640"/>
            <a:ext cx="10881360" cy="1024128"/>
          </a:xfrm>
          <a:prstGeom prst="roundRect">
            <a:avLst>
              <a:gd name="adj" fmla="val 7143"/>
            </a:avLst>
          </a:prstGeom>
          <a:solidFill>
            <a:srgbClr val="1E3050"/>
          </a:solidFill>
          <a:ln w="12700">
            <a:solidFill>
              <a:srgbClr val="2E4568"/>
            </a:solidFill>
            <a:prstDash val="solid"/>
          </a:ln>
        </p:spPr>
      </p:sp>
      <p:sp>
        <p:nvSpPr>
          <p:cNvPr id="6" name="Shape 4"/>
          <p:cNvSpPr/>
          <p:nvPr/>
        </p:nvSpPr>
        <p:spPr>
          <a:xfrm>
            <a:off x="868680" y="1984248"/>
            <a:ext cx="457200" cy="457200"/>
          </a:xfrm>
          <a:prstGeom prst="ellipse">
            <a:avLst/>
          </a:prstGeom>
          <a:solidFill>
            <a:srgbClr val="E8730C"/>
          </a:solidFill>
          <a:ln/>
        </p:spPr>
      </p:sp>
      <p:sp>
        <p:nvSpPr>
          <p:cNvPr id="7" name="Text 5"/>
          <p:cNvSpPr/>
          <p:nvPr/>
        </p:nvSpPr>
        <p:spPr>
          <a:xfrm>
            <a:off x="868680" y="1984248"/>
            <a:ext cx="457200" cy="457200"/>
          </a:xfrm>
          <a:prstGeom prst="rect">
            <a:avLst/>
          </a:prstGeom>
          <a:noFill/>
          <a:ln/>
        </p:spPr>
        <p:txBody>
          <a:bodyPr wrap="square" rtlCol="0" anchor="ctr"/>
          <a:lstStyle/>
          <a:p>
            <a:pPr algn="ctr" indent="0" marL="0">
              <a:buNone/>
            </a:pPr>
            <a:r>
              <a:rPr lang="en-US" sz="1700" b="1" dirty="0">
                <a:solidFill>
                  <a:srgbClr val="FFFFFF"/>
                </a:solidFill>
                <a:latin typeface="Work Sans" pitchFamily="34" charset="0"/>
                <a:ea typeface="Work Sans" pitchFamily="34" charset="-122"/>
                <a:cs typeface="Work Sans" pitchFamily="34" charset="-120"/>
              </a:rPr>
              <a:t>1</a:t>
            </a:r>
            <a:endParaRPr lang="en-US" sz="1700" dirty="0"/>
          </a:p>
        </p:txBody>
      </p:sp>
      <p:sp>
        <p:nvSpPr>
          <p:cNvPr id="8" name="Text 6"/>
          <p:cNvSpPr/>
          <p:nvPr/>
        </p:nvSpPr>
        <p:spPr>
          <a:xfrm>
            <a:off x="1508760" y="1819656"/>
            <a:ext cx="9784080" cy="411480"/>
          </a:xfrm>
          <a:prstGeom prst="rect">
            <a:avLst/>
          </a:prstGeom>
          <a:noFill/>
          <a:ln/>
        </p:spPr>
        <p:txBody>
          <a:bodyPr wrap="square" rtlCol="0" anchor="ctr"/>
          <a:lstStyle/>
          <a:p>
            <a:pPr indent="0" marL="0">
              <a:buNone/>
            </a:pPr>
            <a:r>
              <a:rPr lang="en-US" sz="1550" b="1" dirty="0">
                <a:solidFill>
                  <a:srgbClr val="FFFFFF"/>
                </a:solidFill>
                <a:latin typeface="Work Sans" pitchFamily="34" charset="0"/>
                <a:ea typeface="Work Sans" pitchFamily="34" charset="-122"/>
                <a:cs typeface="Work Sans" pitchFamily="34" charset="-120"/>
              </a:rPr>
              <a:t>Cila është porta standarde e PostgreSQL?</a:t>
            </a:r>
            <a:endParaRPr lang="en-US" sz="1550" dirty="0"/>
          </a:p>
        </p:txBody>
      </p:sp>
      <p:sp>
        <p:nvSpPr>
          <p:cNvPr id="9" name="Text 7"/>
          <p:cNvSpPr/>
          <p:nvPr/>
        </p:nvSpPr>
        <p:spPr>
          <a:xfrm>
            <a:off x="1508760" y="2240280"/>
            <a:ext cx="9784080" cy="384048"/>
          </a:xfrm>
          <a:prstGeom prst="rect">
            <a:avLst/>
          </a:prstGeom>
          <a:noFill/>
          <a:ln/>
        </p:spPr>
        <p:txBody>
          <a:bodyPr wrap="square" rtlCol="0" anchor="ctr"/>
          <a:lstStyle/>
          <a:p>
            <a:pPr indent="0" marL="0">
              <a:buNone/>
            </a:pPr>
            <a:r>
              <a:rPr lang="en-US" sz="1300" dirty="0">
                <a:solidFill>
                  <a:srgbClr val="DBE2EA"/>
                </a:solidFill>
                <a:latin typeface="JetBrains Mono" pitchFamily="34" charset="0"/>
                <a:ea typeface="JetBrains Mono" pitchFamily="34" charset="-122"/>
                <a:cs typeface="JetBrains Mono" pitchFamily="34" charset="-120"/>
              </a:rPr>
              <a:t>a) 8080   b) 3306   c) 5432   d) 1521</a:t>
            </a:r>
            <a:endParaRPr lang="en-US" sz="1300" dirty="0"/>
          </a:p>
        </p:txBody>
      </p:sp>
      <p:sp>
        <p:nvSpPr>
          <p:cNvPr id="10" name="Shape 8"/>
          <p:cNvSpPr/>
          <p:nvPr/>
        </p:nvSpPr>
        <p:spPr>
          <a:xfrm>
            <a:off x="640080" y="2825496"/>
            <a:ext cx="10881360" cy="1024128"/>
          </a:xfrm>
          <a:prstGeom prst="roundRect">
            <a:avLst>
              <a:gd name="adj" fmla="val 7143"/>
            </a:avLst>
          </a:prstGeom>
          <a:solidFill>
            <a:srgbClr val="1E3050"/>
          </a:solidFill>
          <a:ln w="12700">
            <a:solidFill>
              <a:srgbClr val="2E4568"/>
            </a:solidFill>
            <a:prstDash val="solid"/>
          </a:ln>
        </p:spPr>
      </p:sp>
      <p:sp>
        <p:nvSpPr>
          <p:cNvPr id="11" name="Shape 9"/>
          <p:cNvSpPr/>
          <p:nvPr/>
        </p:nvSpPr>
        <p:spPr>
          <a:xfrm>
            <a:off x="868680" y="3118104"/>
            <a:ext cx="457200" cy="457200"/>
          </a:xfrm>
          <a:prstGeom prst="ellipse">
            <a:avLst/>
          </a:prstGeom>
          <a:solidFill>
            <a:srgbClr val="E8730C"/>
          </a:solidFill>
          <a:ln/>
        </p:spPr>
      </p:sp>
      <p:sp>
        <p:nvSpPr>
          <p:cNvPr id="12" name="Text 10"/>
          <p:cNvSpPr/>
          <p:nvPr/>
        </p:nvSpPr>
        <p:spPr>
          <a:xfrm>
            <a:off x="868680" y="3118104"/>
            <a:ext cx="457200" cy="457200"/>
          </a:xfrm>
          <a:prstGeom prst="rect">
            <a:avLst/>
          </a:prstGeom>
          <a:noFill/>
          <a:ln/>
        </p:spPr>
        <p:txBody>
          <a:bodyPr wrap="square" rtlCol="0" anchor="ctr"/>
          <a:lstStyle/>
          <a:p>
            <a:pPr algn="ctr" indent="0" marL="0">
              <a:buNone/>
            </a:pPr>
            <a:r>
              <a:rPr lang="en-US" sz="1700" b="1" dirty="0">
                <a:solidFill>
                  <a:srgbClr val="FFFFFF"/>
                </a:solidFill>
                <a:latin typeface="Work Sans" pitchFamily="34" charset="0"/>
                <a:ea typeface="Work Sans" pitchFamily="34" charset="-122"/>
                <a:cs typeface="Work Sans" pitchFamily="34" charset="-120"/>
              </a:rPr>
              <a:t>2</a:t>
            </a:r>
            <a:endParaRPr lang="en-US" sz="1700" dirty="0"/>
          </a:p>
        </p:txBody>
      </p:sp>
      <p:sp>
        <p:nvSpPr>
          <p:cNvPr id="13" name="Text 11"/>
          <p:cNvSpPr/>
          <p:nvPr/>
        </p:nvSpPr>
        <p:spPr>
          <a:xfrm>
            <a:off x="1508760" y="2953512"/>
            <a:ext cx="9784080" cy="411480"/>
          </a:xfrm>
          <a:prstGeom prst="rect">
            <a:avLst/>
          </a:prstGeom>
          <a:noFill/>
          <a:ln/>
        </p:spPr>
        <p:txBody>
          <a:bodyPr wrap="square" rtlCol="0" anchor="ctr"/>
          <a:lstStyle/>
          <a:p>
            <a:pPr indent="0" marL="0">
              <a:buNone/>
            </a:pPr>
            <a:r>
              <a:rPr lang="en-US" sz="1550" b="1" dirty="0">
                <a:solidFill>
                  <a:srgbClr val="FFFFFF"/>
                </a:solidFill>
                <a:latin typeface="Work Sans" pitchFamily="34" charset="0"/>
                <a:ea typeface="Work Sans" pitchFamily="34" charset="-122"/>
                <a:cs typeface="Work Sans" pitchFamily="34" charset="-120"/>
              </a:rPr>
              <a:t>Cila klasë Java hap lidhjen me databazën?</a:t>
            </a:r>
            <a:endParaRPr lang="en-US" sz="1550" dirty="0"/>
          </a:p>
        </p:txBody>
      </p:sp>
      <p:sp>
        <p:nvSpPr>
          <p:cNvPr id="14" name="Text 12"/>
          <p:cNvSpPr/>
          <p:nvPr/>
        </p:nvSpPr>
        <p:spPr>
          <a:xfrm>
            <a:off x="1508760" y="3374136"/>
            <a:ext cx="9784080" cy="384048"/>
          </a:xfrm>
          <a:prstGeom prst="rect">
            <a:avLst/>
          </a:prstGeom>
          <a:noFill/>
          <a:ln/>
        </p:spPr>
        <p:txBody>
          <a:bodyPr wrap="square" rtlCol="0" anchor="ctr"/>
          <a:lstStyle/>
          <a:p>
            <a:pPr indent="0" marL="0">
              <a:buNone/>
            </a:pPr>
            <a:r>
              <a:rPr lang="en-US" sz="1300" dirty="0">
                <a:solidFill>
                  <a:srgbClr val="DBE2EA"/>
                </a:solidFill>
                <a:latin typeface="JetBrains Mono" pitchFamily="34" charset="0"/>
                <a:ea typeface="JetBrains Mono" pitchFamily="34" charset="-122"/>
                <a:cs typeface="JetBrains Mono" pitchFamily="34" charset="-120"/>
              </a:rPr>
              <a:t>a) Connection   b) DriverManager   c) Statement   d) ResultSet</a:t>
            </a:r>
            <a:endParaRPr lang="en-US" sz="1300" dirty="0"/>
          </a:p>
        </p:txBody>
      </p:sp>
      <p:sp>
        <p:nvSpPr>
          <p:cNvPr id="15" name="Shape 13"/>
          <p:cNvSpPr/>
          <p:nvPr/>
        </p:nvSpPr>
        <p:spPr>
          <a:xfrm>
            <a:off x="640080" y="3959352"/>
            <a:ext cx="10881360" cy="1024128"/>
          </a:xfrm>
          <a:prstGeom prst="roundRect">
            <a:avLst>
              <a:gd name="adj" fmla="val 7143"/>
            </a:avLst>
          </a:prstGeom>
          <a:solidFill>
            <a:srgbClr val="1E3050"/>
          </a:solidFill>
          <a:ln w="12700">
            <a:solidFill>
              <a:srgbClr val="2E4568"/>
            </a:solidFill>
            <a:prstDash val="solid"/>
          </a:ln>
        </p:spPr>
      </p:sp>
      <p:sp>
        <p:nvSpPr>
          <p:cNvPr id="16" name="Shape 14"/>
          <p:cNvSpPr/>
          <p:nvPr/>
        </p:nvSpPr>
        <p:spPr>
          <a:xfrm>
            <a:off x="868680" y="4251960"/>
            <a:ext cx="457200" cy="457200"/>
          </a:xfrm>
          <a:prstGeom prst="ellipse">
            <a:avLst/>
          </a:prstGeom>
          <a:solidFill>
            <a:srgbClr val="E8730C"/>
          </a:solidFill>
          <a:ln/>
        </p:spPr>
      </p:sp>
      <p:sp>
        <p:nvSpPr>
          <p:cNvPr id="17" name="Text 15"/>
          <p:cNvSpPr/>
          <p:nvPr/>
        </p:nvSpPr>
        <p:spPr>
          <a:xfrm>
            <a:off x="868680" y="4251960"/>
            <a:ext cx="457200" cy="457200"/>
          </a:xfrm>
          <a:prstGeom prst="rect">
            <a:avLst/>
          </a:prstGeom>
          <a:noFill/>
          <a:ln/>
        </p:spPr>
        <p:txBody>
          <a:bodyPr wrap="square" rtlCol="0" anchor="ctr"/>
          <a:lstStyle/>
          <a:p>
            <a:pPr algn="ctr" indent="0" marL="0">
              <a:buNone/>
            </a:pPr>
            <a:r>
              <a:rPr lang="en-US" sz="1700" b="1" dirty="0">
                <a:solidFill>
                  <a:srgbClr val="FFFFFF"/>
                </a:solidFill>
                <a:latin typeface="Work Sans" pitchFamily="34" charset="0"/>
                <a:ea typeface="Work Sans" pitchFamily="34" charset="-122"/>
                <a:cs typeface="Work Sans" pitchFamily="34" charset="-120"/>
              </a:rPr>
              <a:t>3</a:t>
            </a:r>
            <a:endParaRPr lang="en-US" sz="1700" dirty="0"/>
          </a:p>
        </p:txBody>
      </p:sp>
      <p:sp>
        <p:nvSpPr>
          <p:cNvPr id="18" name="Text 16"/>
          <p:cNvSpPr/>
          <p:nvPr/>
        </p:nvSpPr>
        <p:spPr>
          <a:xfrm>
            <a:off x="1508760" y="4087368"/>
            <a:ext cx="9784080" cy="411480"/>
          </a:xfrm>
          <a:prstGeom prst="rect">
            <a:avLst/>
          </a:prstGeom>
          <a:noFill/>
          <a:ln/>
        </p:spPr>
        <p:txBody>
          <a:bodyPr wrap="square" rtlCol="0" anchor="ctr"/>
          <a:lstStyle/>
          <a:p>
            <a:pPr indent="0" marL="0">
              <a:buNone/>
            </a:pPr>
            <a:r>
              <a:rPr lang="en-US" sz="1550" b="1" dirty="0">
                <a:solidFill>
                  <a:srgbClr val="FFFFFF"/>
                </a:solidFill>
                <a:latin typeface="Work Sans" pitchFamily="34" charset="0"/>
                <a:ea typeface="Work Sans" pitchFamily="34" charset="-122"/>
                <a:cs typeface="Work Sans" pitchFamily="34" charset="-120"/>
              </a:rPr>
              <a:t>Pse përdorim PreparedStatement me ?-at?</a:t>
            </a:r>
            <a:endParaRPr lang="en-US" sz="1550" dirty="0"/>
          </a:p>
        </p:txBody>
      </p:sp>
      <p:sp>
        <p:nvSpPr>
          <p:cNvPr id="19" name="Text 17"/>
          <p:cNvSpPr/>
          <p:nvPr/>
        </p:nvSpPr>
        <p:spPr>
          <a:xfrm>
            <a:off x="1508760" y="4507992"/>
            <a:ext cx="9784080" cy="384048"/>
          </a:xfrm>
          <a:prstGeom prst="rect">
            <a:avLst/>
          </a:prstGeom>
          <a:noFill/>
          <a:ln/>
        </p:spPr>
        <p:txBody>
          <a:bodyPr wrap="square" rtlCol="0" anchor="ctr"/>
          <a:lstStyle/>
          <a:p>
            <a:pPr indent="0" marL="0">
              <a:buNone/>
            </a:pPr>
            <a:r>
              <a:rPr lang="en-US" sz="1300" dirty="0">
                <a:solidFill>
                  <a:srgbClr val="DBE2EA"/>
                </a:solidFill>
                <a:latin typeface="JetBrains Mono" pitchFamily="34" charset="0"/>
                <a:ea typeface="JetBrains Mono" pitchFamily="34" charset="-122"/>
                <a:cs typeface="JetBrains Mono" pitchFamily="34" charset="-120"/>
              </a:rPr>
              <a:t>a) Është më i shpejtë vetëm   b) Mbron nga SQL Injection   c) S'ka arsye   d) E kërkon Java</a:t>
            </a:r>
            <a:endParaRPr lang="en-US" sz="1300" dirty="0"/>
          </a:p>
        </p:txBody>
      </p:sp>
      <p:sp>
        <p:nvSpPr>
          <p:cNvPr id="20" name="Shape 18"/>
          <p:cNvSpPr/>
          <p:nvPr/>
        </p:nvSpPr>
        <p:spPr>
          <a:xfrm>
            <a:off x="640080" y="5093208"/>
            <a:ext cx="10881360" cy="1024128"/>
          </a:xfrm>
          <a:prstGeom prst="roundRect">
            <a:avLst>
              <a:gd name="adj" fmla="val 7143"/>
            </a:avLst>
          </a:prstGeom>
          <a:solidFill>
            <a:srgbClr val="1E3050"/>
          </a:solidFill>
          <a:ln w="12700">
            <a:solidFill>
              <a:srgbClr val="2E4568"/>
            </a:solidFill>
            <a:prstDash val="solid"/>
          </a:ln>
        </p:spPr>
      </p:sp>
      <p:sp>
        <p:nvSpPr>
          <p:cNvPr id="21" name="Shape 19"/>
          <p:cNvSpPr/>
          <p:nvPr/>
        </p:nvSpPr>
        <p:spPr>
          <a:xfrm>
            <a:off x="868680" y="5385816"/>
            <a:ext cx="457200" cy="457200"/>
          </a:xfrm>
          <a:prstGeom prst="ellipse">
            <a:avLst/>
          </a:prstGeom>
          <a:solidFill>
            <a:srgbClr val="E8730C"/>
          </a:solidFill>
          <a:ln/>
        </p:spPr>
      </p:sp>
      <p:sp>
        <p:nvSpPr>
          <p:cNvPr id="22" name="Text 20"/>
          <p:cNvSpPr/>
          <p:nvPr/>
        </p:nvSpPr>
        <p:spPr>
          <a:xfrm>
            <a:off x="868680" y="5385816"/>
            <a:ext cx="457200" cy="457200"/>
          </a:xfrm>
          <a:prstGeom prst="rect">
            <a:avLst/>
          </a:prstGeom>
          <a:noFill/>
          <a:ln/>
        </p:spPr>
        <p:txBody>
          <a:bodyPr wrap="square" rtlCol="0" anchor="ctr"/>
          <a:lstStyle/>
          <a:p>
            <a:pPr algn="ctr" indent="0" marL="0">
              <a:buNone/>
            </a:pPr>
            <a:r>
              <a:rPr lang="en-US" sz="1700" b="1" dirty="0">
                <a:solidFill>
                  <a:srgbClr val="FFFFFF"/>
                </a:solidFill>
                <a:latin typeface="Work Sans" pitchFamily="34" charset="0"/>
                <a:ea typeface="Work Sans" pitchFamily="34" charset="-122"/>
                <a:cs typeface="Work Sans" pitchFamily="34" charset="-120"/>
              </a:rPr>
              <a:t>4</a:t>
            </a:r>
            <a:endParaRPr lang="en-US" sz="1700" dirty="0"/>
          </a:p>
        </p:txBody>
      </p:sp>
      <p:sp>
        <p:nvSpPr>
          <p:cNvPr id="23" name="Text 21"/>
          <p:cNvSpPr/>
          <p:nvPr/>
        </p:nvSpPr>
        <p:spPr>
          <a:xfrm>
            <a:off x="1508760" y="5221224"/>
            <a:ext cx="9784080" cy="411480"/>
          </a:xfrm>
          <a:prstGeom prst="rect">
            <a:avLst/>
          </a:prstGeom>
          <a:noFill/>
          <a:ln/>
        </p:spPr>
        <p:txBody>
          <a:bodyPr wrap="square" rtlCol="0" anchor="ctr"/>
          <a:lstStyle/>
          <a:p>
            <a:pPr indent="0" marL="0">
              <a:buNone/>
            </a:pPr>
            <a:r>
              <a:rPr lang="en-US" sz="1550" b="1" dirty="0">
                <a:solidFill>
                  <a:srgbClr val="FFFFFF"/>
                </a:solidFill>
                <a:latin typeface="Work Sans" pitchFamily="34" charset="0"/>
                <a:ea typeface="Work Sans" pitchFamily="34" charset="-122"/>
                <a:cs typeface="Work Sans" pitchFamily="34" charset="-120"/>
              </a:rPr>
              <a:t>Çfarë kthen metoda executeUpdate()?</a:t>
            </a:r>
            <a:endParaRPr lang="en-US" sz="1550" dirty="0"/>
          </a:p>
        </p:txBody>
      </p:sp>
      <p:sp>
        <p:nvSpPr>
          <p:cNvPr id="24" name="Text 22"/>
          <p:cNvSpPr/>
          <p:nvPr/>
        </p:nvSpPr>
        <p:spPr>
          <a:xfrm>
            <a:off x="1508760" y="5641848"/>
            <a:ext cx="9784080" cy="384048"/>
          </a:xfrm>
          <a:prstGeom prst="rect">
            <a:avLst/>
          </a:prstGeom>
          <a:noFill/>
          <a:ln/>
        </p:spPr>
        <p:txBody>
          <a:bodyPr wrap="square" rtlCol="0" anchor="ctr"/>
          <a:lstStyle/>
          <a:p>
            <a:pPr indent="0" marL="0">
              <a:buNone/>
            </a:pPr>
            <a:r>
              <a:rPr lang="en-US" sz="1300" dirty="0">
                <a:solidFill>
                  <a:srgbClr val="DBE2EA"/>
                </a:solidFill>
                <a:latin typeface="JetBrains Mono" pitchFamily="34" charset="0"/>
                <a:ea typeface="JetBrains Mono" pitchFamily="34" charset="-122"/>
                <a:cs typeface="JetBrains Mono" pitchFamily="34" charset="-120"/>
              </a:rPr>
              <a:t>a) Një ResultSet   b) Numrin e rreshtave të prekur   c) true/false   d) Asgjë</a:t>
            </a:r>
            <a:endParaRPr lang="en-US" sz="1300" dirty="0"/>
          </a:p>
        </p:txBody>
      </p:sp>
      <p:sp>
        <p:nvSpPr>
          <p:cNvPr id="25" name="Text 23"/>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KUIZ</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Përgjigjet e sakta</a:t>
            </a:r>
            <a:endParaRPr lang="en-US" sz="2600" dirty="0"/>
          </a:p>
        </p:txBody>
      </p:sp>
      <p:sp>
        <p:nvSpPr>
          <p:cNvPr id="6" name="Shape 4"/>
          <p:cNvSpPr/>
          <p:nvPr/>
        </p:nvSpPr>
        <p:spPr>
          <a:xfrm>
            <a:off x="640080" y="1371600"/>
            <a:ext cx="10881360" cy="1115568"/>
          </a:xfrm>
          <a:prstGeom prst="roundRect">
            <a:avLst>
              <a:gd name="adj" fmla="val 6557"/>
            </a:avLst>
          </a:prstGeom>
          <a:solidFill>
            <a:srgbClr val="F2F5F9"/>
          </a:solidFill>
          <a:ln w="12700">
            <a:solidFill>
              <a:srgbClr val="DBE2EA"/>
            </a:solidFill>
            <a:prstDash val="solid"/>
          </a:ln>
        </p:spPr>
      </p:sp>
      <p:sp>
        <p:nvSpPr>
          <p:cNvPr id="7" name="Shape 5"/>
          <p:cNvSpPr/>
          <p:nvPr/>
        </p:nvSpPr>
        <p:spPr>
          <a:xfrm>
            <a:off x="868680" y="1700784"/>
            <a:ext cx="457200" cy="457200"/>
          </a:xfrm>
          <a:prstGeom prst="ellipse">
            <a:avLst/>
          </a:prstGeom>
          <a:solidFill>
            <a:srgbClr val="3FB57A"/>
          </a:solidFill>
          <a:ln/>
        </p:spPr>
      </p:sp>
      <p:sp>
        <p:nvSpPr>
          <p:cNvPr id="8" name="Text 6"/>
          <p:cNvSpPr/>
          <p:nvPr/>
        </p:nvSpPr>
        <p:spPr>
          <a:xfrm>
            <a:off x="868680" y="1700784"/>
            <a:ext cx="457200" cy="457200"/>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1</a:t>
            </a:r>
            <a:endParaRPr lang="en-US" sz="1600" dirty="0"/>
          </a:p>
        </p:txBody>
      </p:sp>
      <p:sp>
        <p:nvSpPr>
          <p:cNvPr id="9" name="Text 7"/>
          <p:cNvSpPr/>
          <p:nvPr/>
        </p:nvSpPr>
        <p:spPr>
          <a:xfrm>
            <a:off x="1508760" y="1517904"/>
            <a:ext cx="9692640" cy="411480"/>
          </a:xfrm>
          <a:prstGeom prst="rect">
            <a:avLst/>
          </a:prstGeom>
          <a:noFill/>
          <a:ln/>
        </p:spPr>
        <p:txBody>
          <a:bodyPr wrap="square" rtlCol="0" anchor="ctr"/>
          <a:lstStyle/>
          <a:p>
            <a:pPr indent="0" marL="0">
              <a:buNone/>
            </a:pPr>
            <a:r>
              <a:rPr lang="en-US" sz="1600" b="1" dirty="0">
                <a:solidFill>
                  <a:srgbClr val="3FB57A"/>
                </a:solidFill>
                <a:latin typeface="Work Sans" pitchFamily="34" charset="0"/>
                <a:ea typeface="Work Sans" pitchFamily="34" charset="-122"/>
                <a:cs typeface="Work Sans" pitchFamily="34" charset="-120"/>
              </a:rPr>
              <a:t>c) 5432</a:t>
            </a:r>
            <a:endParaRPr lang="en-US" sz="1600" dirty="0"/>
          </a:p>
        </p:txBody>
      </p:sp>
      <p:sp>
        <p:nvSpPr>
          <p:cNvPr id="10" name="Text 8"/>
          <p:cNvSpPr/>
          <p:nvPr/>
        </p:nvSpPr>
        <p:spPr>
          <a:xfrm>
            <a:off x="1508760" y="1938528"/>
            <a:ext cx="9692640" cy="5029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Porta standarde ku PostgreSQL pret lidhjet. E shkruajmë në URL.</a:t>
            </a:r>
            <a:endParaRPr lang="en-US" sz="1350" dirty="0"/>
          </a:p>
        </p:txBody>
      </p:sp>
      <p:sp>
        <p:nvSpPr>
          <p:cNvPr id="11" name="Shape 9"/>
          <p:cNvSpPr/>
          <p:nvPr/>
        </p:nvSpPr>
        <p:spPr>
          <a:xfrm>
            <a:off x="640080" y="2606040"/>
            <a:ext cx="10881360" cy="1115568"/>
          </a:xfrm>
          <a:prstGeom prst="roundRect">
            <a:avLst>
              <a:gd name="adj" fmla="val 6557"/>
            </a:avLst>
          </a:prstGeom>
          <a:solidFill>
            <a:srgbClr val="F2F5F9"/>
          </a:solidFill>
          <a:ln w="12700">
            <a:solidFill>
              <a:srgbClr val="DBE2EA"/>
            </a:solidFill>
            <a:prstDash val="solid"/>
          </a:ln>
        </p:spPr>
      </p:sp>
      <p:sp>
        <p:nvSpPr>
          <p:cNvPr id="12" name="Shape 10"/>
          <p:cNvSpPr/>
          <p:nvPr/>
        </p:nvSpPr>
        <p:spPr>
          <a:xfrm>
            <a:off x="868680" y="2935224"/>
            <a:ext cx="457200" cy="457200"/>
          </a:xfrm>
          <a:prstGeom prst="ellipse">
            <a:avLst/>
          </a:prstGeom>
          <a:solidFill>
            <a:srgbClr val="3FB57A"/>
          </a:solidFill>
          <a:ln/>
        </p:spPr>
      </p:sp>
      <p:sp>
        <p:nvSpPr>
          <p:cNvPr id="13" name="Text 11"/>
          <p:cNvSpPr/>
          <p:nvPr/>
        </p:nvSpPr>
        <p:spPr>
          <a:xfrm>
            <a:off x="868680" y="2935224"/>
            <a:ext cx="457200" cy="457200"/>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2</a:t>
            </a:r>
            <a:endParaRPr lang="en-US" sz="1600" dirty="0"/>
          </a:p>
        </p:txBody>
      </p:sp>
      <p:sp>
        <p:nvSpPr>
          <p:cNvPr id="14" name="Text 12"/>
          <p:cNvSpPr/>
          <p:nvPr/>
        </p:nvSpPr>
        <p:spPr>
          <a:xfrm>
            <a:off x="1508760" y="2752344"/>
            <a:ext cx="9692640" cy="411480"/>
          </a:xfrm>
          <a:prstGeom prst="rect">
            <a:avLst/>
          </a:prstGeom>
          <a:noFill/>
          <a:ln/>
        </p:spPr>
        <p:txBody>
          <a:bodyPr wrap="square" rtlCol="0" anchor="ctr"/>
          <a:lstStyle/>
          <a:p>
            <a:pPr indent="0" marL="0">
              <a:buNone/>
            </a:pPr>
            <a:r>
              <a:rPr lang="en-US" sz="1600" b="1" dirty="0">
                <a:solidFill>
                  <a:srgbClr val="3FB57A"/>
                </a:solidFill>
                <a:latin typeface="Work Sans" pitchFamily="34" charset="0"/>
                <a:ea typeface="Work Sans" pitchFamily="34" charset="-122"/>
                <a:cs typeface="Work Sans" pitchFamily="34" charset="-120"/>
              </a:rPr>
              <a:t>b) DriverManager</a:t>
            </a:r>
            <a:endParaRPr lang="en-US" sz="1600" dirty="0"/>
          </a:p>
        </p:txBody>
      </p:sp>
      <p:sp>
        <p:nvSpPr>
          <p:cNvPr id="15" name="Text 13"/>
          <p:cNvSpPr/>
          <p:nvPr/>
        </p:nvSpPr>
        <p:spPr>
          <a:xfrm>
            <a:off x="1508760" y="3172968"/>
            <a:ext cx="9692640" cy="5029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DriverManager.getConnection() hap lidhjen. Connection është objekti që kthehet.</a:t>
            </a:r>
            <a:endParaRPr lang="en-US" sz="1350" dirty="0"/>
          </a:p>
        </p:txBody>
      </p:sp>
      <p:sp>
        <p:nvSpPr>
          <p:cNvPr id="16" name="Shape 14"/>
          <p:cNvSpPr/>
          <p:nvPr/>
        </p:nvSpPr>
        <p:spPr>
          <a:xfrm>
            <a:off x="640080" y="3840480"/>
            <a:ext cx="10881360" cy="1115568"/>
          </a:xfrm>
          <a:prstGeom prst="roundRect">
            <a:avLst>
              <a:gd name="adj" fmla="val 6557"/>
            </a:avLst>
          </a:prstGeom>
          <a:solidFill>
            <a:srgbClr val="F2F5F9"/>
          </a:solidFill>
          <a:ln w="12700">
            <a:solidFill>
              <a:srgbClr val="DBE2EA"/>
            </a:solidFill>
            <a:prstDash val="solid"/>
          </a:ln>
        </p:spPr>
      </p:sp>
      <p:sp>
        <p:nvSpPr>
          <p:cNvPr id="17" name="Shape 15"/>
          <p:cNvSpPr/>
          <p:nvPr/>
        </p:nvSpPr>
        <p:spPr>
          <a:xfrm>
            <a:off x="868680" y="4169664"/>
            <a:ext cx="457200" cy="457200"/>
          </a:xfrm>
          <a:prstGeom prst="ellipse">
            <a:avLst/>
          </a:prstGeom>
          <a:solidFill>
            <a:srgbClr val="3FB57A"/>
          </a:solidFill>
          <a:ln/>
        </p:spPr>
      </p:sp>
      <p:sp>
        <p:nvSpPr>
          <p:cNvPr id="18" name="Text 16"/>
          <p:cNvSpPr/>
          <p:nvPr/>
        </p:nvSpPr>
        <p:spPr>
          <a:xfrm>
            <a:off x="868680" y="4169664"/>
            <a:ext cx="457200" cy="457200"/>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3</a:t>
            </a:r>
            <a:endParaRPr lang="en-US" sz="1600" dirty="0"/>
          </a:p>
        </p:txBody>
      </p:sp>
      <p:sp>
        <p:nvSpPr>
          <p:cNvPr id="19" name="Text 17"/>
          <p:cNvSpPr/>
          <p:nvPr/>
        </p:nvSpPr>
        <p:spPr>
          <a:xfrm>
            <a:off x="1508760" y="3986784"/>
            <a:ext cx="9692640" cy="411480"/>
          </a:xfrm>
          <a:prstGeom prst="rect">
            <a:avLst/>
          </a:prstGeom>
          <a:noFill/>
          <a:ln/>
        </p:spPr>
        <p:txBody>
          <a:bodyPr wrap="square" rtlCol="0" anchor="ctr"/>
          <a:lstStyle/>
          <a:p>
            <a:pPr indent="0" marL="0">
              <a:buNone/>
            </a:pPr>
            <a:r>
              <a:rPr lang="en-US" sz="1600" b="1" dirty="0">
                <a:solidFill>
                  <a:srgbClr val="3FB57A"/>
                </a:solidFill>
                <a:latin typeface="Work Sans" pitchFamily="34" charset="0"/>
                <a:ea typeface="Work Sans" pitchFamily="34" charset="-122"/>
                <a:cs typeface="Work Sans" pitchFamily="34" charset="-120"/>
              </a:rPr>
              <a:t>b) Mbron nga SQL Injection</a:t>
            </a:r>
            <a:endParaRPr lang="en-US" sz="1600" dirty="0"/>
          </a:p>
        </p:txBody>
      </p:sp>
      <p:sp>
        <p:nvSpPr>
          <p:cNvPr id="20" name="Text 18"/>
          <p:cNvSpPr/>
          <p:nvPr/>
        </p:nvSpPr>
        <p:spPr>
          <a:xfrm>
            <a:off x="1508760" y="4407408"/>
            <a:ext cx="9692640" cy="5029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?-at trajtojnë vlerat në mënyrë të sigurt, pa i ngjitur direkt në SQL.</a:t>
            </a:r>
            <a:endParaRPr lang="en-US" sz="1350" dirty="0"/>
          </a:p>
        </p:txBody>
      </p:sp>
      <p:sp>
        <p:nvSpPr>
          <p:cNvPr id="21" name="Shape 19"/>
          <p:cNvSpPr/>
          <p:nvPr/>
        </p:nvSpPr>
        <p:spPr>
          <a:xfrm>
            <a:off x="640080" y="5074920"/>
            <a:ext cx="10881360" cy="1115568"/>
          </a:xfrm>
          <a:prstGeom prst="roundRect">
            <a:avLst>
              <a:gd name="adj" fmla="val 6557"/>
            </a:avLst>
          </a:prstGeom>
          <a:solidFill>
            <a:srgbClr val="F2F5F9"/>
          </a:solidFill>
          <a:ln w="12700">
            <a:solidFill>
              <a:srgbClr val="DBE2EA"/>
            </a:solidFill>
            <a:prstDash val="solid"/>
          </a:ln>
        </p:spPr>
      </p:sp>
      <p:sp>
        <p:nvSpPr>
          <p:cNvPr id="22" name="Shape 20"/>
          <p:cNvSpPr/>
          <p:nvPr/>
        </p:nvSpPr>
        <p:spPr>
          <a:xfrm>
            <a:off x="868680" y="5404104"/>
            <a:ext cx="457200" cy="457200"/>
          </a:xfrm>
          <a:prstGeom prst="ellipse">
            <a:avLst/>
          </a:prstGeom>
          <a:solidFill>
            <a:srgbClr val="3FB57A"/>
          </a:solidFill>
          <a:ln/>
        </p:spPr>
      </p:sp>
      <p:sp>
        <p:nvSpPr>
          <p:cNvPr id="23" name="Text 21"/>
          <p:cNvSpPr/>
          <p:nvPr/>
        </p:nvSpPr>
        <p:spPr>
          <a:xfrm>
            <a:off x="868680" y="5404104"/>
            <a:ext cx="457200" cy="457200"/>
          </a:xfrm>
          <a:prstGeom prst="rect">
            <a:avLst/>
          </a:prstGeom>
          <a:noFill/>
          <a:ln/>
        </p:spPr>
        <p:txBody>
          <a:bodyPr wrap="square" rtlCol="0" anchor="ctr"/>
          <a:lstStyle/>
          <a:p>
            <a:pPr algn="ctr" indent="0" marL="0">
              <a:buNone/>
            </a:pPr>
            <a:r>
              <a:rPr lang="en-US" sz="1600" b="1" dirty="0">
                <a:solidFill>
                  <a:srgbClr val="FFFFFF"/>
                </a:solidFill>
                <a:latin typeface="Work Sans" pitchFamily="34" charset="0"/>
                <a:ea typeface="Work Sans" pitchFamily="34" charset="-122"/>
                <a:cs typeface="Work Sans" pitchFamily="34" charset="-120"/>
              </a:rPr>
              <a:t>4</a:t>
            </a:r>
            <a:endParaRPr lang="en-US" sz="1600" dirty="0"/>
          </a:p>
        </p:txBody>
      </p:sp>
      <p:sp>
        <p:nvSpPr>
          <p:cNvPr id="24" name="Text 22"/>
          <p:cNvSpPr/>
          <p:nvPr/>
        </p:nvSpPr>
        <p:spPr>
          <a:xfrm>
            <a:off x="1508760" y="5221224"/>
            <a:ext cx="9692640" cy="411480"/>
          </a:xfrm>
          <a:prstGeom prst="rect">
            <a:avLst/>
          </a:prstGeom>
          <a:noFill/>
          <a:ln/>
        </p:spPr>
        <p:txBody>
          <a:bodyPr wrap="square" rtlCol="0" anchor="ctr"/>
          <a:lstStyle/>
          <a:p>
            <a:pPr indent="0" marL="0">
              <a:buNone/>
            </a:pPr>
            <a:r>
              <a:rPr lang="en-US" sz="1600" b="1" dirty="0">
                <a:solidFill>
                  <a:srgbClr val="3FB57A"/>
                </a:solidFill>
                <a:latin typeface="Work Sans" pitchFamily="34" charset="0"/>
                <a:ea typeface="Work Sans" pitchFamily="34" charset="-122"/>
                <a:cs typeface="Work Sans" pitchFamily="34" charset="-120"/>
              </a:rPr>
              <a:t>b) Numrin e rreshtave të prekur</a:t>
            </a:r>
            <a:endParaRPr lang="en-US" sz="1600" dirty="0"/>
          </a:p>
        </p:txBody>
      </p:sp>
      <p:sp>
        <p:nvSpPr>
          <p:cNvPr id="25" name="Text 23"/>
          <p:cNvSpPr/>
          <p:nvPr/>
        </p:nvSpPr>
        <p:spPr>
          <a:xfrm>
            <a:off x="1508760" y="5641848"/>
            <a:ext cx="9692640" cy="502920"/>
          </a:xfrm>
          <a:prstGeom prst="rect">
            <a:avLst/>
          </a:prstGeom>
          <a:noFill/>
          <a:ln/>
        </p:spPr>
        <p:txBody>
          <a:bodyPr wrap="square" rtlCol="0" anchor="t"/>
          <a:lstStyle/>
          <a:p>
            <a:pPr indent="0" marL="0">
              <a:buNone/>
            </a:pPr>
            <a:r>
              <a:rPr lang="en-US" sz="1350" dirty="0">
                <a:solidFill>
                  <a:srgbClr val="26313F"/>
                </a:solidFill>
                <a:latin typeface="Work Sans" pitchFamily="34" charset="0"/>
                <a:ea typeface="Work Sans" pitchFamily="34" charset="-122"/>
                <a:cs typeface="Work Sans" pitchFamily="34" charset="-120"/>
              </a:rPr>
              <a:t>P.sh. 1 nëse u shtua një rresht. Për SELECT përdoret executeQuery().</a:t>
            </a:r>
            <a:endParaRPr lang="en-US" sz="1350" dirty="0"/>
          </a:p>
        </p:txBody>
      </p:sp>
      <p:sp>
        <p:nvSpPr>
          <p:cNvPr id="26" name="Text 24"/>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F2F5F9"/>
          </a:solidFill>
          <a:ln/>
        </p:spPr>
      </p:sp>
      <p:sp>
        <p:nvSpPr>
          <p:cNvPr id="3" name="Shape 1"/>
          <p:cNvSpPr/>
          <p:nvPr/>
        </p:nvSpPr>
        <p:spPr>
          <a:xfrm>
            <a:off x="0" y="1051560"/>
            <a:ext cx="12191695" cy="27432"/>
          </a:xfrm>
          <a:prstGeom prst="rect">
            <a:avLst/>
          </a:prstGeom>
          <a:solidFill>
            <a:srgbClr val="E8730C"/>
          </a:solidFill>
          <a:ln/>
        </p:spPr>
      </p:sp>
      <p:sp>
        <p:nvSpPr>
          <p:cNvPr id="4" name="Text 2"/>
          <p:cNvSpPr/>
          <p:nvPr/>
        </p:nvSpPr>
        <p:spPr>
          <a:xfrm>
            <a:off x="548640" y="182880"/>
            <a:ext cx="10972800" cy="274320"/>
          </a:xfrm>
          <a:prstGeom prst="rect">
            <a:avLst/>
          </a:prstGeom>
          <a:noFill/>
          <a:ln/>
        </p:spPr>
        <p:txBody>
          <a:bodyPr wrap="square" rtlCol="0" anchor="ctr"/>
          <a:lstStyle/>
          <a:p>
            <a:pPr indent="0" marL="0">
              <a:buNone/>
            </a:pPr>
            <a:r>
              <a:rPr lang="en-US" sz="1200" b="1" spc="200" kern="0" dirty="0">
                <a:solidFill>
                  <a:srgbClr val="E8730C"/>
                </a:solidFill>
                <a:latin typeface="Poppins" pitchFamily="34" charset="0"/>
                <a:ea typeface="Poppins" pitchFamily="34" charset="-122"/>
                <a:cs typeface="Poppins" pitchFamily="34" charset="-120"/>
              </a:rPr>
              <a:t>DETYRA E SHTËPISË</a:t>
            </a:r>
            <a:endParaRPr lang="en-US" sz="1200" dirty="0"/>
          </a:p>
        </p:txBody>
      </p:sp>
      <p:sp>
        <p:nvSpPr>
          <p:cNvPr id="5" name="Text 3"/>
          <p:cNvSpPr/>
          <p:nvPr/>
        </p:nvSpPr>
        <p:spPr>
          <a:xfrm>
            <a:off x="548640" y="420624"/>
            <a:ext cx="11064240" cy="566928"/>
          </a:xfrm>
          <a:prstGeom prst="rect">
            <a:avLst/>
          </a:prstGeom>
          <a:noFill/>
          <a:ln/>
        </p:spPr>
        <p:txBody>
          <a:bodyPr wrap="square" rtlCol="0" anchor="ctr"/>
          <a:lstStyle/>
          <a:p>
            <a:pPr indent="0" marL="0">
              <a:buNone/>
            </a:pPr>
            <a:r>
              <a:rPr lang="en-US" sz="2600" b="1" dirty="0">
                <a:solidFill>
                  <a:srgbClr val="142033"/>
                </a:solidFill>
                <a:latin typeface="Poppins" pitchFamily="34" charset="0"/>
                <a:ea typeface="Poppins" pitchFamily="34" charset="-122"/>
                <a:cs typeface="Poppins" pitchFamily="34" charset="-120"/>
              </a:rPr>
              <a:t>Praktikoni vetë deri javën tjetër</a:t>
            </a:r>
            <a:endParaRPr lang="en-US" sz="2600" dirty="0"/>
          </a:p>
        </p:txBody>
      </p:sp>
      <p:pic>
        <p:nvPicPr>
          <p:cNvPr id="6" name="Image 0" descr="preencoded.png">    </p:cNvPr>
          <p:cNvPicPr>
            <a:picLocks noChangeAspect="1"/>
          </p:cNvPicPr>
          <p:nvPr/>
        </p:nvPicPr>
        <p:blipFill>
          <a:blip r:embed="rId1"/>
          <a:stretch>
            <a:fillRect/>
          </a:stretch>
        </p:blipFill>
        <p:spPr>
          <a:xfrm>
            <a:off x="10332720" y="1234440"/>
            <a:ext cx="1051560" cy="1051560"/>
          </a:xfrm>
          <a:prstGeom prst="rect">
            <a:avLst/>
          </a:prstGeom>
        </p:spPr>
      </p:pic>
      <p:sp>
        <p:nvSpPr>
          <p:cNvPr id="7" name="Text 4"/>
          <p:cNvSpPr/>
          <p:nvPr/>
        </p:nvSpPr>
        <p:spPr>
          <a:xfrm>
            <a:off x="685800" y="1554480"/>
            <a:ext cx="10515600" cy="3657600"/>
          </a:xfrm>
          <a:prstGeom prst="rect">
            <a:avLst/>
          </a:prstGeom>
          <a:noFill/>
          <a:ln/>
        </p:spPr>
        <p:txBody>
          <a:bodyPr wrap="square" lIns="0" tIns="0" rIns="0" bIns="0" rtlCol="0" anchor="t"/>
          <a:lstStyle/>
          <a:p>
            <a:pPr marL="203200" indent="-203200">
              <a:spcAft>
                <a:spcPts val="800"/>
              </a:spcAft>
              <a:buSzPct val="100000"/>
              <a:buChar char="•"/>
            </a:pPr>
            <a:r>
              <a:rPr lang="en-US" sz="1550" b="1" dirty="0">
                <a:solidFill>
                  <a:srgbClr val="26313F"/>
                </a:solidFill>
                <a:latin typeface="Work Sans" pitchFamily="34" charset="0"/>
                <a:ea typeface="Work Sans" pitchFamily="34" charset="-122"/>
                <a:cs typeface="Work Sans" pitchFamily="34" charset="-120"/>
              </a:rPr>
              <a:t>1. Instaloni PostgreSQL në kompjuterin tuaj</a:t>
            </a:r>
            <a:endParaRPr lang="en-US" sz="1550" dirty="0"/>
          </a:p>
          <a:p>
            <a:pPr indent="0" marL="0">
              <a:spcAft>
                <a:spcPts val="800"/>
              </a:spcAft>
              <a:buNone/>
            </a:pPr>
            <a:r>
              <a:rPr lang="en-US" sz="1300" dirty="0">
                <a:solidFill>
                  <a:srgbClr val="6A7889"/>
                </a:solidFill>
                <a:latin typeface="Work Sans" pitchFamily="34" charset="0"/>
                <a:ea typeface="Work Sans" pitchFamily="34" charset="-122"/>
                <a:cs typeface="Work Sans" pitchFamily="34" charset="-120"/>
              </a:rPr>
              <a:t>     Ndiqni hapat e leksionit; mbani mend fjalëkalimin e 'postgres'.</a:t>
            </a:r>
            <a:endParaRPr lang="en-US" sz="1550" dirty="0"/>
          </a:p>
          <a:p>
            <a:pPr marL="203200" indent="-203200">
              <a:spcAft>
                <a:spcPts val="800"/>
              </a:spcAft>
              <a:buSzPct val="100000"/>
              <a:buChar char="•"/>
            </a:pPr>
            <a:r>
              <a:rPr lang="en-US" sz="1550" b="1" dirty="0">
                <a:solidFill>
                  <a:srgbClr val="26313F"/>
                </a:solidFill>
                <a:latin typeface="Work Sans" pitchFamily="34" charset="0"/>
                <a:ea typeface="Work Sans" pitchFamily="34" charset="-122"/>
                <a:cs typeface="Work Sans" pitchFamily="34" charset="-120"/>
              </a:rPr>
              <a:t>2. Krijoni databazën 'biblioteka' në pgAdmin</a:t>
            </a:r>
            <a:endParaRPr lang="en-US" sz="1550" dirty="0"/>
          </a:p>
          <a:p>
            <a:pPr indent="0" marL="0">
              <a:spcAft>
                <a:spcPts val="800"/>
              </a:spcAft>
              <a:buNone/>
            </a:pPr>
            <a:r>
              <a:rPr lang="en-US" sz="1300" dirty="0">
                <a:solidFill>
                  <a:srgbClr val="6A7889"/>
                </a:solidFill>
                <a:latin typeface="Work Sans" pitchFamily="34" charset="0"/>
                <a:ea typeface="Work Sans" pitchFamily="34" charset="-122"/>
                <a:cs typeface="Work Sans" pitchFamily="34" charset="-120"/>
              </a:rPr>
              <a:t>     Me tabelën: librat(id, titulli, autori, viti).</a:t>
            </a:r>
            <a:endParaRPr lang="en-US" sz="1550" dirty="0"/>
          </a:p>
          <a:p>
            <a:pPr marL="203200" indent="-203200">
              <a:spcAft>
                <a:spcPts val="800"/>
              </a:spcAft>
              <a:buSzPct val="100000"/>
              <a:buChar char="•"/>
            </a:pPr>
            <a:r>
              <a:rPr lang="en-US" sz="1550" b="1" dirty="0">
                <a:solidFill>
                  <a:srgbClr val="26313F"/>
                </a:solidFill>
                <a:latin typeface="Work Sans" pitchFamily="34" charset="0"/>
                <a:ea typeface="Work Sans" pitchFamily="34" charset="-122"/>
                <a:cs typeface="Work Sans" pitchFamily="34" charset="-120"/>
              </a:rPr>
              <a:t>3. Shkruani një program Java që lidhet me 'biblioteka'</a:t>
            </a:r>
            <a:endParaRPr lang="en-US" sz="1550" dirty="0"/>
          </a:p>
          <a:p>
            <a:pPr indent="0" marL="0">
              <a:spcAft>
                <a:spcPts val="800"/>
              </a:spcAft>
              <a:buNone/>
            </a:pPr>
            <a:r>
              <a:rPr lang="en-US" sz="1300" dirty="0">
                <a:solidFill>
                  <a:srgbClr val="6A7889"/>
                </a:solidFill>
                <a:latin typeface="Work Sans" pitchFamily="34" charset="0"/>
                <a:ea typeface="Work Sans" pitchFamily="34" charset="-122"/>
                <a:cs typeface="Work Sans" pitchFamily="34" charset="-120"/>
              </a:rPr>
              <a:t>     Shtypni 'U lidha me sukses' nëse lidhja funksionon.</a:t>
            </a:r>
            <a:endParaRPr lang="en-US" sz="1550" dirty="0"/>
          </a:p>
          <a:p>
            <a:pPr marL="203200" indent="-203200">
              <a:spcAft>
                <a:spcPts val="800"/>
              </a:spcAft>
              <a:buSzPct val="100000"/>
              <a:buChar char="•"/>
            </a:pPr>
            <a:r>
              <a:rPr lang="en-US" sz="1550" b="1" dirty="0">
                <a:solidFill>
                  <a:srgbClr val="26313F"/>
                </a:solidFill>
                <a:latin typeface="Work Sans" pitchFamily="34" charset="0"/>
                <a:ea typeface="Work Sans" pitchFamily="34" charset="-122"/>
                <a:cs typeface="Work Sans" pitchFamily="34" charset="-120"/>
              </a:rPr>
              <a:t>4. Shtoni 3 libra përmes Java me PreparedStatement</a:t>
            </a:r>
            <a:endParaRPr lang="en-US" sz="1550" dirty="0"/>
          </a:p>
          <a:p>
            <a:pPr indent="0" marL="0">
              <a:spcAft>
                <a:spcPts val="800"/>
              </a:spcAft>
              <a:buNone/>
            </a:pPr>
            <a:r>
              <a:rPr lang="en-US" sz="1300" dirty="0">
                <a:solidFill>
                  <a:srgbClr val="6A7889"/>
                </a:solidFill>
                <a:latin typeface="Work Sans" pitchFamily="34" charset="0"/>
                <a:ea typeface="Work Sans" pitchFamily="34" charset="-122"/>
                <a:cs typeface="Work Sans" pitchFamily="34" charset="-120"/>
              </a:rPr>
              <a:t>     Përdorni try-with-resources dhe verifikoni me SELECT në pgAdmin.</a:t>
            </a:r>
            <a:endParaRPr lang="en-US" sz="1550" dirty="0"/>
          </a:p>
        </p:txBody>
      </p:sp>
      <p:sp>
        <p:nvSpPr>
          <p:cNvPr id="8" name="Shape 5"/>
          <p:cNvSpPr/>
          <p:nvPr/>
        </p:nvSpPr>
        <p:spPr>
          <a:xfrm>
            <a:off x="685800" y="5349240"/>
            <a:ext cx="10789920" cy="777240"/>
          </a:xfrm>
          <a:prstGeom prst="roundRect">
            <a:avLst>
              <a:gd name="adj" fmla="val 11765"/>
            </a:avLst>
          </a:prstGeom>
          <a:solidFill>
            <a:srgbClr val="142033"/>
          </a:solidFill>
          <a:ln/>
        </p:spPr>
      </p:sp>
      <p:sp>
        <p:nvSpPr>
          <p:cNvPr id="9" name="Text 6"/>
          <p:cNvSpPr/>
          <p:nvPr/>
        </p:nvSpPr>
        <p:spPr>
          <a:xfrm>
            <a:off x="914400" y="5458968"/>
            <a:ext cx="10424160" cy="548640"/>
          </a:xfrm>
          <a:prstGeom prst="rect">
            <a:avLst/>
          </a:prstGeom>
          <a:noFill/>
          <a:ln/>
        </p:spPr>
        <p:txBody>
          <a:bodyPr wrap="square" rtlCol="0" anchor="ctr"/>
          <a:lstStyle/>
          <a:p>
            <a:pPr indent="0" marL="0">
              <a:buNone/>
            </a:pPr>
            <a:r>
              <a:rPr lang="en-US" sz="1400" b="1" dirty="0">
                <a:solidFill>
                  <a:srgbClr val="F6A63B"/>
                </a:solidFill>
                <a:latin typeface="Work Sans" pitchFamily="34" charset="0"/>
                <a:ea typeface="Work Sans" pitchFamily="34" charset="-122"/>
                <a:cs typeface="Work Sans" pitchFamily="34" charset="-120"/>
              </a:rPr>
              <a:t>Këshillë:  </a:t>
            </a:r>
            <a:pPr indent="0" marL="0">
              <a:buNone/>
            </a:pPr>
            <a:r>
              <a:rPr lang="en-US" sz="1400" dirty="0">
                <a:solidFill>
                  <a:srgbClr val="DBE2EA"/>
                </a:solidFill>
                <a:latin typeface="Work Sans" pitchFamily="34" charset="0"/>
                <a:ea typeface="Work Sans" pitchFamily="34" charset="-122"/>
                <a:cs typeface="Work Sans" pitchFamily="34" charset="-120"/>
              </a:rPr>
              <a:t>Ripërdorni kodin e sotëm — ndryshoni vetëm emrin e databazës, tabelës dhe vlerat.</a:t>
            </a:r>
            <a:endParaRPr lang="en-US" sz="1400" dirty="0"/>
          </a:p>
        </p:txBody>
      </p:sp>
      <p:sp>
        <p:nvSpPr>
          <p:cNvPr id="10" name="Text 7"/>
          <p:cNvSpPr/>
          <p:nvPr/>
        </p:nvSpPr>
        <p:spPr>
          <a:xfrm>
            <a:off x="11612880" y="6400800"/>
            <a:ext cx="457200" cy="274320"/>
          </a:xfrm>
          <a:prstGeom prst="rect">
            <a:avLst/>
          </a:prstGeom>
          <a:noFill/>
          <a:ln/>
        </p:spPr>
        <p:txBody>
          <a:bodyPr wrap="square" rtlCol="0" anchor="ctr"/>
          <a:lstStyle/>
          <a:p>
            <a:pPr algn="r" indent="0" marL="0">
              <a:buNone/>
            </a:pPr>
            <a:r>
              <a:rPr lang="en-US" sz="1100" dirty="0">
                <a:solidFill>
                  <a:srgbClr val="6A7889"/>
                </a:solidFill>
                <a:latin typeface="Work Sans" pitchFamily="34" charset="0"/>
                <a:ea typeface="Work Sans" pitchFamily="34" charset="-122"/>
                <a:cs typeface="Work Sans"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03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2033"/>
          </a:solidFill>
          <a:ln/>
        </p:spPr>
      </p:sp>
      <p:sp>
        <p:nvSpPr>
          <p:cNvPr id="3" name="Shape 1"/>
          <p:cNvSpPr/>
          <p:nvPr/>
        </p:nvSpPr>
        <p:spPr>
          <a:xfrm>
            <a:off x="0" y="4023360"/>
            <a:ext cx="12191695" cy="45720"/>
          </a:xfrm>
          <a:prstGeom prst="rect">
            <a:avLst/>
          </a:prstGeom>
          <a:solidFill>
            <a:srgbClr val="E8730C"/>
          </a:solidFill>
          <a:ln/>
        </p:spPr>
      </p:sp>
      <p:pic>
        <p:nvPicPr>
          <p:cNvPr id="4" name="Image 0" descr="preencoded.png">    </p:cNvPr>
          <p:cNvPicPr>
            <a:picLocks noChangeAspect="1"/>
          </p:cNvPicPr>
          <p:nvPr/>
        </p:nvPicPr>
        <p:blipFill>
          <a:blip r:embed="rId1"/>
          <a:stretch>
            <a:fillRect/>
          </a:stretch>
        </p:blipFill>
        <p:spPr>
          <a:xfrm>
            <a:off x="5632704" y="1234440"/>
            <a:ext cx="914400" cy="914400"/>
          </a:xfrm>
          <a:prstGeom prst="rect">
            <a:avLst/>
          </a:prstGeom>
        </p:spPr>
      </p:pic>
      <p:sp>
        <p:nvSpPr>
          <p:cNvPr id="5" name="Text 2"/>
          <p:cNvSpPr/>
          <p:nvPr/>
        </p:nvSpPr>
        <p:spPr>
          <a:xfrm>
            <a:off x="0" y="2286000"/>
            <a:ext cx="12191695" cy="822960"/>
          </a:xfrm>
          <a:prstGeom prst="rect">
            <a:avLst/>
          </a:prstGeom>
          <a:noFill/>
          <a:ln/>
        </p:spPr>
        <p:txBody>
          <a:bodyPr wrap="square" rtlCol="0" anchor="ctr"/>
          <a:lstStyle/>
          <a:p>
            <a:pPr algn="ctr" indent="0" marL="0">
              <a:buNone/>
            </a:pPr>
            <a:r>
              <a:rPr lang="en-US" sz="4400" b="1" dirty="0">
                <a:solidFill>
                  <a:srgbClr val="FFFFFF"/>
                </a:solidFill>
                <a:latin typeface="Poppins" pitchFamily="34" charset="0"/>
                <a:ea typeface="Poppins" pitchFamily="34" charset="-122"/>
                <a:cs typeface="Poppins" pitchFamily="34" charset="-120"/>
              </a:rPr>
              <a:t>Faleminderit!</a:t>
            </a:r>
            <a:endParaRPr lang="en-US" sz="4400" dirty="0"/>
          </a:p>
        </p:txBody>
      </p:sp>
      <p:sp>
        <p:nvSpPr>
          <p:cNvPr id="6" name="Text 3"/>
          <p:cNvSpPr/>
          <p:nvPr/>
        </p:nvSpPr>
        <p:spPr>
          <a:xfrm>
            <a:off x="0" y="3246120"/>
            <a:ext cx="12191695" cy="457200"/>
          </a:xfrm>
          <a:prstGeom prst="rect">
            <a:avLst/>
          </a:prstGeom>
          <a:noFill/>
          <a:ln/>
        </p:spPr>
        <p:txBody>
          <a:bodyPr wrap="square" rtlCol="0" anchor="ctr"/>
          <a:lstStyle/>
          <a:p>
            <a:pPr algn="ctr" indent="0" marL="0">
              <a:buNone/>
            </a:pPr>
            <a:r>
              <a:rPr lang="en-US" sz="1900" dirty="0">
                <a:solidFill>
                  <a:srgbClr val="DBE2EA"/>
                </a:solidFill>
                <a:latin typeface="Work Sans" pitchFamily="34" charset="0"/>
                <a:ea typeface="Work Sans" pitchFamily="34" charset="-122"/>
                <a:cs typeface="Work Sans" pitchFamily="34" charset="-120"/>
              </a:rPr>
              <a:t>Java tani ruan të dhëna reale në PostgreSQL</a:t>
            </a:r>
            <a:endParaRPr lang="en-US" sz="1900" dirty="0"/>
          </a:p>
        </p:txBody>
      </p:sp>
      <p:sp>
        <p:nvSpPr>
          <p:cNvPr id="7" name="Text 4"/>
          <p:cNvSpPr/>
          <p:nvPr/>
        </p:nvSpPr>
        <p:spPr>
          <a:xfrm>
            <a:off x="0" y="4297680"/>
            <a:ext cx="12191695" cy="457200"/>
          </a:xfrm>
          <a:prstGeom prst="rect">
            <a:avLst/>
          </a:prstGeom>
          <a:noFill/>
          <a:ln/>
        </p:spPr>
        <p:txBody>
          <a:bodyPr wrap="square" rtlCol="0" anchor="ctr"/>
          <a:lstStyle/>
          <a:p>
            <a:pPr algn="ctr" indent="0" marL="0">
              <a:buNone/>
            </a:pPr>
            <a:r>
              <a:rPr lang="en-US" sz="1500" i="1" dirty="0">
                <a:solidFill>
                  <a:srgbClr val="F6A63B"/>
                </a:solidFill>
                <a:latin typeface="Work Sans" pitchFamily="34" charset="0"/>
                <a:ea typeface="Work Sans" pitchFamily="34" charset="-122"/>
                <a:cs typeface="Work Sans" pitchFamily="34" charset="-120"/>
              </a:rPr>
              <a:t>Leksioni i ardhshëm: leximi (SELECT), përditësimi (UPDATE) dhe fshirja (DELETE) përmes Java</a:t>
            </a:r>
            <a:endParaRPr lang="en-US" sz="1500" dirty="0"/>
          </a:p>
        </p:txBody>
      </p:sp>
      <p:sp>
        <p:nvSpPr>
          <p:cNvPr id="8" name="Text 5"/>
          <p:cNvSpPr/>
          <p:nvPr/>
        </p:nvSpPr>
        <p:spPr>
          <a:xfrm>
            <a:off x="0" y="5029200"/>
            <a:ext cx="12191695" cy="457200"/>
          </a:xfrm>
          <a:prstGeom prst="rect">
            <a:avLst/>
          </a:prstGeom>
          <a:noFill/>
          <a:ln/>
        </p:spPr>
        <p:txBody>
          <a:bodyPr wrap="square"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Pyetje?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2026-09-25T08:54:42Z</dcterms:created>
  <dcterms:modified xsi:type="dcterms:W3CDTF">2026-09-25T08:54:42Z</dcterms:modified>
</cp:coreProperties>
</file>