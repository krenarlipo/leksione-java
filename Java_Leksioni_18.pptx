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embeddedFontLst>
    <p:embeddedFont>
      <p:font typeface="Poppins"/>
      <p:regular r:id="rId28"/>
      <p:bold r:id="rId29"/>
    </p:embeddedFont>
    <p:embeddedFont>
      <p:font typeface="Work Sans"/>
      <p:regular r:id="rId30"/>
      <p:bold r:id="rId31"/>
    </p:embeddedFont>
    <p:embeddedFont>
      <p:font typeface="JetBrains Mono"/>
      <p:regular r:id="rId32"/>
      <p:bold r:id="rId3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8" Type="http://schemas.openxmlformats.org/officeDocument/2006/relationships/font" Target="fonts/font1.fntdata"/><Relationship Id="rId29" Type="http://schemas.openxmlformats.org/officeDocument/2006/relationships/font" Target="fonts/font2.fntdata"/><Relationship Id="rId30" Type="http://schemas.openxmlformats.org/officeDocument/2006/relationships/font" Target="fonts/font3.fntdata"/><Relationship Id="rId31" Type="http://schemas.openxmlformats.org/officeDocument/2006/relationships/font" Target="fonts/font4.fntdata"/><Relationship Id="rId32" Type="http://schemas.openxmlformats.org/officeDocument/2006/relationships/font" Target="fonts/font5.fntdata"/><Relationship Id="rId33"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Mirë se erdhët në leksionin e përsëritjes. Sot bëjmë një udhëtim të shpejtë nëpër gjithë kursin — nga bazat e Java te bazat e të dhënave. Qëllimi është t'i lidhim të gjitha njohuritë dhe të theksojmë çfarë është më e rëndësishme për provimin. Në fund do t'ju tregoj gjashtë shembuj me kod të plotë që do t'i punojmë të premten, ditën e fundit para provimit.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Ky është plani për 70 minuta. Kalojmë njësi pas njësie, nga bazat te OOP, exceptions, Git, GUI, HashMap dhe baza të dhënash. Çdo njësi ka kohën e vet. I lëmë shtatë minutat e fundit për një listë kontrolli të provimit dhe për të parë gjashtë shembujt që do t'i zgjidhim të premten.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Ky është një pamje e përgjithshme e gjithçkaje që mbuluam. Fillimisht bazat e gjuhës Java. Pastaj programimi i orientuar nga objektet, që është shtylla kurrizore. Më pas Git-i për menaxhimin e kodit, ndërfaqet grafike me Swing, dhe në fund bazat e të dhënave. Këto gjashtë blloqe janë e gjithë harta e provimit.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Njësia e parë janë bazat. Studentët duhet të njohin tipet primitive dhe dallimin nga objektet si String. Kontrolli i rrjedhës me if, switch dhe unazat. Metodat me tipin kthyes dhe parametra. Vargjet që fillojnë nga indeksi zero. Për provim, theksoni dy gabime klasike: krahasimi i String me == në vend të equals, dhe dalja jashtë kufirit të vargut.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OOP është zemra e kursit. Klasa është plani, objekti është instanca konkrete me new. Enkapsulimi do të thotë fusha private të mbrojtura me getter dhe setter. Konstruktori inicializon objektin, ku this dallon fushën nga parametri. Trashëgimia me extends, ku super thërret konstruktorin e prindit. Përsërisni katër shtyllat e OOP — pyeten shpesh në provim.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Kjo njësi pyetet gjithmonë. Tabela tregon dallimin thelbësor: klasa abstrakte trashëgohet me extends dhe mund të ketë metoda konkrete, ndërsa interface zbatohet me implements dhe një klasë mund të zbatojë shumë. instanceof kontrollon tipin dhe me pattern-matching bën edhe cast-in automatikisht. Theksoni: klasa abstrakte nuk mund të instancohet me new. Override rishkruan metodën e prindit — baza e polimorfizmit.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Exception handling. try mban kodin që mund të dështojë, catch kap gabimin specifik, finally ekzekutohet gjithmonë. Dallimi throw kundrejt throws pyetet shpesh: throw hedh një exception, throws e deklaron te nënshkrimi i metodës. Checked exceptions si SQLException duhen kapur detyrimisht; unchecked si NullPointer ndodhin gjatë ekzekutimit. Kujtoni exception-in e personalizuar që trashëgon Exception.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Git-in e mbuluam në leksionin e tetë. Këto shtatë komanda janë thelbi. init krijon depon, add vë ndryshimet në staging, commit ruan një version me mesazh. push dhe pull sinkronizojnë me GitHub. branch dhe checkout menaxhojnë degët, dhe merge i bashkon. Për provim mjafton të dini çfarë bën secila dhe rrjedhën add → commit → push.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Ndërfaqet grafike me Swing i mbuluam në katër leksione. Komponentët kryesorë: JFrame është dritarja, brenda saj vendosim JButton, JLabel e të tjera. Ngjarjet trajtohen me addActionListener dhe metodën actionPerformed. Për vizatim përdorim paintComponent me objektin Graphics. Animacioni bëhet me Timer që thërret repaint. Djathtas shihni një maketë të numëruesit — pikërisht shembulli i pestë që do të kodojmë të premten.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HashMap ruan çifte çelës-vlerë me çelësa unikë. Metodat kryesore: put për të shtuar, get për të marrë, containsKey për të kontrolluar, size për numrin. Përparësia është shpejtësia e kërkimit. Kujdes në provim: put me një çelës që ekziston nuk shton të ri por përditëson vlerën ekzistuese. entrySet përdoret për të kaluar nëpër të gjitha çiftet me një unazë for-each.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JDBC lidh Java-n me bazat e të dhënave. Hapat: ndërto URL-në, hap lidhjen me getConnection, krijo një Statement ose PreparedStatement, ekzekuto, dhe mbyll. PreparedStatement me pikëpyetje mbron nga SQL Injection. Dallimi më i pyetur: executeUpdate për INSERT, UPDATE, DELETE kthen numrin e rreshtave; executeQuery për SELECT kthen një ResultSet që e lexojmë me rs.next dhe rs.getString. Kujtoni ndryshimin e URL-së midis Oracle dhe PostgreSQL.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Kjo është lista më e rëndësishme e leksionit. Nëse studentët dinë këto dhjetë gjëra, janë gati për pjesën më të madhe të provimit. Në të majtë konceptet e OOP dhe abstraksionit; në të djathtë exceptions, HashMap, JDBC dhe GUI. Lexojeni me zë secilën dhe pyesni nëse dikush ka paqartësi — kjo është dhjetëshja e artë e provimit.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Këto janë gabimet që humbasin pikë kot në provim. Krahasimi i String me == në vend të equals. NullPointerException nga objekte të painicializuara. Klasa publike duhet të ketë emrin e skedarit. Harresa e break-ut në switch. Mos-mbyllja e lidhjes me bazën — përdorni try-with-resources. Dhe ngatërrimi i executeQuery me executeUpdate. Paralajmërojini studentët për secilin.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Këto janë gjashtë shembujt që do t'i zgjidhim bashkë të premten, secili mbulon një njësi të kursit. Figura për OOP dhe polimorfizëm. Llogaria bankare për interface dhe exceptions. Statistika për vargje dhe metoda. Fjalori për HashMap. Numëruesi për GUI. Dhe baza e studentëve për JDBC. Të gjashtë i kam kodifikuar plotësisht dhe ekzekutuar — kodi i plotë me output real është në PDF-në që po ju jap sot, që ju të përgatiteni paraprakisht.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Faleminderit dhe suksese në përgatitje. Të premten do të jetë një orë praktike — zgjidhim bashkë gjashtë shembujt hap pas hapi, kështu që shikojeni PDF-në paraprakisht dhe sillni çdo pyetje. Përsëritni listën e kontrollit të provimit dhe gabimet e zakonshme. Tani hapim për pyetje.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slideLayout" Target="../slideLayouts/slideLayout1.xml"/><Relationship Id="rId1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1.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03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2033"/>
          </a:solidFill>
          <a:ln/>
        </p:spPr>
      </p:sp>
      <p:sp>
        <p:nvSpPr>
          <p:cNvPr id="3" name="Shape 1"/>
          <p:cNvSpPr/>
          <p:nvPr/>
        </p:nvSpPr>
        <p:spPr>
          <a:xfrm>
            <a:off x="0" y="5074920"/>
            <a:ext cx="12191695" cy="54864"/>
          </a:xfrm>
          <a:prstGeom prst="rect">
            <a:avLst/>
          </a:prstGeom>
          <a:solidFill>
            <a:srgbClr val="E8730C"/>
          </a:solidFill>
          <a:ln/>
        </p:spPr>
      </p:sp>
      <p:sp>
        <p:nvSpPr>
          <p:cNvPr id="4" name="Text 2"/>
          <p:cNvSpPr/>
          <p:nvPr/>
        </p:nvSpPr>
        <p:spPr>
          <a:xfrm>
            <a:off x="822960" y="1325880"/>
            <a:ext cx="7315200" cy="365760"/>
          </a:xfrm>
          <a:prstGeom prst="rect">
            <a:avLst/>
          </a:prstGeom>
          <a:noFill/>
          <a:ln/>
        </p:spPr>
        <p:txBody>
          <a:bodyPr wrap="square" rtlCol="0" anchor="ctr"/>
          <a:lstStyle/>
          <a:p>
            <a:pPr indent="0" marL="0">
              <a:buNone/>
            </a:pPr>
            <a:r>
              <a:rPr lang="en-US" sz="1500" b="1" spc="300" kern="0" dirty="0">
                <a:solidFill>
                  <a:srgbClr val="F6A63B"/>
                </a:solidFill>
                <a:latin typeface="Poppins" pitchFamily="34" charset="0"/>
                <a:ea typeface="Poppins" pitchFamily="34" charset="-122"/>
                <a:cs typeface="Poppins" pitchFamily="34" charset="-120"/>
              </a:rPr>
              <a:t>LEKSIONI 18</a:t>
            </a:r>
            <a:endParaRPr lang="en-US" sz="1500" dirty="0"/>
          </a:p>
        </p:txBody>
      </p:sp>
      <p:sp>
        <p:nvSpPr>
          <p:cNvPr id="5" name="Text 3"/>
          <p:cNvSpPr/>
          <p:nvPr/>
        </p:nvSpPr>
        <p:spPr>
          <a:xfrm>
            <a:off x="777240" y="1783080"/>
            <a:ext cx="10058400" cy="914400"/>
          </a:xfrm>
          <a:prstGeom prst="rect">
            <a:avLst/>
          </a:prstGeom>
          <a:noFill/>
          <a:ln/>
        </p:spPr>
        <p:txBody>
          <a:bodyPr wrap="square" rtlCol="0" anchor="ctr"/>
          <a:lstStyle/>
          <a:p>
            <a:pPr indent="0" marL="0">
              <a:buNone/>
            </a:pPr>
            <a:r>
              <a:rPr lang="en-US" sz="4200" b="1" dirty="0">
                <a:solidFill>
                  <a:srgbClr val="FFFFFF"/>
                </a:solidFill>
                <a:latin typeface="Poppins" pitchFamily="34" charset="0"/>
                <a:ea typeface="Poppins" pitchFamily="34" charset="-122"/>
                <a:cs typeface="Poppins" pitchFamily="34" charset="-120"/>
              </a:rPr>
              <a:t>Përsëritje e Përgjithshme</a:t>
            </a:r>
            <a:endParaRPr lang="en-US" sz="4200" dirty="0"/>
          </a:p>
        </p:txBody>
      </p:sp>
      <p:sp>
        <p:nvSpPr>
          <p:cNvPr id="6" name="Text 4"/>
          <p:cNvSpPr/>
          <p:nvPr/>
        </p:nvSpPr>
        <p:spPr>
          <a:xfrm>
            <a:off x="822960" y="2834640"/>
            <a:ext cx="10058400" cy="457200"/>
          </a:xfrm>
          <a:prstGeom prst="rect">
            <a:avLst/>
          </a:prstGeom>
          <a:noFill/>
          <a:ln/>
        </p:spPr>
        <p:txBody>
          <a:bodyPr wrap="square" rtlCol="0" anchor="ctr"/>
          <a:lstStyle/>
          <a:p>
            <a:pPr indent="0" marL="0">
              <a:buNone/>
            </a:pPr>
            <a:r>
              <a:rPr lang="en-US" sz="1900" dirty="0">
                <a:solidFill>
                  <a:srgbClr val="DBE2EA"/>
                </a:solidFill>
                <a:latin typeface="Work Sans" pitchFamily="34" charset="0"/>
                <a:ea typeface="Work Sans" pitchFamily="34" charset="-122"/>
                <a:cs typeface="Work Sans" pitchFamily="34" charset="-120"/>
              </a:rPr>
              <a:t>Gjithçka nga Leksioni 1 deri te 17 — përgatitje për provim</a:t>
            </a:r>
            <a:endParaRPr lang="en-US" sz="1900" dirty="0"/>
          </a:p>
        </p:txBody>
      </p:sp>
      <p:pic>
        <p:nvPicPr>
          <p:cNvPr id="7" name="Image 0" descr="preencoded.png">    </p:cNvPr>
          <p:cNvPicPr>
            <a:picLocks noChangeAspect="1"/>
          </p:cNvPicPr>
          <p:nvPr/>
        </p:nvPicPr>
        <p:blipFill>
          <a:blip r:embed="rId1"/>
          <a:stretch>
            <a:fillRect/>
          </a:stretch>
        </p:blipFill>
        <p:spPr>
          <a:xfrm>
            <a:off x="9784080" y="1188720"/>
            <a:ext cx="1600200" cy="1600200"/>
          </a:xfrm>
          <a:prstGeom prst="rect">
            <a:avLst/>
          </a:prstGeom>
        </p:spPr>
      </p:pic>
      <p:sp>
        <p:nvSpPr>
          <p:cNvPr id="8" name="Text 5"/>
          <p:cNvSpPr/>
          <p:nvPr/>
        </p:nvSpPr>
        <p:spPr>
          <a:xfrm>
            <a:off x="822960" y="5303520"/>
            <a:ext cx="9144000" cy="365760"/>
          </a:xfrm>
          <a:prstGeom prst="rect">
            <a:avLst/>
          </a:prstGeom>
          <a:noFill/>
          <a:ln/>
        </p:spPr>
        <p:txBody>
          <a:bodyPr wrap="square" rtlCol="0" anchor="ctr"/>
          <a:lstStyle/>
          <a:p>
            <a:pPr indent="0" marL="0">
              <a:buNone/>
            </a:pPr>
            <a:r>
              <a:rPr lang="en-US" sz="1400" dirty="0">
                <a:solidFill>
                  <a:srgbClr val="6A7889"/>
                </a:solidFill>
                <a:latin typeface="Work Sans" pitchFamily="34" charset="0"/>
                <a:ea typeface="Work Sans" pitchFamily="34" charset="-122"/>
                <a:cs typeface="Work Sans" pitchFamily="34" charset="-120"/>
              </a:rPr>
              <a:t>Programim në Java · Viti III — Informatikë</a:t>
            </a:r>
            <a:endParaRPr lang="en-US" sz="1400" dirty="0"/>
          </a:p>
        </p:txBody>
      </p:sp>
      <p:sp>
        <p:nvSpPr>
          <p:cNvPr id="9" name="Text 6"/>
          <p:cNvSpPr/>
          <p:nvPr/>
        </p:nvSpPr>
        <p:spPr>
          <a:xfrm>
            <a:off x="822960" y="5623560"/>
            <a:ext cx="9144000" cy="365760"/>
          </a:xfrm>
          <a:prstGeom prst="rect">
            <a:avLst/>
          </a:prstGeom>
          <a:noFill/>
          <a:ln/>
        </p:spPr>
        <p:txBody>
          <a:bodyPr wrap="square" rtlCol="0" anchor="ctr"/>
          <a:lstStyle/>
          <a:p>
            <a:pPr indent="0" marL="0">
              <a:buNone/>
            </a:pPr>
            <a:r>
              <a:rPr lang="en-US" sz="1300" i="1" dirty="0">
                <a:solidFill>
                  <a:srgbClr val="6A7889"/>
                </a:solidFill>
                <a:latin typeface="Work Sans" pitchFamily="34" charset="0"/>
                <a:ea typeface="Work Sans" pitchFamily="34" charset="-122"/>
                <a:cs typeface="Work Sans" pitchFamily="34" charset="-120"/>
              </a:rPr>
              <a:t>Universiteti i Tiranës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F2F5F9"/>
          </a:solidFill>
          <a:ln/>
        </p:spPr>
      </p:sp>
      <p:sp>
        <p:nvSpPr>
          <p:cNvPr id="3" name="Shape 1"/>
          <p:cNvSpPr/>
          <p:nvPr/>
        </p:nvSpPr>
        <p:spPr>
          <a:xfrm>
            <a:off x="0" y="1051560"/>
            <a:ext cx="12191695" cy="27432"/>
          </a:xfrm>
          <a:prstGeom prst="rect">
            <a:avLst/>
          </a:prstGeom>
          <a:solidFill>
            <a:srgbClr val="E8730C"/>
          </a:solidFill>
          <a:ln/>
        </p:spPr>
      </p:sp>
      <p:sp>
        <p:nvSpPr>
          <p:cNvPr id="4" name="Text 2"/>
          <p:cNvSpPr/>
          <p:nvPr/>
        </p:nvSpPr>
        <p:spPr>
          <a:xfrm>
            <a:off x="548640" y="182880"/>
            <a:ext cx="10972800" cy="274320"/>
          </a:xfrm>
          <a:prstGeom prst="rect">
            <a:avLst/>
          </a:prstGeom>
          <a:noFill/>
          <a:ln/>
        </p:spPr>
        <p:txBody>
          <a:bodyPr wrap="square" rtlCol="0" anchor="ctr"/>
          <a:lstStyle/>
          <a:p>
            <a:pPr indent="0" marL="0">
              <a:buNone/>
            </a:pPr>
            <a:r>
              <a:rPr lang="en-US" sz="1200" b="1" spc="200" kern="0" dirty="0">
                <a:solidFill>
                  <a:srgbClr val="E8730C"/>
                </a:solidFill>
                <a:latin typeface="Poppins" pitchFamily="34" charset="0"/>
                <a:ea typeface="Poppins" pitchFamily="34" charset="-122"/>
                <a:cs typeface="Poppins" pitchFamily="34" charset="-120"/>
              </a:rPr>
              <a:t>AGJENDA</a:t>
            </a:r>
            <a:endParaRPr lang="en-US" sz="1200" dirty="0"/>
          </a:p>
        </p:txBody>
      </p:sp>
      <p:sp>
        <p:nvSpPr>
          <p:cNvPr id="5" name="Text 3"/>
          <p:cNvSpPr/>
          <p:nvPr/>
        </p:nvSpPr>
        <p:spPr>
          <a:xfrm>
            <a:off x="548640" y="420624"/>
            <a:ext cx="11064240" cy="566928"/>
          </a:xfrm>
          <a:prstGeom prst="rect">
            <a:avLst/>
          </a:prstGeom>
          <a:noFill/>
          <a:ln/>
        </p:spPr>
        <p:txBody>
          <a:bodyPr wrap="square" rtlCol="0" anchor="ctr"/>
          <a:lstStyle/>
          <a:p>
            <a:pPr indent="0" marL="0">
              <a:buNone/>
            </a:pPr>
            <a:r>
              <a:rPr lang="en-US" sz="2600" b="1" dirty="0">
                <a:solidFill>
                  <a:srgbClr val="142033"/>
                </a:solidFill>
                <a:latin typeface="Poppins" pitchFamily="34" charset="0"/>
                <a:ea typeface="Poppins" pitchFamily="34" charset="-122"/>
                <a:cs typeface="Poppins" pitchFamily="34" charset="-120"/>
              </a:rPr>
              <a:t>Rruga e sotme e përsëritjes (70 min)</a:t>
            </a:r>
            <a:endParaRPr lang="en-US" sz="2600" dirty="0"/>
          </a:p>
        </p:txBody>
      </p:sp>
      <p:sp>
        <p:nvSpPr>
          <p:cNvPr id="6" name="Shape 4"/>
          <p:cNvSpPr/>
          <p:nvPr/>
        </p:nvSpPr>
        <p:spPr>
          <a:xfrm>
            <a:off x="548640" y="1371600"/>
            <a:ext cx="5394960" cy="841248"/>
          </a:xfrm>
          <a:prstGeom prst="roundRect">
            <a:avLst>
              <a:gd name="adj" fmla="val 8696"/>
            </a:avLst>
          </a:prstGeom>
          <a:solidFill>
            <a:srgbClr val="F2F5F9"/>
          </a:solidFill>
          <a:ln w="12700">
            <a:solidFill>
              <a:srgbClr val="DBE2EA"/>
            </a:solidFill>
            <a:prstDash val="solid"/>
          </a:ln>
        </p:spPr>
      </p:sp>
      <p:sp>
        <p:nvSpPr>
          <p:cNvPr id="7" name="Shape 5"/>
          <p:cNvSpPr/>
          <p:nvPr/>
        </p:nvSpPr>
        <p:spPr>
          <a:xfrm>
            <a:off x="731520" y="1591056"/>
            <a:ext cx="402336" cy="402336"/>
          </a:xfrm>
          <a:prstGeom prst="ellipse">
            <a:avLst/>
          </a:prstGeom>
          <a:solidFill>
            <a:srgbClr val="142033"/>
          </a:solidFill>
          <a:ln/>
        </p:spPr>
      </p:sp>
      <p:sp>
        <p:nvSpPr>
          <p:cNvPr id="8" name="Text 6"/>
          <p:cNvSpPr/>
          <p:nvPr/>
        </p:nvSpPr>
        <p:spPr>
          <a:xfrm>
            <a:off x="731520" y="1591056"/>
            <a:ext cx="402336" cy="402336"/>
          </a:xfrm>
          <a:prstGeom prst="rect">
            <a:avLst/>
          </a:prstGeom>
          <a:noFill/>
          <a:ln/>
        </p:spPr>
        <p:txBody>
          <a:bodyPr wrap="square" rtlCol="0" anchor="ctr"/>
          <a:lstStyle/>
          <a:p>
            <a:pPr algn="ctr" indent="0" marL="0">
              <a:buNone/>
            </a:pPr>
            <a:r>
              <a:rPr lang="en-US" sz="1500" b="1" dirty="0">
                <a:solidFill>
                  <a:srgbClr val="FFFFFF"/>
                </a:solidFill>
                <a:latin typeface="Poppins" pitchFamily="34" charset="0"/>
                <a:ea typeface="Poppins" pitchFamily="34" charset="-122"/>
                <a:cs typeface="Poppins" pitchFamily="34" charset="-120"/>
              </a:rPr>
              <a:t>1</a:t>
            </a:r>
            <a:endParaRPr lang="en-US" sz="1500" dirty="0"/>
          </a:p>
        </p:txBody>
      </p:sp>
      <p:pic>
        <p:nvPicPr>
          <p:cNvPr id="9" name="Image 0" descr="preencoded.png">    </p:cNvPr>
          <p:cNvPicPr>
            <a:picLocks noChangeAspect="1"/>
          </p:cNvPicPr>
          <p:nvPr/>
        </p:nvPicPr>
        <p:blipFill>
          <a:blip r:embed="rId1"/>
          <a:stretch>
            <a:fillRect/>
          </a:stretch>
        </p:blipFill>
        <p:spPr>
          <a:xfrm>
            <a:off x="1280160" y="1636776"/>
            <a:ext cx="310896" cy="310896"/>
          </a:xfrm>
          <a:prstGeom prst="rect">
            <a:avLst/>
          </a:prstGeom>
        </p:spPr>
      </p:pic>
      <p:sp>
        <p:nvSpPr>
          <p:cNvPr id="10" name="Text 7"/>
          <p:cNvSpPr/>
          <p:nvPr/>
        </p:nvSpPr>
        <p:spPr>
          <a:xfrm>
            <a:off x="1691640" y="1371600"/>
            <a:ext cx="3200400" cy="841248"/>
          </a:xfrm>
          <a:prstGeom prst="rect">
            <a:avLst/>
          </a:prstGeom>
          <a:noFill/>
          <a:ln/>
        </p:spPr>
        <p:txBody>
          <a:bodyPr wrap="square" rtlCol="0" anchor="ctr"/>
          <a:lstStyle/>
          <a:p>
            <a:pPr indent="0" marL="0">
              <a:buNone/>
            </a:pPr>
            <a:r>
              <a:rPr lang="en-US" sz="1250" b="1" dirty="0">
                <a:solidFill>
                  <a:srgbClr val="26313F"/>
                </a:solidFill>
                <a:latin typeface="Work Sans" pitchFamily="34" charset="0"/>
                <a:ea typeface="Work Sans" pitchFamily="34" charset="-122"/>
                <a:cs typeface="Work Sans" pitchFamily="34" charset="-120"/>
              </a:rPr>
              <a:t>Harta e kursit &amp; Bazat e Java</a:t>
            </a:r>
            <a:endParaRPr lang="en-US" sz="1250" dirty="0"/>
          </a:p>
        </p:txBody>
      </p:sp>
      <p:sp>
        <p:nvSpPr>
          <p:cNvPr id="11" name="Shape 8"/>
          <p:cNvSpPr/>
          <p:nvPr/>
        </p:nvSpPr>
        <p:spPr>
          <a:xfrm>
            <a:off x="4892040" y="1627632"/>
            <a:ext cx="914400" cy="329184"/>
          </a:xfrm>
          <a:prstGeom prst="roundRect">
            <a:avLst>
              <a:gd name="adj" fmla="val 50000"/>
            </a:avLst>
          </a:prstGeom>
          <a:solidFill>
            <a:srgbClr val="E8730C"/>
          </a:solidFill>
          <a:ln/>
        </p:spPr>
      </p:sp>
      <p:sp>
        <p:nvSpPr>
          <p:cNvPr id="12" name="Text 9"/>
          <p:cNvSpPr/>
          <p:nvPr/>
        </p:nvSpPr>
        <p:spPr>
          <a:xfrm>
            <a:off x="4892040" y="1627632"/>
            <a:ext cx="914400" cy="329184"/>
          </a:xfrm>
          <a:prstGeom prst="rect">
            <a:avLst/>
          </a:prstGeom>
          <a:noFill/>
          <a:ln/>
        </p:spPr>
        <p:txBody>
          <a:bodyPr wrap="square"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13 min</a:t>
            </a:r>
            <a:endParaRPr lang="en-US" sz="1050" dirty="0"/>
          </a:p>
        </p:txBody>
      </p:sp>
      <p:sp>
        <p:nvSpPr>
          <p:cNvPr id="13" name="Shape 10"/>
          <p:cNvSpPr/>
          <p:nvPr/>
        </p:nvSpPr>
        <p:spPr>
          <a:xfrm>
            <a:off x="548640" y="2340864"/>
            <a:ext cx="5394960" cy="841248"/>
          </a:xfrm>
          <a:prstGeom prst="roundRect">
            <a:avLst>
              <a:gd name="adj" fmla="val 8696"/>
            </a:avLst>
          </a:prstGeom>
          <a:solidFill>
            <a:srgbClr val="F2F5F9"/>
          </a:solidFill>
          <a:ln w="12700">
            <a:solidFill>
              <a:srgbClr val="DBE2EA"/>
            </a:solidFill>
            <a:prstDash val="solid"/>
          </a:ln>
        </p:spPr>
      </p:sp>
      <p:sp>
        <p:nvSpPr>
          <p:cNvPr id="14" name="Shape 11"/>
          <p:cNvSpPr/>
          <p:nvPr/>
        </p:nvSpPr>
        <p:spPr>
          <a:xfrm>
            <a:off x="731520" y="2560320"/>
            <a:ext cx="402336" cy="402336"/>
          </a:xfrm>
          <a:prstGeom prst="ellipse">
            <a:avLst/>
          </a:prstGeom>
          <a:solidFill>
            <a:srgbClr val="142033"/>
          </a:solidFill>
          <a:ln/>
        </p:spPr>
      </p:sp>
      <p:sp>
        <p:nvSpPr>
          <p:cNvPr id="15" name="Text 12"/>
          <p:cNvSpPr/>
          <p:nvPr/>
        </p:nvSpPr>
        <p:spPr>
          <a:xfrm>
            <a:off x="731520" y="2560320"/>
            <a:ext cx="402336" cy="402336"/>
          </a:xfrm>
          <a:prstGeom prst="rect">
            <a:avLst/>
          </a:prstGeom>
          <a:noFill/>
          <a:ln/>
        </p:spPr>
        <p:txBody>
          <a:bodyPr wrap="square" rtlCol="0" anchor="ctr"/>
          <a:lstStyle/>
          <a:p>
            <a:pPr algn="ctr" indent="0" marL="0">
              <a:buNone/>
            </a:pPr>
            <a:r>
              <a:rPr lang="en-US" sz="1500" b="1" dirty="0">
                <a:solidFill>
                  <a:srgbClr val="FFFFFF"/>
                </a:solidFill>
                <a:latin typeface="Poppins" pitchFamily="34" charset="0"/>
                <a:ea typeface="Poppins" pitchFamily="34" charset="-122"/>
                <a:cs typeface="Poppins" pitchFamily="34" charset="-120"/>
              </a:rPr>
              <a:t>2</a:t>
            </a:r>
            <a:endParaRPr lang="en-US" sz="1500" dirty="0"/>
          </a:p>
        </p:txBody>
      </p:sp>
      <p:pic>
        <p:nvPicPr>
          <p:cNvPr id="16" name="Image 1" descr="preencoded.png">    </p:cNvPr>
          <p:cNvPicPr>
            <a:picLocks noChangeAspect="1"/>
          </p:cNvPicPr>
          <p:nvPr/>
        </p:nvPicPr>
        <p:blipFill>
          <a:blip r:embed="rId2"/>
          <a:stretch>
            <a:fillRect/>
          </a:stretch>
        </p:blipFill>
        <p:spPr>
          <a:xfrm>
            <a:off x="1280160" y="2606040"/>
            <a:ext cx="310896" cy="310896"/>
          </a:xfrm>
          <a:prstGeom prst="rect">
            <a:avLst/>
          </a:prstGeom>
        </p:spPr>
      </p:pic>
      <p:sp>
        <p:nvSpPr>
          <p:cNvPr id="17" name="Text 13"/>
          <p:cNvSpPr/>
          <p:nvPr/>
        </p:nvSpPr>
        <p:spPr>
          <a:xfrm>
            <a:off x="1691640" y="2340864"/>
            <a:ext cx="3200400" cy="841248"/>
          </a:xfrm>
          <a:prstGeom prst="rect">
            <a:avLst/>
          </a:prstGeom>
          <a:noFill/>
          <a:ln/>
        </p:spPr>
        <p:txBody>
          <a:bodyPr wrap="square" rtlCol="0" anchor="ctr"/>
          <a:lstStyle/>
          <a:p>
            <a:pPr indent="0" marL="0">
              <a:buNone/>
            </a:pPr>
            <a:r>
              <a:rPr lang="en-US" sz="1250" b="1" dirty="0">
                <a:solidFill>
                  <a:srgbClr val="26313F"/>
                </a:solidFill>
                <a:latin typeface="Work Sans" pitchFamily="34" charset="0"/>
                <a:ea typeface="Work Sans" pitchFamily="34" charset="-122"/>
                <a:cs typeface="Work Sans" pitchFamily="34" charset="-120"/>
              </a:rPr>
              <a:t>OOP: klasa, objekte, trashëgimi</a:t>
            </a:r>
            <a:endParaRPr lang="en-US" sz="1250" dirty="0"/>
          </a:p>
        </p:txBody>
      </p:sp>
      <p:sp>
        <p:nvSpPr>
          <p:cNvPr id="18" name="Shape 14"/>
          <p:cNvSpPr/>
          <p:nvPr/>
        </p:nvSpPr>
        <p:spPr>
          <a:xfrm>
            <a:off x="4892040" y="2596896"/>
            <a:ext cx="914400" cy="329184"/>
          </a:xfrm>
          <a:prstGeom prst="roundRect">
            <a:avLst>
              <a:gd name="adj" fmla="val 50000"/>
            </a:avLst>
          </a:prstGeom>
          <a:solidFill>
            <a:srgbClr val="E8730C"/>
          </a:solidFill>
          <a:ln/>
        </p:spPr>
      </p:sp>
      <p:sp>
        <p:nvSpPr>
          <p:cNvPr id="19" name="Text 15"/>
          <p:cNvSpPr/>
          <p:nvPr/>
        </p:nvSpPr>
        <p:spPr>
          <a:xfrm>
            <a:off x="4892040" y="2596896"/>
            <a:ext cx="914400" cy="329184"/>
          </a:xfrm>
          <a:prstGeom prst="rect">
            <a:avLst/>
          </a:prstGeom>
          <a:noFill/>
          <a:ln/>
        </p:spPr>
        <p:txBody>
          <a:bodyPr wrap="square"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8 min</a:t>
            </a:r>
            <a:endParaRPr lang="en-US" sz="1050" dirty="0"/>
          </a:p>
        </p:txBody>
      </p:sp>
      <p:sp>
        <p:nvSpPr>
          <p:cNvPr id="20" name="Shape 16"/>
          <p:cNvSpPr/>
          <p:nvPr/>
        </p:nvSpPr>
        <p:spPr>
          <a:xfrm>
            <a:off x="548640" y="3310128"/>
            <a:ext cx="5394960" cy="841248"/>
          </a:xfrm>
          <a:prstGeom prst="roundRect">
            <a:avLst>
              <a:gd name="adj" fmla="val 8696"/>
            </a:avLst>
          </a:prstGeom>
          <a:solidFill>
            <a:srgbClr val="F2F5F9"/>
          </a:solidFill>
          <a:ln w="12700">
            <a:solidFill>
              <a:srgbClr val="DBE2EA"/>
            </a:solidFill>
            <a:prstDash val="solid"/>
          </a:ln>
        </p:spPr>
      </p:sp>
      <p:sp>
        <p:nvSpPr>
          <p:cNvPr id="21" name="Shape 17"/>
          <p:cNvSpPr/>
          <p:nvPr/>
        </p:nvSpPr>
        <p:spPr>
          <a:xfrm>
            <a:off x="731520" y="3529584"/>
            <a:ext cx="402336" cy="402336"/>
          </a:xfrm>
          <a:prstGeom prst="ellipse">
            <a:avLst/>
          </a:prstGeom>
          <a:solidFill>
            <a:srgbClr val="142033"/>
          </a:solidFill>
          <a:ln/>
        </p:spPr>
      </p:sp>
      <p:sp>
        <p:nvSpPr>
          <p:cNvPr id="22" name="Text 18"/>
          <p:cNvSpPr/>
          <p:nvPr/>
        </p:nvSpPr>
        <p:spPr>
          <a:xfrm>
            <a:off x="731520" y="3529584"/>
            <a:ext cx="402336" cy="402336"/>
          </a:xfrm>
          <a:prstGeom prst="rect">
            <a:avLst/>
          </a:prstGeom>
          <a:noFill/>
          <a:ln/>
        </p:spPr>
        <p:txBody>
          <a:bodyPr wrap="square" rtlCol="0" anchor="ctr"/>
          <a:lstStyle/>
          <a:p>
            <a:pPr algn="ctr" indent="0" marL="0">
              <a:buNone/>
            </a:pPr>
            <a:r>
              <a:rPr lang="en-US" sz="1500" b="1" dirty="0">
                <a:solidFill>
                  <a:srgbClr val="FFFFFF"/>
                </a:solidFill>
                <a:latin typeface="Poppins" pitchFamily="34" charset="0"/>
                <a:ea typeface="Poppins" pitchFamily="34" charset="-122"/>
                <a:cs typeface="Poppins" pitchFamily="34" charset="-120"/>
              </a:rPr>
              <a:t>3</a:t>
            </a:r>
            <a:endParaRPr lang="en-US" sz="1500" dirty="0"/>
          </a:p>
        </p:txBody>
      </p:sp>
      <p:pic>
        <p:nvPicPr>
          <p:cNvPr id="23" name="Image 2" descr="preencoded.png">    </p:cNvPr>
          <p:cNvPicPr>
            <a:picLocks noChangeAspect="1"/>
          </p:cNvPicPr>
          <p:nvPr/>
        </p:nvPicPr>
        <p:blipFill>
          <a:blip r:embed="rId3"/>
          <a:stretch>
            <a:fillRect/>
          </a:stretch>
        </p:blipFill>
        <p:spPr>
          <a:xfrm>
            <a:off x="1280160" y="3575304"/>
            <a:ext cx="310896" cy="310896"/>
          </a:xfrm>
          <a:prstGeom prst="rect">
            <a:avLst/>
          </a:prstGeom>
        </p:spPr>
      </p:pic>
      <p:sp>
        <p:nvSpPr>
          <p:cNvPr id="24" name="Text 19"/>
          <p:cNvSpPr/>
          <p:nvPr/>
        </p:nvSpPr>
        <p:spPr>
          <a:xfrm>
            <a:off x="1691640" y="3310128"/>
            <a:ext cx="3200400" cy="841248"/>
          </a:xfrm>
          <a:prstGeom prst="rect">
            <a:avLst/>
          </a:prstGeom>
          <a:noFill/>
          <a:ln/>
        </p:spPr>
        <p:txBody>
          <a:bodyPr wrap="square" rtlCol="0" anchor="ctr"/>
          <a:lstStyle/>
          <a:p>
            <a:pPr indent="0" marL="0">
              <a:buNone/>
            </a:pPr>
            <a:r>
              <a:rPr lang="en-US" sz="1250" b="1" dirty="0">
                <a:solidFill>
                  <a:srgbClr val="26313F"/>
                </a:solidFill>
                <a:latin typeface="Work Sans" pitchFamily="34" charset="0"/>
                <a:ea typeface="Work Sans" pitchFamily="34" charset="-122"/>
                <a:cs typeface="Work Sans" pitchFamily="34" charset="-120"/>
              </a:rPr>
              <a:t>Polimorfizmi, abstract &amp; interface</a:t>
            </a:r>
            <a:endParaRPr lang="en-US" sz="1250" dirty="0"/>
          </a:p>
        </p:txBody>
      </p:sp>
      <p:sp>
        <p:nvSpPr>
          <p:cNvPr id="25" name="Shape 20"/>
          <p:cNvSpPr/>
          <p:nvPr/>
        </p:nvSpPr>
        <p:spPr>
          <a:xfrm>
            <a:off x="4892040" y="3566160"/>
            <a:ext cx="914400" cy="329184"/>
          </a:xfrm>
          <a:prstGeom prst="roundRect">
            <a:avLst>
              <a:gd name="adj" fmla="val 50000"/>
            </a:avLst>
          </a:prstGeom>
          <a:solidFill>
            <a:srgbClr val="E8730C"/>
          </a:solidFill>
          <a:ln/>
        </p:spPr>
      </p:sp>
      <p:sp>
        <p:nvSpPr>
          <p:cNvPr id="26" name="Text 21"/>
          <p:cNvSpPr/>
          <p:nvPr/>
        </p:nvSpPr>
        <p:spPr>
          <a:xfrm>
            <a:off x="4892040" y="3566160"/>
            <a:ext cx="914400" cy="329184"/>
          </a:xfrm>
          <a:prstGeom prst="rect">
            <a:avLst/>
          </a:prstGeom>
          <a:noFill/>
          <a:ln/>
        </p:spPr>
        <p:txBody>
          <a:bodyPr wrap="square"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8 min</a:t>
            </a:r>
            <a:endParaRPr lang="en-US" sz="1050" dirty="0"/>
          </a:p>
        </p:txBody>
      </p:sp>
      <p:sp>
        <p:nvSpPr>
          <p:cNvPr id="27" name="Shape 22"/>
          <p:cNvSpPr/>
          <p:nvPr/>
        </p:nvSpPr>
        <p:spPr>
          <a:xfrm>
            <a:off x="548640" y="4279392"/>
            <a:ext cx="5394960" cy="841248"/>
          </a:xfrm>
          <a:prstGeom prst="roundRect">
            <a:avLst>
              <a:gd name="adj" fmla="val 8696"/>
            </a:avLst>
          </a:prstGeom>
          <a:solidFill>
            <a:srgbClr val="F2F5F9"/>
          </a:solidFill>
          <a:ln w="12700">
            <a:solidFill>
              <a:srgbClr val="DBE2EA"/>
            </a:solidFill>
            <a:prstDash val="solid"/>
          </a:ln>
        </p:spPr>
      </p:sp>
      <p:sp>
        <p:nvSpPr>
          <p:cNvPr id="28" name="Shape 23"/>
          <p:cNvSpPr/>
          <p:nvPr/>
        </p:nvSpPr>
        <p:spPr>
          <a:xfrm>
            <a:off x="731520" y="4498848"/>
            <a:ext cx="402336" cy="402336"/>
          </a:xfrm>
          <a:prstGeom prst="ellipse">
            <a:avLst/>
          </a:prstGeom>
          <a:solidFill>
            <a:srgbClr val="142033"/>
          </a:solidFill>
          <a:ln/>
        </p:spPr>
      </p:sp>
      <p:sp>
        <p:nvSpPr>
          <p:cNvPr id="29" name="Text 24"/>
          <p:cNvSpPr/>
          <p:nvPr/>
        </p:nvSpPr>
        <p:spPr>
          <a:xfrm>
            <a:off x="731520" y="4498848"/>
            <a:ext cx="402336" cy="402336"/>
          </a:xfrm>
          <a:prstGeom prst="rect">
            <a:avLst/>
          </a:prstGeom>
          <a:noFill/>
          <a:ln/>
        </p:spPr>
        <p:txBody>
          <a:bodyPr wrap="square" rtlCol="0" anchor="ctr"/>
          <a:lstStyle/>
          <a:p>
            <a:pPr algn="ctr" indent="0" marL="0">
              <a:buNone/>
            </a:pPr>
            <a:r>
              <a:rPr lang="en-US" sz="1500" b="1" dirty="0">
                <a:solidFill>
                  <a:srgbClr val="FFFFFF"/>
                </a:solidFill>
                <a:latin typeface="Poppins" pitchFamily="34" charset="0"/>
                <a:ea typeface="Poppins" pitchFamily="34" charset="-122"/>
                <a:cs typeface="Poppins" pitchFamily="34" charset="-120"/>
              </a:rPr>
              <a:t>4</a:t>
            </a:r>
            <a:endParaRPr lang="en-US" sz="1500" dirty="0"/>
          </a:p>
        </p:txBody>
      </p:sp>
      <p:pic>
        <p:nvPicPr>
          <p:cNvPr id="30" name="Image 3" descr="preencoded.png">    </p:cNvPr>
          <p:cNvPicPr>
            <a:picLocks noChangeAspect="1"/>
          </p:cNvPicPr>
          <p:nvPr/>
        </p:nvPicPr>
        <p:blipFill>
          <a:blip r:embed="rId4"/>
          <a:stretch>
            <a:fillRect/>
          </a:stretch>
        </p:blipFill>
        <p:spPr>
          <a:xfrm>
            <a:off x="1280160" y="4544568"/>
            <a:ext cx="310896" cy="310896"/>
          </a:xfrm>
          <a:prstGeom prst="rect">
            <a:avLst/>
          </a:prstGeom>
        </p:spPr>
      </p:pic>
      <p:sp>
        <p:nvSpPr>
          <p:cNvPr id="31" name="Text 25"/>
          <p:cNvSpPr/>
          <p:nvPr/>
        </p:nvSpPr>
        <p:spPr>
          <a:xfrm>
            <a:off x="1691640" y="4279392"/>
            <a:ext cx="3200400" cy="841248"/>
          </a:xfrm>
          <a:prstGeom prst="rect">
            <a:avLst/>
          </a:prstGeom>
          <a:noFill/>
          <a:ln/>
        </p:spPr>
        <p:txBody>
          <a:bodyPr wrap="square" rtlCol="0" anchor="ctr"/>
          <a:lstStyle/>
          <a:p>
            <a:pPr indent="0" marL="0">
              <a:buNone/>
            </a:pPr>
            <a:r>
              <a:rPr lang="en-US" sz="1250" b="1" dirty="0">
                <a:solidFill>
                  <a:srgbClr val="26313F"/>
                </a:solidFill>
                <a:latin typeface="Work Sans" pitchFamily="34" charset="0"/>
                <a:ea typeface="Work Sans" pitchFamily="34" charset="-122"/>
                <a:cs typeface="Work Sans" pitchFamily="34" charset="-120"/>
              </a:rPr>
              <a:t>Exception Handling</a:t>
            </a:r>
            <a:endParaRPr lang="en-US" sz="1250" dirty="0"/>
          </a:p>
        </p:txBody>
      </p:sp>
      <p:sp>
        <p:nvSpPr>
          <p:cNvPr id="32" name="Shape 26"/>
          <p:cNvSpPr/>
          <p:nvPr/>
        </p:nvSpPr>
        <p:spPr>
          <a:xfrm>
            <a:off x="4892040" y="4535424"/>
            <a:ext cx="914400" cy="329184"/>
          </a:xfrm>
          <a:prstGeom prst="roundRect">
            <a:avLst>
              <a:gd name="adj" fmla="val 50000"/>
            </a:avLst>
          </a:prstGeom>
          <a:solidFill>
            <a:srgbClr val="E8730C"/>
          </a:solidFill>
          <a:ln/>
        </p:spPr>
      </p:sp>
      <p:sp>
        <p:nvSpPr>
          <p:cNvPr id="33" name="Text 27"/>
          <p:cNvSpPr/>
          <p:nvPr/>
        </p:nvSpPr>
        <p:spPr>
          <a:xfrm>
            <a:off x="4892040" y="4535424"/>
            <a:ext cx="914400" cy="329184"/>
          </a:xfrm>
          <a:prstGeom prst="rect">
            <a:avLst/>
          </a:prstGeom>
          <a:noFill/>
          <a:ln/>
        </p:spPr>
        <p:txBody>
          <a:bodyPr wrap="square"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7 min</a:t>
            </a:r>
            <a:endParaRPr lang="en-US" sz="1050" dirty="0"/>
          </a:p>
        </p:txBody>
      </p:sp>
      <p:sp>
        <p:nvSpPr>
          <p:cNvPr id="34" name="Shape 28"/>
          <p:cNvSpPr/>
          <p:nvPr/>
        </p:nvSpPr>
        <p:spPr>
          <a:xfrm>
            <a:off x="548640" y="5248656"/>
            <a:ext cx="5394960" cy="841248"/>
          </a:xfrm>
          <a:prstGeom prst="roundRect">
            <a:avLst>
              <a:gd name="adj" fmla="val 8696"/>
            </a:avLst>
          </a:prstGeom>
          <a:solidFill>
            <a:srgbClr val="F2F5F9"/>
          </a:solidFill>
          <a:ln w="12700">
            <a:solidFill>
              <a:srgbClr val="DBE2EA"/>
            </a:solidFill>
            <a:prstDash val="solid"/>
          </a:ln>
        </p:spPr>
      </p:sp>
      <p:sp>
        <p:nvSpPr>
          <p:cNvPr id="35" name="Shape 29"/>
          <p:cNvSpPr/>
          <p:nvPr/>
        </p:nvSpPr>
        <p:spPr>
          <a:xfrm>
            <a:off x="731520" y="5468112"/>
            <a:ext cx="402336" cy="402336"/>
          </a:xfrm>
          <a:prstGeom prst="ellipse">
            <a:avLst/>
          </a:prstGeom>
          <a:solidFill>
            <a:srgbClr val="142033"/>
          </a:solidFill>
          <a:ln/>
        </p:spPr>
      </p:sp>
      <p:sp>
        <p:nvSpPr>
          <p:cNvPr id="36" name="Text 30"/>
          <p:cNvSpPr/>
          <p:nvPr/>
        </p:nvSpPr>
        <p:spPr>
          <a:xfrm>
            <a:off x="731520" y="5468112"/>
            <a:ext cx="402336" cy="402336"/>
          </a:xfrm>
          <a:prstGeom prst="rect">
            <a:avLst/>
          </a:prstGeom>
          <a:noFill/>
          <a:ln/>
        </p:spPr>
        <p:txBody>
          <a:bodyPr wrap="square" rtlCol="0" anchor="ctr"/>
          <a:lstStyle/>
          <a:p>
            <a:pPr algn="ctr" indent="0" marL="0">
              <a:buNone/>
            </a:pPr>
            <a:r>
              <a:rPr lang="en-US" sz="1500" b="1" dirty="0">
                <a:solidFill>
                  <a:srgbClr val="FFFFFF"/>
                </a:solidFill>
                <a:latin typeface="Poppins" pitchFamily="34" charset="0"/>
                <a:ea typeface="Poppins" pitchFamily="34" charset="-122"/>
                <a:cs typeface="Poppins" pitchFamily="34" charset="-120"/>
              </a:rPr>
              <a:t>5</a:t>
            </a:r>
            <a:endParaRPr lang="en-US" sz="1500" dirty="0"/>
          </a:p>
        </p:txBody>
      </p:sp>
      <p:pic>
        <p:nvPicPr>
          <p:cNvPr id="37" name="Image 4" descr="preencoded.png">    </p:cNvPr>
          <p:cNvPicPr>
            <a:picLocks noChangeAspect="1"/>
          </p:cNvPicPr>
          <p:nvPr/>
        </p:nvPicPr>
        <p:blipFill>
          <a:blip r:embed="rId5"/>
          <a:stretch>
            <a:fillRect/>
          </a:stretch>
        </p:blipFill>
        <p:spPr>
          <a:xfrm>
            <a:off x="1280160" y="5513832"/>
            <a:ext cx="310896" cy="310896"/>
          </a:xfrm>
          <a:prstGeom prst="rect">
            <a:avLst/>
          </a:prstGeom>
        </p:spPr>
      </p:pic>
      <p:sp>
        <p:nvSpPr>
          <p:cNvPr id="38" name="Text 31"/>
          <p:cNvSpPr/>
          <p:nvPr/>
        </p:nvSpPr>
        <p:spPr>
          <a:xfrm>
            <a:off x="1691640" y="5248656"/>
            <a:ext cx="3200400" cy="841248"/>
          </a:xfrm>
          <a:prstGeom prst="rect">
            <a:avLst/>
          </a:prstGeom>
          <a:noFill/>
          <a:ln/>
        </p:spPr>
        <p:txBody>
          <a:bodyPr wrap="square" rtlCol="0" anchor="ctr"/>
          <a:lstStyle/>
          <a:p>
            <a:pPr indent="0" marL="0">
              <a:buNone/>
            </a:pPr>
            <a:r>
              <a:rPr lang="en-US" sz="1250" b="1" dirty="0">
                <a:solidFill>
                  <a:srgbClr val="26313F"/>
                </a:solidFill>
                <a:latin typeface="Work Sans" pitchFamily="34" charset="0"/>
                <a:ea typeface="Work Sans" pitchFamily="34" charset="-122"/>
                <a:cs typeface="Work Sans" pitchFamily="34" charset="-120"/>
              </a:rPr>
              <a:t>Git — komandat kryesore</a:t>
            </a:r>
            <a:endParaRPr lang="en-US" sz="1250" dirty="0"/>
          </a:p>
        </p:txBody>
      </p:sp>
      <p:sp>
        <p:nvSpPr>
          <p:cNvPr id="39" name="Shape 32"/>
          <p:cNvSpPr/>
          <p:nvPr/>
        </p:nvSpPr>
        <p:spPr>
          <a:xfrm>
            <a:off x="4892040" y="5504688"/>
            <a:ext cx="914400" cy="329184"/>
          </a:xfrm>
          <a:prstGeom prst="roundRect">
            <a:avLst>
              <a:gd name="adj" fmla="val 50000"/>
            </a:avLst>
          </a:prstGeom>
          <a:solidFill>
            <a:srgbClr val="E8730C"/>
          </a:solidFill>
          <a:ln/>
        </p:spPr>
      </p:sp>
      <p:sp>
        <p:nvSpPr>
          <p:cNvPr id="40" name="Text 33"/>
          <p:cNvSpPr/>
          <p:nvPr/>
        </p:nvSpPr>
        <p:spPr>
          <a:xfrm>
            <a:off x="4892040" y="5504688"/>
            <a:ext cx="914400" cy="329184"/>
          </a:xfrm>
          <a:prstGeom prst="rect">
            <a:avLst/>
          </a:prstGeom>
          <a:noFill/>
          <a:ln/>
        </p:spPr>
        <p:txBody>
          <a:bodyPr wrap="square"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5 min</a:t>
            </a:r>
            <a:endParaRPr lang="en-US" sz="1050" dirty="0"/>
          </a:p>
        </p:txBody>
      </p:sp>
      <p:sp>
        <p:nvSpPr>
          <p:cNvPr id="41" name="Shape 34"/>
          <p:cNvSpPr/>
          <p:nvPr/>
        </p:nvSpPr>
        <p:spPr>
          <a:xfrm>
            <a:off x="6263640" y="1371600"/>
            <a:ext cx="5394960" cy="841248"/>
          </a:xfrm>
          <a:prstGeom prst="roundRect">
            <a:avLst>
              <a:gd name="adj" fmla="val 8696"/>
            </a:avLst>
          </a:prstGeom>
          <a:solidFill>
            <a:srgbClr val="F2F5F9"/>
          </a:solidFill>
          <a:ln w="12700">
            <a:solidFill>
              <a:srgbClr val="DBE2EA"/>
            </a:solidFill>
            <a:prstDash val="solid"/>
          </a:ln>
        </p:spPr>
      </p:sp>
      <p:sp>
        <p:nvSpPr>
          <p:cNvPr id="42" name="Shape 35"/>
          <p:cNvSpPr/>
          <p:nvPr/>
        </p:nvSpPr>
        <p:spPr>
          <a:xfrm>
            <a:off x="6446520" y="1591056"/>
            <a:ext cx="402336" cy="402336"/>
          </a:xfrm>
          <a:prstGeom prst="ellipse">
            <a:avLst/>
          </a:prstGeom>
          <a:solidFill>
            <a:srgbClr val="142033"/>
          </a:solidFill>
          <a:ln/>
        </p:spPr>
      </p:sp>
      <p:sp>
        <p:nvSpPr>
          <p:cNvPr id="43" name="Text 36"/>
          <p:cNvSpPr/>
          <p:nvPr/>
        </p:nvSpPr>
        <p:spPr>
          <a:xfrm>
            <a:off x="6446520" y="1591056"/>
            <a:ext cx="402336" cy="402336"/>
          </a:xfrm>
          <a:prstGeom prst="rect">
            <a:avLst/>
          </a:prstGeom>
          <a:noFill/>
          <a:ln/>
        </p:spPr>
        <p:txBody>
          <a:bodyPr wrap="square" rtlCol="0" anchor="ctr"/>
          <a:lstStyle/>
          <a:p>
            <a:pPr algn="ctr" indent="0" marL="0">
              <a:buNone/>
            </a:pPr>
            <a:r>
              <a:rPr lang="en-US" sz="1500" b="1" dirty="0">
                <a:solidFill>
                  <a:srgbClr val="FFFFFF"/>
                </a:solidFill>
                <a:latin typeface="Poppins" pitchFamily="34" charset="0"/>
                <a:ea typeface="Poppins" pitchFamily="34" charset="-122"/>
                <a:cs typeface="Poppins" pitchFamily="34" charset="-120"/>
              </a:rPr>
              <a:t>6</a:t>
            </a:r>
            <a:endParaRPr lang="en-US" sz="1500" dirty="0"/>
          </a:p>
        </p:txBody>
      </p:sp>
      <p:pic>
        <p:nvPicPr>
          <p:cNvPr id="44" name="Image 5" descr="preencoded.png">    </p:cNvPr>
          <p:cNvPicPr>
            <a:picLocks noChangeAspect="1"/>
          </p:cNvPicPr>
          <p:nvPr/>
        </p:nvPicPr>
        <p:blipFill>
          <a:blip r:embed="rId6"/>
          <a:stretch>
            <a:fillRect/>
          </a:stretch>
        </p:blipFill>
        <p:spPr>
          <a:xfrm>
            <a:off x="6995160" y="1636776"/>
            <a:ext cx="310896" cy="310896"/>
          </a:xfrm>
          <a:prstGeom prst="rect">
            <a:avLst/>
          </a:prstGeom>
        </p:spPr>
      </p:pic>
      <p:sp>
        <p:nvSpPr>
          <p:cNvPr id="45" name="Text 37"/>
          <p:cNvSpPr/>
          <p:nvPr/>
        </p:nvSpPr>
        <p:spPr>
          <a:xfrm>
            <a:off x="7406640" y="1371600"/>
            <a:ext cx="3200400" cy="841248"/>
          </a:xfrm>
          <a:prstGeom prst="rect">
            <a:avLst/>
          </a:prstGeom>
          <a:noFill/>
          <a:ln/>
        </p:spPr>
        <p:txBody>
          <a:bodyPr wrap="square" rtlCol="0" anchor="ctr"/>
          <a:lstStyle/>
          <a:p>
            <a:pPr indent="0" marL="0">
              <a:buNone/>
            </a:pPr>
            <a:r>
              <a:rPr lang="en-US" sz="1250" b="1" dirty="0">
                <a:solidFill>
                  <a:srgbClr val="26313F"/>
                </a:solidFill>
                <a:latin typeface="Work Sans" pitchFamily="34" charset="0"/>
                <a:ea typeface="Work Sans" pitchFamily="34" charset="-122"/>
                <a:cs typeface="Work Sans" pitchFamily="34" charset="-120"/>
              </a:rPr>
              <a:t>Java GUI (Swing)</a:t>
            </a:r>
            <a:endParaRPr lang="en-US" sz="1250" dirty="0"/>
          </a:p>
        </p:txBody>
      </p:sp>
      <p:sp>
        <p:nvSpPr>
          <p:cNvPr id="46" name="Shape 38"/>
          <p:cNvSpPr/>
          <p:nvPr/>
        </p:nvSpPr>
        <p:spPr>
          <a:xfrm>
            <a:off x="10607040" y="1627632"/>
            <a:ext cx="914400" cy="329184"/>
          </a:xfrm>
          <a:prstGeom prst="roundRect">
            <a:avLst>
              <a:gd name="adj" fmla="val 50000"/>
            </a:avLst>
          </a:prstGeom>
          <a:solidFill>
            <a:srgbClr val="E8730C"/>
          </a:solidFill>
          <a:ln/>
        </p:spPr>
      </p:sp>
      <p:sp>
        <p:nvSpPr>
          <p:cNvPr id="47" name="Text 39"/>
          <p:cNvSpPr/>
          <p:nvPr/>
        </p:nvSpPr>
        <p:spPr>
          <a:xfrm>
            <a:off x="10607040" y="1627632"/>
            <a:ext cx="914400" cy="329184"/>
          </a:xfrm>
          <a:prstGeom prst="rect">
            <a:avLst/>
          </a:prstGeom>
          <a:noFill/>
          <a:ln/>
        </p:spPr>
        <p:txBody>
          <a:bodyPr wrap="square"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8 min</a:t>
            </a:r>
            <a:endParaRPr lang="en-US" sz="1050" dirty="0"/>
          </a:p>
        </p:txBody>
      </p:sp>
      <p:sp>
        <p:nvSpPr>
          <p:cNvPr id="48" name="Shape 40"/>
          <p:cNvSpPr/>
          <p:nvPr/>
        </p:nvSpPr>
        <p:spPr>
          <a:xfrm>
            <a:off x="6263640" y="2340864"/>
            <a:ext cx="5394960" cy="841248"/>
          </a:xfrm>
          <a:prstGeom prst="roundRect">
            <a:avLst>
              <a:gd name="adj" fmla="val 8696"/>
            </a:avLst>
          </a:prstGeom>
          <a:solidFill>
            <a:srgbClr val="F2F5F9"/>
          </a:solidFill>
          <a:ln w="12700">
            <a:solidFill>
              <a:srgbClr val="DBE2EA"/>
            </a:solidFill>
            <a:prstDash val="solid"/>
          </a:ln>
        </p:spPr>
      </p:sp>
      <p:sp>
        <p:nvSpPr>
          <p:cNvPr id="49" name="Shape 41"/>
          <p:cNvSpPr/>
          <p:nvPr/>
        </p:nvSpPr>
        <p:spPr>
          <a:xfrm>
            <a:off x="6446520" y="2560320"/>
            <a:ext cx="402336" cy="402336"/>
          </a:xfrm>
          <a:prstGeom prst="ellipse">
            <a:avLst/>
          </a:prstGeom>
          <a:solidFill>
            <a:srgbClr val="142033"/>
          </a:solidFill>
          <a:ln/>
        </p:spPr>
      </p:sp>
      <p:sp>
        <p:nvSpPr>
          <p:cNvPr id="50" name="Text 42"/>
          <p:cNvSpPr/>
          <p:nvPr/>
        </p:nvSpPr>
        <p:spPr>
          <a:xfrm>
            <a:off x="6446520" y="2560320"/>
            <a:ext cx="402336" cy="402336"/>
          </a:xfrm>
          <a:prstGeom prst="rect">
            <a:avLst/>
          </a:prstGeom>
          <a:noFill/>
          <a:ln/>
        </p:spPr>
        <p:txBody>
          <a:bodyPr wrap="square" rtlCol="0" anchor="ctr"/>
          <a:lstStyle/>
          <a:p>
            <a:pPr algn="ctr" indent="0" marL="0">
              <a:buNone/>
            </a:pPr>
            <a:r>
              <a:rPr lang="en-US" sz="1500" b="1" dirty="0">
                <a:solidFill>
                  <a:srgbClr val="FFFFFF"/>
                </a:solidFill>
                <a:latin typeface="Poppins" pitchFamily="34" charset="0"/>
                <a:ea typeface="Poppins" pitchFamily="34" charset="-122"/>
                <a:cs typeface="Poppins" pitchFamily="34" charset="-120"/>
              </a:rPr>
              <a:t>7</a:t>
            </a:r>
            <a:endParaRPr lang="en-US" sz="1500" dirty="0"/>
          </a:p>
        </p:txBody>
      </p:sp>
      <p:pic>
        <p:nvPicPr>
          <p:cNvPr id="51" name="Image 6" descr="preencoded.png">    </p:cNvPr>
          <p:cNvPicPr>
            <a:picLocks noChangeAspect="1"/>
          </p:cNvPicPr>
          <p:nvPr/>
        </p:nvPicPr>
        <p:blipFill>
          <a:blip r:embed="rId7"/>
          <a:stretch>
            <a:fillRect/>
          </a:stretch>
        </p:blipFill>
        <p:spPr>
          <a:xfrm>
            <a:off x="6995160" y="2606040"/>
            <a:ext cx="310896" cy="310896"/>
          </a:xfrm>
          <a:prstGeom prst="rect">
            <a:avLst/>
          </a:prstGeom>
        </p:spPr>
      </p:pic>
      <p:sp>
        <p:nvSpPr>
          <p:cNvPr id="52" name="Text 43"/>
          <p:cNvSpPr/>
          <p:nvPr/>
        </p:nvSpPr>
        <p:spPr>
          <a:xfrm>
            <a:off x="7406640" y="2340864"/>
            <a:ext cx="3200400" cy="841248"/>
          </a:xfrm>
          <a:prstGeom prst="rect">
            <a:avLst/>
          </a:prstGeom>
          <a:noFill/>
          <a:ln/>
        </p:spPr>
        <p:txBody>
          <a:bodyPr wrap="square" rtlCol="0" anchor="ctr"/>
          <a:lstStyle/>
          <a:p>
            <a:pPr indent="0" marL="0">
              <a:buNone/>
            </a:pPr>
            <a:r>
              <a:rPr lang="en-US" sz="1250" b="1" dirty="0">
                <a:solidFill>
                  <a:srgbClr val="26313F"/>
                </a:solidFill>
                <a:latin typeface="Work Sans" pitchFamily="34" charset="0"/>
                <a:ea typeface="Work Sans" pitchFamily="34" charset="-122"/>
                <a:cs typeface="Work Sans" pitchFamily="34" charset="-120"/>
              </a:rPr>
              <a:t>HashMap &amp; Hash Tables</a:t>
            </a:r>
            <a:endParaRPr lang="en-US" sz="1250" dirty="0"/>
          </a:p>
        </p:txBody>
      </p:sp>
      <p:sp>
        <p:nvSpPr>
          <p:cNvPr id="53" name="Shape 44"/>
          <p:cNvSpPr/>
          <p:nvPr/>
        </p:nvSpPr>
        <p:spPr>
          <a:xfrm>
            <a:off x="10607040" y="2596896"/>
            <a:ext cx="914400" cy="329184"/>
          </a:xfrm>
          <a:prstGeom prst="roundRect">
            <a:avLst>
              <a:gd name="adj" fmla="val 50000"/>
            </a:avLst>
          </a:prstGeom>
          <a:solidFill>
            <a:srgbClr val="E8730C"/>
          </a:solidFill>
          <a:ln/>
        </p:spPr>
      </p:sp>
      <p:sp>
        <p:nvSpPr>
          <p:cNvPr id="54" name="Text 45"/>
          <p:cNvSpPr/>
          <p:nvPr/>
        </p:nvSpPr>
        <p:spPr>
          <a:xfrm>
            <a:off x="10607040" y="2596896"/>
            <a:ext cx="914400" cy="329184"/>
          </a:xfrm>
          <a:prstGeom prst="rect">
            <a:avLst/>
          </a:prstGeom>
          <a:noFill/>
          <a:ln/>
        </p:spPr>
        <p:txBody>
          <a:bodyPr wrap="square"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6 min</a:t>
            </a:r>
            <a:endParaRPr lang="en-US" sz="1050" dirty="0"/>
          </a:p>
        </p:txBody>
      </p:sp>
      <p:sp>
        <p:nvSpPr>
          <p:cNvPr id="55" name="Shape 46"/>
          <p:cNvSpPr/>
          <p:nvPr/>
        </p:nvSpPr>
        <p:spPr>
          <a:xfrm>
            <a:off x="6263640" y="3310128"/>
            <a:ext cx="5394960" cy="841248"/>
          </a:xfrm>
          <a:prstGeom prst="roundRect">
            <a:avLst>
              <a:gd name="adj" fmla="val 8696"/>
            </a:avLst>
          </a:prstGeom>
          <a:solidFill>
            <a:srgbClr val="F2F5F9"/>
          </a:solidFill>
          <a:ln w="12700">
            <a:solidFill>
              <a:srgbClr val="DBE2EA"/>
            </a:solidFill>
            <a:prstDash val="solid"/>
          </a:ln>
        </p:spPr>
      </p:sp>
      <p:sp>
        <p:nvSpPr>
          <p:cNvPr id="56" name="Shape 47"/>
          <p:cNvSpPr/>
          <p:nvPr/>
        </p:nvSpPr>
        <p:spPr>
          <a:xfrm>
            <a:off x="6446520" y="3529584"/>
            <a:ext cx="402336" cy="402336"/>
          </a:xfrm>
          <a:prstGeom prst="ellipse">
            <a:avLst/>
          </a:prstGeom>
          <a:solidFill>
            <a:srgbClr val="142033"/>
          </a:solidFill>
          <a:ln/>
        </p:spPr>
      </p:sp>
      <p:sp>
        <p:nvSpPr>
          <p:cNvPr id="57" name="Text 48"/>
          <p:cNvSpPr/>
          <p:nvPr/>
        </p:nvSpPr>
        <p:spPr>
          <a:xfrm>
            <a:off x="6446520" y="3529584"/>
            <a:ext cx="402336" cy="402336"/>
          </a:xfrm>
          <a:prstGeom prst="rect">
            <a:avLst/>
          </a:prstGeom>
          <a:noFill/>
          <a:ln/>
        </p:spPr>
        <p:txBody>
          <a:bodyPr wrap="square" rtlCol="0" anchor="ctr"/>
          <a:lstStyle/>
          <a:p>
            <a:pPr algn="ctr" indent="0" marL="0">
              <a:buNone/>
            </a:pPr>
            <a:r>
              <a:rPr lang="en-US" sz="1500" b="1" dirty="0">
                <a:solidFill>
                  <a:srgbClr val="FFFFFF"/>
                </a:solidFill>
                <a:latin typeface="Poppins" pitchFamily="34" charset="0"/>
                <a:ea typeface="Poppins" pitchFamily="34" charset="-122"/>
                <a:cs typeface="Poppins" pitchFamily="34" charset="-120"/>
              </a:rPr>
              <a:t>8</a:t>
            </a:r>
            <a:endParaRPr lang="en-US" sz="1500" dirty="0"/>
          </a:p>
        </p:txBody>
      </p:sp>
      <p:pic>
        <p:nvPicPr>
          <p:cNvPr id="58" name="Image 7" descr="preencoded.png">    </p:cNvPr>
          <p:cNvPicPr>
            <a:picLocks noChangeAspect="1"/>
          </p:cNvPicPr>
          <p:nvPr/>
        </p:nvPicPr>
        <p:blipFill>
          <a:blip r:embed="rId8"/>
          <a:stretch>
            <a:fillRect/>
          </a:stretch>
        </p:blipFill>
        <p:spPr>
          <a:xfrm>
            <a:off x="6995160" y="3575304"/>
            <a:ext cx="310896" cy="310896"/>
          </a:xfrm>
          <a:prstGeom prst="rect">
            <a:avLst/>
          </a:prstGeom>
        </p:spPr>
      </p:pic>
      <p:sp>
        <p:nvSpPr>
          <p:cNvPr id="59" name="Text 49"/>
          <p:cNvSpPr/>
          <p:nvPr/>
        </p:nvSpPr>
        <p:spPr>
          <a:xfrm>
            <a:off x="7406640" y="3310128"/>
            <a:ext cx="3200400" cy="841248"/>
          </a:xfrm>
          <a:prstGeom prst="rect">
            <a:avLst/>
          </a:prstGeom>
          <a:noFill/>
          <a:ln/>
        </p:spPr>
        <p:txBody>
          <a:bodyPr wrap="square" rtlCol="0" anchor="ctr"/>
          <a:lstStyle/>
          <a:p>
            <a:pPr indent="0" marL="0">
              <a:buNone/>
            </a:pPr>
            <a:r>
              <a:rPr lang="en-US" sz="1250" b="1" dirty="0">
                <a:solidFill>
                  <a:srgbClr val="26313F"/>
                </a:solidFill>
                <a:latin typeface="Work Sans" pitchFamily="34" charset="0"/>
                <a:ea typeface="Work Sans" pitchFamily="34" charset="-122"/>
                <a:cs typeface="Work Sans" pitchFamily="34" charset="-120"/>
              </a:rPr>
              <a:t>Baza të dhënash me JDBC</a:t>
            </a:r>
            <a:endParaRPr lang="en-US" sz="1250" dirty="0"/>
          </a:p>
        </p:txBody>
      </p:sp>
      <p:sp>
        <p:nvSpPr>
          <p:cNvPr id="60" name="Shape 50"/>
          <p:cNvSpPr/>
          <p:nvPr/>
        </p:nvSpPr>
        <p:spPr>
          <a:xfrm>
            <a:off x="10607040" y="3566160"/>
            <a:ext cx="914400" cy="329184"/>
          </a:xfrm>
          <a:prstGeom prst="roundRect">
            <a:avLst>
              <a:gd name="adj" fmla="val 50000"/>
            </a:avLst>
          </a:prstGeom>
          <a:solidFill>
            <a:srgbClr val="E8730C"/>
          </a:solidFill>
          <a:ln/>
        </p:spPr>
      </p:sp>
      <p:sp>
        <p:nvSpPr>
          <p:cNvPr id="61" name="Text 51"/>
          <p:cNvSpPr/>
          <p:nvPr/>
        </p:nvSpPr>
        <p:spPr>
          <a:xfrm>
            <a:off x="10607040" y="3566160"/>
            <a:ext cx="914400" cy="329184"/>
          </a:xfrm>
          <a:prstGeom prst="rect">
            <a:avLst/>
          </a:prstGeom>
          <a:noFill/>
          <a:ln/>
        </p:spPr>
        <p:txBody>
          <a:bodyPr wrap="square"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8 min</a:t>
            </a:r>
            <a:endParaRPr lang="en-US" sz="1050" dirty="0"/>
          </a:p>
        </p:txBody>
      </p:sp>
      <p:sp>
        <p:nvSpPr>
          <p:cNvPr id="62" name="Shape 52"/>
          <p:cNvSpPr/>
          <p:nvPr/>
        </p:nvSpPr>
        <p:spPr>
          <a:xfrm>
            <a:off x="6263640" y="4279392"/>
            <a:ext cx="5394960" cy="841248"/>
          </a:xfrm>
          <a:prstGeom prst="roundRect">
            <a:avLst>
              <a:gd name="adj" fmla="val 8696"/>
            </a:avLst>
          </a:prstGeom>
          <a:solidFill>
            <a:srgbClr val="F2F5F9"/>
          </a:solidFill>
          <a:ln w="12700">
            <a:solidFill>
              <a:srgbClr val="DBE2EA"/>
            </a:solidFill>
            <a:prstDash val="solid"/>
          </a:ln>
        </p:spPr>
      </p:sp>
      <p:sp>
        <p:nvSpPr>
          <p:cNvPr id="63" name="Shape 53"/>
          <p:cNvSpPr/>
          <p:nvPr/>
        </p:nvSpPr>
        <p:spPr>
          <a:xfrm>
            <a:off x="6446520" y="4498848"/>
            <a:ext cx="402336" cy="402336"/>
          </a:xfrm>
          <a:prstGeom prst="ellipse">
            <a:avLst/>
          </a:prstGeom>
          <a:solidFill>
            <a:srgbClr val="142033"/>
          </a:solidFill>
          <a:ln/>
        </p:spPr>
      </p:sp>
      <p:sp>
        <p:nvSpPr>
          <p:cNvPr id="64" name="Text 54"/>
          <p:cNvSpPr/>
          <p:nvPr/>
        </p:nvSpPr>
        <p:spPr>
          <a:xfrm>
            <a:off x="6446520" y="4498848"/>
            <a:ext cx="402336" cy="402336"/>
          </a:xfrm>
          <a:prstGeom prst="rect">
            <a:avLst/>
          </a:prstGeom>
          <a:noFill/>
          <a:ln/>
        </p:spPr>
        <p:txBody>
          <a:bodyPr wrap="square" rtlCol="0" anchor="ctr"/>
          <a:lstStyle/>
          <a:p>
            <a:pPr algn="ctr" indent="0" marL="0">
              <a:buNone/>
            </a:pPr>
            <a:r>
              <a:rPr lang="en-US" sz="1500" b="1" dirty="0">
                <a:solidFill>
                  <a:srgbClr val="FFFFFF"/>
                </a:solidFill>
                <a:latin typeface="Poppins" pitchFamily="34" charset="0"/>
                <a:ea typeface="Poppins" pitchFamily="34" charset="-122"/>
                <a:cs typeface="Poppins" pitchFamily="34" charset="-120"/>
              </a:rPr>
              <a:t>9</a:t>
            </a:r>
            <a:endParaRPr lang="en-US" sz="1500" dirty="0"/>
          </a:p>
        </p:txBody>
      </p:sp>
      <p:pic>
        <p:nvPicPr>
          <p:cNvPr id="65" name="Image 8" descr="preencoded.png">    </p:cNvPr>
          <p:cNvPicPr>
            <a:picLocks noChangeAspect="1"/>
          </p:cNvPicPr>
          <p:nvPr/>
        </p:nvPicPr>
        <p:blipFill>
          <a:blip r:embed="rId9"/>
          <a:stretch>
            <a:fillRect/>
          </a:stretch>
        </p:blipFill>
        <p:spPr>
          <a:xfrm>
            <a:off x="6995160" y="4544568"/>
            <a:ext cx="310896" cy="310896"/>
          </a:xfrm>
          <a:prstGeom prst="rect">
            <a:avLst/>
          </a:prstGeom>
        </p:spPr>
      </p:pic>
      <p:sp>
        <p:nvSpPr>
          <p:cNvPr id="66" name="Text 55"/>
          <p:cNvSpPr/>
          <p:nvPr/>
        </p:nvSpPr>
        <p:spPr>
          <a:xfrm>
            <a:off x="7406640" y="4279392"/>
            <a:ext cx="3200400" cy="841248"/>
          </a:xfrm>
          <a:prstGeom prst="rect">
            <a:avLst/>
          </a:prstGeom>
          <a:noFill/>
          <a:ln/>
        </p:spPr>
        <p:txBody>
          <a:bodyPr wrap="square" rtlCol="0" anchor="ctr"/>
          <a:lstStyle/>
          <a:p>
            <a:pPr indent="0" marL="0">
              <a:buNone/>
            </a:pPr>
            <a:r>
              <a:rPr lang="en-US" sz="1250" b="1" dirty="0">
                <a:solidFill>
                  <a:srgbClr val="26313F"/>
                </a:solidFill>
                <a:latin typeface="Work Sans" pitchFamily="34" charset="0"/>
                <a:ea typeface="Work Sans" pitchFamily="34" charset="-122"/>
                <a:cs typeface="Work Sans" pitchFamily="34" charset="-120"/>
              </a:rPr>
              <a:t>Për provimin + 6 shembujt e së premtes</a:t>
            </a:r>
            <a:endParaRPr lang="en-US" sz="1250" dirty="0"/>
          </a:p>
        </p:txBody>
      </p:sp>
      <p:sp>
        <p:nvSpPr>
          <p:cNvPr id="67" name="Shape 56"/>
          <p:cNvSpPr/>
          <p:nvPr/>
        </p:nvSpPr>
        <p:spPr>
          <a:xfrm>
            <a:off x="10607040" y="4535424"/>
            <a:ext cx="914400" cy="329184"/>
          </a:xfrm>
          <a:prstGeom prst="roundRect">
            <a:avLst>
              <a:gd name="adj" fmla="val 50000"/>
            </a:avLst>
          </a:prstGeom>
          <a:solidFill>
            <a:srgbClr val="E8730C"/>
          </a:solidFill>
          <a:ln/>
        </p:spPr>
      </p:sp>
      <p:sp>
        <p:nvSpPr>
          <p:cNvPr id="68" name="Text 57"/>
          <p:cNvSpPr/>
          <p:nvPr/>
        </p:nvSpPr>
        <p:spPr>
          <a:xfrm>
            <a:off x="10607040" y="4535424"/>
            <a:ext cx="914400" cy="329184"/>
          </a:xfrm>
          <a:prstGeom prst="rect">
            <a:avLst/>
          </a:prstGeom>
          <a:noFill/>
          <a:ln/>
        </p:spPr>
        <p:txBody>
          <a:bodyPr wrap="square"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7 min</a:t>
            </a:r>
            <a:endParaRPr lang="en-US" sz="1050" dirty="0"/>
          </a:p>
        </p:txBody>
      </p:sp>
      <p:sp>
        <p:nvSpPr>
          <p:cNvPr id="69" name="Text 58"/>
          <p:cNvSpPr/>
          <p:nvPr/>
        </p:nvSpPr>
        <p:spPr>
          <a:xfrm>
            <a:off x="11612880" y="6400800"/>
            <a:ext cx="457200" cy="274320"/>
          </a:xfrm>
          <a:prstGeom prst="rect">
            <a:avLst/>
          </a:prstGeom>
          <a:noFill/>
          <a:ln/>
        </p:spPr>
        <p:txBody>
          <a:bodyPr wrap="square" rtlCol="0" anchor="ctr"/>
          <a:lstStyle/>
          <a:p>
            <a:pPr algn="r" indent="0" marL="0">
              <a:buNone/>
            </a:pPr>
            <a:r>
              <a:rPr lang="en-US" sz="1100" dirty="0">
                <a:solidFill>
                  <a:srgbClr val="6A7889"/>
                </a:solidFill>
                <a:latin typeface="Work Sans" pitchFamily="34" charset="0"/>
                <a:ea typeface="Work Sans" pitchFamily="34" charset="-122"/>
                <a:cs typeface="Work Sans"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F2F5F9"/>
          </a:solidFill>
          <a:ln/>
        </p:spPr>
      </p:sp>
      <p:sp>
        <p:nvSpPr>
          <p:cNvPr id="3" name="Shape 1"/>
          <p:cNvSpPr/>
          <p:nvPr/>
        </p:nvSpPr>
        <p:spPr>
          <a:xfrm>
            <a:off x="0" y="1051560"/>
            <a:ext cx="12191695" cy="27432"/>
          </a:xfrm>
          <a:prstGeom prst="rect">
            <a:avLst/>
          </a:prstGeom>
          <a:solidFill>
            <a:srgbClr val="E8730C"/>
          </a:solidFill>
          <a:ln/>
        </p:spPr>
      </p:sp>
      <p:sp>
        <p:nvSpPr>
          <p:cNvPr id="4" name="Text 2"/>
          <p:cNvSpPr/>
          <p:nvPr/>
        </p:nvSpPr>
        <p:spPr>
          <a:xfrm>
            <a:off x="548640" y="182880"/>
            <a:ext cx="10972800" cy="274320"/>
          </a:xfrm>
          <a:prstGeom prst="rect">
            <a:avLst/>
          </a:prstGeom>
          <a:noFill/>
          <a:ln/>
        </p:spPr>
        <p:txBody>
          <a:bodyPr wrap="square" rtlCol="0" anchor="ctr"/>
          <a:lstStyle/>
          <a:p>
            <a:pPr indent="0" marL="0">
              <a:buNone/>
            </a:pPr>
            <a:r>
              <a:rPr lang="en-US" sz="1200" b="1" spc="200" kern="0" dirty="0">
                <a:solidFill>
                  <a:srgbClr val="E8730C"/>
                </a:solidFill>
                <a:latin typeface="Poppins" pitchFamily="34" charset="0"/>
                <a:ea typeface="Poppins" pitchFamily="34" charset="-122"/>
                <a:cs typeface="Poppins" pitchFamily="34" charset="-120"/>
              </a:rPr>
              <a:t>HARTA E KURSIT</a:t>
            </a:r>
            <a:endParaRPr lang="en-US" sz="1200" dirty="0"/>
          </a:p>
        </p:txBody>
      </p:sp>
      <p:sp>
        <p:nvSpPr>
          <p:cNvPr id="5" name="Text 3"/>
          <p:cNvSpPr/>
          <p:nvPr/>
        </p:nvSpPr>
        <p:spPr>
          <a:xfrm>
            <a:off x="548640" y="420624"/>
            <a:ext cx="11064240" cy="566928"/>
          </a:xfrm>
          <a:prstGeom prst="rect">
            <a:avLst/>
          </a:prstGeom>
          <a:noFill/>
          <a:ln/>
        </p:spPr>
        <p:txBody>
          <a:bodyPr wrap="square" rtlCol="0" anchor="ctr"/>
          <a:lstStyle/>
          <a:p>
            <a:pPr indent="0" marL="0">
              <a:buNone/>
            </a:pPr>
            <a:r>
              <a:rPr lang="en-US" sz="2600" b="1" dirty="0">
                <a:solidFill>
                  <a:srgbClr val="142033"/>
                </a:solidFill>
                <a:latin typeface="Poppins" pitchFamily="34" charset="0"/>
                <a:ea typeface="Poppins" pitchFamily="34" charset="-122"/>
                <a:cs typeface="Poppins" pitchFamily="34" charset="-120"/>
              </a:rPr>
              <a:t>Nga ku nisëm — deri ku arritëm</a:t>
            </a:r>
            <a:endParaRPr lang="en-US" sz="2600" dirty="0"/>
          </a:p>
        </p:txBody>
      </p:sp>
      <p:sp>
        <p:nvSpPr>
          <p:cNvPr id="6" name="Shape 4"/>
          <p:cNvSpPr/>
          <p:nvPr/>
        </p:nvSpPr>
        <p:spPr>
          <a:xfrm>
            <a:off x="548640" y="1417320"/>
            <a:ext cx="3566160" cy="2148840"/>
          </a:xfrm>
          <a:prstGeom prst="roundRect">
            <a:avLst>
              <a:gd name="adj" fmla="val 4255"/>
            </a:avLst>
          </a:prstGeom>
          <a:solidFill>
            <a:srgbClr val="F2F5F9"/>
          </a:solidFill>
          <a:ln w="12700">
            <a:solidFill>
              <a:srgbClr val="DBE2EA"/>
            </a:solidFill>
            <a:prstDash val="solid"/>
          </a:ln>
        </p:spPr>
      </p:sp>
      <p:sp>
        <p:nvSpPr>
          <p:cNvPr id="7" name="Shape 5"/>
          <p:cNvSpPr/>
          <p:nvPr/>
        </p:nvSpPr>
        <p:spPr>
          <a:xfrm>
            <a:off x="548640" y="1417320"/>
            <a:ext cx="3566160" cy="73152"/>
          </a:xfrm>
          <a:prstGeom prst="rect">
            <a:avLst/>
          </a:prstGeom>
          <a:solidFill>
            <a:srgbClr val="E8730C"/>
          </a:solidFill>
          <a:ln/>
        </p:spPr>
      </p:sp>
      <p:pic>
        <p:nvPicPr>
          <p:cNvPr id="8" name="Image 0" descr="preencoded.png">    </p:cNvPr>
          <p:cNvPicPr>
            <a:picLocks noChangeAspect="1"/>
          </p:cNvPicPr>
          <p:nvPr/>
        </p:nvPicPr>
        <p:blipFill>
          <a:blip r:embed="rId1"/>
          <a:stretch>
            <a:fillRect/>
          </a:stretch>
        </p:blipFill>
        <p:spPr>
          <a:xfrm>
            <a:off x="804672" y="1691640"/>
            <a:ext cx="548640" cy="548640"/>
          </a:xfrm>
          <a:prstGeom prst="rect">
            <a:avLst/>
          </a:prstGeom>
        </p:spPr>
      </p:pic>
      <p:sp>
        <p:nvSpPr>
          <p:cNvPr id="9" name="Shape 6"/>
          <p:cNvSpPr/>
          <p:nvPr/>
        </p:nvSpPr>
        <p:spPr>
          <a:xfrm>
            <a:off x="3154680" y="1709928"/>
            <a:ext cx="777240" cy="365760"/>
          </a:xfrm>
          <a:prstGeom prst="roundRect">
            <a:avLst>
              <a:gd name="adj" fmla="val 50000"/>
            </a:avLst>
          </a:prstGeom>
          <a:solidFill>
            <a:srgbClr val="142033"/>
          </a:solidFill>
          <a:ln/>
        </p:spPr>
      </p:sp>
      <p:sp>
        <p:nvSpPr>
          <p:cNvPr id="10" name="Text 7"/>
          <p:cNvSpPr/>
          <p:nvPr/>
        </p:nvSpPr>
        <p:spPr>
          <a:xfrm>
            <a:off x="3154680" y="1709928"/>
            <a:ext cx="777240" cy="365760"/>
          </a:xfrm>
          <a:prstGeom prst="rect">
            <a:avLst/>
          </a:prstGeom>
          <a:noFill/>
          <a:ln/>
        </p:spPr>
        <p:txBody>
          <a:bodyPr wrap="square" rtlCol="0" anchor="ctr"/>
          <a:lstStyle/>
          <a:p>
            <a:pPr algn="ctr" indent="0" marL="0">
              <a:buNone/>
            </a:pPr>
            <a:r>
              <a:rPr lang="en-US" sz="1100" b="1" dirty="0">
                <a:solidFill>
                  <a:srgbClr val="FFFFFF"/>
                </a:solidFill>
                <a:latin typeface="Work Sans" pitchFamily="34" charset="0"/>
                <a:ea typeface="Work Sans" pitchFamily="34" charset="-122"/>
                <a:cs typeface="Work Sans" pitchFamily="34" charset="-120"/>
              </a:rPr>
              <a:t>L1–L5</a:t>
            </a:r>
            <a:endParaRPr lang="en-US" sz="1100" dirty="0"/>
          </a:p>
        </p:txBody>
      </p:sp>
      <p:sp>
        <p:nvSpPr>
          <p:cNvPr id="11" name="Text 8"/>
          <p:cNvSpPr/>
          <p:nvPr/>
        </p:nvSpPr>
        <p:spPr>
          <a:xfrm>
            <a:off x="804672" y="2331720"/>
            <a:ext cx="3108960" cy="457200"/>
          </a:xfrm>
          <a:prstGeom prst="rect">
            <a:avLst/>
          </a:prstGeom>
          <a:noFill/>
          <a:ln/>
        </p:spPr>
        <p:txBody>
          <a:bodyPr wrap="square" rtlCol="0" anchor="ctr"/>
          <a:lstStyle/>
          <a:p>
            <a:pPr indent="0" marL="0">
              <a:buNone/>
            </a:pPr>
            <a:r>
              <a:rPr lang="en-US" sz="1600" b="1" dirty="0">
                <a:solidFill>
                  <a:srgbClr val="142033"/>
                </a:solidFill>
                <a:latin typeface="Poppins" pitchFamily="34" charset="0"/>
                <a:ea typeface="Poppins" pitchFamily="34" charset="-122"/>
                <a:cs typeface="Poppins" pitchFamily="34" charset="-120"/>
              </a:rPr>
              <a:t>Bazat e Java</a:t>
            </a:r>
            <a:endParaRPr lang="en-US" sz="1600" dirty="0"/>
          </a:p>
        </p:txBody>
      </p:sp>
      <p:sp>
        <p:nvSpPr>
          <p:cNvPr id="12" name="Text 9"/>
          <p:cNvSpPr/>
          <p:nvPr/>
        </p:nvSpPr>
        <p:spPr>
          <a:xfrm>
            <a:off x="804672" y="2834640"/>
            <a:ext cx="3108960" cy="640080"/>
          </a:xfrm>
          <a:prstGeom prst="rect">
            <a:avLst/>
          </a:prstGeom>
          <a:noFill/>
          <a:ln/>
        </p:spPr>
        <p:txBody>
          <a:bodyPr wrap="square" rtlCol="0" anchor="t"/>
          <a:lstStyle/>
          <a:p>
            <a:pPr indent="0" marL="0">
              <a:buNone/>
            </a:pPr>
            <a:r>
              <a:rPr lang="en-US" sz="1200" dirty="0">
                <a:solidFill>
                  <a:srgbClr val="26313F"/>
                </a:solidFill>
                <a:latin typeface="Work Sans" pitchFamily="34" charset="0"/>
                <a:ea typeface="Work Sans" pitchFamily="34" charset="-122"/>
                <a:cs typeface="Work Sans" pitchFamily="34" charset="-120"/>
              </a:rPr>
              <a:t>Variabla, tipe, unaza, metoda, vargje, String</a:t>
            </a:r>
            <a:endParaRPr lang="en-US" sz="1200" dirty="0"/>
          </a:p>
        </p:txBody>
      </p:sp>
      <p:sp>
        <p:nvSpPr>
          <p:cNvPr id="13" name="Shape 10"/>
          <p:cNvSpPr/>
          <p:nvPr/>
        </p:nvSpPr>
        <p:spPr>
          <a:xfrm>
            <a:off x="4315968" y="1417320"/>
            <a:ext cx="3566160" cy="2148840"/>
          </a:xfrm>
          <a:prstGeom prst="roundRect">
            <a:avLst>
              <a:gd name="adj" fmla="val 4255"/>
            </a:avLst>
          </a:prstGeom>
          <a:solidFill>
            <a:srgbClr val="F2F5F9"/>
          </a:solidFill>
          <a:ln w="12700">
            <a:solidFill>
              <a:srgbClr val="DBE2EA"/>
            </a:solidFill>
            <a:prstDash val="solid"/>
          </a:ln>
        </p:spPr>
      </p:sp>
      <p:sp>
        <p:nvSpPr>
          <p:cNvPr id="14" name="Shape 11"/>
          <p:cNvSpPr/>
          <p:nvPr/>
        </p:nvSpPr>
        <p:spPr>
          <a:xfrm>
            <a:off x="4315968" y="1417320"/>
            <a:ext cx="3566160" cy="73152"/>
          </a:xfrm>
          <a:prstGeom prst="rect">
            <a:avLst/>
          </a:prstGeom>
          <a:solidFill>
            <a:srgbClr val="5FB3E0"/>
          </a:solidFill>
          <a:ln/>
        </p:spPr>
      </p:sp>
      <p:pic>
        <p:nvPicPr>
          <p:cNvPr id="15" name="Image 1" descr="preencoded.png">    </p:cNvPr>
          <p:cNvPicPr>
            <a:picLocks noChangeAspect="1"/>
          </p:cNvPicPr>
          <p:nvPr/>
        </p:nvPicPr>
        <p:blipFill>
          <a:blip r:embed="rId2"/>
          <a:stretch>
            <a:fillRect/>
          </a:stretch>
        </p:blipFill>
        <p:spPr>
          <a:xfrm>
            <a:off x="4572000" y="1691640"/>
            <a:ext cx="548640" cy="548640"/>
          </a:xfrm>
          <a:prstGeom prst="rect">
            <a:avLst/>
          </a:prstGeom>
        </p:spPr>
      </p:pic>
      <p:sp>
        <p:nvSpPr>
          <p:cNvPr id="16" name="Shape 12"/>
          <p:cNvSpPr/>
          <p:nvPr/>
        </p:nvSpPr>
        <p:spPr>
          <a:xfrm>
            <a:off x="6922008" y="1709928"/>
            <a:ext cx="777240" cy="365760"/>
          </a:xfrm>
          <a:prstGeom prst="roundRect">
            <a:avLst>
              <a:gd name="adj" fmla="val 50000"/>
            </a:avLst>
          </a:prstGeom>
          <a:solidFill>
            <a:srgbClr val="142033"/>
          </a:solidFill>
          <a:ln/>
        </p:spPr>
      </p:sp>
      <p:sp>
        <p:nvSpPr>
          <p:cNvPr id="17" name="Text 13"/>
          <p:cNvSpPr/>
          <p:nvPr/>
        </p:nvSpPr>
        <p:spPr>
          <a:xfrm>
            <a:off x="6922008" y="1709928"/>
            <a:ext cx="777240" cy="365760"/>
          </a:xfrm>
          <a:prstGeom prst="rect">
            <a:avLst/>
          </a:prstGeom>
          <a:noFill/>
          <a:ln/>
        </p:spPr>
        <p:txBody>
          <a:bodyPr wrap="square" rtlCol="0" anchor="ctr"/>
          <a:lstStyle/>
          <a:p>
            <a:pPr algn="ctr" indent="0" marL="0">
              <a:buNone/>
            </a:pPr>
            <a:r>
              <a:rPr lang="en-US" sz="1100" b="1" dirty="0">
                <a:solidFill>
                  <a:srgbClr val="FFFFFF"/>
                </a:solidFill>
                <a:latin typeface="Work Sans" pitchFamily="34" charset="0"/>
                <a:ea typeface="Work Sans" pitchFamily="34" charset="-122"/>
                <a:cs typeface="Work Sans" pitchFamily="34" charset="-120"/>
              </a:rPr>
              <a:t>L6–L9</a:t>
            </a:r>
            <a:endParaRPr lang="en-US" sz="1100" dirty="0"/>
          </a:p>
        </p:txBody>
      </p:sp>
      <p:sp>
        <p:nvSpPr>
          <p:cNvPr id="18" name="Text 14"/>
          <p:cNvSpPr/>
          <p:nvPr/>
        </p:nvSpPr>
        <p:spPr>
          <a:xfrm>
            <a:off x="4572000" y="2331720"/>
            <a:ext cx="3108960" cy="457200"/>
          </a:xfrm>
          <a:prstGeom prst="rect">
            <a:avLst/>
          </a:prstGeom>
          <a:noFill/>
          <a:ln/>
        </p:spPr>
        <p:txBody>
          <a:bodyPr wrap="square" rtlCol="0" anchor="ctr"/>
          <a:lstStyle/>
          <a:p>
            <a:pPr indent="0" marL="0">
              <a:buNone/>
            </a:pPr>
            <a:r>
              <a:rPr lang="en-US" sz="1600" b="1" dirty="0">
                <a:solidFill>
                  <a:srgbClr val="142033"/>
                </a:solidFill>
                <a:latin typeface="Poppins" pitchFamily="34" charset="0"/>
                <a:ea typeface="Poppins" pitchFamily="34" charset="-122"/>
                <a:cs typeface="Poppins" pitchFamily="34" charset="-120"/>
              </a:rPr>
              <a:t>OOP</a:t>
            </a:r>
            <a:endParaRPr lang="en-US" sz="1600" dirty="0"/>
          </a:p>
        </p:txBody>
      </p:sp>
      <p:sp>
        <p:nvSpPr>
          <p:cNvPr id="19" name="Text 15"/>
          <p:cNvSpPr/>
          <p:nvPr/>
        </p:nvSpPr>
        <p:spPr>
          <a:xfrm>
            <a:off x="4572000" y="2834640"/>
            <a:ext cx="3108960" cy="640080"/>
          </a:xfrm>
          <a:prstGeom prst="rect">
            <a:avLst/>
          </a:prstGeom>
          <a:noFill/>
          <a:ln/>
        </p:spPr>
        <p:txBody>
          <a:bodyPr wrap="square" rtlCol="0" anchor="t"/>
          <a:lstStyle/>
          <a:p>
            <a:pPr indent="0" marL="0">
              <a:buNone/>
            </a:pPr>
            <a:r>
              <a:rPr lang="en-US" sz="1200" dirty="0">
                <a:solidFill>
                  <a:srgbClr val="26313F"/>
                </a:solidFill>
                <a:latin typeface="Work Sans" pitchFamily="34" charset="0"/>
                <a:ea typeface="Work Sans" pitchFamily="34" charset="-122"/>
                <a:cs typeface="Work Sans" pitchFamily="34" charset="-120"/>
              </a:rPr>
              <a:t>Klasa, objekte, trashëgimi, polimorfizëm</a:t>
            </a:r>
            <a:endParaRPr lang="en-US" sz="1200" dirty="0"/>
          </a:p>
        </p:txBody>
      </p:sp>
      <p:sp>
        <p:nvSpPr>
          <p:cNvPr id="20" name="Shape 16"/>
          <p:cNvSpPr/>
          <p:nvPr/>
        </p:nvSpPr>
        <p:spPr>
          <a:xfrm>
            <a:off x="8083296" y="1417320"/>
            <a:ext cx="3566160" cy="2148840"/>
          </a:xfrm>
          <a:prstGeom prst="roundRect">
            <a:avLst>
              <a:gd name="adj" fmla="val 4255"/>
            </a:avLst>
          </a:prstGeom>
          <a:solidFill>
            <a:srgbClr val="F2F5F9"/>
          </a:solidFill>
          <a:ln w="12700">
            <a:solidFill>
              <a:srgbClr val="DBE2EA"/>
            </a:solidFill>
            <a:prstDash val="solid"/>
          </a:ln>
        </p:spPr>
      </p:sp>
      <p:sp>
        <p:nvSpPr>
          <p:cNvPr id="21" name="Shape 17"/>
          <p:cNvSpPr/>
          <p:nvPr/>
        </p:nvSpPr>
        <p:spPr>
          <a:xfrm>
            <a:off x="8083296" y="1417320"/>
            <a:ext cx="3566160" cy="73152"/>
          </a:xfrm>
          <a:prstGeom prst="rect">
            <a:avLst/>
          </a:prstGeom>
          <a:solidFill>
            <a:srgbClr val="3FB57A"/>
          </a:solidFill>
          <a:ln/>
        </p:spPr>
      </p:sp>
      <p:pic>
        <p:nvPicPr>
          <p:cNvPr id="22" name="Image 2" descr="preencoded.png">    </p:cNvPr>
          <p:cNvPicPr>
            <a:picLocks noChangeAspect="1"/>
          </p:cNvPicPr>
          <p:nvPr/>
        </p:nvPicPr>
        <p:blipFill>
          <a:blip r:embed="rId3"/>
          <a:stretch>
            <a:fillRect/>
          </a:stretch>
        </p:blipFill>
        <p:spPr>
          <a:xfrm>
            <a:off x="8339328" y="1691640"/>
            <a:ext cx="548640" cy="548640"/>
          </a:xfrm>
          <a:prstGeom prst="rect">
            <a:avLst/>
          </a:prstGeom>
        </p:spPr>
      </p:pic>
      <p:sp>
        <p:nvSpPr>
          <p:cNvPr id="23" name="Shape 18"/>
          <p:cNvSpPr/>
          <p:nvPr/>
        </p:nvSpPr>
        <p:spPr>
          <a:xfrm>
            <a:off x="10689336" y="1709928"/>
            <a:ext cx="777240" cy="365760"/>
          </a:xfrm>
          <a:prstGeom prst="roundRect">
            <a:avLst>
              <a:gd name="adj" fmla="val 50000"/>
            </a:avLst>
          </a:prstGeom>
          <a:solidFill>
            <a:srgbClr val="142033"/>
          </a:solidFill>
          <a:ln/>
        </p:spPr>
      </p:sp>
      <p:sp>
        <p:nvSpPr>
          <p:cNvPr id="24" name="Text 19"/>
          <p:cNvSpPr/>
          <p:nvPr/>
        </p:nvSpPr>
        <p:spPr>
          <a:xfrm>
            <a:off x="10689336" y="1709928"/>
            <a:ext cx="777240" cy="365760"/>
          </a:xfrm>
          <a:prstGeom prst="rect">
            <a:avLst/>
          </a:prstGeom>
          <a:noFill/>
          <a:ln/>
        </p:spPr>
        <p:txBody>
          <a:bodyPr wrap="square" rtlCol="0" anchor="ctr"/>
          <a:lstStyle/>
          <a:p>
            <a:pPr algn="ctr" indent="0" marL="0">
              <a:buNone/>
            </a:pPr>
            <a:r>
              <a:rPr lang="en-US" sz="1100" b="1" dirty="0">
                <a:solidFill>
                  <a:srgbClr val="FFFFFF"/>
                </a:solidFill>
                <a:latin typeface="Work Sans" pitchFamily="34" charset="0"/>
                <a:ea typeface="Work Sans" pitchFamily="34" charset="-122"/>
                <a:cs typeface="Work Sans" pitchFamily="34" charset="-120"/>
              </a:rPr>
              <a:t>L10</a:t>
            </a:r>
            <a:endParaRPr lang="en-US" sz="1100" dirty="0"/>
          </a:p>
        </p:txBody>
      </p:sp>
      <p:sp>
        <p:nvSpPr>
          <p:cNvPr id="25" name="Text 20"/>
          <p:cNvSpPr/>
          <p:nvPr/>
        </p:nvSpPr>
        <p:spPr>
          <a:xfrm>
            <a:off x="8339328" y="2331720"/>
            <a:ext cx="3108960" cy="457200"/>
          </a:xfrm>
          <a:prstGeom prst="rect">
            <a:avLst/>
          </a:prstGeom>
          <a:noFill/>
          <a:ln/>
        </p:spPr>
        <p:txBody>
          <a:bodyPr wrap="square" rtlCol="0" anchor="ctr"/>
          <a:lstStyle/>
          <a:p>
            <a:pPr indent="0" marL="0">
              <a:buNone/>
            </a:pPr>
            <a:r>
              <a:rPr lang="en-US" sz="1600" b="1" dirty="0">
                <a:solidFill>
                  <a:srgbClr val="142033"/>
                </a:solidFill>
                <a:latin typeface="Poppins" pitchFamily="34" charset="0"/>
                <a:ea typeface="Poppins" pitchFamily="34" charset="-122"/>
                <a:cs typeface="Poppins" pitchFamily="34" charset="-120"/>
              </a:rPr>
              <a:t>Abstract &amp; Exceptions</a:t>
            </a:r>
            <a:endParaRPr lang="en-US" sz="1600" dirty="0"/>
          </a:p>
        </p:txBody>
      </p:sp>
      <p:sp>
        <p:nvSpPr>
          <p:cNvPr id="26" name="Text 21"/>
          <p:cNvSpPr/>
          <p:nvPr/>
        </p:nvSpPr>
        <p:spPr>
          <a:xfrm>
            <a:off x="8339328" y="2834640"/>
            <a:ext cx="3108960" cy="640080"/>
          </a:xfrm>
          <a:prstGeom prst="rect">
            <a:avLst/>
          </a:prstGeom>
          <a:noFill/>
          <a:ln/>
        </p:spPr>
        <p:txBody>
          <a:bodyPr wrap="square" rtlCol="0" anchor="t"/>
          <a:lstStyle/>
          <a:p>
            <a:pPr indent="0" marL="0">
              <a:buNone/>
            </a:pPr>
            <a:r>
              <a:rPr lang="en-US" sz="1200" dirty="0">
                <a:solidFill>
                  <a:srgbClr val="26313F"/>
                </a:solidFill>
                <a:latin typeface="Work Sans" pitchFamily="34" charset="0"/>
                <a:ea typeface="Work Sans" pitchFamily="34" charset="-122"/>
                <a:cs typeface="Work Sans" pitchFamily="34" charset="-120"/>
              </a:rPr>
              <a:t>Interface, klasa abstrakte, try/catch</a:t>
            </a:r>
            <a:endParaRPr lang="en-US" sz="1200" dirty="0"/>
          </a:p>
        </p:txBody>
      </p:sp>
      <p:sp>
        <p:nvSpPr>
          <p:cNvPr id="27" name="Shape 22"/>
          <p:cNvSpPr/>
          <p:nvPr/>
        </p:nvSpPr>
        <p:spPr>
          <a:xfrm>
            <a:off x="548640" y="3749040"/>
            <a:ext cx="3566160" cy="2148840"/>
          </a:xfrm>
          <a:prstGeom prst="roundRect">
            <a:avLst>
              <a:gd name="adj" fmla="val 4255"/>
            </a:avLst>
          </a:prstGeom>
          <a:solidFill>
            <a:srgbClr val="F2F5F9"/>
          </a:solidFill>
          <a:ln w="12700">
            <a:solidFill>
              <a:srgbClr val="DBE2EA"/>
            </a:solidFill>
            <a:prstDash val="solid"/>
          </a:ln>
        </p:spPr>
      </p:sp>
      <p:sp>
        <p:nvSpPr>
          <p:cNvPr id="28" name="Shape 23"/>
          <p:cNvSpPr/>
          <p:nvPr/>
        </p:nvSpPr>
        <p:spPr>
          <a:xfrm>
            <a:off x="548640" y="3749040"/>
            <a:ext cx="3566160" cy="73152"/>
          </a:xfrm>
          <a:prstGeom prst="rect">
            <a:avLst/>
          </a:prstGeom>
          <a:solidFill>
            <a:srgbClr val="F6A63B"/>
          </a:solidFill>
          <a:ln/>
        </p:spPr>
      </p:sp>
      <p:pic>
        <p:nvPicPr>
          <p:cNvPr id="29" name="Image 3" descr="preencoded.png">    </p:cNvPr>
          <p:cNvPicPr>
            <a:picLocks noChangeAspect="1"/>
          </p:cNvPicPr>
          <p:nvPr/>
        </p:nvPicPr>
        <p:blipFill>
          <a:blip r:embed="rId4"/>
          <a:stretch>
            <a:fillRect/>
          </a:stretch>
        </p:blipFill>
        <p:spPr>
          <a:xfrm>
            <a:off x="804672" y="4023360"/>
            <a:ext cx="548640" cy="548640"/>
          </a:xfrm>
          <a:prstGeom prst="rect">
            <a:avLst/>
          </a:prstGeom>
        </p:spPr>
      </p:pic>
      <p:sp>
        <p:nvSpPr>
          <p:cNvPr id="30" name="Shape 24"/>
          <p:cNvSpPr/>
          <p:nvPr/>
        </p:nvSpPr>
        <p:spPr>
          <a:xfrm>
            <a:off x="3154680" y="4041648"/>
            <a:ext cx="777240" cy="365760"/>
          </a:xfrm>
          <a:prstGeom prst="roundRect">
            <a:avLst>
              <a:gd name="adj" fmla="val 50000"/>
            </a:avLst>
          </a:prstGeom>
          <a:solidFill>
            <a:srgbClr val="142033"/>
          </a:solidFill>
          <a:ln/>
        </p:spPr>
      </p:sp>
      <p:sp>
        <p:nvSpPr>
          <p:cNvPr id="31" name="Text 25"/>
          <p:cNvSpPr/>
          <p:nvPr/>
        </p:nvSpPr>
        <p:spPr>
          <a:xfrm>
            <a:off x="3154680" y="4041648"/>
            <a:ext cx="777240" cy="365760"/>
          </a:xfrm>
          <a:prstGeom prst="rect">
            <a:avLst/>
          </a:prstGeom>
          <a:noFill/>
          <a:ln/>
        </p:spPr>
        <p:txBody>
          <a:bodyPr wrap="square" rtlCol="0" anchor="ctr"/>
          <a:lstStyle/>
          <a:p>
            <a:pPr algn="ctr" indent="0" marL="0">
              <a:buNone/>
            </a:pPr>
            <a:r>
              <a:rPr lang="en-US" sz="1100" b="1" dirty="0">
                <a:solidFill>
                  <a:srgbClr val="FFFFFF"/>
                </a:solidFill>
                <a:latin typeface="Work Sans" pitchFamily="34" charset="0"/>
                <a:ea typeface="Work Sans" pitchFamily="34" charset="-122"/>
                <a:cs typeface="Work Sans" pitchFamily="34" charset="-120"/>
              </a:rPr>
              <a:t>L8</a:t>
            </a:r>
            <a:endParaRPr lang="en-US" sz="1100" dirty="0"/>
          </a:p>
        </p:txBody>
      </p:sp>
      <p:sp>
        <p:nvSpPr>
          <p:cNvPr id="32" name="Text 26"/>
          <p:cNvSpPr/>
          <p:nvPr/>
        </p:nvSpPr>
        <p:spPr>
          <a:xfrm>
            <a:off x="804672" y="4663440"/>
            <a:ext cx="3108960" cy="457200"/>
          </a:xfrm>
          <a:prstGeom prst="rect">
            <a:avLst/>
          </a:prstGeom>
          <a:noFill/>
          <a:ln/>
        </p:spPr>
        <p:txBody>
          <a:bodyPr wrap="square" rtlCol="0" anchor="ctr"/>
          <a:lstStyle/>
          <a:p>
            <a:pPr indent="0" marL="0">
              <a:buNone/>
            </a:pPr>
            <a:r>
              <a:rPr lang="en-US" sz="1600" b="1" dirty="0">
                <a:solidFill>
                  <a:srgbClr val="142033"/>
                </a:solidFill>
                <a:latin typeface="Poppins" pitchFamily="34" charset="0"/>
                <a:ea typeface="Poppins" pitchFamily="34" charset="-122"/>
                <a:cs typeface="Poppins" pitchFamily="34" charset="-120"/>
              </a:rPr>
              <a:t>Git</a:t>
            </a:r>
            <a:endParaRPr lang="en-US" sz="1600" dirty="0"/>
          </a:p>
        </p:txBody>
      </p:sp>
      <p:sp>
        <p:nvSpPr>
          <p:cNvPr id="33" name="Text 27"/>
          <p:cNvSpPr/>
          <p:nvPr/>
        </p:nvSpPr>
        <p:spPr>
          <a:xfrm>
            <a:off x="804672" y="5166360"/>
            <a:ext cx="3108960" cy="640080"/>
          </a:xfrm>
          <a:prstGeom prst="rect">
            <a:avLst/>
          </a:prstGeom>
          <a:noFill/>
          <a:ln/>
        </p:spPr>
        <p:txBody>
          <a:bodyPr wrap="square" rtlCol="0" anchor="t"/>
          <a:lstStyle/>
          <a:p>
            <a:pPr indent="0" marL="0">
              <a:buNone/>
            </a:pPr>
            <a:r>
              <a:rPr lang="en-US" sz="1200" dirty="0">
                <a:solidFill>
                  <a:srgbClr val="26313F"/>
                </a:solidFill>
                <a:latin typeface="Work Sans" pitchFamily="34" charset="0"/>
                <a:ea typeface="Work Sans" pitchFamily="34" charset="-122"/>
                <a:cs typeface="Work Sans" pitchFamily="34" charset="-120"/>
              </a:rPr>
              <a:t>Kontrolli i versioneve</a:t>
            </a:r>
            <a:endParaRPr lang="en-US" sz="1200" dirty="0"/>
          </a:p>
        </p:txBody>
      </p:sp>
      <p:sp>
        <p:nvSpPr>
          <p:cNvPr id="34" name="Shape 28"/>
          <p:cNvSpPr/>
          <p:nvPr/>
        </p:nvSpPr>
        <p:spPr>
          <a:xfrm>
            <a:off x="4315968" y="3749040"/>
            <a:ext cx="3566160" cy="2148840"/>
          </a:xfrm>
          <a:prstGeom prst="roundRect">
            <a:avLst>
              <a:gd name="adj" fmla="val 4255"/>
            </a:avLst>
          </a:prstGeom>
          <a:solidFill>
            <a:srgbClr val="F2F5F9"/>
          </a:solidFill>
          <a:ln w="12700">
            <a:solidFill>
              <a:srgbClr val="DBE2EA"/>
            </a:solidFill>
            <a:prstDash val="solid"/>
          </a:ln>
        </p:spPr>
      </p:sp>
      <p:sp>
        <p:nvSpPr>
          <p:cNvPr id="35" name="Shape 29"/>
          <p:cNvSpPr/>
          <p:nvPr/>
        </p:nvSpPr>
        <p:spPr>
          <a:xfrm>
            <a:off x="4315968" y="3749040"/>
            <a:ext cx="3566160" cy="73152"/>
          </a:xfrm>
          <a:prstGeom prst="rect">
            <a:avLst/>
          </a:prstGeom>
          <a:solidFill>
            <a:srgbClr val="5FB3E0"/>
          </a:solidFill>
          <a:ln/>
        </p:spPr>
      </p:sp>
      <p:pic>
        <p:nvPicPr>
          <p:cNvPr id="36" name="Image 4" descr="preencoded.png">    </p:cNvPr>
          <p:cNvPicPr>
            <a:picLocks noChangeAspect="1"/>
          </p:cNvPicPr>
          <p:nvPr/>
        </p:nvPicPr>
        <p:blipFill>
          <a:blip r:embed="rId5"/>
          <a:stretch>
            <a:fillRect/>
          </a:stretch>
        </p:blipFill>
        <p:spPr>
          <a:xfrm>
            <a:off x="4572000" y="4023360"/>
            <a:ext cx="548640" cy="548640"/>
          </a:xfrm>
          <a:prstGeom prst="rect">
            <a:avLst/>
          </a:prstGeom>
        </p:spPr>
      </p:pic>
      <p:sp>
        <p:nvSpPr>
          <p:cNvPr id="37" name="Shape 30"/>
          <p:cNvSpPr/>
          <p:nvPr/>
        </p:nvSpPr>
        <p:spPr>
          <a:xfrm>
            <a:off x="6922008" y="4041648"/>
            <a:ext cx="777240" cy="365760"/>
          </a:xfrm>
          <a:prstGeom prst="roundRect">
            <a:avLst>
              <a:gd name="adj" fmla="val 50000"/>
            </a:avLst>
          </a:prstGeom>
          <a:solidFill>
            <a:srgbClr val="142033"/>
          </a:solidFill>
          <a:ln/>
        </p:spPr>
      </p:sp>
      <p:sp>
        <p:nvSpPr>
          <p:cNvPr id="38" name="Text 31"/>
          <p:cNvSpPr/>
          <p:nvPr/>
        </p:nvSpPr>
        <p:spPr>
          <a:xfrm>
            <a:off x="6922008" y="4041648"/>
            <a:ext cx="777240" cy="365760"/>
          </a:xfrm>
          <a:prstGeom prst="rect">
            <a:avLst/>
          </a:prstGeom>
          <a:noFill/>
          <a:ln/>
        </p:spPr>
        <p:txBody>
          <a:bodyPr wrap="square" rtlCol="0" anchor="ctr"/>
          <a:lstStyle/>
          <a:p>
            <a:pPr algn="ctr" indent="0" marL="0">
              <a:buNone/>
            </a:pPr>
            <a:r>
              <a:rPr lang="en-US" sz="1100" b="1" dirty="0">
                <a:solidFill>
                  <a:srgbClr val="FFFFFF"/>
                </a:solidFill>
                <a:latin typeface="Work Sans" pitchFamily="34" charset="0"/>
                <a:ea typeface="Work Sans" pitchFamily="34" charset="-122"/>
                <a:cs typeface="Work Sans" pitchFamily="34" charset="-120"/>
              </a:rPr>
              <a:t>L11–L14</a:t>
            </a:r>
            <a:endParaRPr lang="en-US" sz="1100" dirty="0"/>
          </a:p>
        </p:txBody>
      </p:sp>
      <p:sp>
        <p:nvSpPr>
          <p:cNvPr id="39" name="Text 32"/>
          <p:cNvSpPr/>
          <p:nvPr/>
        </p:nvSpPr>
        <p:spPr>
          <a:xfrm>
            <a:off x="4572000" y="4663440"/>
            <a:ext cx="3108960" cy="457200"/>
          </a:xfrm>
          <a:prstGeom prst="rect">
            <a:avLst/>
          </a:prstGeom>
          <a:noFill/>
          <a:ln/>
        </p:spPr>
        <p:txBody>
          <a:bodyPr wrap="square" rtlCol="0" anchor="ctr"/>
          <a:lstStyle/>
          <a:p>
            <a:pPr indent="0" marL="0">
              <a:buNone/>
            </a:pPr>
            <a:r>
              <a:rPr lang="en-US" sz="1600" b="1" dirty="0">
                <a:solidFill>
                  <a:srgbClr val="142033"/>
                </a:solidFill>
                <a:latin typeface="Poppins" pitchFamily="34" charset="0"/>
                <a:ea typeface="Poppins" pitchFamily="34" charset="-122"/>
                <a:cs typeface="Poppins" pitchFamily="34" charset="-120"/>
              </a:rPr>
              <a:t>Java GUI (Swing)</a:t>
            </a:r>
            <a:endParaRPr lang="en-US" sz="1600" dirty="0"/>
          </a:p>
        </p:txBody>
      </p:sp>
      <p:sp>
        <p:nvSpPr>
          <p:cNvPr id="40" name="Text 33"/>
          <p:cNvSpPr/>
          <p:nvPr/>
        </p:nvSpPr>
        <p:spPr>
          <a:xfrm>
            <a:off x="4572000" y="5166360"/>
            <a:ext cx="3108960" cy="640080"/>
          </a:xfrm>
          <a:prstGeom prst="rect">
            <a:avLst/>
          </a:prstGeom>
          <a:noFill/>
          <a:ln/>
        </p:spPr>
        <p:txBody>
          <a:bodyPr wrap="square" rtlCol="0" anchor="t"/>
          <a:lstStyle/>
          <a:p>
            <a:pPr indent="0" marL="0">
              <a:buNone/>
            </a:pPr>
            <a:r>
              <a:rPr lang="en-US" sz="1200" dirty="0">
                <a:solidFill>
                  <a:srgbClr val="26313F"/>
                </a:solidFill>
                <a:latin typeface="Work Sans" pitchFamily="34" charset="0"/>
                <a:ea typeface="Work Sans" pitchFamily="34" charset="-122"/>
                <a:cs typeface="Work Sans" pitchFamily="34" charset="-120"/>
              </a:rPr>
              <a:t>Komponentë, vizatim, ngjarje, animacion</a:t>
            </a:r>
            <a:endParaRPr lang="en-US" sz="1200" dirty="0"/>
          </a:p>
        </p:txBody>
      </p:sp>
      <p:sp>
        <p:nvSpPr>
          <p:cNvPr id="41" name="Shape 34"/>
          <p:cNvSpPr/>
          <p:nvPr/>
        </p:nvSpPr>
        <p:spPr>
          <a:xfrm>
            <a:off x="8083296" y="3749040"/>
            <a:ext cx="3566160" cy="2148840"/>
          </a:xfrm>
          <a:prstGeom prst="roundRect">
            <a:avLst>
              <a:gd name="adj" fmla="val 4255"/>
            </a:avLst>
          </a:prstGeom>
          <a:solidFill>
            <a:srgbClr val="F2F5F9"/>
          </a:solidFill>
          <a:ln w="12700">
            <a:solidFill>
              <a:srgbClr val="DBE2EA"/>
            </a:solidFill>
            <a:prstDash val="solid"/>
          </a:ln>
        </p:spPr>
      </p:sp>
      <p:sp>
        <p:nvSpPr>
          <p:cNvPr id="42" name="Shape 35"/>
          <p:cNvSpPr/>
          <p:nvPr/>
        </p:nvSpPr>
        <p:spPr>
          <a:xfrm>
            <a:off x="8083296" y="3749040"/>
            <a:ext cx="3566160" cy="73152"/>
          </a:xfrm>
          <a:prstGeom prst="rect">
            <a:avLst/>
          </a:prstGeom>
          <a:solidFill>
            <a:srgbClr val="3FB57A"/>
          </a:solidFill>
          <a:ln/>
        </p:spPr>
      </p:sp>
      <p:pic>
        <p:nvPicPr>
          <p:cNvPr id="43" name="Image 5" descr="preencoded.png">    </p:cNvPr>
          <p:cNvPicPr>
            <a:picLocks noChangeAspect="1"/>
          </p:cNvPicPr>
          <p:nvPr/>
        </p:nvPicPr>
        <p:blipFill>
          <a:blip r:embed="rId6"/>
          <a:stretch>
            <a:fillRect/>
          </a:stretch>
        </p:blipFill>
        <p:spPr>
          <a:xfrm>
            <a:off x="8339328" y="4023360"/>
            <a:ext cx="548640" cy="548640"/>
          </a:xfrm>
          <a:prstGeom prst="rect">
            <a:avLst/>
          </a:prstGeom>
        </p:spPr>
      </p:pic>
      <p:sp>
        <p:nvSpPr>
          <p:cNvPr id="44" name="Shape 36"/>
          <p:cNvSpPr/>
          <p:nvPr/>
        </p:nvSpPr>
        <p:spPr>
          <a:xfrm>
            <a:off x="10689336" y="4041648"/>
            <a:ext cx="777240" cy="365760"/>
          </a:xfrm>
          <a:prstGeom prst="roundRect">
            <a:avLst>
              <a:gd name="adj" fmla="val 50000"/>
            </a:avLst>
          </a:prstGeom>
          <a:solidFill>
            <a:srgbClr val="142033"/>
          </a:solidFill>
          <a:ln/>
        </p:spPr>
      </p:sp>
      <p:sp>
        <p:nvSpPr>
          <p:cNvPr id="45" name="Text 37"/>
          <p:cNvSpPr/>
          <p:nvPr/>
        </p:nvSpPr>
        <p:spPr>
          <a:xfrm>
            <a:off x="10689336" y="4041648"/>
            <a:ext cx="777240" cy="365760"/>
          </a:xfrm>
          <a:prstGeom prst="rect">
            <a:avLst/>
          </a:prstGeom>
          <a:noFill/>
          <a:ln/>
        </p:spPr>
        <p:txBody>
          <a:bodyPr wrap="square" rtlCol="0" anchor="ctr"/>
          <a:lstStyle/>
          <a:p>
            <a:pPr algn="ctr" indent="0" marL="0">
              <a:buNone/>
            </a:pPr>
            <a:r>
              <a:rPr lang="en-US" sz="1100" b="1" dirty="0">
                <a:solidFill>
                  <a:srgbClr val="FFFFFF"/>
                </a:solidFill>
                <a:latin typeface="Work Sans" pitchFamily="34" charset="0"/>
                <a:ea typeface="Work Sans" pitchFamily="34" charset="-122"/>
                <a:cs typeface="Work Sans" pitchFamily="34" charset="-120"/>
              </a:rPr>
              <a:t>L15–L17</a:t>
            </a:r>
            <a:endParaRPr lang="en-US" sz="1100" dirty="0"/>
          </a:p>
        </p:txBody>
      </p:sp>
      <p:sp>
        <p:nvSpPr>
          <p:cNvPr id="46" name="Text 38"/>
          <p:cNvSpPr/>
          <p:nvPr/>
        </p:nvSpPr>
        <p:spPr>
          <a:xfrm>
            <a:off x="8339328" y="4663440"/>
            <a:ext cx="3108960" cy="457200"/>
          </a:xfrm>
          <a:prstGeom prst="rect">
            <a:avLst/>
          </a:prstGeom>
          <a:noFill/>
          <a:ln/>
        </p:spPr>
        <p:txBody>
          <a:bodyPr wrap="square" rtlCol="0" anchor="ctr"/>
          <a:lstStyle/>
          <a:p>
            <a:pPr indent="0" marL="0">
              <a:buNone/>
            </a:pPr>
            <a:r>
              <a:rPr lang="en-US" sz="1600" b="1" dirty="0">
                <a:solidFill>
                  <a:srgbClr val="142033"/>
                </a:solidFill>
                <a:latin typeface="Poppins" pitchFamily="34" charset="0"/>
                <a:ea typeface="Poppins" pitchFamily="34" charset="-122"/>
                <a:cs typeface="Poppins" pitchFamily="34" charset="-120"/>
              </a:rPr>
              <a:t>Të dhëna &amp; JDBC</a:t>
            </a:r>
            <a:endParaRPr lang="en-US" sz="1600" dirty="0"/>
          </a:p>
        </p:txBody>
      </p:sp>
      <p:sp>
        <p:nvSpPr>
          <p:cNvPr id="47" name="Text 39"/>
          <p:cNvSpPr/>
          <p:nvPr/>
        </p:nvSpPr>
        <p:spPr>
          <a:xfrm>
            <a:off x="8339328" y="5166360"/>
            <a:ext cx="3108960" cy="640080"/>
          </a:xfrm>
          <a:prstGeom prst="rect">
            <a:avLst/>
          </a:prstGeom>
          <a:noFill/>
          <a:ln/>
        </p:spPr>
        <p:txBody>
          <a:bodyPr wrap="square" rtlCol="0" anchor="t"/>
          <a:lstStyle/>
          <a:p>
            <a:pPr indent="0" marL="0">
              <a:buNone/>
            </a:pPr>
            <a:r>
              <a:rPr lang="en-US" sz="1200" dirty="0">
                <a:solidFill>
                  <a:srgbClr val="26313F"/>
                </a:solidFill>
                <a:latin typeface="Work Sans" pitchFamily="34" charset="0"/>
                <a:ea typeface="Work Sans" pitchFamily="34" charset="-122"/>
                <a:cs typeface="Work Sans" pitchFamily="34" charset="-120"/>
              </a:rPr>
              <a:t>HashMap, Oracle, PostgreSQL</a:t>
            </a:r>
            <a:endParaRPr lang="en-US" sz="1200" dirty="0"/>
          </a:p>
        </p:txBody>
      </p:sp>
      <p:sp>
        <p:nvSpPr>
          <p:cNvPr id="48" name="Text 40"/>
          <p:cNvSpPr/>
          <p:nvPr/>
        </p:nvSpPr>
        <p:spPr>
          <a:xfrm>
            <a:off x="11612880" y="6400800"/>
            <a:ext cx="457200" cy="274320"/>
          </a:xfrm>
          <a:prstGeom prst="rect">
            <a:avLst/>
          </a:prstGeom>
          <a:noFill/>
          <a:ln/>
        </p:spPr>
        <p:txBody>
          <a:bodyPr wrap="square" rtlCol="0" anchor="ctr"/>
          <a:lstStyle/>
          <a:p>
            <a:pPr algn="r" indent="0" marL="0">
              <a:buNone/>
            </a:pPr>
            <a:r>
              <a:rPr lang="en-US" sz="1100" dirty="0">
                <a:solidFill>
                  <a:srgbClr val="6A7889"/>
                </a:solidFill>
                <a:latin typeface="Work Sans" pitchFamily="34" charset="0"/>
                <a:ea typeface="Work Sans" pitchFamily="34" charset="-122"/>
                <a:cs typeface="Work Sans"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F2F5F9"/>
          </a:solidFill>
          <a:ln/>
        </p:spPr>
      </p:sp>
      <p:sp>
        <p:nvSpPr>
          <p:cNvPr id="3" name="Shape 1"/>
          <p:cNvSpPr/>
          <p:nvPr/>
        </p:nvSpPr>
        <p:spPr>
          <a:xfrm>
            <a:off x="0" y="1051560"/>
            <a:ext cx="12191695" cy="27432"/>
          </a:xfrm>
          <a:prstGeom prst="rect">
            <a:avLst/>
          </a:prstGeom>
          <a:solidFill>
            <a:srgbClr val="E8730C"/>
          </a:solidFill>
          <a:ln/>
        </p:spPr>
      </p:sp>
      <p:sp>
        <p:nvSpPr>
          <p:cNvPr id="4" name="Text 2"/>
          <p:cNvSpPr/>
          <p:nvPr/>
        </p:nvSpPr>
        <p:spPr>
          <a:xfrm>
            <a:off x="548640" y="182880"/>
            <a:ext cx="10972800" cy="274320"/>
          </a:xfrm>
          <a:prstGeom prst="rect">
            <a:avLst/>
          </a:prstGeom>
          <a:noFill/>
          <a:ln/>
        </p:spPr>
        <p:txBody>
          <a:bodyPr wrap="square" rtlCol="0" anchor="ctr"/>
          <a:lstStyle/>
          <a:p>
            <a:pPr indent="0" marL="0">
              <a:buNone/>
            </a:pPr>
            <a:r>
              <a:rPr lang="en-US" sz="1200" b="1" spc="200" kern="0" dirty="0">
                <a:solidFill>
                  <a:srgbClr val="E8730C"/>
                </a:solidFill>
                <a:latin typeface="Poppins" pitchFamily="34" charset="0"/>
                <a:ea typeface="Poppins" pitchFamily="34" charset="-122"/>
                <a:cs typeface="Poppins" pitchFamily="34" charset="-120"/>
              </a:rPr>
              <a:t>NJËSIA 1 · BAZAT E JAVA</a:t>
            </a:r>
            <a:endParaRPr lang="en-US" sz="1200" dirty="0"/>
          </a:p>
        </p:txBody>
      </p:sp>
      <p:sp>
        <p:nvSpPr>
          <p:cNvPr id="5" name="Text 3"/>
          <p:cNvSpPr/>
          <p:nvPr/>
        </p:nvSpPr>
        <p:spPr>
          <a:xfrm>
            <a:off x="548640" y="420624"/>
            <a:ext cx="11064240" cy="566928"/>
          </a:xfrm>
          <a:prstGeom prst="rect">
            <a:avLst/>
          </a:prstGeom>
          <a:noFill/>
          <a:ln/>
        </p:spPr>
        <p:txBody>
          <a:bodyPr wrap="square" rtlCol="0" anchor="ctr"/>
          <a:lstStyle/>
          <a:p>
            <a:pPr indent="0" marL="0">
              <a:buNone/>
            </a:pPr>
            <a:r>
              <a:rPr lang="en-US" sz="2600" b="1" dirty="0">
                <a:solidFill>
                  <a:srgbClr val="142033"/>
                </a:solidFill>
                <a:latin typeface="Poppins" pitchFamily="34" charset="0"/>
                <a:ea typeface="Poppins" pitchFamily="34" charset="-122"/>
                <a:cs typeface="Poppins" pitchFamily="34" charset="-120"/>
              </a:rPr>
              <a:t>Themelet: variabla, kontroll, metoda</a:t>
            </a:r>
            <a:endParaRPr lang="en-US" sz="2600" dirty="0"/>
          </a:p>
        </p:txBody>
      </p:sp>
      <p:sp>
        <p:nvSpPr>
          <p:cNvPr id="6" name="Text 4"/>
          <p:cNvSpPr/>
          <p:nvPr/>
        </p:nvSpPr>
        <p:spPr>
          <a:xfrm>
            <a:off x="640080" y="1463040"/>
            <a:ext cx="5760720" cy="3657600"/>
          </a:xfrm>
          <a:prstGeom prst="rect">
            <a:avLst/>
          </a:prstGeom>
          <a:noFill/>
          <a:ln/>
        </p:spPr>
        <p:txBody>
          <a:bodyPr wrap="square" lIns="0" tIns="0" rIns="0" bIns="0" rtlCol="0" anchor="t"/>
          <a:lstStyle/>
          <a:p>
            <a:pPr marL="203200" indent="-203200">
              <a:spcAft>
                <a:spcPts val="900"/>
              </a:spcAft>
              <a:buSzPct val="100000"/>
              <a:buChar char="•"/>
            </a:pPr>
            <a:r>
              <a:rPr lang="en-US" sz="1400" b="1" dirty="0">
                <a:solidFill>
                  <a:srgbClr val="E8730C"/>
                </a:solidFill>
                <a:latin typeface="Work Sans" pitchFamily="34" charset="0"/>
                <a:ea typeface="Work Sans" pitchFamily="34" charset="-122"/>
                <a:cs typeface="Work Sans" pitchFamily="34" charset="-120"/>
              </a:rPr>
              <a:t>Tipet e të dhënave</a:t>
            </a:r>
            <a:endParaRPr lang="en-US" sz="1400" dirty="0"/>
          </a:p>
          <a:p>
            <a:pPr marL="203200" indent="-203200">
              <a:spcAft>
                <a:spcPts val="900"/>
              </a:spcAft>
              <a:buSzPct val="100000"/>
              <a:buChar char="•"/>
            </a:pPr>
            <a:r>
              <a:rPr lang="en-US" sz="1400" dirty="0">
                <a:solidFill>
                  <a:srgbClr val="26313F"/>
                </a:solidFill>
                <a:latin typeface="Work Sans" pitchFamily="34" charset="0"/>
                <a:ea typeface="Work Sans" pitchFamily="34" charset="-122"/>
                <a:cs typeface="Work Sans" pitchFamily="34" charset="-120"/>
              </a:rPr>
              <a:t>Primitive: int, double, boolean, char — Objekte: String</a:t>
            </a:r>
            <a:endParaRPr lang="en-US" sz="1400" dirty="0"/>
          </a:p>
          <a:p>
            <a:pPr marL="203200" indent="-203200">
              <a:spcAft>
                <a:spcPts val="900"/>
              </a:spcAft>
              <a:buSzPct val="100000"/>
              <a:buChar char="•"/>
            </a:pPr>
            <a:r>
              <a:rPr lang="en-US" sz="1400" b="1" dirty="0">
                <a:solidFill>
                  <a:srgbClr val="E8730C"/>
                </a:solidFill>
                <a:latin typeface="Work Sans" pitchFamily="34" charset="0"/>
                <a:ea typeface="Work Sans" pitchFamily="34" charset="-122"/>
                <a:cs typeface="Work Sans" pitchFamily="34" charset="-120"/>
              </a:rPr>
              <a:t>Kontrolli i rrjedhës</a:t>
            </a:r>
            <a:endParaRPr lang="en-US" sz="1400" dirty="0"/>
          </a:p>
          <a:p>
            <a:pPr marL="203200" indent="-203200">
              <a:spcAft>
                <a:spcPts val="900"/>
              </a:spcAft>
              <a:buSzPct val="100000"/>
              <a:buChar char="•"/>
            </a:pPr>
            <a:r>
              <a:rPr lang="en-US" sz="1400" dirty="0">
                <a:solidFill>
                  <a:srgbClr val="26313F"/>
                </a:solidFill>
                <a:latin typeface="Work Sans" pitchFamily="34" charset="0"/>
                <a:ea typeface="Work Sans" pitchFamily="34" charset="-122"/>
                <a:cs typeface="Work Sans" pitchFamily="34" charset="-120"/>
              </a:rPr>
              <a:t>if/else, switch — unazat for, while, do-while</a:t>
            </a:r>
            <a:endParaRPr lang="en-US" sz="1400" dirty="0"/>
          </a:p>
          <a:p>
            <a:pPr marL="203200" indent="-203200">
              <a:spcAft>
                <a:spcPts val="900"/>
              </a:spcAft>
              <a:buSzPct val="100000"/>
              <a:buChar char="•"/>
            </a:pPr>
            <a:r>
              <a:rPr lang="en-US" sz="1400" b="1" dirty="0">
                <a:solidFill>
                  <a:srgbClr val="E8730C"/>
                </a:solidFill>
                <a:latin typeface="Work Sans" pitchFamily="34" charset="0"/>
                <a:ea typeface="Work Sans" pitchFamily="34" charset="-122"/>
                <a:cs typeface="Work Sans" pitchFamily="34" charset="-120"/>
              </a:rPr>
              <a:t>Metodat</a:t>
            </a:r>
            <a:endParaRPr lang="en-US" sz="1400" dirty="0"/>
          </a:p>
          <a:p>
            <a:pPr marL="203200" indent="-203200">
              <a:spcAft>
                <a:spcPts val="900"/>
              </a:spcAft>
              <a:buSzPct val="100000"/>
              <a:buChar char="•"/>
            </a:pPr>
            <a:r>
              <a:rPr lang="en-US" sz="1400" dirty="0">
                <a:solidFill>
                  <a:srgbClr val="26313F"/>
                </a:solidFill>
                <a:latin typeface="Work Sans" pitchFamily="34" charset="0"/>
                <a:ea typeface="Work Sans" pitchFamily="34" charset="-122"/>
                <a:cs typeface="Work Sans" pitchFamily="34" charset="-120"/>
              </a:rPr>
              <a:t>Tipi kthyes, parametrat, static vs jo-static</a:t>
            </a:r>
            <a:endParaRPr lang="en-US" sz="1400" dirty="0"/>
          </a:p>
          <a:p>
            <a:pPr marL="203200" indent="-203200">
              <a:spcAft>
                <a:spcPts val="900"/>
              </a:spcAft>
              <a:buSzPct val="100000"/>
              <a:buChar char="•"/>
            </a:pPr>
            <a:r>
              <a:rPr lang="en-US" sz="1400" b="1" dirty="0">
                <a:solidFill>
                  <a:srgbClr val="E8730C"/>
                </a:solidFill>
                <a:latin typeface="Work Sans" pitchFamily="34" charset="0"/>
                <a:ea typeface="Work Sans" pitchFamily="34" charset="-122"/>
                <a:cs typeface="Work Sans" pitchFamily="34" charset="-120"/>
              </a:rPr>
              <a:t>Vargjet (arrays)</a:t>
            </a:r>
            <a:endParaRPr lang="en-US" sz="1400" dirty="0"/>
          </a:p>
          <a:p>
            <a:pPr marL="203200" indent="-203200">
              <a:spcAft>
                <a:spcPts val="900"/>
              </a:spcAft>
              <a:buSzPct val="100000"/>
              <a:buChar char="•"/>
            </a:pPr>
            <a:r>
              <a:rPr lang="en-US" sz="1400" dirty="0">
                <a:solidFill>
                  <a:srgbClr val="26313F"/>
                </a:solidFill>
                <a:latin typeface="Work Sans" pitchFamily="34" charset="0"/>
                <a:ea typeface="Work Sans" pitchFamily="34" charset="-122"/>
                <a:cs typeface="Work Sans" pitchFamily="34" charset="-120"/>
              </a:rPr>
              <a:t>int[] v = new int[5]; — indeksi nis nga 0</a:t>
            </a:r>
            <a:endParaRPr lang="en-US" sz="1400" dirty="0"/>
          </a:p>
        </p:txBody>
      </p:sp>
      <p:sp>
        <p:nvSpPr>
          <p:cNvPr id="7" name="Shape 5"/>
          <p:cNvSpPr/>
          <p:nvPr/>
        </p:nvSpPr>
        <p:spPr>
          <a:xfrm>
            <a:off x="6583680" y="1737360"/>
            <a:ext cx="5029200" cy="2020824"/>
          </a:xfrm>
          <a:prstGeom prst="roundRect">
            <a:avLst>
              <a:gd name="adj" fmla="val 3620"/>
            </a:avLst>
          </a:prstGeom>
          <a:solidFill>
            <a:srgbClr val="1B2736"/>
          </a:solidFill>
          <a:ln w="12700">
            <a:solidFill>
              <a:srgbClr val="2A3A4C"/>
            </a:solidFill>
            <a:prstDash val="solid"/>
          </a:ln>
        </p:spPr>
      </p:sp>
      <p:sp>
        <p:nvSpPr>
          <p:cNvPr id="8" name="Text 6"/>
          <p:cNvSpPr/>
          <p:nvPr/>
        </p:nvSpPr>
        <p:spPr>
          <a:xfrm>
            <a:off x="6720840" y="1810512"/>
            <a:ext cx="3931920" cy="256032"/>
          </a:xfrm>
          <a:prstGeom prst="rect">
            <a:avLst/>
          </a:prstGeom>
          <a:noFill/>
          <a:ln/>
        </p:spPr>
        <p:txBody>
          <a:bodyPr wrap="square" rtlCol="0" anchor="ctr"/>
          <a:lstStyle/>
          <a:p>
            <a:pPr indent="0" marL="0">
              <a:buNone/>
            </a:pPr>
            <a:r>
              <a:rPr lang="en-US" sz="1000" b="1" spc="100" kern="0" dirty="0">
                <a:solidFill>
                  <a:srgbClr val="6A7889"/>
                </a:solidFill>
                <a:latin typeface="JetBrains Mono" pitchFamily="34" charset="0"/>
                <a:ea typeface="JetBrains Mono" pitchFamily="34" charset="-122"/>
                <a:cs typeface="JetBrains Mono" pitchFamily="34" charset="-120"/>
              </a:rPr>
              <a:t>for-each + vargje</a:t>
            </a:r>
            <a:endParaRPr lang="en-US" sz="1000" dirty="0"/>
          </a:p>
        </p:txBody>
      </p:sp>
      <p:sp>
        <p:nvSpPr>
          <p:cNvPr id="9" name="Text 7"/>
          <p:cNvSpPr/>
          <p:nvPr/>
        </p:nvSpPr>
        <p:spPr>
          <a:xfrm>
            <a:off x="6784848" y="2121408"/>
            <a:ext cx="4626864" cy="1499616"/>
          </a:xfrm>
          <a:prstGeom prst="rect">
            <a:avLst/>
          </a:prstGeom>
          <a:noFill/>
          <a:ln/>
        </p:spPr>
        <p:txBody>
          <a:bodyPr wrap="square" lIns="0" tIns="0" rIns="0" bIns="0" rtlCol="0" anchor="t"/>
          <a:lstStyle/>
          <a:p>
            <a:pPr indent="0" marL="0">
              <a:lnSpc>
                <a:spcPct val="98000"/>
              </a:lnSpc>
              <a:buNone/>
            </a:pPr>
            <a:r>
              <a:rPr lang="en-US" sz="1250" dirty="0">
                <a:solidFill>
                  <a:srgbClr val="E8963C"/>
                </a:solidFill>
                <a:latin typeface="JetBrains Mono" pitchFamily="34" charset="0"/>
                <a:ea typeface="JetBrains Mono" pitchFamily="34" charset="-122"/>
                <a:cs typeface="JetBrains Mono" pitchFamily="34" charset="-120"/>
              </a:rPr>
              <a:t>int</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notat</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D9A066"/>
                </a:solidFill>
                <a:latin typeface="JetBrains Mono" pitchFamily="34" charset="0"/>
                <a:ea typeface="JetBrains Mono" pitchFamily="34" charset="-122"/>
                <a:cs typeface="JetBrains Mono" pitchFamily="34" charset="-120"/>
              </a:rPr>
              <a:t>7</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D9A066"/>
                </a:solidFill>
                <a:latin typeface="JetBrains Mono" pitchFamily="34" charset="0"/>
                <a:ea typeface="JetBrains Mono" pitchFamily="34" charset="-122"/>
                <a:cs typeface="JetBrains Mono" pitchFamily="34" charset="-120"/>
              </a:rPr>
              <a:t>10</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D9A066"/>
                </a:solidFill>
                <a:latin typeface="JetBrains Mono" pitchFamily="34" charset="0"/>
                <a:ea typeface="JetBrains Mono" pitchFamily="34" charset="-122"/>
                <a:cs typeface="JetBrains Mono" pitchFamily="34" charset="-120"/>
              </a:rPr>
              <a:t>5</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D9A066"/>
                </a:solidFill>
                <a:latin typeface="JetBrains Mono" pitchFamily="34" charset="0"/>
                <a:ea typeface="JetBrains Mono" pitchFamily="34" charset="-122"/>
                <a:cs typeface="JetBrains Mono" pitchFamily="34" charset="-120"/>
              </a:rPr>
              <a:t>8</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endParaRPr lang="en-US" sz="1250" dirty="0"/>
          </a:p>
          <a:p>
            <a:pPr indent="0" marL="0">
              <a:lnSpc>
                <a:spcPct val="98000"/>
              </a:lnSpc>
              <a:buNone/>
            </a:pPr>
            <a:r>
              <a:rPr lang="en-US" sz="1250" dirty="0">
                <a:solidFill>
                  <a:srgbClr val="E8963C"/>
                </a:solidFill>
                <a:latin typeface="JetBrains Mono" pitchFamily="34" charset="0"/>
                <a:ea typeface="JetBrains Mono" pitchFamily="34" charset="-122"/>
                <a:cs typeface="JetBrains Mono" pitchFamily="34" charset="-120"/>
              </a:rPr>
              <a:t>int</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max</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notat</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D9A066"/>
                </a:solidFill>
                <a:latin typeface="JetBrains Mono" pitchFamily="34" charset="0"/>
                <a:ea typeface="JetBrains Mono" pitchFamily="34" charset="-122"/>
                <a:cs typeface="JetBrains Mono" pitchFamily="34" charset="-120"/>
              </a:rPr>
              <a:t>0</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endParaRPr lang="en-US" sz="1250" dirty="0"/>
          </a:p>
          <a:p>
            <a:pPr indent="0" marL="0">
              <a:lnSpc>
                <a:spcPct val="98000"/>
              </a:lnSpc>
              <a:buNone/>
            </a:pPr>
            <a:r>
              <a:rPr lang="en-US" sz="1250" dirty="0">
                <a:solidFill>
                  <a:srgbClr val="E8963C"/>
                </a:solidFill>
                <a:latin typeface="JetBrains Mono" pitchFamily="34" charset="0"/>
                <a:ea typeface="JetBrains Mono" pitchFamily="34" charset="-122"/>
                <a:cs typeface="JetBrains Mono" pitchFamily="34" charset="-120"/>
              </a:rPr>
              <a:t>for</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E8963C"/>
                </a:solidFill>
                <a:latin typeface="JetBrains Mono" pitchFamily="34" charset="0"/>
                <a:ea typeface="JetBrains Mono" pitchFamily="34" charset="-122"/>
                <a:cs typeface="JetBrains Mono" pitchFamily="34" charset="-120"/>
              </a:rPr>
              <a:t>int</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x</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notat</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endParaRPr lang="en-US" sz="1250" dirty="0"/>
          </a:p>
          <a:p>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E8963C"/>
                </a:solidFill>
                <a:latin typeface="JetBrains Mono" pitchFamily="34" charset="0"/>
                <a:ea typeface="JetBrains Mono" pitchFamily="34" charset="-122"/>
                <a:cs typeface="JetBrains Mono" pitchFamily="34" charset="-120"/>
              </a:rPr>
              <a:t>if</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x</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&gt;</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max</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max</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x</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endParaRPr lang="en-US" sz="1250" dirty="0"/>
          </a:p>
          <a:p>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endParaRPr lang="en-US" sz="1250" dirty="0"/>
          </a:p>
          <a:p>
            <a:pPr indent="0" marL="0">
              <a:lnSpc>
                <a:spcPct val="98000"/>
              </a:lnSpc>
              <a:buNone/>
            </a:pPr>
            <a:r>
              <a:rPr lang="en-US" sz="1250" dirty="0">
                <a:solidFill>
                  <a:srgbClr val="5FB3E0"/>
                </a:solidFill>
                <a:latin typeface="JetBrains Mono" pitchFamily="34" charset="0"/>
                <a:ea typeface="JetBrains Mono" pitchFamily="34" charset="-122"/>
                <a:cs typeface="JetBrains Mono" pitchFamily="34" charset="-120"/>
              </a:rPr>
              <a:t>System</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out</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println</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8FCB6B"/>
                </a:solidFill>
                <a:latin typeface="JetBrains Mono" pitchFamily="34" charset="0"/>
                <a:ea typeface="JetBrains Mono" pitchFamily="34" charset="-122"/>
                <a:cs typeface="JetBrains Mono" pitchFamily="34" charset="-120"/>
              </a:rPr>
              <a:t>"Max: "</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max</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endParaRPr lang="en-US" sz="1250" dirty="0"/>
          </a:p>
        </p:txBody>
      </p:sp>
      <p:sp>
        <p:nvSpPr>
          <p:cNvPr id="10" name="Shape 8"/>
          <p:cNvSpPr/>
          <p:nvPr/>
        </p:nvSpPr>
        <p:spPr>
          <a:xfrm>
            <a:off x="6583680" y="4114800"/>
            <a:ext cx="5029200" cy="1737360"/>
          </a:xfrm>
          <a:prstGeom prst="roundRect">
            <a:avLst>
              <a:gd name="adj" fmla="val 5263"/>
            </a:avLst>
          </a:prstGeom>
          <a:solidFill>
            <a:srgbClr val="142033"/>
          </a:solidFill>
          <a:ln/>
        </p:spPr>
      </p:sp>
      <p:sp>
        <p:nvSpPr>
          <p:cNvPr id="11" name="Text 9"/>
          <p:cNvSpPr/>
          <p:nvPr/>
        </p:nvSpPr>
        <p:spPr>
          <a:xfrm>
            <a:off x="6812280" y="4224528"/>
            <a:ext cx="4572000" cy="320040"/>
          </a:xfrm>
          <a:prstGeom prst="rect">
            <a:avLst/>
          </a:prstGeom>
          <a:noFill/>
          <a:ln/>
        </p:spPr>
        <p:txBody>
          <a:bodyPr wrap="square" rtlCol="0" anchor="ctr"/>
          <a:lstStyle/>
          <a:p>
            <a:pPr indent="0" marL="0">
              <a:buNone/>
            </a:pPr>
            <a:r>
              <a:rPr lang="en-US" sz="1300" b="1" dirty="0">
                <a:solidFill>
                  <a:srgbClr val="F6A63B"/>
                </a:solidFill>
                <a:latin typeface="Poppins" pitchFamily="34" charset="0"/>
                <a:ea typeface="Poppins" pitchFamily="34" charset="-122"/>
                <a:cs typeface="Poppins" pitchFamily="34" charset="-120"/>
              </a:rPr>
              <a:t>Për provim:</a:t>
            </a:r>
            <a:endParaRPr lang="en-US" sz="1300" dirty="0"/>
          </a:p>
        </p:txBody>
      </p:sp>
      <p:sp>
        <p:nvSpPr>
          <p:cNvPr id="12" name="Text 10"/>
          <p:cNvSpPr/>
          <p:nvPr/>
        </p:nvSpPr>
        <p:spPr>
          <a:xfrm>
            <a:off x="6812280" y="4572000"/>
            <a:ext cx="4617720" cy="3657600"/>
          </a:xfrm>
          <a:prstGeom prst="rect">
            <a:avLst/>
          </a:prstGeom>
          <a:noFill/>
          <a:ln/>
        </p:spPr>
        <p:txBody>
          <a:bodyPr wrap="square" lIns="0" tIns="0" rIns="0" bIns="0" rtlCol="0" anchor="t"/>
          <a:lstStyle/>
          <a:p>
            <a:pPr marL="203200" indent="-203200">
              <a:spcAft>
                <a:spcPts val="800"/>
              </a:spcAft>
              <a:buSzPct val="100000"/>
              <a:buChar char="•"/>
            </a:pPr>
            <a:r>
              <a:rPr lang="en-US" sz="1200" dirty="0">
                <a:solidFill>
                  <a:srgbClr val="DBE2EA"/>
                </a:solidFill>
                <a:latin typeface="Work Sans" pitchFamily="34" charset="0"/>
                <a:ea typeface="Work Sans" pitchFamily="34" charset="-122"/>
                <a:cs typeface="Work Sans" pitchFamily="34" charset="-120"/>
              </a:rPr>
              <a:t>== krahason objekte; .equals() krahason vlerat e String</a:t>
            </a:r>
            <a:endParaRPr lang="en-US" sz="1200" dirty="0"/>
          </a:p>
          <a:p>
            <a:pPr marL="203200" indent="-203200">
              <a:spcAft>
                <a:spcPts val="800"/>
              </a:spcAft>
              <a:buSzPct val="100000"/>
              <a:buChar char="•"/>
            </a:pPr>
            <a:r>
              <a:rPr lang="en-US" sz="1200" dirty="0">
                <a:solidFill>
                  <a:srgbClr val="DBE2EA"/>
                </a:solidFill>
                <a:latin typeface="Work Sans" pitchFamily="34" charset="0"/>
                <a:ea typeface="Work Sans" pitchFamily="34" charset="-122"/>
                <a:cs typeface="Work Sans" pitchFamily="34" charset="-120"/>
              </a:rPr>
              <a:t>Indeksi jashtë kufirit → ArrayIndexOutOfBoundsException</a:t>
            </a:r>
            <a:endParaRPr lang="en-US" sz="1200" dirty="0"/>
          </a:p>
        </p:txBody>
      </p:sp>
      <p:sp>
        <p:nvSpPr>
          <p:cNvPr id="13" name="Text 11"/>
          <p:cNvSpPr/>
          <p:nvPr/>
        </p:nvSpPr>
        <p:spPr>
          <a:xfrm>
            <a:off x="11612880" y="6400800"/>
            <a:ext cx="457200" cy="274320"/>
          </a:xfrm>
          <a:prstGeom prst="rect">
            <a:avLst/>
          </a:prstGeom>
          <a:noFill/>
          <a:ln/>
        </p:spPr>
        <p:txBody>
          <a:bodyPr wrap="square" rtlCol="0" anchor="ctr"/>
          <a:lstStyle/>
          <a:p>
            <a:pPr algn="r" indent="0" marL="0">
              <a:buNone/>
            </a:pPr>
            <a:r>
              <a:rPr lang="en-US" sz="1100" dirty="0">
                <a:solidFill>
                  <a:srgbClr val="6A7889"/>
                </a:solidFill>
                <a:latin typeface="Work Sans" pitchFamily="34" charset="0"/>
                <a:ea typeface="Work Sans" pitchFamily="34" charset="-122"/>
                <a:cs typeface="Work Sans"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F2F5F9"/>
          </a:solidFill>
          <a:ln/>
        </p:spPr>
      </p:sp>
      <p:sp>
        <p:nvSpPr>
          <p:cNvPr id="3" name="Shape 1"/>
          <p:cNvSpPr/>
          <p:nvPr/>
        </p:nvSpPr>
        <p:spPr>
          <a:xfrm>
            <a:off x="0" y="1051560"/>
            <a:ext cx="12191695" cy="27432"/>
          </a:xfrm>
          <a:prstGeom prst="rect">
            <a:avLst/>
          </a:prstGeom>
          <a:solidFill>
            <a:srgbClr val="E8730C"/>
          </a:solidFill>
          <a:ln/>
        </p:spPr>
      </p:sp>
      <p:sp>
        <p:nvSpPr>
          <p:cNvPr id="4" name="Text 2"/>
          <p:cNvSpPr/>
          <p:nvPr/>
        </p:nvSpPr>
        <p:spPr>
          <a:xfrm>
            <a:off x="548640" y="182880"/>
            <a:ext cx="10972800" cy="274320"/>
          </a:xfrm>
          <a:prstGeom prst="rect">
            <a:avLst/>
          </a:prstGeom>
          <a:noFill/>
          <a:ln/>
        </p:spPr>
        <p:txBody>
          <a:bodyPr wrap="square" rtlCol="0" anchor="ctr"/>
          <a:lstStyle/>
          <a:p>
            <a:pPr indent="0" marL="0">
              <a:buNone/>
            </a:pPr>
            <a:r>
              <a:rPr lang="en-US" sz="1200" b="1" spc="200" kern="0" dirty="0">
                <a:solidFill>
                  <a:srgbClr val="E8730C"/>
                </a:solidFill>
                <a:latin typeface="Poppins" pitchFamily="34" charset="0"/>
                <a:ea typeface="Poppins" pitchFamily="34" charset="-122"/>
                <a:cs typeface="Poppins" pitchFamily="34" charset="-120"/>
              </a:rPr>
              <a:t>NJËSIA 2 · OOP</a:t>
            </a:r>
            <a:endParaRPr lang="en-US" sz="1200" dirty="0"/>
          </a:p>
        </p:txBody>
      </p:sp>
      <p:sp>
        <p:nvSpPr>
          <p:cNvPr id="5" name="Text 3"/>
          <p:cNvSpPr/>
          <p:nvPr/>
        </p:nvSpPr>
        <p:spPr>
          <a:xfrm>
            <a:off x="548640" y="420624"/>
            <a:ext cx="11064240" cy="566928"/>
          </a:xfrm>
          <a:prstGeom prst="rect">
            <a:avLst/>
          </a:prstGeom>
          <a:noFill/>
          <a:ln/>
        </p:spPr>
        <p:txBody>
          <a:bodyPr wrap="square" rtlCol="0" anchor="ctr"/>
          <a:lstStyle/>
          <a:p>
            <a:pPr indent="0" marL="0">
              <a:buNone/>
            </a:pPr>
            <a:r>
              <a:rPr lang="en-US" sz="2600" b="1" dirty="0">
                <a:solidFill>
                  <a:srgbClr val="142033"/>
                </a:solidFill>
                <a:latin typeface="Poppins" pitchFamily="34" charset="0"/>
                <a:ea typeface="Poppins" pitchFamily="34" charset="-122"/>
                <a:cs typeface="Poppins" pitchFamily="34" charset="-120"/>
              </a:rPr>
              <a:t>Klasa, objekte, trashëgimi</a:t>
            </a:r>
            <a:endParaRPr lang="en-US" sz="2600" dirty="0"/>
          </a:p>
        </p:txBody>
      </p:sp>
      <p:sp>
        <p:nvSpPr>
          <p:cNvPr id="6" name="Text 4"/>
          <p:cNvSpPr/>
          <p:nvPr/>
        </p:nvSpPr>
        <p:spPr>
          <a:xfrm>
            <a:off x="640080" y="1463040"/>
            <a:ext cx="5760720" cy="3657600"/>
          </a:xfrm>
          <a:prstGeom prst="rect">
            <a:avLst/>
          </a:prstGeom>
          <a:noFill/>
          <a:ln/>
        </p:spPr>
        <p:txBody>
          <a:bodyPr wrap="square" lIns="0" tIns="0" rIns="0" bIns="0" rtlCol="0" anchor="t"/>
          <a:lstStyle/>
          <a:p>
            <a:pPr marL="203200" indent="-203200">
              <a:spcAft>
                <a:spcPts val="900"/>
              </a:spcAft>
              <a:buSzPct val="100000"/>
              <a:buChar char="•"/>
            </a:pPr>
            <a:r>
              <a:rPr lang="en-US" sz="1400" b="1" dirty="0">
                <a:solidFill>
                  <a:srgbClr val="E8730C"/>
                </a:solidFill>
                <a:latin typeface="Work Sans" pitchFamily="34" charset="0"/>
                <a:ea typeface="Work Sans" pitchFamily="34" charset="-122"/>
                <a:cs typeface="Work Sans" pitchFamily="34" charset="-120"/>
              </a:rPr>
              <a:t>Klasa &amp; Objekt</a:t>
            </a:r>
            <a:endParaRPr lang="en-US" sz="1400" dirty="0"/>
          </a:p>
          <a:p>
            <a:pPr marL="203200" indent="-203200">
              <a:spcAft>
                <a:spcPts val="900"/>
              </a:spcAft>
              <a:buSzPct val="100000"/>
              <a:buChar char="•"/>
            </a:pPr>
            <a:r>
              <a:rPr lang="en-US" sz="1400" dirty="0">
                <a:solidFill>
                  <a:srgbClr val="26313F"/>
                </a:solidFill>
                <a:latin typeface="Work Sans" pitchFamily="34" charset="0"/>
                <a:ea typeface="Work Sans" pitchFamily="34" charset="-122"/>
                <a:cs typeface="Work Sans" pitchFamily="34" charset="-120"/>
              </a:rPr>
              <a:t>Klasa = plani; objekti = instanca (new)</a:t>
            </a:r>
            <a:endParaRPr lang="en-US" sz="1400" dirty="0"/>
          </a:p>
          <a:p>
            <a:pPr marL="203200" indent="-203200">
              <a:spcAft>
                <a:spcPts val="900"/>
              </a:spcAft>
              <a:buSzPct val="100000"/>
              <a:buChar char="•"/>
            </a:pPr>
            <a:r>
              <a:rPr lang="en-US" sz="1400" b="1" dirty="0">
                <a:solidFill>
                  <a:srgbClr val="E8730C"/>
                </a:solidFill>
                <a:latin typeface="Work Sans" pitchFamily="34" charset="0"/>
                <a:ea typeface="Work Sans" pitchFamily="34" charset="-122"/>
                <a:cs typeface="Work Sans" pitchFamily="34" charset="-120"/>
              </a:rPr>
              <a:t>Enkapsulimi</a:t>
            </a:r>
            <a:endParaRPr lang="en-US" sz="1400" dirty="0"/>
          </a:p>
          <a:p>
            <a:pPr marL="203200" indent="-203200">
              <a:spcAft>
                <a:spcPts val="900"/>
              </a:spcAft>
              <a:buSzPct val="100000"/>
              <a:buChar char="•"/>
            </a:pPr>
            <a:r>
              <a:rPr lang="en-US" sz="1400" dirty="0">
                <a:solidFill>
                  <a:srgbClr val="26313F"/>
                </a:solidFill>
                <a:latin typeface="Work Sans" pitchFamily="34" charset="0"/>
                <a:ea typeface="Work Sans" pitchFamily="34" charset="-122"/>
                <a:cs typeface="Work Sans" pitchFamily="34" charset="-120"/>
              </a:rPr>
              <a:t>Fusha private + metoda getter/setter</a:t>
            </a:r>
            <a:endParaRPr lang="en-US" sz="1400" dirty="0"/>
          </a:p>
          <a:p>
            <a:pPr marL="203200" indent="-203200">
              <a:spcAft>
                <a:spcPts val="900"/>
              </a:spcAft>
              <a:buSzPct val="100000"/>
              <a:buChar char="•"/>
            </a:pPr>
            <a:r>
              <a:rPr lang="en-US" sz="1400" b="1" dirty="0">
                <a:solidFill>
                  <a:srgbClr val="E8730C"/>
                </a:solidFill>
                <a:latin typeface="Work Sans" pitchFamily="34" charset="0"/>
                <a:ea typeface="Work Sans" pitchFamily="34" charset="-122"/>
                <a:cs typeface="Work Sans" pitchFamily="34" charset="-120"/>
              </a:rPr>
              <a:t>Konstruktori</a:t>
            </a:r>
            <a:endParaRPr lang="en-US" sz="1400" dirty="0"/>
          </a:p>
          <a:p>
            <a:pPr marL="203200" indent="-203200">
              <a:spcAft>
                <a:spcPts val="900"/>
              </a:spcAft>
              <a:buSzPct val="100000"/>
              <a:buChar char="•"/>
            </a:pPr>
            <a:r>
              <a:rPr lang="en-US" sz="1400" dirty="0">
                <a:solidFill>
                  <a:srgbClr val="26313F"/>
                </a:solidFill>
                <a:latin typeface="Work Sans" pitchFamily="34" charset="0"/>
                <a:ea typeface="Work Sans" pitchFamily="34" charset="-122"/>
                <a:cs typeface="Work Sans" pitchFamily="34" charset="-120"/>
              </a:rPr>
              <a:t>Inicializon objektin; this.fusha = fusha</a:t>
            </a:r>
            <a:endParaRPr lang="en-US" sz="1400" dirty="0"/>
          </a:p>
          <a:p>
            <a:pPr marL="203200" indent="-203200">
              <a:spcAft>
                <a:spcPts val="900"/>
              </a:spcAft>
              <a:buSzPct val="100000"/>
              <a:buChar char="•"/>
            </a:pPr>
            <a:r>
              <a:rPr lang="en-US" sz="1400" b="1" dirty="0">
                <a:solidFill>
                  <a:srgbClr val="E8730C"/>
                </a:solidFill>
                <a:latin typeface="Work Sans" pitchFamily="34" charset="0"/>
                <a:ea typeface="Work Sans" pitchFamily="34" charset="-122"/>
                <a:cs typeface="Work Sans" pitchFamily="34" charset="-120"/>
              </a:rPr>
              <a:t>Trashëgimia</a:t>
            </a:r>
            <a:endParaRPr lang="en-US" sz="1400" dirty="0"/>
          </a:p>
          <a:p>
            <a:pPr marL="203200" indent="-203200">
              <a:spcAft>
                <a:spcPts val="900"/>
              </a:spcAft>
              <a:buSzPct val="100000"/>
              <a:buChar char="•"/>
            </a:pPr>
            <a:r>
              <a:rPr lang="en-US" sz="1400" dirty="0">
                <a:solidFill>
                  <a:srgbClr val="26313F"/>
                </a:solidFill>
                <a:latin typeface="Work Sans" pitchFamily="34" charset="0"/>
                <a:ea typeface="Work Sans" pitchFamily="34" charset="-122"/>
                <a:cs typeface="Work Sans" pitchFamily="34" charset="-120"/>
              </a:rPr>
              <a:t>class B extends A — super() thërret prindin</a:t>
            </a:r>
            <a:endParaRPr lang="en-US" sz="1400" dirty="0"/>
          </a:p>
        </p:txBody>
      </p:sp>
      <p:sp>
        <p:nvSpPr>
          <p:cNvPr id="7" name="Shape 5"/>
          <p:cNvSpPr/>
          <p:nvPr/>
        </p:nvSpPr>
        <p:spPr>
          <a:xfrm>
            <a:off x="6583680" y="1737360"/>
            <a:ext cx="5029200" cy="2542032"/>
          </a:xfrm>
          <a:prstGeom prst="roundRect">
            <a:avLst>
              <a:gd name="adj" fmla="val 2878"/>
            </a:avLst>
          </a:prstGeom>
          <a:solidFill>
            <a:srgbClr val="1B2736"/>
          </a:solidFill>
          <a:ln w="12700">
            <a:solidFill>
              <a:srgbClr val="2A3A4C"/>
            </a:solidFill>
            <a:prstDash val="solid"/>
          </a:ln>
        </p:spPr>
      </p:sp>
      <p:sp>
        <p:nvSpPr>
          <p:cNvPr id="8" name="Text 6"/>
          <p:cNvSpPr/>
          <p:nvPr/>
        </p:nvSpPr>
        <p:spPr>
          <a:xfrm>
            <a:off x="6720840" y="1810512"/>
            <a:ext cx="3931920" cy="256032"/>
          </a:xfrm>
          <a:prstGeom prst="rect">
            <a:avLst/>
          </a:prstGeom>
          <a:noFill/>
          <a:ln/>
        </p:spPr>
        <p:txBody>
          <a:bodyPr wrap="square" rtlCol="0" anchor="ctr"/>
          <a:lstStyle/>
          <a:p>
            <a:pPr indent="0" marL="0">
              <a:buNone/>
            </a:pPr>
            <a:r>
              <a:rPr lang="en-US" sz="1000" b="1" spc="100" kern="0" dirty="0">
                <a:solidFill>
                  <a:srgbClr val="6A7889"/>
                </a:solidFill>
                <a:latin typeface="JetBrains Mono" pitchFamily="34" charset="0"/>
                <a:ea typeface="JetBrains Mono" pitchFamily="34" charset="-122"/>
                <a:cs typeface="JetBrains Mono" pitchFamily="34" charset="-120"/>
              </a:rPr>
              <a:t>Klasë me enkapsulim</a:t>
            </a:r>
            <a:endParaRPr lang="en-US" sz="1000" dirty="0"/>
          </a:p>
        </p:txBody>
      </p:sp>
      <p:sp>
        <p:nvSpPr>
          <p:cNvPr id="9" name="Text 7"/>
          <p:cNvSpPr/>
          <p:nvPr/>
        </p:nvSpPr>
        <p:spPr>
          <a:xfrm>
            <a:off x="6784848" y="2121408"/>
            <a:ext cx="4626864" cy="2020824"/>
          </a:xfrm>
          <a:prstGeom prst="rect">
            <a:avLst/>
          </a:prstGeom>
          <a:noFill/>
          <a:ln/>
        </p:spPr>
        <p:txBody>
          <a:bodyPr wrap="square" lIns="0" tIns="0" rIns="0" bIns="0" rtlCol="0" anchor="t"/>
          <a:lstStyle/>
          <a:p>
            <a:pPr indent="0" marL="0">
              <a:lnSpc>
                <a:spcPct val="98000"/>
              </a:lnSpc>
              <a:buNone/>
            </a:pPr>
            <a:r>
              <a:rPr lang="en-US" sz="1200" dirty="0">
                <a:solidFill>
                  <a:srgbClr val="E8963C"/>
                </a:solidFill>
                <a:latin typeface="JetBrains Mono" pitchFamily="34" charset="0"/>
                <a:ea typeface="JetBrains Mono" pitchFamily="34" charset="-122"/>
                <a:cs typeface="JetBrains Mono" pitchFamily="34" charset="-120"/>
              </a:rPr>
              <a:t>class</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Student</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endParaRPr lang="en-US" sz="1200" dirty="0"/>
          </a:p>
          <a:p>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private</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E8963C"/>
                </a:solidFill>
                <a:latin typeface="JetBrains Mono" pitchFamily="34" charset="0"/>
                <a:ea typeface="JetBrains Mono" pitchFamily="34" charset="-122"/>
                <a:cs typeface="JetBrains Mono" pitchFamily="34" charset="-120"/>
              </a:rPr>
              <a:t>String</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emri</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7B8A99"/>
                </a:solidFill>
                <a:latin typeface="JetBrains Mono" pitchFamily="34" charset="0"/>
                <a:ea typeface="JetBrains Mono" pitchFamily="34" charset="-122"/>
                <a:cs typeface="JetBrains Mono" pitchFamily="34" charset="-120"/>
              </a:rPr>
              <a:t>// enkapsulim</a:t>
            </a:r>
            <a:endParaRPr lang="en-US" sz="1200" dirty="0"/>
          </a:p>
          <a:p>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Student</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00" dirty="0">
                <a:solidFill>
                  <a:srgbClr val="E8963C"/>
                </a:solidFill>
                <a:latin typeface="JetBrains Mono" pitchFamily="34" charset="0"/>
                <a:ea typeface="JetBrains Mono" pitchFamily="34" charset="-122"/>
                <a:cs typeface="JetBrains Mono" pitchFamily="34" charset="-120"/>
              </a:rPr>
              <a:t>String</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emri</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endParaRPr lang="en-US" sz="1200" dirty="0"/>
          </a:p>
          <a:p>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E8963C"/>
                </a:solidFill>
                <a:latin typeface="JetBrains Mono" pitchFamily="34" charset="0"/>
                <a:ea typeface="JetBrains Mono" pitchFamily="34" charset="-122"/>
                <a:cs typeface="JetBrains Mono" pitchFamily="34" charset="-120"/>
              </a:rPr>
              <a:t>this</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emri</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emri</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7B8A99"/>
                </a:solidFill>
                <a:latin typeface="JetBrains Mono" pitchFamily="34" charset="0"/>
                <a:ea typeface="JetBrains Mono" pitchFamily="34" charset="-122"/>
                <a:cs typeface="JetBrains Mono" pitchFamily="34" charset="-120"/>
              </a:rPr>
              <a:t>// konstruktor</a:t>
            </a:r>
            <a:endParaRPr lang="en-US" sz="1200" dirty="0"/>
          </a:p>
          <a:p>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endParaRPr lang="en-US" sz="1200" dirty="0"/>
          </a:p>
          <a:p>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E8963C"/>
                </a:solidFill>
                <a:latin typeface="JetBrains Mono" pitchFamily="34" charset="0"/>
                <a:ea typeface="JetBrains Mono" pitchFamily="34" charset="-122"/>
                <a:cs typeface="JetBrains Mono" pitchFamily="34" charset="-120"/>
              </a:rPr>
              <a:t>String</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getEmri</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E8963C"/>
                </a:solidFill>
                <a:latin typeface="JetBrains Mono" pitchFamily="34" charset="0"/>
                <a:ea typeface="JetBrains Mono" pitchFamily="34" charset="-122"/>
                <a:cs typeface="JetBrains Mono" pitchFamily="34" charset="-120"/>
              </a:rPr>
              <a:t>return</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emri</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endParaRPr lang="en-US" sz="1200" dirty="0"/>
          </a:p>
          <a:p>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endParaRPr lang="en-US" sz="1200" dirty="0"/>
          </a:p>
          <a:p>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Student</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s</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E8963C"/>
                </a:solidFill>
                <a:latin typeface="JetBrains Mono" pitchFamily="34" charset="0"/>
                <a:ea typeface="JetBrains Mono" pitchFamily="34" charset="-122"/>
                <a:cs typeface="JetBrains Mono" pitchFamily="34" charset="-120"/>
              </a:rPr>
              <a:t>new</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Student</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00" dirty="0">
                <a:solidFill>
                  <a:srgbClr val="8FCB6B"/>
                </a:solidFill>
                <a:latin typeface="JetBrains Mono" pitchFamily="34" charset="0"/>
                <a:ea typeface="JetBrains Mono" pitchFamily="34" charset="-122"/>
                <a:cs typeface="JetBrains Mono" pitchFamily="34" charset="-120"/>
              </a:rPr>
              <a:t>"Ana"</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endParaRPr lang="en-US" sz="1200" dirty="0"/>
          </a:p>
        </p:txBody>
      </p:sp>
      <p:sp>
        <p:nvSpPr>
          <p:cNvPr id="10" name="Shape 8"/>
          <p:cNvSpPr/>
          <p:nvPr/>
        </p:nvSpPr>
        <p:spPr>
          <a:xfrm>
            <a:off x="6583680" y="4434840"/>
            <a:ext cx="5029200" cy="1417320"/>
          </a:xfrm>
          <a:prstGeom prst="roundRect">
            <a:avLst>
              <a:gd name="adj" fmla="val 6452"/>
            </a:avLst>
          </a:prstGeom>
          <a:solidFill>
            <a:srgbClr val="142033"/>
          </a:solidFill>
          <a:ln/>
        </p:spPr>
      </p:sp>
      <p:sp>
        <p:nvSpPr>
          <p:cNvPr id="11" name="Text 9"/>
          <p:cNvSpPr/>
          <p:nvPr/>
        </p:nvSpPr>
        <p:spPr>
          <a:xfrm>
            <a:off x="6812280" y="4544568"/>
            <a:ext cx="4572000" cy="320040"/>
          </a:xfrm>
          <a:prstGeom prst="rect">
            <a:avLst/>
          </a:prstGeom>
          <a:noFill/>
          <a:ln/>
        </p:spPr>
        <p:txBody>
          <a:bodyPr wrap="square" rtlCol="0" anchor="ctr"/>
          <a:lstStyle/>
          <a:p>
            <a:pPr indent="0" marL="0">
              <a:buNone/>
            </a:pPr>
            <a:r>
              <a:rPr lang="en-US" sz="1300" b="1" dirty="0">
                <a:solidFill>
                  <a:srgbClr val="F6A63B"/>
                </a:solidFill>
                <a:latin typeface="Poppins" pitchFamily="34" charset="0"/>
                <a:ea typeface="Poppins" pitchFamily="34" charset="-122"/>
                <a:cs typeface="Poppins" pitchFamily="34" charset="-120"/>
              </a:rPr>
              <a:t>Katër shtyllat e OOP:</a:t>
            </a:r>
            <a:endParaRPr lang="en-US" sz="1300" dirty="0"/>
          </a:p>
        </p:txBody>
      </p:sp>
      <p:sp>
        <p:nvSpPr>
          <p:cNvPr id="12" name="Text 10"/>
          <p:cNvSpPr/>
          <p:nvPr/>
        </p:nvSpPr>
        <p:spPr>
          <a:xfrm>
            <a:off x="6812280" y="4892040"/>
            <a:ext cx="4617720" cy="822960"/>
          </a:xfrm>
          <a:prstGeom prst="rect">
            <a:avLst/>
          </a:prstGeom>
          <a:noFill/>
          <a:ln/>
        </p:spPr>
        <p:txBody>
          <a:bodyPr wrap="square" rtlCol="0" anchor="t"/>
          <a:lstStyle/>
          <a:p>
            <a:pPr indent="0" marL="0">
              <a:buNone/>
            </a:pPr>
            <a:r>
              <a:rPr lang="en-US" sz="1300" b="1" dirty="0">
                <a:solidFill>
                  <a:srgbClr val="DBE2EA"/>
                </a:solidFill>
                <a:latin typeface="Work Sans" pitchFamily="34" charset="0"/>
                <a:ea typeface="Work Sans" pitchFamily="34" charset="-122"/>
                <a:cs typeface="Work Sans" pitchFamily="34" charset="-120"/>
              </a:rPr>
              <a:t>Enkapsulim · Trashëgimi · Polimorfizëm · Abstraksion</a:t>
            </a:r>
            <a:endParaRPr lang="en-US" sz="1300" dirty="0"/>
          </a:p>
        </p:txBody>
      </p:sp>
      <p:sp>
        <p:nvSpPr>
          <p:cNvPr id="13" name="Text 11"/>
          <p:cNvSpPr/>
          <p:nvPr/>
        </p:nvSpPr>
        <p:spPr>
          <a:xfrm>
            <a:off x="11612880" y="6400800"/>
            <a:ext cx="457200" cy="274320"/>
          </a:xfrm>
          <a:prstGeom prst="rect">
            <a:avLst/>
          </a:prstGeom>
          <a:noFill/>
          <a:ln/>
        </p:spPr>
        <p:txBody>
          <a:bodyPr wrap="square" rtlCol="0" anchor="ctr"/>
          <a:lstStyle/>
          <a:p>
            <a:pPr algn="r" indent="0" marL="0">
              <a:buNone/>
            </a:pPr>
            <a:r>
              <a:rPr lang="en-US" sz="1100" dirty="0">
                <a:solidFill>
                  <a:srgbClr val="6A7889"/>
                </a:solidFill>
                <a:latin typeface="Work Sans" pitchFamily="34" charset="0"/>
                <a:ea typeface="Work Sans" pitchFamily="34" charset="-122"/>
                <a:cs typeface="Work Sans"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F2F5F9"/>
          </a:solidFill>
          <a:ln/>
        </p:spPr>
      </p:sp>
      <p:sp>
        <p:nvSpPr>
          <p:cNvPr id="3" name="Shape 1"/>
          <p:cNvSpPr/>
          <p:nvPr/>
        </p:nvSpPr>
        <p:spPr>
          <a:xfrm>
            <a:off x="0" y="1051560"/>
            <a:ext cx="12191695" cy="27432"/>
          </a:xfrm>
          <a:prstGeom prst="rect">
            <a:avLst/>
          </a:prstGeom>
          <a:solidFill>
            <a:srgbClr val="E8730C"/>
          </a:solidFill>
          <a:ln/>
        </p:spPr>
      </p:sp>
      <p:sp>
        <p:nvSpPr>
          <p:cNvPr id="4" name="Text 2"/>
          <p:cNvSpPr/>
          <p:nvPr/>
        </p:nvSpPr>
        <p:spPr>
          <a:xfrm>
            <a:off x="548640" y="182880"/>
            <a:ext cx="10972800" cy="274320"/>
          </a:xfrm>
          <a:prstGeom prst="rect">
            <a:avLst/>
          </a:prstGeom>
          <a:noFill/>
          <a:ln/>
        </p:spPr>
        <p:txBody>
          <a:bodyPr wrap="square" rtlCol="0" anchor="ctr"/>
          <a:lstStyle/>
          <a:p>
            <a:pPr indent="0" marL="0">
              <a:buNone/>
            </a:pPr>
            <a:r>
              <a:rPr lang="en-US" sz="1200" b="1" spc="200" kern="0" dirty="0">
                <a:solidFill>
                  <a:srgbClr val="E8730C"/>
                </a:solidFill>
                <a:latin typeface="Poppins" pitchFamily="34" charset="0"/>
                <a:ea typeface="Poppins" pitchFamily="34" charset="-122"/>
                <a:cs typeface="Poppins" pitchFamily="34" charset="-120"/>
              </a:rPr>
              <a:t>NJËSIA 3 · POLIMORFIZMI &amp; ABSTRAKSIONI</a:t>
            </a:r>
            <a:endParaRPr lang="en-US" sz="1200" dirty="0"/>
          </a:p>
        </p:txBody>
      </p:sp>
      <p:sp>
        <p:nvSpPr>
          <p:cNvPr id="5" name="Text 3"/>
          <p:cNvSpPr/>
          <p:nvPr/>
        </p:nvSpPr>
        <p:spPr>
          <a:xfrm>
            <a:off x="548640" y="420624"/>
            <a:ext cx="11064240" cy="566928"/>
          </a:xfrm>
          <a:prstGeom prst="rect">
            <a:avLst/>
          </a:prstGeom>
          <a:noFill/>
          <a:ln/>
        </p:spPr>
        <p:txBody>
          <a:bodyPr wrap="square" rtlCol="0" anchor="ctr"/>
          <a:lstStyle/>
          <a:p>
            <a:pPr indent="0" marL="0">
              <a:buNone/>
            </a:pPr>
            <a:r>
              <a:rPr lang="en-US" sz="2600" b="1" dirty="0">
                <a:solidFill>
                  <a:srgbClr val="142033"/>
                </a:solidFill>
                <a:latin typeface="Poppins" pitchFamily="34" charset="0"/>
                <a:ea typeface="Poppins" pitchFamily="34" charset="-122"/>
                <a:cs typeface="Poppins" pitchFamily="34" charset="-120"/>
              </a:rPr>
              <a:t>Abstract vs Interface, instanceof</a:t>
            </a:r>
            <a:endParaRPr lang="en-US" sz="2600" dirty="0"/>
          </a:p>
        </p:txBody>
      </p:sp>
      <p:sp>
        <p:nvSpPr>
          <p:cNvPr id="6" name="Shape 4"/>
          <p:cNvSpPr/>
          <p:nvPr/>
        </p:nvSpPr>
        <p:spPr>
          <a:xfrm>
            <a:off x="640080" y="1463040"/>
            <a:ext cx="1737360" cy="457200"/>
          </a:xfrm>
          <a:prstGeom prst="rect">
            <a:avLst/>
          </a:prstGeom>
          <a:solidFill>
            <a:srgbClr val="142033"/>
          </a:solidFill>
          <a:ln w="12700">
            <a:solidFill>
              <a:srgbClr val="DBE2EA"/>
            </a:solidFill>
            <a:prstDash val="solid"/>
          </a:ln>
        </p:spPr>
      </p:sp>
      <p:sp>
        <p:nvSpPr>
          <p:cNvPr id="7" name="Text 5"/>
          <p:cNvSpPr/>
          <p:nvPr/>
        </p:nvSpPr>
        <p:spPr>
          <a:xfrm>
            <a:off x="731520" y="1463040"/>
            <a:ext cx="1554480" cy="457200"/>
          </a:xfrm>
          <a:prstGeom prst="rect">
            <a:avLst/>
          </a:prstGeom>
          <a:noFill/>
          <a:ln/>
        </p:spPr>
        <p:txBody>
          <a:bodyPr wrap="square" rtlCol="0" anchor="ctr"/>
          <a:lstStyle/>
          <a:p>
            <a:pPr algn="ctr" indent="0" marL="0">
              <a:buNone/>
            </a:pPr>
            <a:endParaRPr lang="en-US" sz="1250" dirty="0"/>
          </a:p>
        </p:txBody>
      </p:sp>
      <p:sp>
        <p:nvSpPr>
          <p:cNvPr id="8" name="Shape 6"/>
          <p:cNvSpPr/>
          <p:nvPr/>
        </p:nvSpPr>
        <p:spPr>
          <a:xfrm>
            <a:off x="2377440" y="1463040"/>
            <a:ext cx="2743200" cy="457200"/>
          </a:xfrm>
          <a:prstGeom prst="rect">
            <a:avLst/>
          </a:prstGeom>
          <a:solidFill>
            <a:srgbClr val="142033"/>
          </a:solidFill>
          <a:ln w="12700">
            <a:solidFill>
              <a:srgbClr val="DBE2EA"/>
            </a:solidFill>
            <a:prstDash val="solid"/>
          </a:ln>
        </p:spPr>
      </p:sp>
      <p:sp>
        <p:nvSpPr>
          <p:cNvPr id="9" name="Text 7"/>
          <p:cNvSpPr/>
          <p:nvPr/>
        </p:nvSpPr>
        <p:spPr>
          <a:xfrm>
            <a:off x="2468880" y="1463040"/>
            <a:ext cx="2560320" cy="457200"/>
          </a:xfrm>
          <a:prstGeom prst="rect">
            <a:avLst/>
          </a:prstGeom>
          <a:noFill/>
          <a:ln/>
        </p:spPr>
        <p:txBody>
          <a:bodyPr wrap="square" rtlCol="0" anchor="ctr"/>
          <a:lstStyle/>
          <a:p>
            <a:pPr algn="ctr" indent="0" marL="0">
              <a:buNone/>
            </a:pPr>
            <a:r>
              <a:rPr lang="en-US" sz="1250" b="1" dirty="0">
                <a:solidFill>
                  <a:srgbClr val="FFFFFF"/>
                </a:solidFill>
                <a:latin typeface="Work Sans" pitchFamily="34" charset="0"/>
                <a:ea typeface="Work Sans" pitchFamily="34" charset="-122"/>
                <a:cs typeface="Work Sans" pitchFamily="34" charset="-120"/>
              </a:rPr>
              <a:t>Klasa abstrakte</a:t>
            </a:r>
            <a:endParaRPr lang="en-US" sz="1250" dirty="0"/>
          </a:p>
        </p:txBody>
      </p:sp>
      <p:sp>
        <p:nvSpPr>
          <p:cNvPr id="10" name="Shape 8"/>
          <p:cNvSpPr/>
          <p:nvPr/>
        </p:nvSpPr>
        <p:spPr>
          <a:xfrm>
            <a:off x="5120640" y="1463040"/>
            <a:ext cx="2743200" cy="457200"/>
          </a:xfrm>
          <a:prstGeom prst="rect">
            <a:avLst/>
          </a:prstGeom>
          <a:solidFill>
            <a:srgbClr val="142033"/>
          </a:solidFill>
          <a:ln w="12700">
            <a:solidFill>
              <a:srgbClr val="DBE2EA"/>
            </a:solidFill>
            <a:prstDash val="solid"/>
          </a:ln>
        </p:spPr>
      </p:sp>
      <p:sp>
        <p:nvSpPr>
          <p:cNvPr id="11" name="Text 9"/>
          <p:cNvSpPr/>
          <p:nvPr/>
        </p:nvSpPr>
        <p:spPr>
          <a:xfrm>
            <a:off x="5212080" y="1463040"/>
            <a:ext cx="2560320" cy="457200"/>
          </a:xfrm>
          <a:prstGeom prst="rect">
            <a:avLst/>
          </a:prstGeom>
          <a:noFill/>
          <a:ln/>
        </p:spPr>
        <p:txBody>
          <a:bodyPr wrap="square" rtlCol="0" anchor="ctr"/>
          <a:lstStyle/>
          <a:p>
            <a:pPr algn="ctr" indent="0" marL="0">
              <a:buNone/>
            </a:pPr>
            <a:r>
              <a:rPr lang="en-US" sz="1250" b="1" dirty="0">
                <a:solidFill>
                  <a:srgbClr val="FFFFFF"/>
                </a:solidFill>
                <a:latin typeface="Work Sans" pitchFamily="34" charset="0"/>
                <a:ea typeface="Work Sans" pitchFamily="34" charset="-122"/>
                <a:cs typeface="Work Sans" pitchFamily="34" charset="-120"/>
              </a:rPr>
              <a:t>Interface</a:t>
            </a:r>
            <a:endParaRPr lang="en-US" sz="1250" dirty="0"/>
          </a:p>
        </p:txBody>
      </p:sp>
      <p:sp>
        <p:nvSpPr>
          <p:cNvPr id="12" name="Shape 10"/>
          <p:cNvSpPr/>
          <p:nvPr/>
        </p:nvSpPr>
        <p:spPr>
          <a:xfrm>
            <a:off x="640080" y="1920240"/>
            <a:ext cx="1737360" cy="457200"/>
          </a:xfrm>
          <a:prstGeom prst="rect">
            <a:avLst/>
          </a:prstGeom>
          <a:solidFill>
            <a:srgbClr val="F2F5F9"/>
          </a:solidFill>
          <a:ln w="12700">
            <a:solidFill>
              <a:srgbClr val="DBE2EA"/>
            </a:solidFill>
            <a:prstDash val="solid"/>
          </a:ln>
        </p:spPr>
      </p:sp>
      <p:sp>
        <p:nvSpPr>
          <p:cNvPr id="13" name="Text 11"/>
          <p:cNvSpPr/>
          <p:nvPr/>
        </p:nvSpPr>
        <p:spPr>
          <a:xfrm>
            <a:off x="731520" y="1920240"/>
            <a:ext cx="1554480" cy="457200"/>
          </a:xfrm>
          <a:prstGeom prst="rect">
            <a:avLst/>
          </a:prstGeom>
          <a:noFill/>
          <a:ln/>
        </p:spPr>
        <p:txBody>
          <a:bodyPr wrap="square" rtlCol="0" anchor="ctr"/>
          <a:lstStyle/>
          <a:p>
            <a:pPr algn="l" indent="0" marL="0">
              <a:buNone/>
            </a:pPr>
            <a:r>
              <a:rPr lang="en-US" sz="1250" b="1" dirty="0">
                <a:solidFill>
                  <a:srgbClr val="26313F"/>
                </a:solidFill>
                <a:latin typeface="Work Sans" pitchFamily="34" charset="0"/>
                <a:ea typeface="Work Sans" pitchFamily="34" charset="-122"/>
                <a:cs typeface="Work Sans" pitchFamily="34" charset="-120"/>
              </a:rPr>
              <a:t>Fjala</a:t>
            </a:r>
            <a:endParaRPr lang="en-US" sz="1250" dirty="0"/>
          </a:p>
        </p:txBody>
      </p:sp>
      <p:sp>
        <p:nvSpPr>
          <p:cNvPr id="14" name="Shape 12"/>
          <p:cNvSpPr/>
          <p:nvPr/>
        </p:nvSpPr>
        <p:spPr>
          <a:xfrm>
            <a:off x="2377440" y="1920240"/>
            <a:ext cx="2743200" cy="457200"/>
          </a:xfrm>
          <a:prstGeom prst="rect">
            <a:avLst/>
          </a:prstGeom>
          <a:solidFill>
            <a:srgbClr val="FFFFFF"/>
          </a:solidFill>
          <a:ln w="12700">
            <a:solidFill>
              <a:srgbClr val="DBE2EA"/>
            </a:solidFill>
            <a:prstDash val="solid"/>
          </a:ln>
        </p:spPr>
      </p:sp>
      <p:sp>
        <p:nvSpPr>
          <p:cNvPr id="15" name="Text 13"/>
          <p:cNvSpPr/>
          <p:nvPr/>
        </p:nvSpPr>
        <p:spPr>
          <a:xfrm>
            <a:off x="2468880" y="1920240"/>
            <a:ext cx="2560320" cy="457200"/>
          </a:xfrm>
          <a:prstGeom prst="rect">
            <a:avLst/>
          </a:prstGeom>
          <a:noFill/>
          <a:ln/>
        </p:spPr>
        <p:txBody>
          <a:bodyPr wrap="square" rtlCol="0" anchor="ctr"/>
          <a:lstStyle/>
          <a:p>
            <a:pPr algn="ctr" indent="0" marL="0">
              <a:buNone/>
            </a:pPr>
            <a:r>
              <a:rPr lang="en-US" sz="1250" dirty="0">
                <a:solidFill>
                  <a:srgbClr val="26313F"/>
                </a:solidFill>
                <a:latin typeface="Work Sans" pitchFamily="34" charset="0"/>
                <a:ea typeface="Work Sans" pitchFamily="34" charset="-122"/>
                <a:cs typeface="Work Sans" pitchFamily="34" charset="-120"/>
              </a:rPr>
              <a:t>abstract class</a:t>
            </a:r>
            <a:endParaRPr lang="en-US" sz="1250" dirty="0"/>
          </a:p>
        </p:txBody>
      </p:sp>
      <p:sp>
        <p:nvSpPr>
          <p:cNvPr id="16" name="Shape 14"/>
          <p:cNvSpPr/>
          <p:nvPr/>
        </p:nvSpPr>
        <p:spPr>
          <a:xfrm>
            <a:off x="5120640" y="1920240"/>
            <a:ext cx="2743200" cy="457200"/>
          </a:xfrm>
          <a:prstGeom prst="rect">
            <a:avLst/>
          </a:prstGeom>
          <a:solidFill>
            <a:srgbClr val="FFFFFF"/>
          </a:solidFill>
          <a:ln w="12700">
            <a:solidFill>
              <a:srgbClr val="DBE2EA"/>
            </a:solidFill>
            <a:prstDash val="solid"/>
          </a:ln>
        </p:spPr>
      </p:sp>
      <p:sp>
        <p:nvSpPr>
          <p:cNvPr id="17" name="Text 15"/>
          <p:cNvSpPr/>
          <p:nvPr/>
        </p:nvSpPr>
        <p:spPr>
          <a:xfrm>
            <a:off x="5212080" y="1920240"/>
            <a:ext cx="2560320" cy="457200"/>
          </a:xfrm>
          <a:prstGeom prst="rect">
            <a:avLst/>
          </a:prstGeom>
          <a:noFill/>
          <a:ln/>
        </p:spPr>
        <p:txBody>
          <a:bodyPr wrap="square" rtlCol="0" anchor="ctr"/>
          <a:lstStyle/>
          <a:p>
            <a:pPr algn="ctr" indent="0" marL="0">
              <a:buNone/>
            </a:pPr>
            <a:r>
              <a:rPr lang="en-US" sz="1250" dirty="0">
                <a:solidFill>
                  <a:srgbClr val="26313F"/>
                </a:solidFill>
                <a:latin typeface="Work Sans" pitchFamily="34" charset="0"/>
                <a:ea typeface="Work Sans" pitchFamily="34" charset="-122"/>
                <a:cs typeface="Work Sans" pitchFamily="34" charset="-120"/>
              </a:rPr>
              <a:t>interface</a:t>
            </a:r>
            <a:endParaRPr lang="en-US" sz="1250" dirty="0"/>
          </a:p>
        </p:txBody>
      </p:sp>
      <p:sp>
        <p:nvSpPr>
          <p:cNvPr id="18" name="Shape 16"/>
          <p:cNvSpPr/>
          <p:nvPr/>
        </p:nvSpPr>
        <p:spPr>
          <a:xfrm>
            <a:off x="640080" y="2377440"/>
            <a:ext cx="1737360" cy="457200"/>
          </a:xfrm>
          <a:prstGeom prst="rect">
            <a:avLst/>
          </a:prstGeom>
          <a:solidFill>
            <a:srgbClr val="F2F5F9"/>
          </a:solidFill>
          <a:ln w="12700">
            <a:solidFill>
              <a:srgbClr val="DBE2EA"/>
            </a:solidFill>
            <a:prstDash val="solid"/>
          </a:ln>
        </p:spPr>
      </p:sp>
      <p:sp>
        <p:nvSpPr>
          <p:cNvPr id="19" name="Text 17"/>
          <p:cNvSpPr/>
          <p:nvPr/>
        </p:nvSpPr>
        <p:spPr>
          <a:xfrm>
            <a:off x="731520" y="2377440"/>
            <a:ext cx="1554480" cy="457200"/>
          </a:xfrm>
          <a:prstGeom prst="rect">
            <a:avLst/>
          </a:prstGeom>
          <a:noFill/>
          <a:ln/>
        </p:spPr>
        <p:txBody>
          <a:bodyPr wrap="square" rtlCol="0" anchor="ctr"/>
          <a:lstStyle/>
          <a:p>
            <a:pPr algn="l" indent="0" marL="0">
              <a:buNone/>
            </a:pPr>
            <a:r>
              <a:rPr lang="en-US" sz="1250" b="1" dirty="0">
                <a:solidFill>
                  <a:srgbClr val="26313F"/>
                </a:solidFill>
                <a:latin typeface="Work Sans" pitchFamily="34" charset="0"/>
                <a:ea typeface="Work Sans" pitchFamily="34" charset="-122"/>
                <a:cs typeface="Work Sans" pitchFamily="34" charset="-120"/>
              </a:rPr>
              <a:t>Trashëgimi</a:t>
            </a:r>
            <a:endParaRPr lang="en-US" sz="1250" dirty="0"/>
          </a:p>
        </p:txBody>
      </p:sp>
      <p:sp>
        <p:nvSpPr>
          <p:cNvPr id="20" name="Shape 18"/>
          <p:cNvSpPr/>
          <p:nvPr/>
        </p:nvSpPr>
        <p:spPr>
          <a:xfrm>
            <a:off x="2377440" y="2377440"/>
            <a:ext cx="2743200" cy="457200"/>
          </a:xfrm>
          <a:prstGeom prst="rect">
            <a:avLst/>
          </a:prstGeom>
          <a:solidFill>
            <a:srgbClr val="FFFFFF"/>
          </a:solidFill>
          <a:ln w="12700">
            <a:solidFill>
              <a:srgbClr val="DBE2EA"/>
            </a:solidFill>
            <a:prstDash val="solid"/>
          </a:ln>
        </p:spPr>
      </p:sp>
      <p:sp>
        <p:nvSpPr>
          <p:cNvPr id="21" name="Text 19"/>
          <p:cNvSpPr/>
          <p:nvPr/>
        </p:nvSpPr>
        <p:spPr>
          <a:xfrm>
            <a:off x="2468880" y="2377440"/>
            <a:ext cx="2560320" cy="457200"/>
          </a:xfrm>
          <a:prstGeom prst="rect">
            <a:avLst/>
          </a:prstGeom>
          <a:noFill/>
          <a:ln/>
        </p:spPr>
        <p:txBody>
          <a:bodyPr wrap="square" rtlCol="0" anchor="ctr"/>
          <a:lstStyle/>
          <a:p>
            <a:pPr algn="ctr" indent="0" marL="0">
              <a:buNone/>
            </a:pPr>
            <a:r>
              <a:rPr lang="en-US" sz="1250" dirty="0">
                <a:solidFill>
                  <a:srgbClr val="26313F"/>
                </a:solidFill>
                <a:latin typeface="Work Sans" pitchFamily="34" charset="0"/>
                <a:ea typeface="Work Sans" pitchFamily="34" charset="-122"/>
                <a:cs typeface="Work Sans" pitchFamily="34" charset="-120"/>
              </a:rPr>
              <a:t>extends (një)</a:t>
            </a:r>
            <a:endParaRPr lang="en-US" sz="1250" dirty="0"/>
          </a:p>
        </p:txBody>
      </p:sp>
      <p:sp>
        <p:nvSpPr>
          <p:cNvPr id="22" name="Shape 20"/>
          <p:cNvSpPr/>
          <p:nvPr/>
        </p:nvSpPr>
        <p:spPr>
          <a:xfrm>
            <a:off x="5120640" y="2377440"/>
            <a:ext cx="2743200" cy="457200"/>
          </a:xfrm>
          <a:prstGeom prst="rect">
            <a:avLst/>
          </a:prstGeom>
          <a:solidFill>
            <a:srgbClr val="FFFFFF"/>
          </a:solidFill>
          <a:ln w="12700">
            <a:solidFill>
              <a:srgbClr val="DBE2EA"/>
            </a:solidFill>
            <a:prstDash val="solid"/>
          </a:ln>
        </p:spPr>
      </p:sp>
      <p:sp>
        <p:nvSpPr>
          <p:cNvPr id="23" name="Text 21"/>
          <p:cNvSpPr/>
          <p:nvPr/>
        </p:nvSpPr>
        <p:spPr>
          <a:xfrm>
            <a:off x="5212080" y="2377440"/>
            <a:ext cx="2560320" cy="457200"/>
          </a:xfrm>
          <a:prstGeom prst="rect">
            <a:avLst/>
          </a:prstGeom>
          <a:noFill/>
          <a:ln/>
        </p:spPr>
        <p:txBody>
          <a:bodyPr wrap="square" rtlCol="0" anchor="ctr"/>
          <a:lstStyle/>
          <a:p>
            <a:pPr algn="ctr" indent="0" marL="0">
              <a:buNone/>
            </a:pPr>
            <a:r>
              <a:rPr lang="en-US" sz="1250" dirty="0">
                <a:solidFill>
                  <a:srgbClr val="26313F"/>
                </a:solidFill>
                <a:latin typeface="Work Sans" pitchFamily="34" charset="0"/>
                <a:ea typeface="Work Sans" pitchFamily="34" charset="-122"/>
                <a:cs typeface="Work Sans" pitchFamily="34" charset="-120"/>
              </a:rPr>
              <a:t>implements (shumë)</a:t>
            </a:r>
            <a:endParaRPr lang="en-US" sz="1250" dirty="0"/>
          </a:p>
        </p:txBody>
      </p:sp>
      <p:sp>
        <p:nvSpPr>
          <p:cNvPr id="24" name="Shape 22"/>
          <p:cNvSpPr/>
          <p:nvPr/>
        </p:nvSpPr>
        <p:spPr>
          <a:xfrm>
            <a:off x="640080" y="2834640"/>
            <a:ext cx="1737360" cy="457200"/>
          </a:xfrm>
          <a:prstGeom prst="rect">
            <a:avLst/>
          </a:prstGeom>
          <a:solidFill>
            <a:srgbClr val="F2F5F9"/>
          </a:solidFill>
          <a:ln w="12700">
            <a:solidFill>
              <a:srgbClr val="DBE2EA"/>
            </a:solidFill>
            <a:prstDash val="solid"/>
          </a:ln>
        </p:spPr>
      </p:sp>
      <p:sp>
        <p:nvSpPr>
          <p:cNvPr id="25" name="Text 23"/>
          <p:cNvSpPr/>
          <p:nvPr/>
        </p:nvSpPr>
        <p:spPr>
          <a:xfrm>
            <a:off x="731520" y="2834640"/>
            <a:ext cx="1554480" cy="457200"/>
          </a:xfrm>
          <a:prstGeom prst="rect">
            <a:avLst/>
          </a:prstGeom>
          <a:noFill/>
          <a:ln/>
        </p:spPr>
        <p:txBody>
          <a:bodyPr wrap="square" rtlCol="0" anchor="ctr"/>
          <a:lstStyle/>
          <a:p>
            <a:pPr algn="l" indent="0" marL="0">
              <a:buNone/>
            </a:pPr>
            <a:r>
              <a:rPr lang="en-US" sz="1250" b="1" dirty="0">
                <a:solidFill>
                  <a:srgbClr val="26313F"/>
                </a:solidFill>
                <a:latin typeface="Work Sans" pitchFamily="34" charset="0"/>
                <a:ea typeface="Work Sans" pitchFamily="34" charset="-122"/>
                <a:cs typeface="Work Sans" pitchFamily="34" charset="-120"/>
              </a:rPr>
              <a:t>Metoda</a:t>
            </a:r>
            <a:endParaRPr lang="en-US" sz="1250" dirty="0"/>
          </a:p>
        </p:txBody>
      </p:sp>
      <p:sp>
        <p:nvSpPr>
          <p:cNvPr id="26" name="Shape 24"/>
          <p:cNvSpPr/>
          <p:nvPr/>
        </p:nvSpPr>
        <p:spPr>
          <a:xfrm>
            <a:off x="2377440" y="2834640"/>
            <a:ext cx="2743200" cy="457200"/>
          </a:xfrm>
          <a:prstGeom prst="rect">
            <a:avLst/>
          </a:prstGeom>
          <a:solidFill>
            <a:srgbClr val="FFFFFF"/>
          </a:solidFill>
          <a:ln w="12700">
            <a:solidFill>
              <a:srgbClr val="DBE2EA"/>
            </a:solidFill>
            <a:prstDash val="solid"/>
          </a:ln>
        </p:spPr>
      </p:sp>
      <p:sp>
        <p:nvSpPr>
          <p:cNvPr id="27" name="Text 25"/>
          <p:cNvSpPr/>
          <p:nvPr/>
        </p:nvSpPr>
        <p:spPr>
          <a:xfrm>
            <a:off x="2468880" y="2834640"/>
            <a:ext cx="2560320" cy="457200"/>
          </a:xfrm>
          <a:prstGeom prst="rect">
            <a:avLst/>
          </a:prstGeom>
          <a:noFill/>
          <a:ln/>
        </p:spPr>
        <p:txBody>
          <a:bodyPr wrap="square" rtlCol="0" anchor="ctr"/>
          <a:lstStyle/>
          <a:p>
            <a:pPr algn="ctr" indent="0" marL="0">
              <a:buNone/>
            </a:pPr>
            <a:r>
              <a:rPr lang="en-US" sz="1250" dirty="0">
                <a:solidFill>
                  <a:srgbClr val="26313F"/>
                </a:solidFill>
                <a:latin typeface="Work Sans" pitchFamily="34" charset="0"/>
                <a:ea typeface="Work Sans" pitchFamily="34" charset="-122"/>
                <a:cs typeface="Work Sans" pitchFamily="34" charset="-120"/>
              </a:rPr>
              <a:t>abstrakte + konkrete</a:t>
            </a:r>
            <a:endParaRPr lang="en-US" sz="1250" dirty="0"/>
          </a:p>
        </p:txBody>
      </p:sp>
      <p:sp>
        <p:nvSpPr>
          <p:cNvPr id="28" name="Shape 26"/>
          <p:cNvSpPr/>
          <p:nvPr/>
        </p:nvSpPr>
        <p:spPr>
          <a:xfrm>
            <a:off x="5120640" y="2834640"/>
            <a:ext cx="2743200" cy="457200"/>
          </a:xfrm>
          <a:prstGeom prst="rect">
            <a:avLst/>
          </a:prstGeom>
          <a:solidFill>
            <a:srgbClr val="FFFFFF"/>
          </a:solidFill>
          <a:ln w="12700">
            <a:solidFill>
              <a:srgbClr val="DBE2EA"/>
            </a:solidFill>
            <a:prstDash val="solid"/>
          </a:ln>
        </p:spPr>
      </p:sp>
      <p:sp>
        <p:nvSpPr>
          <p:cNvPr id="29" name="Text 27"/>
          <p:cNvSpPr/>
          <p:nvPr/>
        </p:nvSpPr>
        <p:spPr>
          <a:xfrm>
            <a:off x="5212080" y="2834640"/>
            <a:ext cx="2560320" cy="457200"/>
          </a:xfrm>
          <a:prstGeom prst="rect">
            <a:avLst/>
          </a:prstGeom>
          <a:noFill/>
          <a:ln/>
        </p:spPr>
        <p:txBody>
          <a:bodyPr wrap="square" rtlCol="0" anchor="ctr"/>
          <a:lstStyle/>
          <a:p>
            <a:pPr algn="ctr" indent="0" marL="0">
              <a:buNone/>
            </a:pPr>
            <a:r>
              <a:rPr lang="en-US" sz="1250" dirty="0">
                <a:solidFill>
                  <a:srgbClr val="26313F"/>
                </a:solidFill>
                <a:latin typeface="Work Sans" pitchFamily="34" charset="0"/>
                <a:ea typeface="Work Sans" pitchFamily="34" charset="-122"/>
                <a:cs typeface="Work Sans" pitchFamily="34" charset="-120"/>
              </a:rPr>
              <a:t>kryesisht abstrakte</a:t>
            </a:r>
            <a:endParaRPr lang="en-US" sz="1250" dirty="0"/>
          </a:p>
        </p:txBody>
      </p:sp>
      <p:sp>
        <p:nvSpPr>
          <p:cNvPr id="30" name="Shape 28"/>
          <p:cNvSpPr/>
          <p:nvPr/>
        </p:nvSpPr>
        <p:spPr>
          <a:xfrm>
            <a:off x="640080" y="3291840"/>
            <a:ext cx="1737360" cy="457200"/>
          </a:xfrm>
          <a:prstGeom prst="rect">
            <a:avLst/>
          </a:prstGeom>
          <a:solidFill>
            <a:srgbClr val="F2F5F9"/>
          </a:solidFill>
          <a:ln w="12700">
            <a:solidFill>
              <a:srgbClr val="DBE2EA"/>
            </a:solidFill>
            <a:prstDash val="solid"/>
          </a:ln>
        </p:spPr>
      </p:sp>
      <p:sp>
        <p:nvSpPr>
          <p:cNvPr id="31" name="Text 29"/>
          <p:cNvSpPr/>
          <p:nvPr/>
        </p:nvSpPr>
        <p:spPr>
          <a:xfrm>
            <a:off x="731520" y="3291840"/>
            <a:ext cx="1554480" cy="457200"/>
          </a:xfrm>
          <a:prstGeom prst="rect">
            <a:avLst/>
          </a:prstGeom>
          <a:noFill/>
          <a:ln/>
        </p:spPr>
        <p:txBody>
          <a:bodyPr wrap="square" rtlCol="0" anchor="ctr"/>
          <a:lstStyle/>
          <a:p>
            <a:pPr algn="l" indent="0" marL="0">
              <a:buNone/>
            </a:pPr>
            <a:r>
              <a:rPr lang="en-US" sz="1250" b="1" dirty="0">
                <a:solidFill>
                  <a:srgbClr val="26313F"/>
                </a:solidFill>
                <a:latin typeface="Work Sans" pitchFamily="34" charset="0"/>
                <a:ea typeface="Work Sans" pitchFamily="34" charset="-122"/>
                <a:cs typeface="Work Sans" pitchFamily="34" charset="-120"/>
              </a:rPr>
              <a:t>Fusha</a:t>
            </a:r>
            <a:endParaRPr lang="en-US" sz="1250" dirty="0"/>
          </a:p>
        </p:txBody>
      </p:sp>
      <p:sp>
        <p:nvSpPr>
          <p:cNvPr id="32" name="Shape 30"/>
          <p:cNvSpPr/>
          <p:nvPr/>
        </p:nvSpPr>
        <p:spPr>
          <a:xfrm>
            <a:off x="2377440" y="3291840"/>
            <a:ext cx="2743200" cy="457200"/>
          </a:xfrm>
          <a:prstGeom prst="rect">
            <a:avLst/>
          </a:prstGeom>
          <a:solidFill>
            <a:srgbClr val="FFFFFF"/>
          </a:solidFill>
          <a:ln w="12700">
            <a:solidFill>
              <a:srgbClr val="DBE2EA"/>
            </a:solidFill>
            <a:prstDash val="solid"/>
          </a:ln>
        </p:spPr>
      </p:sp>
      <p:sp>
        <p:nvSpPr>
          <p:cNvPr id="33" name="Text 31"/>
          <p:cNvSpPr/>
          <p:nvPr/>
        </p:nvSpPr>
        <p:spPr>
          <a:xfrm>
            <a:off x="2468880" y="3291840"/>
            <a:ext cx="2560320" cy="457200"/>
          </a:xfrm>
          <a:prstGeom prst="rect">
            <a:avLst/>
          </a:prstGeom>
          <a:noFill/>
          <a:ln/>
        </p:spPr>
        <p:txBody>
          <a:bodyPr wrap="square" rtlCol="0" anchor="ctr"/>
          <a:lstStyle/>
          <a:p>
            <a:pPr algn="ctr" indent="0" marL="0">
              <a:buNone/>
            </a:pPr>
            <a:r>
              <a:rPr lang="en-US" sz="1250" dirty="0">
                <a:solidFill>
                  <a:srgbClr val="26313F"/>
                </a:solidFill>
                <a:latin typeface="Work Sans" pitchFamily="34" charset="0"/>
                <a:ea typeface="Work Sans" pitchFamily="34" charset="-122"/>
                <a:cs typeface="Work Sans" pitchFamily="34" charset="-120"/>
              </a:rPr>
              <a:t>çfarëdo</a:t>
            </a:r>
            <a:endParaRPr lang="en-US" sz="1250" dirty="0"/>
          </a:p>
        </p:txBody>
      </p:sp>
      <p:sp>
        <p:nvSpPr>
          <p:cNvPr id="34" name="Shape 32"/>
          <p:cNvSpPr/>
          <p:nvPr/>
        </p:nvSpPr>
        <p:spPr>
          <a:xfrm>
            <a:off x="5120640" y="3291840"/>
            <a:ext cx="2743200" cy="457200"/>
          </a:xfrm>
          <a:prstGeom prst="rect">
            <a:avLst/>
          </a:prstGeom>
          <a:solidFill>
            <a:srgbClr val="FFFFFF"/>
          </a:solidFill>
          <a:ln w="12700">
            <a:solidFill>
              <a:srgbClr val="DBE2EA"/>
            </a:solidFill>
            <a:prstDash val="solid"/>
          </a:ln>
        </p:spPr>
      </p:sp>
      <p:sp>
        <p:nvSpPr>
          <p:cNvPr id="35" name="Text 33"/>
          <p:cNvSpPr/>
          <p:nvPr/>
        </p:nvSpPr>
        <p:spPr>
          <a:xfrm>
            <a:off x="5212080" y="3291840"/>
            <a:ext cx="2560320" cy="457200"/>
          </a:xfrm>
          <a:prstGeom prst="rect">
            <a:avLst/>
          </a:prstGeom>
          <a:noFill/>
          <a:ln/>
        </p:spPr>
        <p:txBody>
          <a:bodyPr wrap="square" rtlCol="0" anchor="ctr"/>
          <a:lstStyle/>
          <a:p>
            <a:pPr algn="ctr" indent="0" marL="0">
              <a:buNone/>
            </a:pPr>
            <a:r>
              <a:rPr lang="en-US" sz="1250" dirty="0">
                <a:solidFill>
                  <a:srgbClr val="26313F"/>
                </a:solidFill>
                <a:latin typeface="Work Sans" pitchFamily="34" charset="0"/>
                <a:ea typeface="Work Sans" pitchFamily="34" charset="-122"/>
                <a:cs typeface="Work Sans" pitchFamily="34" charset="-120"/>
              </a:rPr>
              <a:t>public static final</a:t>
            </a:r>
            <a:endParaRPr lang="en-US" sz="1250" dirty="0"/>
          </a:p>
        </p:txBody>
      </p:sp>
      <p:sp>
        <p:nvSpPr>
          <p:cNvPr id="36" name="Text 34"/>
          <p:cNvSpPr/>
          <p:nvPr/>
        </p:nvSpPr>
        <p:spPr>
          <a:xfrm>
            <a:off x="640080" y="3977640"/>
            <a:ext cx="4572000" cy="320040"/>
          </a:xfrm>
          <a:prstGeom prst="rect">
            <a:avLst/>
          </a:prstGeom>
          <a:noFill/>
          <a:ln/>
        </p:spPr>
        <p:txBody>
          <a:bodyPr wrap="square" rtlCol="0" anchor="ctr"/>
          <a:lstStyle/>
          <a:p>
            <a:pPr indent="0" marL="0">
              <a:buNone/>
            </a:pPr>
            <a:r>
              <a:rPr lang="en-US" sz="1300" b="1" dirty="0">
                <a:solidFill>
                  <a:srgbClr val="E8730C"/>
                </a:solidFill>
                <a:latin typeface="Poppins" pitchFamily="34" charset="0"/>
                <a:ea typeface="Poppins" pitchFamily="34" charset="-122"/>
                <a:cs typeface="Poppins" pitchFamily="34" charset="-120"/>
              </a:rPr>
              <a:t>instanceof + cast:</a:t>
            </a:r>
            <a:endParaRPr lang="en-US" sz="1300" dirty="0"/>
          </a:p>
        </p:txBody>
      </p:sp>
      <p:sp>
        <p:nvSpPr>
          <p:cNvPr id="37" name="Shape 35"/>
          <p:cNvSpPr/>
          <p:nvPr/>
        </p:nvSpPr>
        <p:spPr>
          <a:xfrm>
            <a:off x="640080" y="4297680"/>
            <a:ext cx="6583680" cy="1239012"/>
          </a:xfrm>
          <a:prstGeom prst="roundRect">
            <a:avLst>
              <a:gd name="adj" fmla="val 5904"/>
            </a:avLst>
          </a:prstGeom>
          <a:solidFill>
            <a:srgbClr val="1B2736"/>
          </a:solidFill>
          <a:ln w="12700">
            <a:solidFill>
              <a:srgbClr val="2A3A4C"/>
            </a:solidFill>
            <a:prstDash val="solid"/>
          </a:ln>
        </p:spPr>
      </p:sp>
      <p:sp>
        <p:nvSpPr>
          <p:cNvPr id="38" name="Text 36"/>
          <p:cNvSpPr/>
          <p:nvPr/>
        </p:nvSpPr>
        <p:spPr>
          <a:xfrm>
            <a:off x="777240" y="4370832"/>
            <a:ext cx="5486400" cy="256032"/>
          </a:xfrm>
          <a:prstGeom prst="rect">
            <a:avLst/>
          </a:prstGeom>
          <a:noFill/>
          <a:ln/>
        </p:spPr>
        <p:txBody>
          <a:bodyPr wrap="square" rtlCol="0" anchor="ctr"/>
          <a:lstStyle/>
          <a:p>
            <a:pPr indent="0" marL="0">
              <a:buNone/>
            </a:pPr>
            <a:r>
              <a:rPr lang="en-US" sz="1000" b="1" spc="100" kern="0" dirty="0">
                <a:solidFill>
                  <a:srgbClr val="6A7889"/>
                </a:solidFill>
                <a:latin typeface="JetBrains Mono" pitchFamily="34" charset="0"/>
                <a:ea typeface="JetBrains Mono" pitchFamily="34" charset="-122"/>
                <a:cs typeface="JetBrains Mono" pitchFamily="34" charset="-120"/>
              </a:rPr>
              <a:t>instanceof (pattern)</a:t>
            </a:r>
            <a:endParaRPr lang="en-US" sz="1000" dirty="0"/>
          </a:p>
        </p:txBody>
      </p:sp>
      <p:sp>
        <p:nvSpPr>
          <p:cNvPr id="39" name="Text 37"/>
          <p:cNvSpPr/>
          <p:nvPr/>
        </p:nvSpPr>
        <p:spPr>
          <a:xfrm>
            <a:off x="841248" y="4681728"/>
            <a:ext cx="6181344" cy="717804"/>
          </a:xfrm>
          <a:prstGeom prst="rect">
            <a:avLst/>
          </a:prstGeom>
          <a:noFill/>
          <a:ln/>
        </p:spPr>
        <p:txBody>
          <a:bodyPr wrap="square" lIns="0" tIns="0" rIns="0" bIns="0" rtlCol="0" anchor="t"/>
          <a:lstStyle/>
          <a:p>
            <a:pPr indent="0" marL="0">
              <a:lnSpc>
                <a:spcPct val="98000"/>
              </a:lnSpc>
              <a:buNone/>
            </a:pPr>
            <a:r>
              <a:rPr lang="en-US" sz="1250" dirty="0">
                <a:solidFill>
                  <a:srgbClr val="E8963C"/>
                </a:solidFill>
                <a:latin typeface="JetBrains Mono" pitchFamily="34" charset="0"/>
                <a:ea typeface="JetBrains Mono" pitchFamily="34" charset="-122"/>
                <a:cs typeface="JetBrains Mono" pitchFamily="34" charset="-120"/>
              </a:rPr>
              <a:t>if</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f</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instanceof</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Rrethi</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r</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endParaRPr lang="en-US" sz="1250" dirty="0"/>
          </a:p>
          <a:p>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5FB3E0"/>
                </a:solidFill>
                <a:latin typeface="JetBrains Mono" pitchFamily="34" charset="0"/>
                <a:ea typeface="JetBrains Mono" pitchFamily="34" charset="-122"/>
                <a:cs typeface="JetBrains Mono" pitchFamily="34" charset="-120"/>
              </a:rPr>
              <a:t>System</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out</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println</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r</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rrezja</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endParaRPr lang="en-US" sz="1250" dirty="0"/>
          </a:p>
          <a:p>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endParaRPr lang="en-US" sz="1250" dirty="0"/>
          </a:p>
        </p:txBody>
      </p:sp>
      <p:sp>
        <p:nvSpPr>
          <p:cNvPr id="40" name="Text 38"/>
          <p:cNvSpPr/>
          <p:nvPr/>
        </p:nvSpPr>
        <p:spPr>
          <a:xfrm>
            <a:off x="8092440" y="1554480"/>
            <a:ext cx="3520440" cy="3657600"/>
          </a:xfrm>
          <a:prstGeom prst="rect">
            <a:avLst/>
          </a:prstGeom>
          <a:noFill/>
          <a:ln/>
        </p:spPr>
        <p:txBody>
          <a:bodyPr wrap="square" lIns="0" tIns="0" rIns="0" bIns="0" rtlCol="0" anchor="t"/>
          <a:lstStyle/>
          <a:p>
            <a:pPr marL="203200" indent="-203200">
              <a:spcAft>
                <a:spcPts val="1200"/>
              </a:spcAft>
              <a:buSzPct val="100000"/>
              <a:buChar char="•"/>
            </a:pPr>
            <a:r>
              <a:rPr lang="en-US" sz="1250" b="1" dirty="0">
                <a:solidFill>
                  <a:srgbClr val="26313F"/>
                </a:solidFill>
                <a:latin typeface="Work Sans" pitchFamily="34" charset="0"/>
                <a:ea typeface="Work Sans" pitchFamily="34" charset="-122"/>
                <a:cs typeface="Work Sans" pitchFamily="34" charset="-120"/>
              </a:rPr>
              <a:t>Override: rishkruan metodën e prindit (@Override)</a:t>
            </a:r>
            <a:endParaRPr lang="en-US" sz="1250" dirty="0"/>
          </a:p>
          <a:p>
            <a:pPr marL="203200" indent="-203200">
              <a:spcAft>
                <a:spcPts val="1200"/>
              </a:spcAft>
              <a:buSzPct val="100000"/>
              <a:buChar char="•"/>
            </a:pPr>
            <a:r>
              <a:rPr lang="en-US" sz="1250" b="1" dirty="0">
                <a:solidFill>
                  <a:srgbClr val="26313F"/>
                </a:solidFill>
                <a:latin typeface="Work Sans" pitchFamily="34" charset="0"/>
                <a:ea typeface="Work Sans" pitchFamily="34" charset="-122"/>
                <a:cs typeface="Work Sans" pitchFamily="34" charset="-120"/>
              </a:rPr>
              <a:t>Polimorfizëm: një tip prind → shumë sjellje</a:t>
            </a:r>
            <a:endParaRPr lang="en-US" sz="1250" dirty="0"/>
          </a:p>
          <a:p>
            <a:pPr marL="203200" indent="-203200">
              <a:spcAft>
                <a:spcPts val="1200"/>
              </a:spcAft>
              <a:buSzPct val="100000"/>
              <a:buChar char="•"/>
            </a:pPr>
            <a:r>
              <a:rPr lang="en-US" sz="1250" b="1" dirty="0">
                <a:solidFill>
                  <a:srgbClr val="E8730C"/>
                </a:solidFill>
                <a:latin typeface="Work Sans" pitchFamily="34" charset="0"/>
                <a:ea typeface="Work Sans" pitchFamily="34" charset="-122"/>
                <a:cs typeface="Work Sans" pitchFamily="34" charset="-120"/>
              </a:rPr>
              <a:t>Klasa abstrakte NUK instancohet (pa new)</a:t>
            </a:r>
            <a:endParaRPr lang="en-US" sz="1250" dirty="0"/>
          </a:p>
          <a:p>
            <a:pPr marL="203200" indent="-203200">
              <a:spcAft>
                <a:spcPts val="1200"/>
              </a:spcAft>
              <a:buSzPct val="100000"/>
              <a:buChar char="•"/>
            </a:pPr>
            <a:r>
              <a:rPr lang="en-US" sz="1250" b="1" dirty="0">
                <a:solidFill>
                  <a:srgbClr val="26313F"/>
                </a:solidFill>
                <a:latin typeface="Work Sans" pitchFamily="34" charset="0"/>
                <a:ea typeface="Work Sans" pitchFamily="34" charset="-122"/>
                <a:cs typeface="Work Sans" pitchFamily="34" charset="-120"/>
              </a:rPr>
              <a:t>Një klasë zbaton shumë interface</a:t>
            </a:r>
            <a:endParaRPr lang="en-US" sz="1250" dirty="0"/>
          </a:p>
        </p:txBody>
      </p:sp>
      <p:sp>
        <p:nvSpPr>
          <p:cNvPr id="41" name="Text 39"/>
          <p:cNvSpPr/>
          <p:nvPr/>
        </p:nvSpPr>
        <p:spPr>
          <a:xfrm>
            <a:off x="11612880" y="6400800"/>
            <a:ext cx="457200" cy="274320"/>
          </a:xfrm>
          <a:prstGeom prst="rect">
            <a:avLst/>
          </a:prstGeom>
          <a:noFill/>
          <a:ln/>
        </p:spPr>
        <p:txBody>
          <a:bodyPr wrap="square" rtlCol="0" anchor="ctr"/>
          <a:lstStyle/>
          <a:p>
            <a:pPr algn="r" indent="0" marL="0">
              <a:buNone/>
            </a:pPr>
            <a:r>
              <a:rPr lang="en-US" sz="1100" dirty="0">
                <a:solidFill>
                  <a:srgbClr val="6A7889"/>
                </a:solidFill>
                <a:latin typeface="Work Sans" pitchFamily="34" charset="0"/>
                <a:ea typeface="Work Sans" pitchFamily="34" charset="-122"/>
                <a:cs typeface="Work Sans"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F2F5F9"/>
          </a:solidFill>
          <a:ln/>
        </p:spPr>
      </p:sp>
      <p:sp>
        <p:nvSpPr>
          <p:cNvPr id="3" name="Shape 1"/>
          <p:cNvSpPr/>
          <p:nvPr/>
        </p:nvSpPr>
        <p:spPr>
          <a:xfrm>
            <a:off x="0" y="1051560"/>
            <a:ext cx="12191695" cy="27432"/>
          </a:xfrm>
          <a:prstGeom prst="rect">
            <a:avLst/>
          </a:prstGeom>
          <a:solidFill>
            <a:srgbClr val="E8730C"/>
          </a:solidFill>
          <a:ln/>
        </p:spPr>
      </p:sp>
      <p:sp>
        <p:nvSpPr>
          <p:cNvPr id="4" name="Text 2"/>
          <p:cNvSpPr/>
          <p:nvPr/>
        </p:nvSpPr>
        <p:spPr>
          <a:xfrm>
            <a:off x="548640" y="182880"/>
            <a:ext cx="10972800" cy="274320"/>
          </a:xfrm>
          <a:prstGeom prst="rect">
            <a:avLst/>
          </a:prstGeom>
          <a:noFill/>
          <a:ln/>
        </p:spPr>
        <p:txBody>
          <a:bodyPr wrap="square" rtlCol="0" anchor="ctr"/>
          <a:lstStyle/>
          <a:p>
            <a:pPr indent="0" marL="0">
              <a:buNone/>
            </a:pPr>
            <a:r>
              <a:rPr lang="en-US" sz="1200" b="1" spc="200" kern="0" dirty="0">
                <a:solidFill>
                  <a:srgbClr val="E8730C"/>
                </a:solidFill>
                <a:latin typeface="Poppins" pitchFamily="34" charset="0"/>
                <a:ea typeface="Poppins" pitchFamily="34" charset="-122"/>
                <a:cs typeface="Poppins" pitchFamily="34" charset="-120"/>
              </a:rPr>
              <a:t>NJËSIA 4 · EXCEPTION HANDLING</a:t>
            </a:r>
            <a:endParaRPr lang="en-US" sz="1200" dirty="0"/>
          </a:p>
        </p:txBody>
      </p:sp>
      <p:sp>
        <p:nvSpPr>
          <p:cNvPr id="5" name="Text 3"/>
          <p:cNvSpPr/>
          <p:nvPr/>
        </p:nvSpPr>
        <p:spPr>
          <a:xfrm>
            <a:off x="548640" y="420624"/>
            <a:ext cx="11064240" cy="566928"/>
          </a:xfrm>
          <a:prstGeom prst="rect">
            <a:avLst/>
          </a:prstGeom>
          <a:noFill/>
          <a:ln/>
        </p:spPr>
        <p:txBody>
          <a:bodyPr wrap="square" rtlCol="0" anchor="ctr"/>
          <a:lstStyle/>
          <a:p>
            <a:pPr indent="0" marL="0">
              <a:buNone/>
            </a:pPr>
            <a:r>
              <a:rPr lang="en-US" sz="2600" b="1" dirty="0">
                <a:solidFill>
                  <a:srgbClr val="142033"/>
                </a:solidFill>
                <a:latin typeface="Poppins" pitchFamily="34" charset="0"/>
                <a:ea typeface="Poppins" pitchFamily="34" charset="-122"/>
                <a:cs typeface="Poppins" pitchFamily="34" charset="-120"/>
              </a:rPr>
              <a:t>Kapja dhe menaxhimi i gabimeve</a:t>
            </a:r>
            <a:endParaRPr lang="en-US" sz="2600" dirty="0"/>
          </a:p>
        </p:txBody>
      </p:sp>
      <p:sp>
        <p:nvSpPr>
          <p:cNvPr id="6" name="Text 4"/>
          <p:cNvSpPr/>
          <p:nvPr/>
        </p:nvSpPr>
        <p:spPr>
          <a:xfrm>
            <a:off x="640080" y="1463040"/>
            <a:ext cx="5760720" cy="3657600"/>
          </a:xfrm>
          <a:prstGeom prst="rect">
            <a:avLst/>
          </a:prstGeom>
          <a:noFill/>
          <a:ln/>
        </p:spPr>
        <p:txBody>
          <a:bodyPr wrap="square" lIns="0" tIns="0" rIns="0" bIns="0" rtlCol="0" anchor="t"/>
          <a:lstStyle/>
          <a:p>
            <a:pPr marL="203200" indent="-203200">
              <a:spcAft>
                <a:spcPts val="900"/>
              </a:spcAft>
              <a:buSzPct val="100000"/>
              <a:buChar char="•"/>
            </a:pPr>
            <a:r>
              <a:rPr lang="en-US" sz="1350" b="1" dirty="0">
                <a:solidFill>
                  <a:srgbClr val="E8730C"/>
                </a:solidFill>
                <a:latin typeface="Work Sans" pitchFamily="34" charset="0"/>
                <a:ea typeface="Work Sans" pitchFamily="34" charset="-122"/>
                <a:cs typeface="Work Sans" pitchFamily="34" charset="-120"/>
              </a:rPr>
              <a:t>try / catch / finally</a:t>
            </a:r>
            <a:endParaRPr lang="en-US" sz="1350" dirty="0"/>
          </a:p>
          <a:p>
            <a:pPr marL="203200" indent="-203200">
              <a:spcAft>
                <a:spcPts val="900"/>
              </a:spcAft>
              <a:buSzPct val="100000"/>
              <a:buChar char="•"/>
            </a:pPr>
            <a:r>
              <a:rPr lang="en-US" sz="1350" dirty="0">
                <a:solidFill>
                  <a:srgbClr val="26313F"/>
                </a:solidFill>
                <a:latin typeface="Work Sans" pitchFamily="34" charset="0"/>
                <a:ea typeface="Work Sans" pitchFamily="34" charset="-122"/>
                <a:cs typeface="Work Sans" pitchFamily="34" charset="-120"/>
              </a:rPr>
              <a:t>try = kodi rrezik; catch = kap gabimin; finally = ekzekutohet gjithmonë</a:t>
            </a:r>
            <a:endParaRPr lang="en-US" sz="1350" dirty="0"/>
          </a:p>
          <a:p>
            <a:pPr marL="203200" indent="-203200">
              <a:spcAft>
                <a:spcPts val="900"/>
              </a:spcAft>
              <a:buSzPct val="100000"/>
              <a:buChar char="•"/>
            </a:pPr>
            <a:r>
              <a:rPr lang="en-US" sz="1350" b="1" dirty="0">
                <a:solidFill>
                  <a:srgbClr val="E8730C"/>
                </a:solidFill>
                <a:latin typeface="Work Sans" pitchFamily="34" charset="0"/>
                <a:ea typeface="Work Sans" pitchFamily="34" charset="-122"/>
                <a:cs typeface="Work Sans" pitchFamily="34" charset="-120"/>
              </a:rPr>
              <a:t>throw vs throws</a:t>
            </a:r>
            <a:endParaRPr lang="en-US" sz="1350" dirty="0"/>
          </a:p>
          <a:p>
            <a:pPr marL="203200" indent="-203200">
              <a:spcAft>
                <a:spcPts val="900"/>
              </a:spcAft>
              <a:buSzPct val="100000"/>
              <a:buChar char="•"/>
            </a:pPr>
            <a:r>
              <a:rPr lang="en-US" sz="1350" dirty="0">
                <a:solidFill>
                  <a:srgbClr val="26313F"/>
                </a:solidFill>
                <a:latin typeface="Work Sans" pitchFamily="34" charset="0"/>
                <a:ea typeface="Work Sans" pitchFamily="34" charset="-122"/>
                <a:cs typeface="Work Sans" pitchFamily="34" charset="-120"/>
              </a:rPr>
              <a:t>throw = hedh një exception; throws = deklaron në metodë</a:t>
            </a:r>
            <a:endParaRPr lang="en-US" sz="1350" dirty="0"/>
          </a:p>
          <a:p>
            <a:pPr marL="203200" indent="-203200">
              <a:spcAft>
                <a:spcPts val="900"/>
              </a:spcAft>
              <a:buSzPct val="100000"/>
              <a:buChar char="•"/>
            </a:pPr>
            <a:r>
              <a:rPr lang="en-US" sz="1350" b="1" dirty="0">
                <a:solidFill>
                  <a:srgbClr val="E8730C"/>
                </a:solidFill>
                <a:latin typeface="Work Sans" pitchFamily="34" charset="0"/>
                <a:ea typeface="Work Sans" pitchFamily="34" charset="-122"/>
                <a:cs typeface="Work Sans" pitchFamily="34" charset="-120"/>
              </a:rPr>
              <a:t>Checked vs Unchecked</a:t>
            </a:r>
            <a:endParaRPr lang="en-US" sz="1350" dirty="0"/>
          </a:p>
          <a:p>
            <a:pPr marL="203200" indent="-203200">
              <a:spcAft>
                <a:spcPts val="900"/>
              </a:spcAft>
              <a:buSzPct val="100000"/>
              <a:buChar char="•"/>
            </a:pPr>
            <a:r>
              <a:rPr lang="en-US" sz="1350" dirty="0">
                <a:solidFill>
                  <a:srgbClr val="26313F"/>
                </a:solidFill>
                <a:latin typeface="Work Sans" pitchFamily="34" charset="0"/>
                <a:ea typeface="Work Sans" pitchFamily="34" charset="-122"/>
                <a:cs typeface="Work Sans" pitchFamily="34" charset="-120"/>
              </a:rPr>
              <a:t>Checked (SQLException, IOException) → duhet kapur</a:t>
            </a:r>
            <a:endParaRPr lang="en-US" sz="1350" dirty="0"/>
          </a:p>
          <a:p>
            <a:pPr marL="203200" indent="-203200">
              <a:spcAft>
                <a:spcPts val="900"/>
              </a:spcAft>
              <a:buSzPct val="100000"/>
              <a:buChar char="•"/>
            </a:pPr>
            <a:r>
              <a:rPr lang="en-US" sz="1350" dirty="0">
                <a:solidFill>
                  <a:srgbClr val="26313F"/>
                </a:solidFill>
                <a:latin typeface="Work Sans" pitchFamily="34" charset="0"/>
                <a:ea typeface="Work Sans" pitchFamily="34" charset="-122"/>
                <a:cs typeface="Work Sans" pitchFamily="34" charset="-120"/>
              </a:rPr>
              <a:t>Unchecked (NullPointer, ArithmeticException) → gjatë ekzekutimit</a:t>
            </a:r>
            <a:endParaRPr lang="en-US" sz="1350" dirty="0"/>
          </a:p>
        </p:txBody>
      </p:sp>
      <p:sp>
        <p:nvSpPr>
          <p:cNvPr id="7" name="Shape 5"/>
          <p:cNvSpPr/>
          <p:nvPr/>
        </p:nvSpPr>
        <p:spPr>
          <a:xfrm>
            <a:off x="6583680" y="1737360"/>
            <a:ext cx="5029200" cy="2281428"/>
          </a:xfrm>
          <a:prstGeom prst="roundRect">
            <a:avLst>
              <a:gd name="adj" fmla="val 3206"/>
            </a:avLst>
          </a:prstGeom>
          <a:solidFill>
            <a:srgbClr val="1B2736"/>
          </a:solidFill>
          <a:ln w="12700">
            <a:solidFill>
              <a:srgbClr val="2A3A4C"/>
            </a:solidFill>
            <a:prstDash val="solid"/>
          </a:ln>
        </p:spPr>
      </p:sp>
      <p:sp>
        <p:nvSpPr>
          <p:cNvPr id="8" name="Text 6"/>
          <p:cNvSpPr/>
          <p:nvPr/>
        </p:nvSpPr>
        <p:spPr>
          <a:xfrm>
            <a:off x="6720840" y="1810512"/>
            <a:ext cx="3931920" cy="256032"/>
          </a:xfrm>
          <a:prstGeom prst="rect">
            <a:avLst/>
          </a:prstGeom>
          <a:noFill/>
          <a:ln/>
        </p:spPr>
        <p:txBody>
          <a:bodyPr wrap="square" rtlCol="0" anchor="ctr"/>
          <a:lstStyle/>
          <a:p>
            <a:pPr indent="0" marL="0">
              <a:buNone/>
            </a:pPr>
            <a:r>
              <a:rPr lang="en-US" sz="1000" b="1" spc="100" kern="0" dirty="0">
                <a:solidFill>
                  <a:srgbClr val="6A7889"/>
                </a:solidFill>
                <a:latin typeface="JetBrains Mono" pitchFamily="34" charset="0"/>
                <a:ea typeface="JetBrains Mono" pitchFamily="34" charset="-122"/>
                <a:cs typeface="JetBrains Mono" pitchFamily="34" charset="-120"/>
              </a:rPr>
              <a:t>try / catch / finally</a:t>
            </a:r>
            <a:endParaRPr lang="en-US" sz="1000" dirty="0"/>
          </a:p>
        </p:txBody>
      </p:sp>
      <p:sp>
        <p:nvSpPr>
          <p:cNvPr id="9" name="Text 7"/>
          <p:cNvSpPr/>
          <p:nvPr/>
        </p:nvSpPr>
        <p:spPr>
          <a:xfrm>
            <a:off x="6784848" y="2121408"/>
            <a:ext cx="4626864" cy="1760220"/>
          </a:xfrm>
          <a:prstGeom prst="rect">
            <a:avLst/>
          </a:prstGeom>
          <a:noFill/>
          <a:ln/>
        </p:spPr>
        <p:txBody>
          <a:bodyPr wrap="square" lIns="0" tIns="0" rIns="0" bIns="0" rtlCol="0" anchor="t"/>
          <a:lstStyle/>
          <a:p>
            <a:pPr indent="0" marL="0">
              <a:lnSpc>
                <a:spcPct val="98000"/>
              </a:lnSpc>
              <a:buNone/>
            </a:pPr>
            <a:r>
              <a:rPr lang="en-US" sz="1250" dirty="0">
                <a:solidFill>
                  <a:srgbClr val="E8963C"/>
                </a:solidFill>
                <a:latin typeface="JetBrains Mono" pitchFamily="34" charset="0"/>
                <a:ea typeface="JetBrains Mono" pitchFamily="34" charset="-122"/>
                <a:cs typeface="JetBrains Mono" pitchFamily="34" charset="-120"/>
              </a:rPr>
              <a:t>try</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endParaRPr lang="en-US" sz="1250" dirty="0"/>
          </a:p>
          <a:p>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llogaria</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terhiq</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D9A066"/>
                </a:solidFill>
                <a:latin typeface="JetBrains Mono" pitchFamily="34" charset="0"/>
                <a:ea typeface="JetBrains Mono" pitchFamily="34" charset="-122"/>
                <a:cs typeface="JetBrains Mono" pitchFamily="34" charset="-120"/>
              </a:rPr>
              <a:t>80</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endParaRPr lang="en-US" sz="1250" dirty="0"/>
          </a:p>
          <a:p>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E8963C"/>
                </a:solidFill>
                <a:latin typeface="JetBrains Mono" pitchFamily="34" charset="0"/>
                <a:ea typeface="JetBrains Mono" pitchFamily="34" charset="-122"/>
                <a:cs typeface="JetBrains Mono" pitchFamily="34" charset="-120"/>
              </a:rPr>
              <a:t>catch</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FondePamjaftueshme</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e</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endParaRPr lang="en-US" sz="1250" dirty="0"/>
          </a:p>
          <a:p>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5FB3E0"/>
                </a:solidFill>
                <a:latin typeface="JetBrains Mono" pitchFamily="34" charset="0"/>
                <a:ea typeface="JetBrains Mono" pitchFamily="34" charset="-122"/>
                <a:cs typeface="JetBrains Mono" pitchFamily="34" charset="-120"/>
              </a:rPr>
              <a:t>System</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out</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println</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e</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getMessage</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endParaRPr lang="en-US" sz="1250" dirty="0"/>
          </a:p>
          <a:p>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finally</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endParaRPr lang="en-US" sz="1250" dirty="0"/>
          </a:p>
          <a:p>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5FB3E0"/>
                </a:solidFill>
                <a:latin typeface="JetBrains Mono" pitchFamily="34" charset="0"/>
                <a:ea typeface="JetBrains Mono" pitchFamily="34" charset="-122"/>
                <a:cs typeface="JetBrains Mono" pitchFamily="34" charset="-120"/>
              </a:rPr>
              <a:t>System</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out</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println</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8FCB6B"/>
                </a:solidFill>
                <a:latin typeface="JetBrains Mono" pitchFamily="34" charset="0"/>
                <a:ea typeface="JetBrains Mono" pitchFamily="34" charset="-122"/>
                <a:cs typeface="JetBrains Mono" pitchFamily="34" charset="-120"/>
              </a:rPr>
              <a:t>"Fund"</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endParaRPr lang="en-US" sz="1250" dirty="0"/>
          </a:p>
          <a:p>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endParaRPr lang="en-US" sz="1250" dirty="0"/>
          </a:p>
        </p:txBody>
      </p:sp>
      <p:sp>
        <p:nvSpPr>
          <p:cNvPr id="10" name="Shape 8"/>
          <p:cNvSpPr/>
          <p:nvPr/>
        </p:nvSpPr>
        <p:spPr>
          <a:xfrm>
            <a:off x="6583680" y="4206240"/>
            <a:ext cx="5029200" cy="1645920"/>
          </a:xfrm>
          <a:prstGeom prst="roundRect">
            <a:avLst>
              <a:gd name="adj" fmla="val 5556"/>
            </a:avLst>
          </a:prstGeom>
          <a:solidFill>
            <a:srgbClr val="142033"/>
          </a:solidFill>
          <a:ln/>
        </p:spPr>
      </p:sp>
      <p:sp>
        <p:nvSpPr>
          <p:cNvPr id="11" name="Text 9"/>
          <p:cNvSpPr/>
          <p:nvPr/>
        </p:nvSpPr>
        <p:spPr>
          <a:xfrm>
            <a:off x="6812280" y="4315968"/>
            <a:ext cx="4572000" cy="320040"/>
          </a:xfrm>
          <a:prstGeom prst="rect">
            <a:avLst/>
          </a:prstGeom>
          <a:noFill/>
          <a:ln/>
        </p:spPr>
        <p:txBody>
          <a:bodyPr wrap="square" rtlCol="0" anchor="ctr"/>
          <a:lstStyle/>
          <a:p>
            <a:pPr indent="0" marL="0">
              <a:buNone/>
            </a:pPr>
            <a:r>
              <a:rPr lang="en-US" sz="1300" b="1" dirty="0">
                <a:solidFill>
                  <a:srgbClr val="F6A63B"/>
                </a:solidFill>
                <a:latin typeface="Poppins" pitchFamily="34" charset="0"/>
                <a:ea typeface="Poppins" pitchFamily="34" charset="-122"/>
                <a:cs typeface="Poppins" pitchFamily="34" charset="-120"/>
              </a:rPr>
              <a:t>Për provim:</a:t>
            </a:r>
            <a:endParaRPr lang="en-US" sz="1300" dirty="0"/>
          </a:p>
        </p:txBody>
      </p:sp>
      <p:sp>
        <p:nvSpPr>
          <p:cNvPr id="12" name="Text 10"/>
          <p:cNvSpPr/>
          <p:nvPr/>
        </p:nvSpPr>
        <p:spPr>
          <a:xfrm>
            <a:off x="6812280" y="4663440"/>
            <a:ext cx="4617720" cy="3657600"/>
          </a:xfrm>
          <a:prstGeom prst="rect">
            <a:avLst/>
          </a:prstGeom>
          <a:noFill/>
          <a:ln/>
        </p:spPr>
        <p:txBody>
          <a:bodyPr wrap="square" lIns="0" tIns="0" rIns="0" bIns="0" rtlCol="0" anchor="t"/>
          <a:lstStyle/>
          <a:p>
            <a:pPr marL="203200" indent="-203200">
              <a:spcAft>
                <a:spcPts val="700"/>
              </a:spcAft>
              <a:buSzPct val="100000"/>
              <a:buChar char="•"/>
            </a:pPr>
            <a:r>
              <a:rPr lang="en-US" sz="1200" dirty="0">
                <a:solidFill>
                  <a:srgbClr val="DBE2EA"/>
                </a:solidFill>
                <a:latin typeface="Work Sans" pitchFamily="34" charset="0"/>
                <a:ea typeface="Work Sans" pitchFamily="34" charset="-122"/>
                <a:cs typeface="Work Sans" pitchFamily="34" charset="-120"/>
              </a:rPr>
              <a:t>Exception e personalizuar: extends Exception</a:t>
            </a:r>
            <a:endParaRPr lang="en-US" sz="1200" dirty="0"/>
          </a:p>
          <a:p>
            <a:pPr marL="203200" indent="-203200">
              <a:spcAft>
                <a:spcPts val="700"/>
              </a:spcAft>
              <a:buSzPct val="100000"/>
              <a:buChar char="•"/>
            </a:pPr>
            <a:r>
              <a:rPr lang="en-US" sz="1200" dirty="0">
                <a:solidFill>
                  <a:srgbClr val="DBE2EA"/>
                </a:solidFill>
                <a:latin typeface="Work Sans" pitchFamily="34" charset="0"/>
                <a:ea typeface="Work Sans" pitchFamily="34" charset="-122"/>
                <a:cs typeface="Work Sans" pitchFamily="34" charset="-120"/>
              </a:rPr>
              <a:t>finally ekzekutohet edhe kur ka return</a:t>
            </a:r>
            <a:endParaRPr lang="en-US" sz="1200" dirty="0"/>
          </a:p>
          <a:p>
            <a:pPr marL="203200" indent="-203200">
              <a:spcAft>
                <a:spcPts val="700"/>
              </a:spcAft>
              <a:buSzPct val="100000"/>
              <a:buChar char="•"/>
            </a:pPr>
            <a:r>
              <a:rPr lang="en-US" sz="1200" dirty="0">
                <a:solidFill>
                  <a:srgbClr val="DBE2EA"/>
                </a:solidFill>
                <a:latin typeface="Work Sans" pitchFamily="34" charset="0"/>
                <a:ea typeface="Work Sans" pitchFamily="34" charset="-122"/>
                <a:cs typeface="Work Sans" pitchFamily="34" charset="-120"/>
              </a:rPr>
              <a:t>try-with-resources mbyll burimet vetë</a:t>
            </a:r>
            <a:endParaRPr lang="en-US" sz="1200" dirty="0"/>
          </a:p>
        </p:txBody>
      </p:sp>
      <p:sp>
        <p:nvSpPr>
          <p:cNvPr id="13" name="Text 11"/>
          <p:cNvSpPr/>
          <p:nvPr/>
        </p:nvSpPr>
        <p:spPr>
          <a:xfrm>
            <a:off x="11612880" y="6400800"/>
            <a:ext cx="457200" cy="274320"/>
          </a:xfrm>
          <a:prstGeom prst="rect">
            <a:avLst/>
          </a:prstGeom>
          <a:noFill/>
          <a:ln/>
        </p:spPr>
        <p:txBody>
          <a:bodyPr wrap="square" rtlCol="0" anchor="ctr"/>
          <a:lstStyle/>
          <a:p>
            <a:pPr algn="r" indent="0" marL="0">
              <a:buNone/>
            </a:pPr>
            <a:r>
              <a:rPr lang="en-US" sz="1100" dirty="0">
                <a:solidFill>
                  <a:srgbClr val="6A7889"/>
                </a:solidFill>
                <a:latin typeface="Work Sans" pitchFamily="34" charset="0"/>
                <a:ea typeface="Work Sans" pitchFamily="34" charset="-122"/>
                <a:cs typeface="Work Sans"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F2F5F9"/>
          </a:solidFill>
          <a:ln/>
        </p:spPr>
      </p:sp>
      <p:sp>
        <p:nvSpPr>
          <p:cNvPr id="3" name="Shape 1"/>
          <p:cNvSpPr/>
          <p:nvPr/>
        </p:nvSpPr>
        <p:spPr>
          <a:xfrm>
            <a:off x="0" y="1051560"/>
            <a:ext cx="12191695" cy="27432"/>
          </a:xfrm>
          <a:prstGeom prst="rect">
            <a:avLst/>
          </a:prstGeom>
          <a:solidFill>
            <a:srgbClr val="E8730C"/>
          </a:solidFill>
          <a:ln/>
        </p:spPr>
      </p:sp>
      <p:sp>
        <p:nvSpPr>
          <p:cNvPr id="4" name="Text 2"/>
          <p:cNvSpPr/>
          <p:nvPr/>
        </p:nvSpPr>
        <p:spPr>
          <a:xfrm>
            <a:off x="548640" y="182880"/>
            <a:ext cx="10972800" cy="274320"/>
          </a:xfrm>
          <a:prstGeom prst="rect">
            <a:avLst/>
          </a:prstGeom>
          <a:noFill/>
          <a:ln/>
        </p:spPr>
        <p:txBody>
          <a:bodyPr wrap="square" rtlCol="0" anchor="ctr"/>
          <a:lstStyle/>
          <a:p>
            <a:pPr indent="0" marL="0">
              <a:buNone/>
            </a:pPr>
            <a:r>
              <a:rPr lang="en-US" sz="1200" b="1" spc="200" kern="0" dirty="0">
                <a:solidFill>
                  <a:srgbClr val="E8730C"/>
                </a:solidFill>
                <a:latin typeface="Poppins" pitchFamily="34" charset="0"/>
                <a:ea typeface="Poppins" pitchFamily="34" charset="-122"/>
                <a:cs typeface="Poppins" pitchFamily="34" charset="-120"/>
              </a:rPr>
              <a:t>NJËSIA 5 · GIT</a:t>
            </a:r>
            <a:endParaRPr lang="en-US" sz="1200" dirty="0"/>
          </a:p>
        </p:txBody>
      </p:sp>
      <p:sp>
        <p:nvSpPr>
          <p:cNvPr id="5" name="Text 3"/>
          <p:cNvSpPr/>
          <p:nvPr/>
        </p:nvSpPr>
        <p:spPr>
          <a:xfrm>
            <a:off x="548640" y="420624"/>
            <a:ext cx="11064240" cy="566928"/>
          </a:xfrm>
          <a:prstGeom prst="rect">
            <a:avLst/>
          </a:prstGeom>
          <a:noFill/>
          <a:ln/>
        </p:spPr>
        <p:txBody>
          <a:bodyPr wrap="square" rtlCol="0" anchor="ctr"/>
          <a:lstStyle/>
          <a:p>
            <a:pPr indent="0" marL="0">
              <a:buNone/>
            </a:pPr>
            <a:r>
              <a:rPr lang="en-US" sz="2600" b="1" dirty="0">
                <a:solidFill>
                  <a:srgbClr val="142033"/>
                </a:solidFill>
                <a:latin typeface="Poppins" pitchFamily="34" charset="0"/>
                <a:ea typeface="Poppins" pitchFamily="34" charset="-122"/>
                <a:cs typeface="Poppins" pitchFamily="34" charset="-120"/>
              </a:rPr>
              <a:t>Komandat që duhet të dini</a:t>
            </a:r>
            <a:endParaRPr lang="en-US" sz="2600" dirty="0"/>
          </a:p>
        </p:txBody>
      </p:sp>
      <p:sp>
        <p:nvSpPr>
          <p:cNvPr id="6" name="Shape 4"/>
          <p:cNvSpPr/>
          <p:nvPr/>
        </p:nvSpPr>
        <p:spPr>
          <a:xfrm>
            <a:off x="640080" y="1463040"/>
            <a:ext cx="10881360" cy="621792"/>
          </a:xfrm>
          <a:prstGeom prst="roundRect">
            <a:avLst>
              <a:gd name="adj" fmla="val 8824"/>
            </a:avLst>
          </a:prstGeom>
          <a:solidFill>
            <a:srgbClr val="F2F5F9"/>
          </a:solidFill>
          <a:ln w="12700">
            <a:solidFill>
              <a:srgbClr val="DBE2EA"/>
            </a:solidFill>
            <a:prstDash val="solid"/>
          </a:ln>
        </p:spPr>
      </p:sp>
      <p:sp>
        <p:nvSpPr>
          <p:cNvPr id="7" name="Shape 5"/>
          <p:cNvSpPr/>
          <p:nvPr/>
        </p:nvSpPr>
        <p:spPr>
          <a:xfrm>
            <a:off x="777240" y="1572768"/>
            <a:ext cx="3931920" cy="402336"/>
          </a:xfrm>
          <a:prstGeom prst="roundRect">
            <a:avLst>
              <a:gd name="adj" fmla="val 11364"/>
            </a:avLst>
          </a:prstGeom>
          <a:solidFill>
            <a:srgbClr val="1B2736"/>
          </a:solidFill>
          <a:ln/>
        </p:spPr>
      </p:sp>
      <p:sp>
        <p:nvSpPr>
          <p:cNvPr id="8" name="Text 6"/>
          <p:cNvSpPr/>
          <p:nvPr/>
        </p:nvSpPr>
        <p:spPr>
          <a:xfrm>
            <a:off x="914400" y="1572768"/>
            <a:ext cx="3657600" cy="402336"/>
          </a:xfrm>
          <a:prstGeom prst="rect">
            <a:avLst/>
          </a:prstGeom>
          <a:noFill/>
          <a:ln/>
        </p:spPr>
        <p:txBody>
          <a:bodyPr wrap="square" rtlCol="0" anchor="ctr"/>
          <a:lstStyle/>
          <a:p>
            <a:pPr indent="0" marL="0">
              <a:buNone/>
            </a:pPr>
            <a:r>
              <a:rPr lang="en-US" sz="1250" dirty="0">
                <a:solidFill>
                  <a:srgbClr val="8FCB6B"/>
                </a:solidFill>
                <a:latin typeface="JetBrains Mono" pitchFamily="34" charset="0"/>
                <a:ea typeface="JetBrains Mono" pitchFamily="34" charset="-122"/>
                <a:cs typeface="JetBrains Mono" pitchFamily="34" charset="-120"/>
              </a:rPr>
              <a:t>git init</a:t>
            </a:r>
            <a:endParaRPr lang="en-US" sz="1250" dirty="0"/>
          </a:p>
        </p:txBody>
      </p:sp>
      <p:sp>
        <p:nvSpPr>
          <p:cNvPr id="9" name="Text 7"/>
          <p:cNvSpPr/>
          <p:nvPr/>
        </p:nvSpPr>
        <p:spPr>
          <a:xfrm>
            <a:off x="4937760" y="1463040"/>
            <a:ext cx="6400800" cy="621792"/>
          </a:xfrm>
          <a:prstGeom prst="rect">
            <a:avLst/>
          </a:prstGeom>
          <a:noFill/>
          <a:ln/>
        </p:spPr>
        <p:txBody>
          <a:bodyPr wrap="square" rtlCol="0" anchor="ctr"/>
          <a:lstStyle/>
          <a:p>
            <a:pPr indent="0" marL="0">
              <a:buNone/>
            </a:pPr>
            <a:r>
              <a:rPr lang="en-US" sz="1350" dirty="0">
                <a:solidFill>
                  <a:srgbClr val="26313F"/>
                </a:solidFill>
                <a:latin typeface="Work Sans" pitchFamily="34" charset="0"/>
                <a:ea typeface="Work Sans" pitchFamily="34" charset="-122"/>
                <a:cs typeface="Work Sans" pitchFamily="34" charset="-120"/>
              </a:rPr>
              <a:t>Krijon një depo (repository) të re</a:t>
            </a:r>
            <a:endParaRPr lang="en-US" sz="1350" dirty="0"/>
          </a:p>
        </p:txBody>
      </p:sp>
      <p:sp>
        <p:nvSpPr>
          <p:cNvPr id="10" name="Shape 8"/>
          <p:cNvSpPr/>
          <p:nvPr/>
        </p:nvSpPr>
        <p:spPr>
          <a:xfrm>
            <a:off x="640080" y="2148840"/>
            <a:ext cx="10881360" cy="621792"/>
          </a:xfrm>
          <a:prstGeom prst="roundRect">
            <a:avLst>
              <a:gd name="adj" fmla="val 8824"/>
            </a:avLst>
          </a:prstGeom>
          <a:solidFill>
            <a:srgbClr val="F2F5F9"/>
          </a:solidFill>
          <a:ln w="12700">
            <a:solidFill>
              <a:srgbClr val="DBE2EA"/>
            </a:solidFill>
            <a:prstDash val="solid"/>
          </a:ln>
        </p:spPr>
      </p:sp>
      <p:sp>
        <p:nvSpPr>
          <p:cNvPr id="11" name="Shape 9"/>
          <p:cNvSpPr/>
          <p:nvPr/>
        </p:nvSpPr>
        <p:spPr>
          <a:xfrm>
            <a:off x="777240" y="2258568"/>
            <a:ext cx="3931920" cy="402336"/>
          </a:xfrm>
          <a:prstGeom prst="roundRect">
            <a:avLst>
              <a:gd name="adj" fmla="val 11364"/>
            </a:avLst>
          </a:prstGeom>
          <a:solidFill>
            <a:srgbClr val="1B2736"/>
          </a:solidFill>
          <a:ln/>
        </p:spPr>
      </p:sp>
      <p:sp>
        <p:nvSpPr>
          <p:cNvPr id="12" name="Text 10"/>
          <p:cNvSpPr/>
          <p:nvPr/>
        </p:nvSpPr>
        <p:spPr>
          <a:xfrm>
            <a:off x="914400" y="2258568"/>
            <a:ext cx="3657600" cy="402336"/>
          </a:xfrm>
          <a:prstGeom prst="rect">
            <a:avLst/>
          </a:prstGeom>
          <a:noFill/>
          <a:ln/>
        </p:spPr>
        <p:txBody>
          <a:bodyPr wrap="square" rtlCol="0" anchor="ctr"/>
          <a:lstStyle/>
          <a:p>
            <a:pPr indent="0" marL="0">
              <a:buNone/>
            </a:pPr>
            <a:r>
              <a:rPr lang="en-US" sz="1250" dirty="0">
                <a:solidFill>
                  <a:srgbClr val="8FCB6B"/>
                </a:solidFill>
                <a:latin typeface="JetBrains Mono" pitchFamily="34" charset="0"/>
                <a:ea typeface="JetBrains Mono" pitchFamily="34" charset="-122"/>
                <a:cs typeface="JetBrains Mono" pitchFamily="34" charset="-120"/>
              </a:rPr>
              <a:t>git add .</a:t>
            </a:r>
            <a:endParaRPr lang="en-US" sz="1250" dirty="0"/>
          </a:p>
        </p:txBody>
      </p:sp>
      <p:sp>
        <p:nvSpPr>
          <p:cNvPr id="13" name="Text 11"/>
          <p:cNvSpPr/>
          <p:nvPr/>
        </p:nvSpPr>
        <p:spPr>
          <a:xfrm>
            <a:off x="4937760" y="2148840"/>
            <a:ext cx="6400800" cy="621792"/>
          </a:xfrm>
          <a:prstGeom prst="rect">
            <a:avLst/>
          </a:prstGeom>
          <a:noFill/>
          <a:ln/>
        </p:spPr>
        <p:txBody>
          <a:bodyPr wrap="square" rtlCol="0" anchor="ctr"/>
          <a:lstStyle/>
          <a:p>
            <a:pPr indent="0" marL="0">
              <a:buNone/>
            </a:pPr>
            <a:r>
              <a:rPr lang="en-US" sz="1350" dirty="0">
                <a:solidFill>
                  <a:srgbClr val="26313F"/>
                </a:solidFill>
                <a:latin typeface="Work Sans" pitchFamily="34" charset="0"/>
                <a:ea typeface="Work Sans" pitchFamily="34" charset="-122"/>
                <a:cs typeface="Work Sans" pitchFamily="34" charset="-120"/>
              </a:rPr>
              <a:t>Shton ndryshimet në staging</a:t>
            </a:r>
            <a:endParaRPr lang="en-US" sz="1350" dirty="0"/>
          </a:p>
        </p:txBody>
      </p:sp>
      <p:sp>
        <p:nvSpPr>
          <p:cNvPr id="14" name="Shape 12"/>
          <p:cNvSpPr/>
          <p:nvPr/>
        </p:nvSpPr>
        <p:spPr>
          <a:xfrm>
            <a:off x="640080" y="2834640"/>
            <a:ext cx="10881360" cy="621792"/>
          </a:xfrm>
          <a:prstGeom prst="roundRect">
            <a:avLst>
              <a:gd name="adj" fmla="val 8824"/>
            </a:avLst>
          </a:prstGeom>
          <a:solidFill>
            <a:srgbClr val="F2F5F9"/>
          </a:solidFill>
          <a:ln w="12700">
            <a:solidFill>
              <a:srgbClr val="DBE2EA"/>
            </a:solidFill>
            <a:prstDash val="solid"/>
          </a:ln>
        </p:spPr>
      </p:sp>
      <p:sp>
        <p:nvSpPr>
          <p:cNvPr id="15" name="Shape 13"/>
          <p:cNvSpPr/>
          <p:nvPr/>
        </p:nvSpPr>
        <p:spPr>
          <a:xfrm>
            <a:off x="777240" y="2944368"/>
            <a:ext cx="3931920" cy="402336"/>
          </a:xfrm>
          <a:prstGeom prst="roundRect">
            <a:avLst>
              <a:gd name="adj" fmla="val 11364"/>
            </a:avLst>
          </a:prstGeom>
          <a:solidFill>
            <a:srgbClr val="1B2736"/>
          </a:solidFill>
          <a:ln/>
        </p:spPr>
      </p:sp>
      <p:sp>
        <p:nvSpPr>
          <p:cNvPr id="16" name="Text 14"/>
          <p:cNvSpPr/>
          <p:nvPr/>
        </p:nvSpPr>
        <p:spPr>
          <a:xfrm>
            <a:off x="914400" y="2944368"/>
            <a:ext cx="3657600" cy="402336"/>
          </a:xfrm>
          <a:prstGeom prst="rect">
            <a:avLst/>
          </a:prstGeom>
          <a:noFill/>
          <a:ln/>
        </p:spPr>
        <p:txBody>
          <a:bodyPr wrap="square" rtlCol="0" anchor="ctr"/>
          <a:lstStyle/>
          <a:p>
            <a:pPr indent="0" marL="0">
              <a:buNone/>
            </a:pPr>
            <a:r>
              <a:rPr lang="en-US" sz="1250" dirty="0">
                <a:solidFill>
                  <a:srgbClr val="8FCB6B"/>
                </a:solidFill>
                <a:latin typeface="JetBrains Mono" pitchFamily="34" charset="0"/>
                <a:ea typeface="JetBrains Mono" pitchFamily="34" charset="-122"/>
                <a:cs typeface="JetBrains Mono" pitchFamily="34" charset="-120"/>
              </a:rPr>
              <a:t>git commit -m "..."</a:t>
            </a:r>
            <a:endParaRPr lang="en-US" sz="1250" dirty="0"/>
          </a:p>
        </p:txBody>
      </p:sp>
      <p:sp>
        <p:nvSpPr>
          <p:cNvPr id="17" name="Text 15"/>
          <p:cNvSpPr/>
          <p:nvPr/>
        </p:nvSpPr>
        <p:spPr>
          <a:xfrm>
            <a:off x="4937760" y="2834640"/>
            <a:ext cx="6400800" cy="621792"/>
          </a:xfrm>
          <a:prstGeom prst="rect">
            <a:avLst/>
          </a:prstGeom>
          <a:noFill/>
          <a:ln/>
        </p:spPr>
        <p:txBody>
          <a:bodyPr wrap="square" rtlCol="0" anchor="ctr"/>
          <a:lstStyle/>
          <a:p>
            <a:pPr indent="0" marL="0">
              <a:buNone/>
            </a:pPr>
            <a:r>
              <a:rPr lang="en-US" sz="1350" dirty="0">
                <a:solidFill>
                  <a:srgbClr val="26313F"/>
                </a:solidFill>
                <a:latin typeface="Work Sans" pitchFamily="34" charset="0"/>
                <a:ea typeface="Work Sans" pitchFamily="34" charset="-122"/>
                <a:cs typeface="Work Sans" pitchFamily="34" charset="-120"/>
              </a:rPr>
              <a:t>Ruan një version me mesazh</a:t>
            </a:r>
            <a:endParaRPr lang="en-US" sz="1350" dirty="0"/>
          </a:p>
        </p:txBody>
      </p:sp>
      <p:sp>
        <p:nvSpPr>
          <p:cNvPr id="18" name="Shape 16"/>
          <p:cNvSpPr/>
          <p:nvPr/>
        </p:nvSpPr>
        <p:spPr>
          <a:xfrm>
            <a:off x="640080" y="3520440"/>
            <a:ext cx="10881360" cy="621792"/>
          </a:xfrm>
          <a:prstGeom prst="roundRect">
            <a:avLst>
              <a:gd name="adj" fmla="val 8824"/>
            </a:avLst>
          </a:prstGeom>
          <a:solidFill>
            <a:srgbClr val="F2F5F9"/>
          </a:solidFill>
          <a:ln w="12700">
            <a:solidFill>
              <a:srgbClr val="DBE2EA"/>
            </a:solidFill>
            <a:prstDash val="solid"/>
          </a:ln>
        </p:spPr>
      </p:sp>
      <p:sp>
        <p:nvSpPr>
          <p:cNvPr id="19" name="Shape 17"/>
          <p:cNvSpPr/>
          <p:nvPr/>
        </p:nvSpPr>
        <p:spPr>
          <a:xfrm>
            <a:off x="777240" y="3630168"/>
            <a:ext cx="3931920" cy="402336"/>
          </a:xfrm>
          <a:prstGeom prst="roundRect">
            <a:avLst>
              <a:gd name="adj" fmla="val 11364"/>
            </a:avLst>
          </a:prstGeom>
          <a:solidFill>
            <a:srgbClr val="1B2736"/>
          </a:solidFill>
          <a:ln/>
        </p:spPr>
      </p:sp>
      <p:sp>
        <p:nvSpPr>
          <p:cNvPr id="20" name="Text 18"/>
          <p:cNvSpPr/>
          <p:nvPr/>
        </p:nvSpPr>
        <p:spPr>
          <a:xfrm>
            <a:off x="914400" y="3630168"/>
            <a:ext cx="3657600" cy="402336"/>
          </a:xfrm>
          <a:prstGeom prst="rect">
            <a:avLst/>
          </a:prstGeom>
          <a:noFill/>
          <a:ln/>
        </p:spPr>
        <p:txBody>
          <a:bodyPr wrap="square" rtlCol="0" anchor="ctr"/>
          <a:lstStyle/>
          <a:p>
            <a:pPr indent="0" marL="0">
              <a:buNone/>
            </a:pPr>
            <a:r>
              <a:rPr lang="en-US" sz="1250" dirty="0">
                <a:solidFill>
                  <a:srgbClr val="8FCB6B"/>
                </a:solidFill>
                <a:latin typeface="JetBrains Mono" pitchFamily="34" charset="0"/>
                <a:ea typeface="JetBrains Mono" pitchFamily="34" charset="-122"/>
                <a:cs typeface="JetBrains Mono" pitchFamily="34" charset="-120"/>
              </a:rPr>
              <a:t>git push</a:t>
            </a:r>
            <a:endParaRPr lang="en-US" sz="1250" dirty="0"/>
          </a:p>
        </p:txBody>
      </p:sp>
      <p:sp>
        <p:nvSpPr>
          <p:cNvPr id="21" name="Text 19"/>
          <p:cNvSpPr/>
          <p:nvPr/>
        </p:nvSpPr>
        <p:spPr>
          <a:xfrm>
            <a:off x="4937760" y="3520440"/>
            <a:ext cx="6400800" cy="621792"/>
          </a:xfrm>
          <a:prstGeom prst="rect">
            <a:avLst/>
          </a:prstGeom>
          <a:noFill/>
          <a:ln/>
        </p:spPr>
        <p:txBody>
          <a:bodyPr wrap="square" rtlCol="0" anchor="ctr"/>
          <a:lstStyle/>
          <a:p>
            <a:pPr indent="0" marL="0">
              <a:buNone/>
            </a:pPr>
            <a:r>
              <a:rPr lang="en-US" sz="1350" dirty="0">
                <a:solidFill>
                  <a:srgbClr val="26313F"/>
                </a:solidFill>
                <a:latin typeface="Work Sans" pitchFamily="34" charset="0"/>
                <a:ea typeface="Work Sans" pitchFamily="34" charset="-122"/>
                <a:cs typeface="Work Sans" pitchFamily="34" charset="-120"/>
              </a:rPr>
              <a:t>Dërgon commit-et në remote (GitHub)</a:t>
            </a:r>
            <a:endParaRPr lang="en-US" sz="1350" dirty="0"/>
          </a:p>
        </p:txBody>
      </p:sp>
      <p:sp>
        <p:nvSpPr>
          <p:cNvPr id="22" name="Shape 20"/>
          <p:cNvSpPr/>
          <p:nvPr/>
        </p:nvSpPr>
        <p:spPr>
          <a:xfrm>
            <a:off x="640080" y="4206240"/>
            <a:ext cx="10881360" cy="621792"/>
          </a:xfrm>
          <a:prstGeom prst="roundRect">
            <a:avLst>
              <a:gd name="adj" fmla="val 8824"/>
            </a:avLst>
          </a:prstGeom>
          <a:solidFill>
            <a:srgbClr val="F2F5F9"/>
          </a:solidFill>
          <a:ln w="12700">
            <a:solidFill>
              <a:srgbClr val="DBE2EA"/>
            </a:solidFill>
            <a:prstDash val="solid"/>
          </a:ln>
        </p:spPr>
      </p:sp>
      <p:sp>
        <p:nvSpPr>
          <p:cNvPr id="23" name="Shape 21"/>
          <p:cNvSpPr/>
          <p:nvPr/>
        </p:nvSpPr>
        <p:spPr>
          <a:xfrm>
            <a:off x="777240" y="4315968"/>
            <a:ext cx="3931920" cy="402336"/>
          </a:xfrm>
          <a:prstGeom prst="roundRect">
            <a:avLst>
              <a:gd name="adj" fmla="val 11364"/>
            </a:avLst>
          </a:prstGeom>
          <a:solidFill>
            <a:srgbClr val="1B2736"/>
          </a:solidFill>
          <a:ln/>
        </p:spPr>
      </p:sp>
      <p:sp>
        <p:nvSpPr>
          <p:cNvPr id="24" name="Text 22"/>
          <p:cNvSpPr/>
          <p:nvPr/>
        </p:nvSpPr>
        <p:spPr>
          <a:xfrm>
            <a:off x="914400" y="4315968"/>
            <a:ext cx="3657600" cy="402336"/>
          </a:xfrm>
          <a:prstGeom prst="rect">
            <a:avLst/>
          </a:prstGeom>
          <a:noFill/>
          <a:ln/>
        </p:spPr>
        <p:txBody>
          <a:bodyPr wrap="square" rtlCol="0" anchor="ctr"/>
          <a:lstStyle/>
          <a:p>
            <a:pPr indent="0" marL="0">
              <a:buNone/>
            </a:pPr>
            <a:r>
              <a:rPr lang="en-US" sz="1250" dirty="0">
                <a:solidFill>
                  <a:srgbClr val="8FCB6B"/>
                </a:solidFill>
                <a:latin typeface="JetBrains Mono" pitchFamily="34" charset="0"/>
                <a:ea typeface="JetBrains Mono" pitchFamily="34" charset="-122"/>
                <a:cs typeface="JetBrains Mono" pitchFamily="34" charset="-120"/>
              </a:rPr>
              <a:t>git pull</a:t>
            </a:r>
            <a:endParaRPr lang="en-US" sz="1250" dirty="0"/>
          </a:p>
        </p:txBody>
      </p:sp>
      <p:sp>
        <p:nvSpPr>
          <p:cNvPr id="25" name="Text 23"/>
          <p:cNvSpPr/>
          <p:nvPr/>
        </p:nvSpPr>
        <p:spPr>
          <a:xfrm>
            <a:off x="4937760" y="4206240"/>
            <a:ext cx="6400800" cy="621792"/>
          </a:xfrm>
          <a:prstGeom prst="rect">
            <a:avLst/>
          </a:prstGeom>
          <a:noFill/>
          <a:ln/>
        </p:spPr>
        <p:txBody>
          <a:bodyPr wrap="square" rtlCol="0" anchor="ctr"/>
          <a:lstStyle/>
          <a:p>
            <a:pPr indent="0" marL="0">
              <a:buNone/>
            </a:pPr>
            <a:r>
              <a:rPr lang="en-US" sz="1350" dirty="0">
                <a:solidFill>
                  <a:srgbClr val="26313F"/>
                </a:solidFill>
                <a:latin typeface="Work Sans" pitchFamily="34" charset="0"/>
                <a:ea typeface="Work Sans" pitchFamily="34" charset="-122"/>
                <a:cs typeface="Work Sans" pitchFamily="34" charset="-120"/>
              </a:rPr>
              <a:t>Merr ndryshimet nga remote</a:t>
            </a:r>
            <a:endParaRPr lang="en-US" sz="1350" dirty="0"/>
          </a:p>
        </p:txBody>
      </p:sp>
      <p:sp>
        <p:nvSpPr>
          <p:cNvPr id="26" name="Shape 24"/>
          <p:cNvSpPr/>
          <p:nvPr/>
        </p:nvSpPr>
        <p:spPr>
          <a:xfrm>
            <a:off x="640080" y="4892040"/>
            <a:ext cx="10881360" cy="621792"/>
          </a:xfrm>
          <a:prstGeom prst="roundRect">
            <a:avLst>
              <a:gd name="adj" fmla="val 8824"/>
            </a:avLst>
          </a:prstGeom>
          <a:solidFill>
            <a:srgbClr val="F2F5F9"/>
          </a:solidFill>
          <a:ln w="12700">
            <a:solidFill>
              <a:srgbClr val="DBE2EA"/>
            </a:solidFill>
            <a:prstDash val="solid"/>
          </a:ln>
        </p:spPr>
      </p:sp>
      <p:sp>
        <p:nvSpPr>
          <p:cNvPr id="27" name="Shape 25"/>
          <p:cNvSpPr/>
          <p:nvPr/>
        </p:nvSpPr>
        <p:spPr>
          <a:xfrm>
            <a:off x="777240" y="5001768"/>
            <a:ext cx="3931920" cy="402336"/>
          </a:xfrm>
          <a:prstGeom prst="roundRect">
            <a:avLst>
              <a:gd name="adj" fmla="val 11364"/>
            </a:avLst>
          </a:prstGeom>
          <a:solidFill>
            <a:srgbClr val="1B2736"/>
          </a:solidFill>
          <a:ln/>
        </p:spPr>
      </p:sp>
      <p:sp>
        <p:nvSpPr>
          <p:cNvPr id="28" name="Text 26"/>
          <p:cNvSpPr/>
          <p:nvPr/>
        </p:nvSpPr>
        <p:spPr>
          <a:xfrm>
            <a:off x="914400" y="5001768"/>
            <a:ext cx="3657600" cy="402336"/>
          </a:xfrm>
          <a:prstGeom prst="rect">
            <a:avLst/>
          </a:prstGeom>
          <a:noFill/>
          <a:ln/>
        </p:spPr>
        <p:txBody>
          <a:bodyPr wrap="square" rtlCol="0" anchor="ctr"/>
          <a:lstStyle/>
          <a:p>
            <a:pPr indent="0" marL="0">
              <a:buNone/>
            </a:pPr>
            <a:r>
              <a:rPr lang="en-US" sz="1250" dirty="0">
                <a:solidFill>
                  <a:srgbClr val="8FCB6B"/>
                </a:solidFill>
                <a:latin typeface="JetBrains Mono" pitchFamily="34" charset="0"/>
                <a:ea typeface="JetBrains Mono" pitchFamily="34" charset="-122"/>
                <a:cs typeface="JetBrains Mono" pitchFamily="34" charset="-120"/>
              </a:rPr>
              <a:t>git branch / checkout</a:t>
            </a:r>
            <a:endParaRPr lang="en-US" sz="1250" dirty="0"/>
          </a:p>
        </p:txBody>
      </p:sp>
      <p:sp>
        <p:nvSpPr>
          <p:cNvPr id="29" name="Text 27"/>
          <p:cNvSpPr/>
          <p:nvPr/>
        </p:nvSpPr>
        <p:spPr>
          <a:xfrm>
            <a:off x="4937760" y="4892040"/>
            <a:ext cx="6400800" cy="621792"/>
          </a:xfrm>
          <a:prstGeom prst="rect">
            <a:avLst/>
          </a:prstGeom>
          <a:noFill/>
          <a:ln/>
        </p:spPr>
        <p:txBody>
          <a:bodyPr wrap="square" rtlCol="0" anchor="ctr"/>
          <a:lstStyle/>
          <a:p>
            <a:pPr indent="0" marL="0">
              <a:buNone/>
            </a:pPr>
            <a:r>
              <a:rPr lang="en-US" sz="1350" dirty="0">
                <a:solidFill>
                  <a:srgbClr val="26313F"/>
                </a:solidFill>
                <a:latin typeface="Work Sans" pitchFamily="34" charset="0"/>
                <a:ea typeface="Work Sans" pitchFamily="34" charset="-122"/>
                <a:cs typeface="Work Sans" pitchFamily="34" charset="-120"/>
              </a:rPr>
              <a:t>Krijon / kalon në degë tjetër</a:t>
            </a:r>
            <a:endParaRPr lang="en-US" sz="1350" dirty="0"/>
          </a:p>
        </p:txBody>
      </p:sp>
      <p:sp>
        <p:nvSpPr>
          <p:cNvPr id="30" name="Shape 28"/>
          <p:cNvSpPr/>
          <p:nvPr/>
        </p:nvSpPr>
        <p:spPr>
          <a:xfrm>
            <a:off x="640080" y="5577840"/>
            <a:ext cx="10881360" cy="621792"/>
          </a:xfrm>
          <a:prstGeom prst="roundRect">
            <a:avLst>
              <a:gd name="adj" fmla="val 8824"/>
            </a:avLst>
          </a:prstGeom>
          <a:solidFill>
            <a:srgbClr val="F2F5F9"/>
          </a:solidFill>
          <a:ln w="12700">
            <a:solidFill>
              <a:srgbClr val="DBE2EA"/>
            </a:solidFill>
            <a:prstDash val="solid"/>
          </a:ln>
        </p:spPr>
      </p:sp>
      <p:sp>
        <p:nvSpPr>
          <p:cNvPr id="31" name="Shape 29"/>
          <p:cNvSpPr/>
          <p:nvPr/>
        </p:nvSpPr>
        <p:spPr>
          <a:xfrm>
            <a:off x="777240" y="5687568"/>
            <a:ext cx="3931920" cy="402336"/>
          </a:xfrm>
          <a:prstGeom prst="roundRect">
            <a:avLst>
              <a:gd name="adj" fmla="val 11364"/>
            </a:avLst>
          </a:prstGeom>
          <a:solidFill>
            <a:srgbClr val="1B2736"/>
          </a:solidFill>
          <a:ln/>
        </p:spPr>
      </p:sp>
      <p:sp>
        <p:nvSpPr>
          <p:cNvPr id="32" name="Text 30"/>
          <p:cNvSpPr/>
          <p:nvPr/>
        </p:nvSpPr>
        <p:spPr>
          <a:xfrm>
            <a:off x="914400" y="5687568"/>
            <a:ext cx="3657600" cy="402336"/>
          </a:xfrm>
          <a:prstGeom prst="rect">
            <a:avLst/>
          </a:prstGeom>
          <a:noFill/>
          <a:ln/>
        </p:spPr>
        <p:txBody>
          <a:bodyPr wrap="square" rtlCol="0" anchor="ctr"/>
          <a:lstStyle/>
          <a:p>
            <a:pPr indent="0" marL="0">
              <a:buNone/>
            </a:pPr>
            <a:r>
              <a:rPr lang="en-US" sz="1250" dirty="0">
                <a:solidFill>
                  <a:srgbClr val="8FCB6B"/>
                </a:solidFill>
                <a:latin typeface="JetBrains Mono" pitchFamily="34" charset="0"/>
                <a:ea typeface="JetBrains Mono" pitchFamily="34" charset="-122"/>
                <a:cs typeface="JetBrains Mono" pitchFamily="34" charset="-120"/>
              </a:rPr>
              <a:t>git merge</a:t>
            </a:r>
            <a:endParaRPr lang="en-US" sz="1250" dirty="0"/>
          </a:p>
        </p:txBody>
      </p:sp>
      <p:sp>
        <p:nvSpPr>
          <p:cNvPr id="33" name="Text 31"/>
          <p:cNvSpPr/>
          <p:nvPr/>
        </p:nvSpPr>
        <p:spPr>
          <a:xfrm>
            <a:off x="4937760" y="5577840"/>
            <a:ext cx="6400800" cy="621792"/>
          </a:xfrm>
          <a:prstGeom prst="rect">
            <a:avLst/>
          </a:prstGeom>
          <a:noFill/>
          <a:ln/>
        </p:spPr>
        <p:txBody>
          <a:bodyPr wrap="square" rtlCol="0" anchor="ctr"/>
          <a:lstStyle/>
          <a:p>
            <a:pPr indent="0" marL="0">
              <a:buNone/>
            </a:pPr>
            <a:r>
              <a:rPr lang="en-US" sz="1350" dirty="0">
                <a:solidFill>
                  <a:srgbClr val="26313F"/>
                </a:solidFill>
                <a:latin typeface="Work Sans" pitchFamily="34" charset="0"/>
                <a:ea typeface="Work Sans" pitchFamily="34" charset="-122"/>
                <a:cs typeface="Work Sans" pitchFamily="34" charset="-120"/>
              </a:rPr>
              <a:t>Bashkon një degë me tjetrën</a:t>
            </a:r>
            <a:endParaRPr lang="en-US" sz="1350" dirty="0"/>
          </a:p>
        </p:txBody>
      </p:sp>
      <p:sp>
        <p:nvSpPr>
          <p:cNvPr id="34" name="Text 32"/>
          <p:cNvSpPr/>
          <p:nvPr/>
        </p:nvSpPr>
        <p:spPr>
          <a:xfrm>
            <a:off x="11612880" y="6400800"/>
            <a:ext cx="457200" cy="274320"/>
          </a:xfrm>
          <a:prstGeom prst="rect">
            <a:avLst/>
          </a:prstGeom>
          <a:noFill/>
          <a:ln/>
        </p:spPr>
        <p:txBody>
          <a:bodyPr wrap="square" rtlCol="0" anchor="ctr"/>
          <a:lstStyle/>
          <a:p>
            <a:pPr algn="r" indent="0" marL="0">
              <a:buNone/>
            </a:pPr>
            <a:r>
              <a:rPr lang="en-US" sz="1100" dirty="0">
                <a:solidFill>
                  <a:srgbClr val="6A7889"/>
                </a:solidFill>
                <a:latin typeface="Work Sans" pitchFamily="34" charset="0"/>
                <a:ea typeface="Work Sans" pitchFamily="34" charset="-122"/>
                <a:cs typeface="Work Sans"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F2F5F9"/>
          </a:solidFill>
          <a:ln/>
        </p:spPr>
      </p:sp>
      <p:sp>
        <p:nvSpPr>
          <p:cNvPr id="3" name="Shape 1"/>
          <p:cNvSpPr/>
          <p:nvPr/>
        </p:nvSpPr>
        <p:spPr>
          <a:xfrm>
            <a:off x="0" y="1051560"/>
            <a:ext cx="12191695" cy="27432"/>
          </a:xfrm>
          <a:prstGeom prst="rect">
            <a:avLst/>
          </a:prstGeom>
          <a:solidFill>
            <a:srgbClr val="E8730C"/>
          </a:solidFill>
          <a:ln/>
        </p:spPr>
      </p:sp>
      <p:sp>
        <p:nvSpPr>
          <p:cNvPr id="4" name="Text 2"/>
          <p:cNvSpPr/>
          <p:nvPr/>
        </p:nvSpPr>
        <p:spPr>
          <a:xfrm>
            <a:off x="548640" y="182880"/>
            <a:ext cx="10972800" cy="274320"/>
          </a:xfrm>
          <a:prstGeom prst="rect">
            <a:avLst/>
          </a:prstGeom>
          <a:noFill/>
          <a:ln/>
        </p:spPr>
        <p:txBody>
          <a:bodyPr wrap="square" rtlCol="0" anchor="ctr"/>
          <a:lstStyle/>
          <a:p>
            <a:pPr indent="0" marL="0">
              <a:buNone/>
            </a:pPr>
            <a:r>
              <a:rPr lang="en-US" sz="1200" b="1" spc="200" kern="0" dirty="0">
                <a:solidFill>
                  <a:srgbClr val="E8730C"/>
                </a:solidFill>
                <a:latin typeface="Poppins" pitchFamily="34" charset="0"/>
                <a:ea typeface="Poppins" pitchFamily="34" charset="-122"/>
                <a:cs typeface="Poppins" pitchFamily="34" charset="-120"/>
              </a:rPr>
              <a:t>NJËSIA 6 · JAVA GUI (SWING)</a:t>
            </a:r>
            <a:endParaRPr lang="en-US" sz="1200" dirty="0"/>
          </a:p>
        </p:txBody>
      </p:sp>
      <p:sp>
        <p:nvSpPr>
          <p:cNvPr id="5" name="Text 3"/>
          <p:cNvSpPr/>
          <p:nvPr/>
        </p:nvSpPr>
        <p:spPr>
          <a:xfrm>
            <a:off x="548640" y="420624"/>
            <a:ext cx="11064240" cy="566928"/>
          </a:xfrm>
          <a:prstGeom prst="rect">
            <a:avLst/>
          </a:prstGeom>
          <a:noFill/>
          <a:ln/>
        </p:spPr>
        <p:txBody>
          <a:bodyPr wrap="square" rtlCol="0" anchor="ctr"/>
          <a:lstStyle/>
          <a:p>
            <a:pPr indent="0" marL="0">
              <a:buNone/>
            </a:pPr>
            <a:r>
              <a:rPr lang="en-US" sz="2600" b="1" dirty="0">
                <a:solidFill>
                  <a:srgbClr val="142033"/>
                </a:solidFill>
                <a:latin typeface="Poppins" pitchFamily="34" charset="0"/>
                <a:ea typeface="Poppins" pitchFamily="34" charset="-122"/>
                <a:cs typeface="Poppins" pitchFamily="34" charset="-120"/>
              </a:rPr>
              <a:t>Ndërfaqet grafike &amp; ngjarjet</a:t>
            </a:r>
            <a:endParaRPr lang="en-US" sz="2600" dirty="0"/>
          </a:p>
        </p:txBody>
      </p:sp>
      <p:sp>
        <p:nvSpPr>
          <p:cNvPr id="6" name="Text 4"/>
          <p:cNvSpPr/>
          <p:nvPr/>
        </p:nvSpPr>
        <p:spPr>
          <a:xfrm>
            <a:off x="640080" y="1463040"/>
            <a:ext cx="5852160" cy="3657600"/>
          </a:xfrm>
          <a:prstGeom prst="rect">
            <a:avLst/>
          </a:prstGeom>
          <a:noFill/>
          <a:ln/>
        </p:spPr>
        <p:txBody>
          <a:bodyPr wrap="square" lIns="0" tIns="0" rIns="0" bIns="0" rtlCol="0" anchor="t"/>
          <a:lstStyle/>
          <a:p>
            <a:pPr marL="203200" indent="-203200">
              <a:spcAft>
                <a:spcPts val="800"/>
              </a:spcAft>
              <a:buSzPct val="100000"/>
              <a:buChar char="•"/>
            </a:pPr>
            <a:r>
              <a:rPr lang="en-US" sz="1350" b="1" dirty="0">
                <a:solidFill>
                  <a:srgbClr val="E8730C"/>
                </a:solidFill>
                <a:latin typeface="Work Sans" pitchFamily="34" charset="0"/>
                <a:ea typeface="Work Sans" pitchFamily="34" charset="-122"/>
                <a:cs typeface="Work Sans" pitchFamily="34" charset="-120"/>
              </a:rPr>
              <a:t>Komponentët kryesorë</a:t>
            </a:r>
            <a:endParaRPr lang="en-US" sz="1350" dirty="0"/>
          </a:p>
          <a:p>
            <a:pPr marL="203200" indent="-203200">
              <a:spcAft>
                <a:spcPts val="800"/>
              </a:spcAft>
              <a:buSzPct val="100000"/>
              <a:buChar char="•"/>
            </a:pPr>
            <a:r>
              <a:rPr lang="en-US" sz="1350" dirty="0">
                <a:solidFill>
                  <a:srgbClr val="26313F"/>
                </a:solidFill>
                <a:latin typeface="Work Sans" pitchFamily="34" charset="0"/>
                <a:ea typeface="Work Sans" pitchFamily="34" charset="-122"/>
                <a:cs typeface="Work Sans" pitchFamily="34" charset="-120"/>
              </a:rPr>
              <a:t>JFrame (dritarja), JPanel, JButton, JLabel, JTextField</a:t>
            </a:r>
            <a:endParaRPr lang="en-US" sz="1350" dirty="0"/>
          </a:p>
          <a:p>
            <a:pPr marL="203200" indent="-203200">
              <a:spcAft>
                <a:spcPts val="800"/>
              </a:spcAft>
              <a:buSzPct val="100000"/>
              <a:buChar char="•"/>
            </a:pPr>
            <a:r>
              <a:rPr lang="en-US" sz="1350" b="1" dirty="0">
                <a:solidFill>
                  <a:srgbClr val="E8730C"/>
                </a:solidFill>
                <a:latin typeface="Work Sans" pitchFamily="34" charset="0"/>
                <a:ea typeface="Work Sans" pitchFamily="34" charset="-122"/>
                <a:cs typeface="Work Sans" pitchFamily="34" charset="-120"/>
              </a:rPr>
              <a:t>Trajtimi i ngjarjeve</a:t>
            </a:r>
            <a:endParaRPr lang="en-US" sz="1350" dirty="0"/>
          </a:p>
          <a:p>
            <a:pPr marL="203200" indent="-203200">
              <a:spcAft>
                <a:spcPts val="800"/>
              </a:spcAft>
              <a:buSzPct val="100000"/>
              <a:buChar char="•"/>
            </a:pPr>
            <a:r>
              <a:rPr lang="en-US" sz="1350" dirty="0">
                <a:solidFill>
                  <a:srgbClr val="26313F"/>
                </a:solidFill>
                <a:latin typeface="Work Sans" pitchFamily="34" charset="0"/>
                <a:ea typeface="Work Sans" pitchFamily="34" charset="-122"/>
                <a:cs typeface="Work Sans" pitchFamily="34" charset="-120"/>
              </a:rPr>
              <a:t>addActionListener + actionPerformed(ActionEvent e)</a:t>
            </a:r>
            <a:endParaRPr lang="en-US" sz="1350" dirty="0"/>
          </a:p>
          <a:p>
            <a:pPr marL="203200" indent="-203200">
              <a:spcAft>
                <a:spcPts val="800"/>
              </a:spcAft>
              <a:buSzPct val="100000"/>
              <a:buChar char="•"/>
            </a:pPr>
            <a:r>
              <a:rPr lang="en-US" sz="1350" b="1" dirty="0">
                <a:solidFill>
                  <a:srgbClr val="E8730C"/>
                </a:solidFill>
                <a:latin typeface="Work Sans" pitchFamily="34" charset="0"/>
                <a:ea typeface="Work Sans" pitchFamily="34" charset="-122"/>
                <a:cs typeface="Work Sans" pitchFamily="34" charset="-120"/>
              </a:rPr>
              <a:t>Vizatimi (Graphics)</a:t>
            </a:r>
            <a:endParaRPr lang="en-US" sz="1350" dirty="0"/>
          </a:p>
          <a:p>
            <a:pPr marL="203200" indent="-203200">
              <a:spcAft>
                <a:spcPts val="800"/>
              </a:spcAft>
              <a:buSzPct val="100000"/>
              <a:buChar char="•"/>
            </a:pPr>
            <a:r>
              <a:rPr lang="en-US" sz="1350" dirty="0">
                <a:solidFill>
                  <a:srgbClr val="26313F"/>
                </a:solidFill>
                <a:latin typeface="Work Sans" pitchFamily="34" charset="0"/>
                <a:ea typeface="Work Sans" pitchFamily="34" charset="-122"/>
                <a:cs typeface="Work Sans" pitchFamily="34" charset="-120"/>
              </a:rPr>
              <a:t>paintComponent(Graphics g) → g.drawOval, g.fillRect</a:t>
            </a:r>
            <a:endParaRPr lang="en-US" sz="1350" dirty="0"/>
          </a:p>
          <a:p>
            <a:pPr marL="203200" indent="-203200">
              <a:spcAft>
                <a:spcPts val="800"/>
              </a:spcAft>
              <a:buSzPct val="100000"/>
              <a:buChar char="•"/>
            </a:pPr>
            <a:r>
              <a:rPr lang="en-US" sz="1350" b="1" dirty="0">
                <a:solidFill>
                  <a:srgbClr val="E8730C"/>
                </a:solidFill>
                <a:latin typeface="Work Sans" pitchFamily="34" charset="0"/>
                <a:ea typeface="Work Sans" pitchFamily="34" charset="-122"/>
                <a:cs typeface="Work Sans" pitchFamily="34" charset="-120"/>
              </a:rPr>
              <a:t>Animacioni</a:t>
            </a:r>
            <a:endParaRPr lang="en-US" sz="1350" dirty="0"/>
          </a:p>
          <a:p>
            <a:pPr marL="203200" indent="-203200">
              <a:spcAft>
                <a:spcPts val="800"/>
              </a:spcAft>
              <a:buSzPct val="100000"/>
              <a:buChar char="•"/>
            </a:pPr>
            <a:r>
              <a:rPr lang="en-US" sz="1350" dirty="0">
                <a:solidFill>
                  <a:srgbClr val="26313F"/>
                </a:solidFill>
                <a:latin typeface="Work Sans" pitchFamily="34" charset="0"/>
                <a:ea typeface="Work Sans" pitchFamily="34" charset="-122"/>
                <a:cs typeface="Work Sans" pitchFamily="34" charset="-120"/>
              </a:rPr>
              <a:t>javax.swing.Timer → repaint() në intervale</a:t>
            </a:r>
            <a:endParaRPr lang="en-US" sz="1350" dirty="0"/>
          </a:p>
        </p:txBody>
      </p:sp>
      <p:sp>
        <p:nvSpPr>
          <p:cNvPr id="7" name="Shape 5"/>
          <p:cNvSpPr/>
          <p:nvPr/>
        </p:nvSpPr>
        <p:spPr>
          <a:xfrm>
            <a:off x="6858000" y="1737360"/>
            <a:ext cx="4572000" cy="2651760"/>
          </a:xfrm>
          <a:prstGeom prst="roundRect">
            <a:avLst>
              <a:gd name="adj" fmla="val 2069"/>
            </a:avLst>
          </a:prstGeom>
          <a:solidFill>
            <a:srgbClr val="FFFFFF"/>
          </a:solidFill>
          <a:ln w="19050">
            <a:solidFill>
              <a:srgbClr val="DBE2EA"/>
            </a:solidFill>
            <a:prstDash val="solid"/>
          </a:ln>
        </p:spPr>
      </p:sp>
      <p:sp>
        <p:nvSpPr>
          <p:cNvPr id="8" name="Shape 6"/>
          <p:cNvSpPr/>
          <p:nvPr/>
        </p:nvSpPr>
        <p:spPr>
          <a:xfrm>
            <a:off x="6858000" y="1737360"/>
            <a:ext cx="4572000" cy="457200"/>
          </a:xfrm>
          <a:prstGeom prst="rect">
            <a:avLst/>
          </a:prstGeom>
          <a:solidFill>
            <a:srgbClr val="142033"/>
          </a:solidFill>
          <a:ln/>
        </p:spPr>
      </p:sp>
      <p:sp>
        <p:nvSpPr>
          <p:cNvPr id="9" name="Text 7"/>
          <p:cNvSpPr/>
          <p:nvPr/>
        </p:nvSpPr>
        <p:spPr>
          <a:xfrm>
            <a:off x="6995160" y="1737360"/>
            <a:ext cx="3657600" cy="457200"/>
          </a:xfrm>
          <a:prstGeom prst="rect">
            <a:avLst/>
          </a:prstGeom>
          <a:noFill/>
          <a:ln/>
        </p:spPr>
        <p:txBody>
          <a:bodyPr wrap="square" rtlCol="0" anchor="ctr"/>
          <a:lstStyle/>
          <a:p>
            <a:pPr indent="0" marL="0">
              <a:buNone/>
            </a:pPr>
            <a:r>
              <a:rPr lang="en-US" sz="1200" b="1" dirty="0">
                <a:solidFill>
                  <a:srgbClr val="FFFFFF"/>
                </a:solidFill>
                <a:latin typeface="Work Sans" pitchFamily="34" charset="0"/>
                <a:ea typeface="Work Sans" pitchFamily="34" charset="-122"/>
                <a:cs typeface="Work Sans" pitchFamily="34" charset="-120"/>
              </a:rPr>
              <a:t>Numeruesi</a:t>
            </a:r>
            <a:endParaRPr lang="en-US" sz="1200" dirty="0"/>
          </a:p>
        </p:txBody>
      </p:sp>
      <p:sp>
        <p:nvSpPr>
          <p:cNvPr id="10" name="Shape 8"/>
          <p:cNvSpPr/>
          <p:nvPr/>
        </p:nvSpPr>
        <p:spPr>
          <a:xfrm>
            <a:off x="11082528" y="1883664"/>
            <a:ext cx="164592" cy="164592"/>
          </a:xfrm>
          <a:prstGeom prst="ellipse">
            <a:avLst/>
          </a:prstGeom>
          <a:solidFill>
            <a:srgbClr val="E05B4B"/>
          </a:solidFill>
          <a:ln/>
        </p:spPr>
      </p:sp>
      <p:sp>
        <p:nvSpPr>
          <p:cNvPr id="11" name="Text 9"/>
          <p:cNvSpPr/>
          <p:nvPr/>
        </p:nvSpPr>
        <p:spPr>
          <a:xfrm>
            <a:off x="6858000" y="2560320"/>
            <a:ext cx="4572000" cy="457200"/>
          </a:xfrm>
          <a:prstGeom prst="rect">
            <a:avLst/>
          </a:prstGeom>
          <a:noFill/>
          <a:ln/>
        </p:spPr>
        <p:txBody>
          <a:bodyPr wrap="square" rtlCol="0" anchor="ctr"/>
          <a:lstStyle/>
          <a:p>
            <a:pPr algn="ctr" indent="0" marL="0">
              <a:buNone/>
            </a:pPr>
            <a:r>
              <a:rPr lang="en-US" sz="1600" b="1" dirty="0">
                <a:solidFill>
                  <a:srgbClr val="26313F"/>
                </a:solidFill>
                <a:latin typeface="Work Sans" pitchFamily="34" charset="0"/>
                <a:ea typeface="Work Sans" pitchFamily="34" charset="-122"/>
                <a:cs typeface="Work Sans" pitchFamily="34" charset="-120"/>
              </a:rPr>
              <a:t>Numri: 3</a:t>
            </a:r>
            <a:endParaRPr lang="en-US" sz="1600" dirty="0"/>
          </a:p>
        </p:txBody>
      </p:sp>
      <p:sp>
        <p:nvSpPr>
          <p:cNvPr id="12" name="Shape 10"/>
          <p:cNvSpPr/>
          <p:nvPr/>
        </p:nvSpPr>
        <p:spPr>
          <a:xfrm>
            <a:off x="8458200" y="3291840"/>
            <a:ext cx="1371600" cy="502920"/>
          </a:xfrm>
          <a:prstGeom prst="roundRect">
            <a:avLst>
              <a:gd name="adj" fmla="val 10909"/>
            </a:avLst>
          </a:prstGeom>
          <a:solidFill>
            <a:srgbClr val="F2F5F9"/>
          </a:solidFill>
          <a:ln w="12700">
            <a:solidFill>
              <a:srgbClr val="6A7889"/>
            </a:solidFill>
            <a:prstDash val="solid"/>
          </a:ln>
        </p:spPr>
      </p:sp>
      <p:sp>
        <p:nvSpPr>
          <p:cNvPr id="13" name="Text 11"/>
          <p:cNvSpPr/>
          <p:nvPr/>
        </p:nvSpPr>
        <p:spPr>
          <a:xfrm>
            <a:off x="8458200" y="3291840"/>
            <a:ext cx="1371600" cy="502920"/>
          </a:xfrm>
          <a:prstGeom prst="rect">
            <a:avLst/>
          </a:prstGeom>
          <a:noFill/>
          <a:ln/>
        </p:spPr>
        <p:txBody>
          <a:bodyPr wrap="square" rtlCol="0" anchor="ctr"/>
          <a:lstStyle/>
          <a:p>
            <a:pPr algn="ctr" indent="0" marL="0">
              <a:buNone/>
            </a:pPr>
            <a:r>
              <a:rPr lang="en-US" sz="1300" b="1" dirty="0">
                <a:solidFill>
                  <a:srgbClr val="142033"/>
                </a:solidFill>
                <a:latin typeface="Work Sans" pitchFamily="34" charset="0"/>
                <a:ea typeface="Work Sans" pitchFamily="34" charset="-122"/>
                <a:cs typeface="Work Sans" pitchFamily="34" charset="-120"/>
              </a:rPr>
              <a:t>Shto +1</a:t>
            </a:r>
            <a:endParaRPr lang="en-US" sz="1300" dirty="0"/>
          </a:p>
        </p:txBody>
      </p:sp>
      <p:sp>
        <p:nvSpPr>
          <p:cNvPr id="14" name="Text 12"/>
          <p:cNvSpPr/>
          <p:nvPr/>
        </p:nvSpPr>
        <p:spPr>
          <a:xfrm>
            <a:off x="6858000" y="4526280"/>
            <a:ext cx="4572000" cy="365760"/>
          </a:xfrm>
          <a:prstGeom prst="rect">
            <a:avLst/>
          </a:prstGeom>
          <a:noFill/>
          <a:ln/>
        </p:spPr>
        <p:txBody>
          <a:bodyPr wrap="square" rtlCol="0" anchor="ctr"/>
          <a:lstStyle/>
          <a:p>
            <a:pPr algn="ctr" indent="0" marL="0">
              <a:buNone/>
            </a:pPr>
            <a:r>
              <a:rPr lang="en-US" sz="1150" i="1" dirty="0">
                <a:solidFill>
                  <a:srgbClr val="6A7889"/>
                </a:solidFill>
                <a:latin typeface="Work Sans" pitchFamily="34" charset="0"/>
                <a:ea typeface="Work Sans" pitchFamily="34" charset="-122"/>
                <a:cs typeface="Work Sans" pitchFamily="34" charset="-120"/>
              </a:rPr>
              <a:t>Shembulli 5 i së premtes: numëruesi me buton</a:t>
            </a:r>
            <a:endParaRPr lang="en-US" sz="1150" dirty="0"/>
          </a:p>
        </p:txBody>
      </p:sp>
      <p:sp>
        <p:nvSpPr>
          <p:cNvPr id="15" name="Text 13"/>
          <p:cNvSpPr/>
          <p:nvPr/>
        </p:nvSpPr>
        <p:spPr>
          <a:xfrm>
            <a:off x="11612880" y="6400800"/>
            <a:ext cx="457200" cy="274320"/>
          </a:xfrm>
          <a:prstGeom prst="rect">
            <a:avLst/>
          </a:prstGeom>
          <a:noFill/>
          <a:ln/>
        </p:spPr>
        <p:txBody>
          <a:bodyPr wrap="square" rtlCol="0" anchor="ctr"/>
          <a:lstStyle/>
          <a:p>
            <a:pPr algn="r" indent="0" marL="0">
              <a:buNone/>
            </a:pPr>
            <a:r>
              <a:rPr lang="en-US" sz="1100" dirty="0">
                <a:solidFill>
                  <a:srgbClr val="6A7889"/>
                </a:solidFill>
                <a:latin typeface="Work Sans" pitchFamily="34" charset="0"/>
                <a:ea typeface="Work Sans" pitchFamily="34" charset="-122"/>
                <a:cs typeface="Work Sans"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F2F5F9"/>
          </a:solidFill>
          <a:ln/>
        </p:spPr>
      </p:sp>
      <p:sp>
        <p:nvSpPr>
          <p:cNvPr id="3" name="Shape 1"/>
          <p:cNvSpPr/>
          <p:nvPr/>
        </p:nvSpPr>
        <p:spPr>
          <a:xfrm>
            <a:off x="0" y="1051560"/>
            <a:ext cx="12191695" cy="27432"/>
          </a:xfrm>
          <a:prstGeom prst="rect">
            <a:avLst/>
          </a:prstGeom>
          <a:solidFill>
            <a:srgbClr val="E8730C"/>
          </a:solidFill>
          <a:ln/>
        </p:spPr>
      </p:sp>
      <p:sp>
        <p:nvSpPr>
          <p:cNvPr id="4" name="Text 2"/>
          <p:cNvSpPr/>
          <p:nvPr/>
        </p:nvSpPr>
        <p:spPr>
          <a:xfrm>
            <a:off x="548640" y="182880"/>
            <a:ext cx="10972800" cy="274320"/>
          </a:xfrm>
          <a:prstGeom prst="rect">
            <a:avLst/>
          </a:prstGeom>
          <a:noFill/>
          <a:ln/>
        </p:spPr>
        <p:txBody>
          <a:bodyPr wrap="square" rtlCol="0" anchor="ctr"/>
          <a:lstStyle/>
          <a:p>
            <a:pPr indent="0" marL="0">
              <a:buNone/>
            </a:pPr>
            <a:r>
              <a:rPr lang="en-US" sz="1200" b="1" spc="200" kern="0" dirty="0">
                <a:solidFill>
                  <a:srgbClr val="E8730C"/>
                </a:solidFill>
                <a:latin typeface="Poppins" pitchFamily="34" charset="0"/>
                <a:ea typeface="Poppins" pitchFamily="34" charset="-122"/>
                <a:cs typeface="Poppins" pitchFamily="34" charset="-120"/>
              </a:rPr>
              <a:t>NJËSIA 7 · HASHMAP &amp; HASH TABLES</a:t>
            </a:r>
            <a:endParaRPr lang="en-US" sz="1200" dirty="0"/>
          </a:p>
        </p:txBody>
      </p:sp>
      <p:sp>
        <p:nvSpPr>
          <p:cNvPr id="5" name="Text 3"/>
          <p:cNvSpPr/>
          <p:nvPr/>
        </p:nvSpPr>
        <p:spPr>
          <a:xfrm>
            <a:off x="548640" y="420624"/>
            <a:ext cx="11064240" cy="566928"/>
          </a:xfrm>
          <a:prstGeom prst="rect">
            <a:avLst/>
          </a:prstGeom>
          <a:noFill/>
          <a:ln/>
        </p:spPr>
        <p:txBody>
          <a:bodyPr wrap="square" rtlCol="0" anchor="ctr"/>
          <a:lstStyle/>
          <a:p>
            <a:pPr indent="0" marL="0">
              <a:buNone/>
            </a:pPr>
            <a:r>
              <a:rPr lang="en-US" sz="2600" b="1" dirty="0">
                <a:solidFill>
                  <a:srgbClr val="142033"/>
                </a:solidFill>
                <a:latin typeface="Poppins" pitchFamily="34" charset="0"/>
                <a:ea typeface="Poppins" pitchFamily="34" charset="-122"/>
                <a:cs typeface="Poppins" pitchFamily="34" charset="-120"/>
              </a:rPr>
              <a:t>Ruajtja çelës → vlerë</a:t>
            </a:r>
            <a:endParaRPr lang="en-US" sz="2600" dirty="0"/>
          </a:p>
        </p:txBody>
      </p:sp>
      <p:sp>
        <p:nvSpPr>
          <p:cNvPr id="6" name="Text 4"/>
          <p:cNvSpPr/>
          <p:nvPr/>
        </p:nvSpPr>
        <p:spPr>
          <a:xfrm>
            <a:off x="640080" y="1463040"/>
            <a:ext cx="5760720" cy="3657600"/>
          </a:xfrm>
          <a:prstGeom prst="rect">
            <a:avLst/>
          </a:prstGeom>
          <a:noFill/>
          <a:ln/>
        </p:spPr>
        <p:txBody>
          <a:bodyPr wrap="square" lIns="0" tIns="0" rIns="0" bIns="0" rtlCol="0" anchor="t"/>
          <a:lstStyle/>
          <a:p>
            <a:pPr marL="203200" indent="-203200">
              <a:spcAft>
                <a:spcPts val="800"/>
              </a:spcAft>
              <a:buSzPct val="100000"/>
              <a:buChar char="•"/>
            </a:pPr>
            <a:r>
              <a:rPr lang="en-US" sz="1350" b="1" dirty="0">
                <a:solidFill>
                  <a:srgbClr val="E8730C"/>
                </a:solidFill>
                <a:latin typeface="Work Sans" pitchFamily="34" charset="0"/>
                <a:ea typeface="Work Sans" pitchFamily="34" charset="-122"/>
                <a:cs typeface="Work Sans" pitchFamily="34" charset="-120"/>
              </a:rPr>
              <a:t>Struktura çelës-vlerë</a:t>
            </a:r>
            <a:endParaRPr lang="en-US" sz="1350" dirty="0"/>
          </a:p>
          <a:p>
            <a:pPr marL="203200" indent="-203200">
              <a:spcAft>
                <a:spcPts val="800"/>
              </a:spcAft>
              <a:buSzPct val="100000"/>
              <a:buChar char="•"/>
            </a:pPr>
            <a:r>
              <a:rPr lang="en-US" sz="1350" dirty="0">
                <a:solidFill>
                  <a:srgbClr val="26313F"/>
                </a:solidFill>
                <a:latin typeface="Work Sans" pitchFamily="34" charset="0"/>
                <a:ea typeface="Work Sans" pitchFamily="34" charset="-122"/>
                <a:cs typeface="Work Sans" pitchFamily="34" charset="-120"/>
              </a:rPr>
              <a:t>HashMap&lt;String, Integer&gt; — çelësa unikë</a:t>
            </a:r>
            <a:endParaRPr lang="en-US" sz="1350" dirty="0"/>
          </a:p>
          <a:p>
            <a:pPr marL="203200" indent="-203200">
              <a:spcAft>
                <a:spcPts val="800"/>
              </a:spcAft>
              <a:buSzPct val="100000"/>
              <a:buChar char="•"/>
            </a:pPr>
            <a:r>
              <a:rPr lang="en-US" sz="1350" b="1" dirty="0">
                <a:solidFill>
                  <a:srgbClr val="E8730C"/>
                </a:solidFill>
                <a:latin typeface="Work Sans" pitchFamily="34" charset="0"/>
                <a:ea typeface="Work Sans" pitchFamily="34" charset="-122"/>
                <a:cs typeface="Work Sans" pitchFamily="34" charset="-120"/>
              </a:rPr>
              <a:t>Metodat kryesore</a:t>
            </a:r>
            <a:endParaRPr lang="en-US" sz="1350" dirty="0"/>
          </a:p>
          <a:p>
            <a:pPr marL="203200" indent="-203200">
              <a:spcAft>
                <a:spcPts val="800"/>
              </a:spcAft>
              <a:buSzPct val="100000"/>
              <a:buChar char="•"/>
            </a:pPr>
            <a:r>
              <a:rPr lang="en-US" sz="1350" dirty="0">
                <a:solidFill>
                  <a:srgbClr val="26313F"/>
                </a:solidFill>
                <a:latin typeface="Work Sans" pitchFamily="34" charset="0"/>
                <a:ea typeface="Work Sans" pitchFamily="34" charset="-122"/>
                <a:cs typeface="Work Sans" pitchFamily="34" charset="-120"/>
              </a:rPr>
              <a:t>put(k,v) · get(k) · containsKey(k) · size() · remove(k)</a:t>
            </a:r>
            <a:endParaRPr lang="en-US" sz="1350" dirty="0"/>
          </a:p>
          <a:p>
            <a:pPr marL="203200" indent="-203200">
              <a:spcAft>
                <a:spcPts val="800"/>
              </a:spcAft>
              <a:buSzPct val="100000"/>
              <a:buChar char="•"/>
            </a:pPr>
            <a:r>
              <a:rPr lang="en-US" sz="1350" b="1" dirty="0">
                <a:solidFill>
                  <a:srgbClr val="E8730C"/>
                </a:solidFill>
                <a:latin typeface="Work Sans" pitchFamily="34" charset="0"/>
                <a:ea typeface="Work Sans" pitchFamily="34" charset="-122"/>
                <a:cs typeface="Work Sans" pitchFamily="34" charset="-120"/>
              </a:rPr>
              <a:t>Përparësia</a:t>
            </a:r>
            <a:endParaRPr lang="en-US" sz="1350" dirty="0"/>
          </a:p>
          <a:p>
            <a:pPr marL="203200" indent="-203200">
              <a:spcAft>
                <a:spcPts val="800"/>
              </a:spcAft>
              <a:buSzPct val="100000"/>
              <a:buChar char="•"/>
            </a:pPr>
            <a:r>
              <a:rPr lang="en-US" sz="1350" dirty="0">
                <a:solidFill>
                  <a:srgbClr val="26313F"/>
                </a:solidFill>
                <a:latin typeface="Work Sans" pitchFamily="34" charset="0"/>
                <a:ea typeface="Work Sans" pitchFamily="34" charset="-122"/>
                <a:cs typeface="Work Sans" pitchFamily="34" charset="-120"/>
              </a:rPr>
              <a:t>Kërkim shumë i shpejtë (O(1) mesatarisht)</a:t>
            </a:r>
            <a:endParaRPr lang="en-US" sz="1350" dirty="0"/>
          </a:p>
          <a:p>
            <a:pPr marL="203200" indent="-203200">
              <a:spcAft>
                <a:spcPts val="800"/>
              </a:spcAft>
              <a:buSzPct val="100000"/>
              <a:buChar char="•"/>
            </a:pPr>
            <a:r>
              <a:rPr lang="en-US" sz="1350" b="1" dirty="0">
                <a:solidFill>
                  <a:srgbClr val="E8730C"/>
                </a:solidFill>
                <a:latin typeface="Work Sans" pitchFamily="34" charset="0"/>
                <a:ea typeface="Work Sans" pitchFamily="34" charset="-122"/>
                <a:cs typeface="Work Sans" pitchFamily="34" charset="-120"/>
              </a:rPr>
              <a:t>HashMap vs Hashtable</a:t>
            </a:r>
            <a:endParaRPr lang="en-US" sz="1350" dirty="0"/>
          </a:p>
          <a:p>
            <a:pPr marL="203200" indent="-203200">
              <a:spcAft>
                <a:spcPts val="800"/>
              </a:spcAft>
              <a:buSzPct val="100000"/>
              <a:buChar char="•"/>
            </a:pPr>
            <a:r>
              <a:rPr lang="en-US" sz="1350" dirty="0">
                <a:solidFill>
                  <a:srgbClr val="26313F"/>
                </a:solidFill>
                <a:latin typeface="Work Sans" pitchFamily="34" charset="0"/>
                <a:ea typeface="Work Sans" pitchFamily="34" charset="-122"/>
                <a:cs typeface="Work Sans" pitchFamily="34" charset="-120"/>
              </a:rPr>
              <a:t>HashMap s'është i sinkronizuar; lejon null</a:t>
            </a:r>
            <a:endParaRPr lang="en-US" sz="1350" dirty="0"/>
          </a:p>
        </p:txBody>
      </p:sp>
      <p:sp>
        <p:nvSpPr>
          <p:cNvPr id="7" name="Shape 5"/>
          <p:cNvSpPr/>
          <p:nvPr/>
        </p:nvSpPr>
        <p:spPr>
          <a:xfrm>
            <a:off x="6583680" y="1783080"/>
            <a:ext cx="5029200" cy="2020824"/>
          </a:xfrm>
          <a:prstGeom prst="roundRect">
            <a:avLst>
              <a:gd name="adj" fmla="val 3620"/>
            </a:avLst>
          </a:prstGeom>
          <a:solidFill>
            <a:srgbClr val="1B2736"/>
          </a:solidFill>
          <a:ln w="12700">
            <a:solidFill>
              <a:srgbClr val="2A3A4C"/>
            </a:solidFill>
            <a:prstDash val="solid"/>
          </a:ln>
        </p:spPr>
      </p:sp>
      <p:sp>
        <p:nvSpPr>
          <p:cNvPr id="8" name="Text 6"/>
          <p:cNvSpPr/>
          <p:nvPr/>
        </p:nvSpPr>
        <p:spPr>
          <a:xfrm>
            <a:off x="6720840" y="1856232"/>
            <a:ext cx="3931920" cy="256032"/>
          </a:xfrm>
          <a:prstGeom prst="rect">
            <a:avLst/>
          </a:prstGeom>
          <a:noFill/>
          <a:ln/>
        </p:spPr>
        <p:txBody>
          <a:bodyPr wrap="square" rtlCol="0" anchor="ctr"/>
          <a:lstStyle/>
          <a:p>
            <a:pPr indent="0" marL="0">
              <a:buNone/>
            </a:pPr>
            <a:r>
              <a:rPr lang="en-US" sz="1000" b="1" spc="100" kern="0" dirty="0">
                <a:solidFill>
                  <a:srgbClr val="6A7889"/>
                </a:solidFill>
                <a:latin typeface="JetBrains Mono" pitchFamily="34" charset="0"/>
                <a:ea typeface="JetBrains Mono" pitchFamily="34" charset="-122"/>
                <a:cs typeface="JetBrains Mono" pitchFamily="34" charset="-120"/>
              </a:rPr>
              <a:t>HashMap</a:t>
            </a:r>
            <a:endParaRPr lang="en-US" sz="1000" dirty="0"/>
          </a:p>
        </p:txBody>
      </p:sp>
      <p:sp>
        <p:nvSpPr>
          <p:cNvPr id="9" name="Text 7"/>
          <p:cNvSpPr/>
          <p:nvPr/>
        </p:nvSpPr>
        <p:spPr>
          <a:xfrm>
            <a:off x="6784848" y="2167128"/>
            <a:ext cx="4626864" cy="1499616"/>
          </a:xfrm>
          <a:prstGeom prst="rect">
            <a:avLst/>
          </a:prstGeom>
          <a:noFill/>
          <a:ln/>
        </p:spPr>
        <p:txBody>
          <a:bodyPr wrap="square" lIns="0" tIns="0" rIns="0" bIns="0" rtlCol="0" anchor="t"/>
          <a:lstStyle/>
          <a:p>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HashMap</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&lt;</a:t>
            </a:r>
            <a:pPr indent="0" marL="0">
              <a:lnSpc>
                <a:spcPct val="98000"/>
              </a:lnSpc>
              <a:buNone/>
            </a:pPr>
            <a:r>
              <a:rPr lang="en-US" sz="1150" dirty="0">
                <a:solidFill>
                  <a:srgbClr val="E8963C"/>
                </a:solidFill>
                <a:latin typeface="JetBrains Mono" pitchFamily="34" charset="0"/>
                <a:ea typeface="JetBrains Mono" pitchFamily="34" charset="-122"/>
                <a:cs typeface="JetBrains Mono" pitchFamily="34" charset="-120"/>
              </a:rPr>
              <a:t>String</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Integer</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&gt;</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m</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50" dirty="0">
                <a:solidFill>
                  <a:srgbClr val="E8963C"/>
                </a:solidFill>
                <a:latin typeface="JetBrains Mono" pitchFamily="34" charset="0"/>
                <a:ea typeface="JetBrains Mono" pitchFamily="34" charset="-122"/>
                <a:cs typeface="JetBrains Mono" pitchFamily="34" charset="-120"/>
              </a:rPr>
              <a:t>new</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HashMap</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&lt;</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&gt;</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endParaRPr lang="en-US" sz="1150" dirty="0"/>
          </a:p>
          <a:p>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m</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put</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8FCB6B"/>
                </a:solidFill>
                <a:latin typeface="JetBrains Mono" pitchFamily="34" charset="0"/>
                <a:ea typeface="JetBrains Mono" pitchFamily="34" charset="-122"/>
                <a:cs typeface="JetBrains Mono" pitchFamily="34" charset="-120"/>
              </a:rPr>
              <a:t>"Ana"</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50" dirty="0">
                <a:solidFill>
                  <a:srgbClr val="D9A066"/>
                </a:solidFill>
                <a:latin typeface="JetBrains Mono" pitchFamily="34" charset="0"/>
                <a:ea typeface="JetBrains Mono" pitchFamily="34" charset="-122"/>
                <a:cs typeface="JetBrains Mono" pitchFamily="34" charset="-120"/>
              </a:rPr>
              <a:t>9</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endParaRPr lang="en-US" sz="1150" dirty="0"/>
          </a:p>
          <a:p>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m</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put</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8FCB6B"/>
                </a:solidFill>
                <a:latin typeface="JetBrains Mono" pitchFamily="34" charset="0"/>
                <a:ea typeface="JetBrains Mono" pitchFamily="34" charset="-122"/>
                <a:cs typeface="JetBrains Mono" pitchFamily="34" charset="-120"/>
              </a:rPr>
              <a:t>"Ana"</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50" dirty="0">
                <a:solidFill>
                  <a:srgbClr val="D9A066"/>
                </a:solidFill>
                <a:latin typeface="JetBrains Mono" pitchFamily="34" charset="0"/>
                <a:ea typeface="JetBrains Mono" pitchFamily="34" charset="-122"/>
                <a:cs typeface="JetBrains Mono" pitchFamily="34" charset="-120"/>
              </a:rPr>
              <a:t>10</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50" dirty="0">
                <a:solidFill>
                  <a:srgbClr val="7B8A99"/>
                </a:solidFill>
                <a:latin typeface="JetBrains Mono" pitchFamily="34" charset="0"/>
                <a:ea typeface="JetBrains Mono" pitchFamily="34" charset="-122"/>
                <a:cs typeface="JetBrains Mono" pitchFamily="34" charset="-120"/>
              </a:rPr>
              <a:t>// perditeson</a:t>
            </a:r>
            <a:endParaRPr lang="en-US" sz="1150" dirty="0"/>
          </a:p>
          <a:p>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m</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get</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8FCB6B"/>
                </a:solidFill>
                <a:latin typeface="JetBrains Mono" pitchFamily="34" charset="0"/>
                <a:ea typeface="JetBrains Mono" pitchFamily="34" charset="-122"/>
                <a:cs typeface="JetBrains Mono" pitchFamily="34" charset="-120"/>
              </a:rPr>
              <a:t>"Ana"</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50" dirty="0">
                <a:solidFill>
                  <a:srgbClr val="7B8A99"/>
                </a:solidFill>
                <a:latin typeface="JetBrains Mono" pitchFamily="34" charset="0"/>
                <a:ea typeface="JetBrains Mono" pitchFamily="34" charset="-122"/>
                <a:cs typeface="JetBrains Mono" pitchFamily="34" charset="-120"/>
              </a:rPr>
              <a:t>// -&gt; 10</a:t>
            </a:r>
            <a:endParaRPr lang="en-US" sz="1150" dirty="0"/>
          </a:p>
          <a:p>
            <a:pPr indent="0" marL="0">
              <a:lnSpc>
                <a:spcPct val="98000"/>
              </a:lnSpc>
              <a:buNone/>
            </a:pPr>
            <a:r>
              <a:rPr lang="en-US" sz="1150" dirty="0">
                <a:solidFill>
                  <a:srgbClr val="E8963C"/>
                </a:solidFill>
                <a:latin typeface="JetBrains Mono" pitchFamily="34" charset="0"/>
                <a:ea typeface="JetBrains Mono" pitchFamily="34" charset="-122"/>
                <a:cs typeface="JetBrains Mono" pitchFamily="34" charset="-120"/>
              </a:rPr>
              <a:t>for</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var</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e</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m</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entrySet</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endParaRPr lang="en-US" sz="1150" dirty="0"/>
          </a:p>
          <a:p>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println</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e</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getKey</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8FCB6B"/>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e</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getValue</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endParaRPr lang="en-US" sz="1150" dirty="0"/>
          </a:p>
        </p:txBody>
      </p:sp>
      <p:sp>
        <p:nvSpPr>
          <p:cNvPr id="10" name="Shape 8"/>
          <p:cNvSpPr/>
          <p:nvPr/>
        </p:nvSpPr>
        <p:spPr>
          <a:xfrm>
            <a:off x="6583680" y="4206240"/>
            <a:ext cx="5029200" cy="1645920"/>
          </a:xfrm>
          <a:prstGeom prst="roundRect">
            <a:avLst>
              <a:gd name="adj" fmla="val 5556"/>
            </a:avLst>
          </a:prstGeom>
          <a:solidFill>
            <a:srgbClr val="142033"/>
          </a:solidFill>
          <a:ln/>
        </p:spPr>
      </p:sp>
      <p:sp>
        <p:nvSpPr>
          <p:cNvPr id="11" name="Text 9"/>
          <p:cNvSpPr/>
          <p:nvPr/>
        </p:nvSpPr>
        <p:spPr>
          <a:xfrm>
            <a:off x="6812280" y="4315968"/>
            <a:ext cx="4572000" cy="320040"/>
          </a:xfrm>
          <a:prstGeom prst="rect">
            <a:avLst/>
          </a:prstGeom>
          <a:noFill/>
          <a:ln/>
        </p:spPr>
        <p:txBody>
          <a:bodyPr wrap="square" rtlCol="0" anchor="ctr"/>
          <a:lstStyle/>
          <a:p>
            <a:pPr indent="0" marL="0">
              <a:buNone/>
            </a:pPr>
            <a:r>
              <a:rPr lang="en-US" sz="1300" b="1" dirty="0">
                <a:solidFill>
                  <a:srgbClr val="F6A63B"/>
                </a:solidFill>
                <a:latin typeface="Poppins" pitchFamily="34" charset="0"/>
                <a:ea typeface="Poppins" pitchFamily="34" charset="-122"/>
                <a:cs typeface="Poppins" pitchFamily="34" charset="-120"/>
              </a:rPr>
              <a:t>Për provim:</a:t>
            </a:r>
            <a:endParaRPr lang="en-US" sz="1300" dirty="0"/>
          </a:p>
        </p:txBody>
      </p:sp>
      <p:sp>
        <p:nvSpPr>
          <p:cNvPr id="12" name="Text 10"/>
          <p:cNvSpPr/>
          <p:nvPr/>
        </p:nvSpPr>
        <p:spPr>
          <a:xfrm>
            <a:off x="6812280" y="4663440"/>
            <a:ext cx="4617720" cy="3657600"/>
          </a:xfrm>
          <a:prstGeom prst="rect">
            <a:avLst/>
          </a:prstGeom>
          <a:noFill/>
          <a:ln/>
        </p:spPr>
        <p:txBody>
          <a:bodyPr wrap="square" lIns="0" tIns="0" rIns="0" bIns="0" rtlCol="0" anchor="t"/>
          <a:lstStyle/>
          <a:p>
            <a:pPr marL="203200" indent="-203200">
              <a:spcAft>
                <a:spcPts val="700"/>
              </a:spcAft>
              <a:buSzPct val="100000"/>
              <a:buChar char="•"/>
            </a:pPr>
            <a:r>
              <a:rPr lang="en-US" sz="1200" dirty="0">
                <a:solidFill>
                  <a:srgbClr val="DBE2EA"/>
                </a:solidFill>
                <a:latin typeface="Work Sans" pitchFamily="34" charset="0"/>
                <a:ea typeface="Work Sans" pitchFamily="34" charset="-122"/>
                <a:cs typeface="Work Sans" pitchFamily="34" charset="-120"/>
              </a:rPr>
              <a:t>put me çelës ekzistues → PËRDITËSON vlerën</a:t>
            </a:r>
            <a:endParaRPr lang="en-US" sz="1200" dirty="0"/>
          </a:p>
          <a:p>
            <a:pPr marL="203200" indent="-203200">
              <a:spcAft>
                <a:spcPts val="700"/>
              </a:spcAft>
              <a:buSzPct val="100000"/>
              <a:buChar char="•"/>
            </a:pPr>
            <a:r>
              <a:rPr lang="en-US" sz="1200" dirty="0">
                <a:solidFill>
                  <a:srgbClr val="DBE2EA"/>
                </a:solidFill>
                <a:latin typeface="Work Sans" pitchFamily="34" charset="0"/>
                <a:ea typeface="Work Sans" pitchFamily="34" charset="-122"/>
                <a:cs typeface="Work Sans" pitchFamily="34" charset="-120"/>
              </a:rPr>
              <a:t>entrySet() për të kaluar nëpër të gjitha çiftet</a:t>
            </a:r>
            <a:endParaRPr lang="en-US" sz="1200" dirty="0"/>
          </a:p>
          <a:p>
            <a:pPr marL="203200" indent="-203200">
              <a:spcAft>
                <a:spcPts val="700"/>
              </a:spcAft>
              <a:buSzPct val="100000"/>
              <a:buChar char="•"/>
            </a:pPr>
            <a:r>
              <a:rPr lang="en-US" sz="1200" dirty="0">
                <a:solidFill>
                  <a:srgbClr val="DBE2EA"/>
                </a:solidFill>
                <a:latin typeface="Work Sans" pitchFamily="34" charset="0"/>
                <a:ea typeface="Work Sans" pitchFamily="34" charset="-122"/>
                <a:cs typeface="Work Sans" pitchFamily="34" charset="-120"/>
              </a:rPr>
              <a:t>Çelësat janë unikë; vlerat mund të përsëriten</a:t>
            </a:r>
            <a:endParaRPr lang="en-US" sz="1200" dirty="0"/>
          </a:p>
        </p:txBody>
      </p:sp>
      <p:sp>
        <p:nvSpPr>
          <p:cNvPr id="13" name="Text 11"/>
          <p:cNvSpPr/>
          <p:nvPr/>
        </p:nvSpPr>
        <p:spPr>
          <a:xfrm>
            <a:off x="11612880" y="6400800"/>
            <a:ext cx="457200" cy="274320"/>
          </a:xfrm>
          <a:prstGeom prst="rect">
            <a:avLst/>
          </a:prstGeom>
          <a:noFill/>
          <a:ln/>
        </p:spPr>
        <p:txBody>
          <a:bodyPr wrap="square" rtlCol="0" anchor="ctr"/>
          <a:lstStyle/>
          <a:p>
            <a:pPr algn="r" indent="0" marL="0">
              <a:buNone/>
            </a:pPr>
            <a:r>
              <a:rPr lang="en-US" sz="1100" dirty="0">
                <a:solidFill>
                  <a:srgbClr val="6A7889"/>
                </a:solidFill>
                <a:latin typeface="Work Sans" pitchFamily="34" charset="0"/>
                <a:ea typeface="Work Sans" pitchFamily="34" charset="-122"/>
                <a:cs typeface="Work Sans"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F2F5F9"/>
          </a:solidFill>
          <a:ln/>
        </p:spPr>
      </p:sp>
      <p:sp>
        <p:nvSpPr>
          <p:cNvPr id="3" name="Shape 1"/>
          <p:cNvSpPr/>
          <p:nvPr/>
        </p:nvSpPr>
        <p:spPr>
          <a:xfrm>
            <a:off x="0" y="1051560"/>
            <a:ext cx="12191695" cy="27432"/>
          </a:xfrm>
          <a:prstGeom prst="rect">
            <a:avLst/>
          </a:prstGeom>
          <a:solidFill>
            <a:srgbClr val="E8730C"/>
          </a:solidFill>
          <a:ln/>
        </p:spPr>
      </p:sp>
      <p:sp>
        <p:nvSpPr>
          <p:cNvPr id="4" name="Text 2"/>
          <p:cNvSpPr/>
          <p:nvPr/>
        </p:nvSpPr>
        <p:spPr>
          <a:xfrm>
            <a:off x="548640" y="182880"/>
            <a:ext cx="10972800" cy="274320"/>
          </a:xfrm>
          <a:prstGeom prst="rect">
            <a:avLst/>
          </a:prstGeom>
          <a:noFill/>
          <a:ln/>
        </p:spPr>
        <p:txBody>
          <a:bodyPr wrap="square" rtlCol="0" anchor="ctr"/>
          <a:lstStyle/>
          <a:p>
            <a:pPr indent="0" marL="0">
              <a:buNone/>
            </a:pPr>
            <a:r>
              <a:rPr lang="en-US" sz="1200" b="1" spc="200" kern="0" dirty="0">
                <a:solidFill>
                  <a:srgbClr val="E8730C"/>
                </a:solidFill>
                <a:latin typeface="Poppins" pitchFamily="34" charset="0"/>
                <a:ea typeface="Poppins" pitchFamily="34" charset="-122"/>
                <a:cs typeface="Poppins" pitchFamily="34" charset="-120"/>
              </a:rPr>
              <a:t>NJËSIA 8 · BAZA TË DHËNASH ME JDBC</a:t>
            </a:r>
            <a:endParaRPr lang="en-US" sz="1200" dirty="0"/>
          </a:p>
        </p:txBody>
      </p:sp>
      <p:sp>
        <p:nvSpPr>
          <p:cNvPr id="5" name="Text 3"/>
          <p:cNvSpPr/>
          <p:nvPr/>
        </p:nvSpPr>
        <p:spPr>
          <a:xfrm>
            <a:off x="548640" y="420624"/>
            <a:ext cx="11064240" cy="566928"/>
          </a:xfrm>
          <a:prstGeom prst="rect">
            <a:avLst/>
          </a:prstGeom>
          <a:noFill/>
          <a:ln/>
        </p:spPr>
        <p:txBody>
          <a:bodyPr wrap="square" rtlCol="0" anchor="ctr"/>
          <a:lstStyle/>
          <a:p>
            <a:pPr indent="0" marL="0">
              <a:buNone/>
            </a:pPr>
            <a:r>
              <a:rPr lang="en-US" sz="2600" b="1" dirty="0">
                <a:solidFill>
                  <a:srgbClr val="142033"/>
                </a:solidFill>
                <a:latin typeface="Poppins" pitchFamily="34" charset="0"/>
                <a:ea typeface="Poppins" pitchFamily="34" charset="-122"/>
                <a:cs typeface="Poppins" pitchFamily="34" charset="-120"/>
              </a:rPr>
              <a:t>Java ↔ Oracle &amp; PostgreSQL</a:t>
            </a:r>
            <a:endParaRPr lang="en-US" sz="2600" dirty="0"/>
          </a:p>
        </p:txBody>
      </p:sp>
      <p:sp>
        <p:nvSpPr>
          <p:cNvPr id="6" name="Text 4"/>
          <p:cNvSpPr/>
          <p:nvPr/>
        </p:nvSpPr>
        <p:spPr>
          <a:xfrm>
            <a:off x="640080" y="1463040"/>
            <a:ext cx="5852160" cy="3657600"/>
          </a:xfrm>
          <a:prstGeom prst="rect">
            <a:avLst/>
          </a:prstGeom>
          <a:noFill/>
          <a:ln/>
        </p:spPr>
        <p:txBody>
          <a:bodyPr wrap="square" lIns="0" tIns="0" rIns="0" bIns="0" rtlCol="0" anchor="t"/>
          <a:lstStyle/>
          <a:p>
            <a:pPr marL="203200" indent="-203200">
              <a:spcAft>
                <a:spcPts val="800"/>
              </a:spcAft>
              <a:buSzPct val="100000"/>
              <a:buChar char="•"/>
            </a:pPr>
            <a:r>
              <a:rPr lang="en-US" sz="1300" b="1" dirty="0">
                <a:solidFill>
                  <a:srgbClr val="E8730C"/>
                </a:solidFill>
                <a:latin typeface="Work Sans" pitchFamily="34" charset="0"/>
                <a:ea typeface="Work Sans" pitchFamily="34" charset="-122"/>
                <a:cs typeface="Work Sans" pitchFamily="34" charset="-120"/>
              </a:rPr>
              <a:t>Hapat e JDBC</a:t>
            </a:r>
            <a:endParaRPr lang="en-US" sz="1300" dirty="0"/>
          </a:p>
          <a:p>
            <a:pPr marL="203200" indent="-203200">
              <a:spcAft>
                <a:spcPts val="800"/>
              </a:spcAft>
              <a:buSzPct val="100000"/>
              <a:buChar char="•"/>
            </a:pPr>
            <a:r>
              <a:rPr lang="en-US" sz="1300" dirty="0">
                <a:solidFill>
                  <a:srgbClr val="26313F"/>
                </a:solidFill>
                <a:latin typeface="Work Sans" pitchFamily="34" charset="0"/>
                <a:ea typeface="Work Sans" pitchFamily="34" charset="-122"/>
                <a:cs typeface="Work Sans" pitchFamily="34" charset="-120"/>
              </a:rPr>
              <a:t>URL → getConnection → Statement → ekzekuto → mbyll</a:t>
            </a:r>
            <a:endParaRPr lang="en-US" sz="1300" dirty="0"/>
          </a:p>
          <a:p>
            <a:pPr marL="203200" indent="-203200">
              <a:spcAft>
                <a:spcPts val="800"/>
              </a:spcAft>
              <a:buSzPct val="100000"/>
              <a:buChar char="•"/>
            </a:pPr>
            <a:r>
              <a:rPr lang="en-US" sz="1300" b="1" dirty="0">
                <a:solidFill>
                  <a:srgbClr val="E8730C"/>
                </a:solidFill>
                <a:latin typeface="Work Sans" pitchFamily="34" charset="0"/>
                <a:ea typeface="Work Sans" pitchFamily="34" charset="-122"/>
                <a:cs typeface="Work Sans" pitchFamily="34" charset="-120"/>
              </a:rPr>
              <a:t>PreparedStatement (?)</a:t>
            </a:r>
            <a:endParaRPr lang="en-US" sz="1300" dirty="0"/>
          </a:p>
          <a:p>
            <a:pPr marL="203200" indent="-203200">
              <a:spcAft>
                <a:spcPts val="800"/>
              </a:spcAft>
              <a:buSzPct val="100000"/>
              <a:buChar char="•"/>
            </a:pPr>
            <a:r>
              <a:rPr lang="en-US" sz="1300" dirty="0">
                <a:solidFill>
                  <a:srgbClr val="26313F"/>
                </a:solidFill>
                <a:latin typeface="Work Sans" pitchFamily="34" charset="0"/>
                <a:ea typeface="Work Sans" pitchFamily="34" charset="-122"/>
                <a:cs typeface="Work Sans" pitchFamily="34" charset="-120"/>
              </a:rPr>
              <a:t>setInt/setString → mbron nga SQL Injection</a:t>
            </a:r>
            <a:endParaRPr lang="en-US" sz="1300" dirty="0"/>
          </a:p>
          <a:p>
            <a:pPr marL="203200" indent="-203200">
              <a:spcAft>
                <a:spcPts val="800"/>
              </a:spcAft>
              <a:buSzPct val="100000"/>
              <a:buChar char="•"/>
            </a:pPr>
            <a:r>
              <a:rPr lang="en-US" sz="1300" b="1" dirty="0">
                <a:solidFill>
                  <a:srgbClr val="E8730C"/>
                </a:solidFill>
                <a:latin typeface="Work Sans" pitchFamily="34" charset="0"/>
                <a:ea typeface="Work Sans" pitchFamily="34" charset="-122"/>
                <a:cs typeface="Work Sans" pitchFamily="34" charset="-120"/>
              </a:rPr>
              <a:t>executeUpdate vs executeQuery</a:t>
            </a:r>
            <a:endParaRPr lang="en-US" sz="1300" dirty="0"/>
          </a:p>
          <a:p>
            <a:pPr marL="203200" indent="-203200">
              <a:spcAft>
                <a:spcPts val="800"/>
              </a:spcAft>
              <a:buSzPct val="100000"/>
              <a:buChar char="•"/>
            </a:pPr>
            <a:r>
              <a:rPr lang="en-US" sz="1300" dirty="0">
                <a:solidFill>
                  <a:srgbClr val="26313F"/>
                </a:solidFill>
                <a:latin typeface="Work Sans" pitchFamily="34" charset="0"/>
                <a:ea typeface="Work Sans" pitchFamily="34" charset="-122"/>
                <a:cs typeface="Work Sans" pitchFamily="34" charset="-120"/>
              </a:rPr>
              <a:t>Update: INSERT/UPDATE/DELETE → nr. rreshtave</a:t>
            </a:r>
            <a:endParaRPr lang="en-US" sz="1300" dirty="0"/>
          </a:p>
          <a:p>
            <a:pPr marL="203200" indent="-203200">
              <a:spcAft>
                <a:spcPts val="800"/>
              </a:spcAft>
              <a:buSzPct val="100000"/>
              <a:buChar char="•"/>
            </a:pPr>
            <a:r>
              <a:rPr lang="en-US" sz="1300" dirty="0">
                <a:solidFill>
                  <a:srgbClr val="26313F"/>
                </a:solidFill>
                <a:latin typeface="Work Sans" pitchFamily="34" charset="0"/>
                <a:ea typeface="Work Sans" pitchFamily="34" charset="-122"/>
                <a:cs typeface="Work Sans" pitchFamily="34" charset="-120"/>
              </a:rPr>
              <a:t>Query: SELECT → ResultSet (rs.next(), rs.getInt)</a:t>
            </a:r>
            <a:endParaRPr lang="en-US" sz="1300" dirty="0"/>
          </a:p>
        </p:txBody>
      </p:sp>
      <p:sp>
        <p:nvSpPr>
          <p:cNvPr id="7" name="Shape 5"/>
          <p:cNvSpPr/>
          <p:nvPr/>
        </p:nvSpPr>
        <p:spPr>
          <a:xfrm>
            <a:off x="6675120" y="1737360"/>
            <a:ext cx="4937760" cy="2542032"/>
          </a:xfrm>
          <a:prstGeom prst="roundRect">
            <a:avLst>
              <a:gd name="adj" fmla="val 2878"/>
            </a:avLst>
          </a:prstGeom>
          <a:solidFill>
            <a:srgbClr val="1B2736"/>
          </a:solidFill>
          <a:ln w="12700">
            <a:solidFill>
              <a:srgbClr val="2A3A4C"/>
            </a:solidFill>
            <a:prstDash val="solid"/>
          </a:ln>
        </p:spPr>
      </p:sp>
      <p:sp>
        <p:nvSpPr>
          <p:cNvPr id="8" name="Text 6"/>
          <p:cNvSpPr/>
          <p:nvPr/>
        </p:nvSpPr>
        <p:spPr>
          <a:xfrm>
            <a:off x="6812280" y="1810512"/>
            <a:ext cx="3840480" cy="256032"/>
          </a:xfrm>
          <a:prstGeom prst="rect">
            <a:avLst/>
          </a:prstGeom>
          <a:noFill/>
          <a:ln/>
        </p:spPr>
        <p:txBody>
          <a:bodyPr wrap="square" rtlCol="0" anchor="ctr"/>
          <a:lstStyle/>
          <a:p>
            <a:pPr indent="0" marL="0">
              <a:buNone/>
            </a:pPr>
            <a:r>
              <a:rPr lang="en-US" sz="1000" b="1" spc="100" kern="0" dirty="0">
                <a:solidFill>
                  <a:srgbClr val="6A7889"/>
                </a:solidFill>
                <a:latin typeface="JetBrains Mono" pitchFamily="34" charset="0"/>
                <a:ea typeface="JetBrains Mono" pitchFamily="34" charset="-122"/>
                <a:cs typeface="JetBrains Mono" pitchFamily="34" charset="-120"/>
              </a:rPr>
              <a:t>JDBC</a:t>
            </a:r>
            <a:endParaRPr lang="en-US" sz="1000" dirty="0"/>
          </a:p>
        </p:txBody>
      </p:sp>
      <p:sp>
        <p:nvSpPr>
          <p:cNvPr id="9" name="Text 7"/>
          <p:cNvSpPr/>
          <p:nvPr/>
        </p:nvSpPr>
        <p:spPr>
          <a:xfrm>
            <a:off x="6876288" y="2121408"/>
            <a:ext cx="4535424" cy="2020824"/>
          </a:xfrm>
          <a:prstGeom prst="rect">
            <a:avLst/>
          </a:prstGeom>
          <a:noFill/>
          <a:ln/>
        </p:spPr>
        <p:txBody>
          <a:bodyPr wrap="square" lIns="0" tIns="0" rIns="0" bIns="0" rtlCol="0" anchor="t"/>
          <a:lstStyle/>
          <a:p>
            <a:pPr indent="0" marL="0">
              <a:lnSpc>
                <a:spcPct val="98000"/>
              </a:lnSpc>
              <a:buNone/>
            </a:pPr>
            <a:r>
              <a:rPr lang="en-US" sz="1100" dirty="0">
                <a:solidFill>
                  <a:srgbClr val="E8963C"/>
                </a:solidFill>
                <a:latin typeface="JetBrains Mono" pitchFamily="34" charset="0"/>
                <a:ea typeface="JetBrains Mono" pitchFamily="34" charset="-122"/>
                <a:cs typeface="JetBrains Mono" pitchFamily="34" charset="-120"/>
              </a:rPr>
              <a:t>String</a:t>
            </a:r>
            <a:pPr indent="0" marL="0">
              <a:lnSpc>
                <a:spcPct val="98000"/>
              </a:lnSpc>
              <a:buNone/>
            </a:pPr>
            <a:r>
              <a:rPr lang="en-US" sz="11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00" dirty="0">
                <a:solidFill>
                  <a:srgbClr val="E8EEF4"/>
                </a:solidFill>
                <a:latin typeface="JetBrains Mono" pitchFamily="34" charset="0"/>
                <a:ea typeface="JetBrains Mono" pitchFamily="34" charset="-122"/>
                <a:cs typeface="JetBrains Mono" pitchFamily="34" charset="-120"/>
              </a:rPr>
              <a:t>url</a:t>
            </a:r>
            <a:pPr indent="0" marL="0">
              <a:lnSpc>
                <a:spcPct val="98000"/>
              </a:lnSpc>
              <a:buNone/>
            </a:pPr>
            <a:r>
              <a:rPr lang="en-US" sz="11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00" dirty="0">
                <a:solidFill>
                  <a:srgbClr val="C3CBD6"/>
                </a:solidFill>
                <a:latin typeface="JetBrains Mono" pitchFamily="34" charset="0"/>
                <a:ea typeface="JetBrains Mono" pitchFamily="34" charset="-122"/>
                <a:cs typeface="JetBrains Mono" pitchFamily="34" charset="-120"/>
              </a:rPr>
              <a:t>=</a:t>
            </a:r>
            <a:endParaRPr lang="en-US" sz="1100" dirty="0"/>
          </a:p>
          <a:p>
            <a:pPr indent="0" marL="0">
              <a:lnSpc>
                <a:spcPct val="98000"/>
              </a:lnSpc>
              <a:buNone/>
            </a:pPr>
            <a:r>
              <a:rPr lang="en-US" sz="11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00" dirty="0">
                <a:solidFill>
                  <a:srgbClr val="8FCB6B"/>
                </a:solidFill>
                <a:latin typeface="JetBrains Mono" pitchFamily="34" charset="0"/>
                <a:ea typeface="JetBrains Mono" pitchFamily="34" charset="-122"/>
                <a:cs typeface="JetBrains Mono" pitchFamily="34" charset="-120"/>
              </a:rPr>
              <a:t>"jdbc:postgresql://localhost:5432/shkolla"</a:t>
            </a:r>
            <a:pPr indent="0" marL="0">
              <a:lnSpc>
                <a:spcPct val="98000"/>
              </a:lnSpc>
              <a:buNone/>
            </a:pPr>
            <a:r>
              <a:rPr lang="en-US" sz="1100" dirty="0">
                <a:solidFill>
                  <a:srgbClr val="C3CBD6"/>
                </a:solidFill>
                <a:latin typeface="JetBrains Mono" pitchFamily="34" charset="0"/>
                <a:ea typeface="JetBrains Mono" pitchFamily="34" charset="-122"/>
                <a:cs typeface="JetBrains Mono" pitchFamily="34" charset="-120"/>
              </a:rPr>
              <a:t>;</a:t>
            </a:r>
            <a:endParaRPr lang="en-US" sz="1100" dirty="0"/>
          </a:p>
          <a:p>
            <a:pPr indent="0" marL="0">
              <a:lnSpc>
                <a:spcPct val="98000"/>
              </a:lnSpc>
              <a:buNone/>
            </a:pPr>
            <a:r>
              <a:rPr lang="en-US" sz="1100" dirty="0">
                <a:solidFill>
                  <a:srgbClr val="5FB3E0"/>
                </a:solidFill>
                <a:latin typeface="JetBrains Mono" pitchFamily="34" charset="0"/>
                <a:ea typeface="JetBrains Mono" pitchFamily="34" charset="-122"/>
                <a:cs typeface="JetBrains Mono" pitchFamily="34" charset="-120"/>
              </a:rPr>
              <a:t>Connection</a:t>
            </a:r>
            <a:pPr indent="0" marL="0">
              <a:lnSpc>
                <a:spcPct val="98000"/>
              </a:lnSpc>
              <a:buNone/>
            </a:pPr>
            <a:r>
              <a:rPr lang="en-US" sz="11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00" dirty="0">
                <a:solidFill>
                  <a:srgbClr val="E8EEF4"/>
                </a:solidFill>
                <a:latin typeface="JetBrains Mono" pitchFamily="34" charset="0"/>
                <a:ea typeface="JetBrains Mono" pitchFamily="34" charset="-122"/>
                <a:cs typeface="JetBrains Mono" pitchFamily="34" charset="-120"/>
              </a:rPr>
              <a:t>c</a:t>
            </a:r>
            <a:pPr indent="0" marL="0">
              <a:lnSpc>
                <a:spcPct val="98000"/>
              </a:lnSpc>
              <a:buNone/>
            </a:pPr>
            <a:r>
              <a:rPr lang="en-US" sz="11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00" dirty="0">
                <a:solidFill>
                  <a:srgbClr val="C3CBD6"/>
                </a:solidFill>
                <a:latin typeface="JetBrains Mono" pitchFamily="34" charset="0"/>
                <a:ea typeface="JetBrains Mono" pitchFamily="34" charset="-122"/>
                <a:cs typeface="JetBrains Mono" pitchFamily="34" charset="-120"/>
              </a:rPr>
              <a:t>=</a:t>
            </a:r>
            <a:endParaRPr lang="en-US" sz="1100" dirty="0"/>
          </a:p>
          <a:p>
            <a:pPr indent="0" marL="0">
              <a:lnSpc>
                <a:spcPct val="98000"/>
              </a:lnSpc>
              <a:buNone/>
            </a:pPr>
            <a:r>
              <a:rPr lang="en-US" sz="11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00" dirty="0">
                <a:solidFill>
                  <a:srgbClr val="5FB3E0"/>
                </a:solidFill>
                <a:latin typeface="JetBrains Mono" pitchFamily="34" charset="0"/>
                <a:ea typeface="JetBrains Mono" pitchFamily="34" charset="-122"/>
                <a:cs typeface="JetBrains Mono" pitchFamily="34" charset="-120"/>
              </a:rPr>
              <a:t>DriverManager</a:t>
            </a:r>
            <a:pPr indent="0" marL="0">
              <a:lnSpc>
                <a:spcPct val="98000"/>
              </a:lnSpc>
              <a:buNone/>
            </a:pPr>
            <a:r>
              <a:rPr lang="en-US" sz="11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00" dirty="0">
                <a:solidFill>
                  <a:srgbClr val="E8EEF4"/>
                </a:solidFill>
                <a:latin typeface="JetBrains Mono" pitchFamily="34" charset="0"/>
                <a:ea typeface="JetBrains Mono" pitchFamily="34" charset="-122"/>
                <a:cs typeface="JetBrains Mono" pitchFamily="34" charset="-120"/>
              </a:rPr>
              <a:t>getConnection</a:t>
            </a:r>
            <a:pPr indent="0" marL="0">
              <a:lnSpc>
                <a:spcPct val="98000"/>
              </a:lnSpc>
              <a:buNone/>
            </a:pPr>
            <a:r>
              <a:rPr lang="en-US" sz="11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00" dirty="0">
                <a:solidFill>
                  <a:srgbClr val="E8EEF4"/>
                </a:solidFill>
                <a:latin typeface="JetBrains Mono" pitchFamily="34" charset="0"/>
                <a:ea typeface="JetBrains Mono" pitchFamily="34" charset="-122"/>
                <a:cs typeface="JetBrains Mono" pitchFamily="34" charset="-120"/>
              </a:rPr>
              <a:t>url</a:t>
            </a:r>
            <a:pPr indent="0" marL="0">
              <a:lnSpc>
                <a:spcPct val="98000"/>
              </a:lnSpc>
              <a:buNone/>
            </a:pPr>
            <a:r>
              <a:rPr lang="en-US" sz="11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00" dirty="0">
                <a:solidFill>
                  <a:srgbClr val="E8EEF4"/>
                </a:solidFill>
                <a:latin typeface="JetBrains Mono" pitchFamily="34" charset="0"/>
                <a:ea typeface="JetBrains Mono" pitchFamily="34" charset="-122"/>
                <a:cs typeface="JetBrains Mono" pitchFamily="34" charset="-120"/>
              </a:rPr>
              <a:t>u</a:t>
            </a:r>
            <a:pPr indent="0" marL="0">
              <a:lnSpc>
                <a:spcPct val="98000"/>
              </a:lnSpc>
              <a:buNone/>
            </a:pPr>
            <a:r>
              <a:rPr lang="en-US" sz="11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00" dirty="0">
                <a:solidFill>
                  <a:srgbClr val="E8EEF4"/>
                </a:solidFill>
                <a:latin typeface="JetBrains Mono" pitchFamily="34" charset="0"/>
                <a:ea typeface="JetBrains Mono" pitchFamily="34" charset="-122"/>
                <a:cs typeface="JetBrains Mono" pitchFamily="34" charset="-120"/>
              </a:rPr>
              <a:t>p</a:t>
            </a:r>
            <a:pPr indent="0" marL="0">
              <a:lnSpc>
                <a:spcPct val="98000"/>
              </a:lnSpc>
              <a:buNone/>
            </a:pPr>
            <a:r>
              <a:rPr lang="en-US" sz="11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00" dirty="0">
                <a:solidFill>
                  <a:srgbClr val="C3CBD6"/>
                </a:solidFill>
                <a:latin typeface="JetBrains Mono" pitchFamily="34" charset="0"/>
                <a:ea typeface="JetBrains Mono" pitchFamily="34" charset="-122"/>
                <a:cs typeface="JetBrains Mono" pitchFamily="34" charset="-120"/>
              </a:rPr>
              <a:t>;</a:t>
            </a:r>
            <a:endParaRPr lang="en-US" sz="1100" dirty="0"/>
          </a:p>
          <a:p>
            <a:pPr indent="0" marL="0">
              <a:lnSpc>
                <a:spcPct val="98000"/>
              </a:lnSpc>
              <a:buNone/>
            </a:pPr>
            <a:r>
              <a:rPr lang="en-US" sz="1100" dirty="0">
                <a:solidFill>
                  <a:srgbClr val="5FB3E0"/>
                </a:solidFill>
                <a:latin typeface="JetBrains Mono" pitchFamily="34" charset="0"/>
                <a:ea typeface="JetBrains Mono" pitchFamily="34" charset="-122"/>
                <a:cs typeface="JetBrains Mono" pitchFamily="34" charset="-120"/>
              </a:rPr>
              <a:t>ResultSet</a:t>
            </a:r>
            <a:pPr indent="0" marL="0">
              <a:lnSpc>
                <a:spcPct val="98000"/>
              </a:lnSpc>
              <a:buNone/>
            </a:pPr>
            <a:r>
              <a:rPr lang="en-US" sz="11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00" dirty="0">
                <a:solidFill>
                  <a:srgbClr val="E8EEF4"/>
                </a:solidFill>
                <a:latin typeface="JetBrains Mono" pitchFamily="34" charset="0"/>
                <a:ea typeface="JetBrains Mono" pitchFamily="34" charset="-122"/>
                <a:cs typeface="JetBrains Mono" pitchFamily="34" charset="-120"/>
              </a:rPr>
              <a:t>rs</a:t>
            </a:r>
            <a:pPr indent="0" marL="0">
              <a:lnSpc>
                <a:spcPct val="98000"/>
              </a:lnSpc>
              <a:buNone/>
            </a:pPr>
            <a:r>
              <a:rPr lang="en-US" sz="11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00" dirty="0">
                <a:solidFill>
                  <a:srgbClr val="E8EEF4"/>
                </a:solidFill>
                <a:latin typeface="JetBrains Mono" pitchFamily="34" charset="0"/>
                <a:ea typeface="JetBrains Mono" pitchFamily="34" charset="-122"/>
                <a:cs typeface="JetBrains Mono" pitchFamily="34" charset="-120"/>
              </a:rPr>
              <a:t>st</a:t>
            </a:r>
            <a:pPr indent="0" marL="0">
              <a:lnSpc>
                <a:spcPct val="98000"/>
              </a:lnSpc>
              <a:buNone/>
            </a:pPr>
            <a:r>
              <a:rPr lang="en-US" sz="11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00" dirty="0">
                <a:solidFill>
                  <a:srgbClr val="E8EEF4"/>
                </a:solidFill>
                <a:latin typeface="JetBrains Mono" pitchFamily="34" charset="0"/>
                <a:ea typeface="JetBrains Mono" pitchFamily="34" charset="-122"/>
                <a:cs typeface="JetBrains Mono" pitchFamily="34" charset="-120"/>
              </a:rPr>
              <a:t>executeQuery</a:t>
            </a:r>
            <a:pPr indent="0" marL="0">
              <a:lnSpc>
                <a:spcPct val="98000"/>
              </a:lnSpc>
              <a:buNone/>
            </a:pPr>
            <a:r>
              <a:rPr lang="en-US" sz="1100" dirty="0">
                <a:solidFill>
                  <a:srgbClr val="C3CBD6"/>
                </a:solidFill>
                <a:latin typeface="JetBrains Mono" pitchFamily="34" charset="0"/>
                <a:ea typeface="JetBrains Mono" pitchFamily="34" charset="-122"/>
                <a:cs typeface="JetBrains Mono" pitchFamily="34" charset="-120"/>
              </a:rPr>
              <a:t>(</a:t>
            </a:r>
            <a:endParaRPr lang="en-US" sz="1100" dirty="0"/>
          </a:p>
          <a:p>
            <a:pPr indent="0" marL="0">
              <a:lnSpc>
                <a:spcPct val="98000"/>
              </a:lnSpc>
              <a:buNone/>
            </a:pPr>
            <a:r>
              <a:rPr lang="en-US" sz="11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00" dirty="0">
                <a:solidFill>
                  <a:srgbClr val="8FCB6B"/>
                </a:solidFill>
                <a:latin typeface="JetBrains Mono" pitchFamily="34" charset="0"/>
                <a:ea typeface="JetBrains Mono" pitchFamily="34" charset="-122"/>
                <a:cs typeface="JetBrains Mono" pitchFamily="34" charset="-120"/>
              </a:rPr>
              <a:t>"SELECT * FROM studentet"</a:t>
            </a:r>
            <a:pPr indent="0" marL="0">
              <a:lnSpc>
                <a:spcPct val="98000"/>
              </a:lnSpc>
              <a:buNone/>
            </a:pPr>
            <a:r>
              <a:rPr lang="en-US" sz="11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00" dirty="0">
                <a:solidFill>
                  <a:srgbClr val="C3CBD6"/>
                </a:solidFill>
                <a:latin typeface="JetBrains Mono" pitchFamily="34" charset="0"/>
                <a:ea typeface="JetBrains Mono" pitchFamily="34" charset="-122"/>
                <a:cs typeface="JetBrains Mono" pitchFamily="34" charset="-120"/>
              </a:rPr>
              <a:t>;</a:t>
            </a:r>
            <a:endParaRPr lang="en-US" sz="1100" dirty="0"/>
          </a:p>
          <a:p>
            <a:pPr indent="0" marL="0">
              <a:lnSpc>
                <a:spcPct val="98000"/>
              </a:lnSpc>
              <a:buNone/>
            </a:pPr>
            <a:r>
              <a:rPr lang="en-US" sz="1100" dirty="0">
                <a:solidFill>
                  <a:srgbClr val="E8963C"/>
                </a:solidFill>
                <a:latin typeface="JetBrains Mono" pitchFamily="34" charset="0"/>
                <a:ea typeface="JetBrains Mono" pitchFamily="34" charset="-122"/>
                <a:cs typeface="JetBrains Mono" pitchFamily="34" charset="-120"/>
              </a:rPr>
              <a:t>while</a:t>
            </a:r>
            <a:pPr indent="0" marL="0">
              <a:lnSpc>
                <a:spcPct val="98000"/>
              </a:lnSpc>
              <a:buNone/>
            </a:pPr>
            <a:r>
              <a:rPr lang="en-US" sz="11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00" dirty="0">
                <a:solidFill>
                  <a:srgbClr val="E8EEF4"/>
                </a:solidFill>
                <a:latin typeface="JetBrains Mono" pitchFamily="34" charset="0"/>
                <a:ea typeface="JetBrains Mono" pitchFamily="34" charset="-122"/>
                <a:cs typeface="JetBrains Mono" pitchFamily="34" charset="-120"/>
              </a:rPr>
              <a:t>rs</a:t>
            </a:r>
            <a:pPr indent="0" marL="0">
              <a:lnSpc>
                <a:spcPct val="98000"/>
              </a:lnSpc>
              <a:buNone/>
            </a:pPr>
            <a:r>
              <a:rPr lang="en-US" sz="11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00" dirty="0">
                <a:solidFill>
                  <a:srgbClr val="E8EEF4"/>
                </a:solidFill>
                <a:latin typeface="JetBrains Mono" pitchFamily="34" charset="0"/>
                <a:ea typeface="JetBrains Mono" pitchFamily="34" charset="-122"/>
                <a:cs typeface="JetBrains Mono" pitchFamily="34" charset="-120"/>
              </a:rPr>
              <a:t>next</a:t>
            </a:r>
            <a:pPr indent="0" marL="0">
              <a:lnSpc>
                <a:spcPct val="98000"/>
              </a:lnSpc>
              <a:buNone/>
            </a:pPr>
            <a:r>
              <a:rPr lang="en-US" sz="11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00" dirty="0">
                <a:solidFill>
                  <a:srgbClr val="C3CBD6"/>
                </a:solidFill>
                <a:latin typeface="JetBrains Mono" pitchFamily="34" charset="0"/>
                <a:ea typeface="JetBrains Mono" pitchFamily="34" charset="-122"/>
                <a:cs typeface="JetBrains Mono" pitchFamily="34" charset="-120"/>
              </a:rPr>
              <a:t>)</a:t>
            </a:r>
            <a:endParaRPr lang="en-US" sz="1100" dirty="0"/>
          </a:p>
          <a:p>
            <a:pPr indent="0" marL="0">
              <a:lnSpc>
                <a:spcPct val="98000"/>
              </a:lnSpc>
              <a:buNone/>
            </a:pPr>
            <a:r>
              <a:rPr lang="en-US" sz="11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00" dirty="0">
                <a:solidFill>
                  <a:srgbClr val="E8EEF4"/>
                </a:solidFill>
                <a:latin typeface="JetBrains Mono" pitchFamily="34" charset="0"/>
                <a:ea typeface="JetBrains Mono" pitchFamily="34" charset="-122"/>
                <a:cs typeface="JetBrains Mono" pitchFamily="34" charset="-120"/>
              </a:rPr>
              <a:t>println</a:t>
            </a:r>
            <a:pPr indent="0" marL="0">
              <a:lnSpc>
                <a:spcPct val="98000"/>
              </a:lnSpc>
              <a:buNone/>
            </a:pPr>
            <a:r>
              <a:rPr lang="en-US" sz="11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00" dirty="0">
                <a:solidFill>
                  <a:srgbClr val="E8EEF4"/>
                </a:solidFill>
                <a:latin typeface="JetBrains Mono" pitchFamily="34" charset="0"/>
                <a:ea typeface="JetBrains Mono" pitchFamily="34" charset="-122"/>
                <a:cs typeface="JetBrains Mono" pitchFamily="34" charset="-120"/>
              </a:rPr>
              <a:t>rs</a:t>
            </a:r>
            <a:pPr indent="0" marL="0">
              <a:lnSpc>
                <a:spcPct val="98000"/>
              </a:lnSpc>
              <a:buNone/>
            </a:pPr>
            <a:r>
              <a:rPr lang="en-US" sz="11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00" dirty="0">
                <a:solidFill>
                  <a:srgbClr val="E8EEF4"/>
                </a:solidFill>
                <a:latin typeface="JetBrains Mono" pitchFamily="34" charset="0"/>
                <a:ea typeface="JetBrains Mono" pitchFamily="34" charset="-122"/>
                <a:cs typeface="JetBrains Mono" pitchFamily="34" charset="-120"/>
              </a:rPr>
              <a:t>getString</a:t>
            </a:r>
            <a:pPr indent="0" marL="0">
              <a:lnSpc>
                <a:spcPct val="98000"/>
              </a:lnSpc>
              <a:buNone/>
            </a:pPr>
            <a:r>
              <a:rPr lang="en-US" sz="11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00" dirty="0">
                <a:solidFill>
                  <a:srgbClr val="8FCB6B"/>
                </a:solidFill>
                <a:latin typeface="JetBrains Mono" pitchFamily="34" charset="0"/>
                <a:ea typeface="JetBrains Mono" pitchFamily="34" charset="-122"/>
                <a:cs typeface="JetBrains Mono" pitchFamily="34" charset="-120"/>
              </a:rPr>
              <a:t>"emri"</a:t>
            </a:r>
            <a:pPr indent="0" marL="0">
              <a:lnSpc>
                <a:spcPct val="98000"/>
              </a:lnSpc>
              <a:buNone/>
            </a:pPr>
            <a:r>
              <a:rPr lang="en-US" sz="11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00" dirty="0">
                <a:solidFill>
                  <a:srgbClr val="C3CBD6"/>
                </a:solidFill>
                <a:latin typeface="JetBrains Mono" pitchFamily="34" charset="0"/>
                <a:ea typeface="JetBrains Mono" pitchFamily="34" charset="-122"/>
                <a:cs typeface="JetBrains Mono" pitchFamily="34" charset="-120"/>
              </a:rPr>
              <a:t>;</a:t>
            </a:r>
            <a:endParaRPr lang="en-US" sz="1100" dirty="0"/>
          </a:p>
        </p:txBody>
      </p:sp>
      <p:sp>
        <p:nvSpPr>
          <p:cNvPr id="10" name="Shape 8"/>
          <p:cNvSpPr/>
          <p:nvPr/>
        </p:nvSpPr>
        <p:spPr>
          <a:xfrm>
            <a:off x="6675120" y="4526280"/>
            <a:ext cx="4937760" cy="1325880"/>
          </a:xfrm>
          <a:prstGeom prst="roundRect">
            <a:avLst>
              <a:gd name="adj" fmla="val 6897"/>
            </a:avLst>
          </a:prstGeom>
          <a:solidFill>
            <a:srgbClr val="142033"/>
          </a:solidFill>
          <a:ln/>
        </p:spPr>
      </p:sp>
      <p:sp>
        <p:nvSpPr>
          <p:cNvPr id="11" name="Text 9"/>
          <p:cNvSpPr/>
          <p:nvPr/>
        </p:nvSpPr>
        <p:spPr>
          <a:xfrm>
            <a:off x="6858000" y="4617720"/>
            <a:ext cx="4572000" cy="320040"/>
          </a:xfrm>
          <a:prstGeom prst="rect">
            <a:avLst/>
          </a:prstGeom>
          <a:noFill/>
          <a:ln/>
        </p:spPr>
        <p:txBody>
          <a:bodyPr wrap="square" rtlCol="0" anchor="ctr"/>
          <a:lstStyle/>
          <a:p>
            <a:pPr indent="0" marL="0">
              <a:buNone/>
            </a:pPr>
            <a:r>
              <a:rPr lang="en-US" sz="1200" b="1" dirty="0">
                <a:solidFill>
                  <a:srgbClr val="F6A63B"/>
                </a:solidFill>
                <a:latin typeface="Poppins" pitchFamily="34" charset="0"/>
                <a:ea typeface="Poppins" pitchFamily="34" charset="-122"/>
                <a:cs typeface="Poppins" pitchFamily="34" charset="-120"/>
              </a:rPr>
              <a:t>Oracle vs PostgreSQL (URL):</a:t>
            </a:r>
            <a:endParaRPr lang="en-US" sz="1200" dirty="0"/>
          </a:p>
        </p:txBody>
      </p:sp>
      <p:sp>
        <p:nvSpPr>
          <p:cNvPr id="12" name="Text 10"/>
          <p:cNvSpPr/>
          <p:nvPr/>
        </p:nvSpPr>
        <p:spPr>
          <a:xfrm>
            <a:off x="6858000" y="4956048"/>
            <a:ext cx="4617720" cy="868680"/>
          </a:xfrm>
          <a:prstGeom prst="rect">
            <a:avLst/>
          </a:prstGeom>
          <a:noFill/>
          <a:ln/>
        </p:spPr>
        <p:txBody>
          <a:bodyPr wrap="square" rtlCol="0" anchor="t"/>
          <a:lstStyle/>
          <a:p>
            <a:pPr indent="0" marL="0">
              <a:buNone/>
            </a:pPr>
            <a:r>
              <a:rPr lang="en-US" sz="1050" b="1" dirty="0">
                <a:solidFill>
                  <a:srgbClr val="F6A63B"/>
                </a:solidFill>
                <a:latin typeface="Work Sans" pitchFamily="34" charset="0"/>
                <a:ea typeface="Work Sans" pitchFamily="34" charset="-122"/>
                <a:cs typeface="Work Sans" pitchFamily="34" charset="-120"/>
              </a:rPr>
              <a:t>Oracle: </a:t>
            </a:r>
            <a:pPr indent="0" marL="0">
              <a:buNone/>
            </a:pPr>
            <a:r>
              <a:rPr lang="en-US" sz="1000" dirty="0">
                <a:solidFill>
                  <a:srgbClr val="DBE2EA"/>
                </a:solidFill>
                <a:latin typeface="JetBrains Mono" pitchFamily="34" charset="0"/>
                <a:ea typeface="JetBrains Mono" pitchFamily="34" charset="-122"/>
                <a:cs typeface="JetBrains Mono" pitchFamily="34" charset="-120"/>
              </a:rPr>
              <a:t>jdbc:oracle:thin:@//host:1521/XEPDB1
</a:t>
            </a:r>
            <a:pPr indent="0" marL="0">
              <a:buNone/>
            </a:pPr>
            <a:r>
              <a:rPr lang="en-US" sz="1050" b="1" dirty="0">
                <a:solidFill>
                  <a:srgbClr val="F6A63B"/>
                </a:solidFill>
                <a:latin typeface="Work Sans" pitchFamily="34" charset="0"/>
                <a:ea typeface="Work Sans" pitchFamily="34" charset="-122"/>
                <a:cs typeface="Work Sans" pitchFamily="34" charset="-120"/>
              </a:rPr>
              <a:t>Postgres: </a:t>
            </a:r>
            <a:pPr indent="0" marL="0">
              <a:buNone/>
            </a:pPr>
            <a:r>
              <a:rPr lang="en-US" sz="1000" dirty="0">
                <a:solidFill>
                  <a:srgbClr val="DBE2EA"/>
                </a:solidFill>
                <a:latin typeface="JetBrains Mono" pitchFamily="34" charset="0"/>
                <a:ea typeface="JetBrains Mono" pitchFamily="34" charset="-122"/>
                <a:cs typeface="JetBrains Mono" pitchFamily="34" charset="-120"/>
              </a:rPr>
              <a:t>jdbc:postgresql://host:5432/db</a:t>
            </a:r>
            <a:endParaRPr lang="en-US" sz="1050" dirty="0"/>
          </a:p>
        </p:txBody>
      </p:sp>
      <p:sp>
        <p:nvSpPr>
          <p:cNvPr id="13" name="Text 11"/>
          <p:cNvSpPr/>
          <p:nvPr/>
        </p:nvSpPr>
        <p:spPr>
          <a:xfrm>
            <a:off x="11612880" y="6400800"/>
            <a:ext cx="457200" cy="274320"/>
          </a:xfrm>
          <a:prstGeom prst="rect">
            <a:avLst/>
          </a:prstGeom>
          <a:noFill/>
          <a:ln/>
        </p:spPr>
        <p:txBody>
          <a:bodyPr wrap="square" rtlCol="0" anchor="ctr"/>
          <a:lstStyle/>
          <a:p>
            <a:pPr algn="r" indent="0" marL="0">
              <a:buNone/>
            </a:pPr>
            <a:r>
              <a:rPr lang="en-US" sz="1100" dirty="0">
                <a:solidFill>
                  <a:srgbClr val="6A7889"/>
                </a:solidFill>
                <a:latin typeface="Work Sans" pitchFamily="34" charset="0"/>
                <a:ea typeface="Work Sans" pitchFamily="34" charset="-122"/>
                <a:cs typeface="Work Sans"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203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2033"/>
          </a:solidFill>
          <a:ln/>
        </p:spPr>
      </p:sp>
      <p:sp>
        <p:nvSpPr>
          <p:cNvPr id="3" name="Text 1"/>
          <p:cNvSpPr/>
          <p:nvPr/>
        </p:nvSpPr>
        <p:spPr>
          <a:xfrm>
            <a:off x="548640" y="320040"/>
            <a:ext cx="10972800" cy="274320"/>
          </a:xfrm>
          <a:prstGeom prst="rect">
            <a:avLst/>
          </a:prstGeom>
          <a:noFill/>
          <a:ln/>
        </p:spPr>
        <p:txBody>
          <a:bodyPr wrap="square" rtlCol="0" anchor="ctr"/>
          <a:lstStyle/>
          <a:p>
            <a:pPr indent="0" marL="0">
              <a:buNone/>
            </a:pPr>
            <a:r>
              <a:rPr lang="en-US" sz="1200" b="1" spc="200" kern="0" dirty="0">
                <a:solidFill>
                  <a:srgbClr val="F6A63B"/>
                </a:solidFill>
                <a:latin typeface="Poppins" pitchFamily="34" charset="0"/>
                <a:ea typeface="Poppins" pitchFamily="34" charset="-122"/>
                <a:cs typeface="Poppins" pitchFamily="34" charset="-120"/>
              </a:rPr>
              <a:t>PËR PROVIMIN</a:t>
            </a:r>
            <a:endParaRPr lang="en-US" sz="1200" dirty="0"/>
          </a:p>
        </p:txBody>
      </p:sp>
      <p:sp>
        <p:nvSpPr>
          <p:cNvPr id="4" name="Text 2"/>
          <p:cNvSpPr/>
          <p:nvPr/>
        </p:nvSpPr>
        <p:spPr>
          <a:xfrm>
            <a:off x="548640" y="621792"/>
            <a:ext cx="11064240" cy="658368"/>
          </a:xfrm>
          <a:prstGeom prst="rect">
            <a:avLst/>
          </a:prstGeom>
          <a:noFill/>
          <a:ln/>
        </p:spPr>
        <p:txBody>
          <a:bodyPr wrap="square" rtlCol="0" anchor="ctr"/>
          <a:lstStyle/>
          <a:p>
            <a:pPr indent="0" marL="0">
              <a:buNone/>
            </a:pPr>
            <a:r>
              <a:rPr lang="en-US" sz="2800" b="1" dirty="0">
                <a:solidFill>
                  <a:srgbClr val="FFFFFF"/>
                </a:solidFill>
                <a:latin typeface="Poppins" pitchFamily="34" charset="0"/>
                <a:ea typeface="Poppins" pitchFamily="34" charset="-122"/>
                <a:cs typeface="Poppins" pitchFamily="34" charset="-120"/>
              </a:rPr>
              <a:t>Lista e kontrollit — më e rëndësishmja</a:t>
            </a:r>
            <a:endParaRPr lang="en-US" sz="2800" dirty="0"/>
          </a:p>
        </p:txBody>
      </p:sp>
      <p:pic>
        <p:nvPicPr>
          <p:cNvPr id="5" name="Image 0" descr="preencoded.png">    </p:cNvPr>
          <p:cNvPicPr>
            <a:picLocks noChangeAspect="1"/>
          </p:cNvPicPr>
          <p:nvPr/>
        </p:nvPicPr>
        <p:blipFill>
          <a:blip r:embed="rId1"/>
          <a:stretch>
            <a:fillRect/>
          </a:stretch>
        </p:blipFill>
        <p:spPr>
          <a:xfrm>
            <a:off x="10332720" y="502920"/>
            <a:ext cx="1005840" cy="1005840"/>
          </a:xfrm>
          <a:prstGeom prst="rect">
            <a:avLst/>
          </a:prstGeom>
        </p:spPr>
      </p:pic>
      <p:sp>
        <p:nvSpPr>
          <p:cNvPr id="6" name="Shape 3"/>
          <p:cNvSpPr/>
          <p:nvPr/>
        </p:nvSpPr>
        <p:spPr>
          <a:xfrm>
            <a:off x="548640" y="1737360"/>
            <a:ext cx="5349240" cy="658368"/>
          </a:xfrm>
          <a:prstGeom prst="roundRect">
            <a:avLst>
              <a:gd name="adj" fmla="val 11111"/>
            </a:avLst>
          </a:prstGeom>
          <a:solidFill>
            <a:srgbClr val="1E3050"/>
          </a:solidFill>
          <a:ln w="12700">
            <a:solidFill>
              <a:srgbClr val="2E4568"/>
            </a:solidFill>
            <a:prstDash val="solid"/>
          </a:ln>
        </p:spPr>
      </p:sp>
      <p:sp>
        <p:nvSpPr>
          <p:cNvPr id="7" name="Shape 4"/>
          <p:cNvSpPr/>
          <p:nvPr/>
        </p:nvSpPr>
        <p:spPr>
          <a:xfrm>
            <a:off x="731520" y="1920240"/>
            <a:ext cx="292608" cy="292608"/>
          </a:xfrm>
          <a:prstGeom prst="ellipse">
            <a:avLst/>
          </a:prstGeom>
          <a:solidFill>
            <a:srgbClr val="3FB57A"/>
          </a:solidFill>
          <a:ln/>
        </p:spPr>
      </p:sp>
      <p:pic>
        <p:nvPicPr>
          <p:cNvPr id="8" name="Image 1" descr="preencoded.png">    </p:cNvPr>
          <p:cNvPicPr>
            <a:picLocks noChangeAspect="1"/>
          </p:cNvPicPr>
          <p:nvPr/>
        </p:nvPicPr>
        <p:blipFill>
          <a:blip r:embed="rId2"/>
          <a:stretch>
            <a:fillRect/>
          </a:stretch>
        </p:blipFill>
        <p:spPr>
          <a:xfrm>
            <a:off x="795528" y="1984248"/>
            <a:ext cx="164592" cy="164592"/>
          </a:xfrm>
          <a:prstGeom prst="rect">
            <a:avLst/>
          </a:prstGeom>
        </p:spPr>
      </p:pic>
      <p:sp>
        <p:nvSpPr>
          <p:cNvPr id="9" name="Text 5"/>
          <p:cNvSpPr/>
          <p:nvPr/>
        </p:nvSpPr>
        <p:spPr>
          <a:xfrm>
            <a:off x="1188720" y="1737360"/>
            <a:ext cx="4617720" cy="658368"/>
          </a:xfrm>
          <a:prstGeom prst="rect">
            <a:avLst/>
          </a:prstGeom>
          <a:noFill/>
          <a:ln/>
        </p:spPr>
        <p:txBody>
          <a:bodyPr wrap="square" rtlCol="0" anchor="ctr"/>
          <a:lstStyle/>
          <a:p>
            <a:pPr indent="0" marL="0">
              <a:buNone/>
            </a:pPr>
            <a:r>
              <a:rPr lang="en-US" sz="1250" b="1" dirty="0">
                <a:solidFill>
                  <a:srgbClr val="FFFFFF"/>
                </a:solidFill>
                <a:latin typeface="Work Sans" pitchFamily="34" charset="0"/>
                <a:ea typeface="Work Sans" pitchFamily="34" charset="-122"/>
                <a:cs typeface="Work Sans" pitchFamily="34" charset="-120"/>
              </a:rPr>
              <a:t>Dallimi klasë abstrakte ↔ interface</a:t>
            </a:r>
            <a:endParaRPr lang="en-US" sz="1250" dirty="0"/>
          </a:p>
        </p:txBody>
      </p:sp>
      <p:sp>
        <p:nvSpPr>
          <p:cNvPr id="10" name="Shape 6"/>
          <p:cNvSpPr/>
          <p:nvPr/>
        </p:nvSpPr>
        <p:spPr>
          <a:xfrm>
            <a:off x="548640" y="2487168"/>
            <a:ext cx="5349240" cy="658368"/>
          </a:xfrm>
          <a:prstGeom prst="roundRect">
            <a:avLst>
              <a:gd name="adj" fmla="val 11111"/>
            </a:avLst>
          </a:prstGeom>
          <a:solidFill>
            <a:srgbClr val="1E3050"/>
          </a:solidFill>
          <a:ln w="12700">
            <a:solidFill>
              <a:srgbClr val="2E4568"/>
            </a:solidFill>
            <a:prstDash val="solid"/>
          </a:ln>
        </p:spPr>
      </p:sp>
      <p:sp>
        <p:nvSpPr>
          <p:cNvPr id="11" name="Shape 7"/>
          <p:cNvSpPr/>
          <p:nvPr/>
        </p:nvSpPr>
        <p:spPr>
          <a:xfrm>
            <a:off x="731520" y="2670048"/>
            <a:ext cx="292608" cy="292608"/>
          </a:xfrm>
          <a:prstGeom prst="ellipse">
            <a:avLst/>
          </a:prstGeom>
          <a:solidFill>
            <a:srgbClr val="3FB57A"/>
          </a:solidFill>
          <a:ln/>
        </p:spPr>
      </p:sp>
      <p:pic>
        <p:nvPicPr>
          <p:cNvPr id="12" name="Image 2" descr="preencoded.png">    </p:cNvPr>
          <p:cNvPicPr>
            <a:picLocks noChangeAspect="1"/>
          </p:cNvPicPr>
          <p:nvPr/>
        </p:nvPicPr>
        <p:blipFill>
          <a:blip r:embed="rId3"/>
          <a:stretch>
            <a:fillRect/>
          </a:stretch>
        </p:blipFill>
        <p:spPr>
          <a:xfrm>
            <a:off x="795528" y="2734056"/>
            <a:ext cx="164592" cy="164592"/>
          </a:xfrm>
          <a:prstGeom prst="rect">
            <a:avLst/>
          </a:prstGeom>
        </p:spPr>
      </p:pic>
      <p:sp>
        <p:nvSpPr>
          <p:cNvPr id="13" name="Text 8"/>
          <p:cNvSpPr/>
          <p:nvPr/>
        </p:nvSpPr>
        <p:spPr>
          <a:xfrm>
            <a:off x="1188720" y="2487168"/>
            <a:ext cx="4617720" cy="658368"/>
          </a:xfrm>
          <a:prstGeom prst="rect">
            <a:avLst/>
          </a:prstGeom>
          <a:noFill/>
          <a:ln/>
        </p:spPr>
        <p:txBody>
          <a:bodyPr wrap="square" rtlCol="0" anchor="ctr"/>
          <a:lstStyle/>
          <a:p>
            <a:pPr indent="0" marL="0">
              <a:buNone/>
            </a:pPr>
            <a:r>
              <a:rPr lang="en-US" sz="1250" b="1" dirty="0">
                <a:solidFill>
                  <a:srgbClr val="FFFFFF"/>
                </a:solidFill>
                <a:latin typeface="Work Sans" pitchFamily="34" charset="0"/>
                <a:ea typeface="Work Sans" pitchFamily="34" charset="-122"/>
                <a:cs typeface="Work Sans" pitchFamily="34" charset="-120"/>
              </a:rPr>
              <a:t>Override kundrejt overload</a:t>
            </a:r>
            <a:endParaRPr lang="en-US" sz="1250" dirty="0"/>
          </a:p>
        </p:txBody>
      </p:sp>
      <p:sp>
        <p:nvSpPr>
          <p:cNvPr id="14" name="Shape 9"/>
          <p:cNvSpPr/>
          <p:nvPr/>
        </p:nvSpPr>
        <p:spPr>
          <a:xfrm>
            <a:off x="548640" y="3236976"/>
            <a:ext cx="5349240" cy="658368"/>
          </a:xfrm>
          <a:prstGeom prst="roundRect">
            <a:avLst>
              <a:gd name="adj" fmla="val 11111"/>
            </a:avLst>
          </a:prstGeom>
          <a:solidFill>
            <a:srgbClr val="1E3050"/>
          </a:solidFill>
          <a:ln w="12700">
            <a:solidFill>
              <a:srgbClr val="2E4568"/>
            </a:solidFill>
            <a:prstDash val="solid"/>
          </a:ln>
        </p:spPr>
      </p:sp>
      <p:sp>
        <p:nvSpPr>
          <p:cNvPr id="15" name="Shape 10"/>
          <p:cNvSpPr/>
          <p:nvPr/>
        </p:nvSpPr>
        <p:spPr>
          <a:xfrm>
            <a:off x="731520" y="3419856"/>
            <a:ext cx="292608" cy="292608"/>
          </a:xfrm>
          <a:prstGeom prst="ellipse">
            <a:avLst/>
          </a:prstGeom>
          <a:solidFill>
            <a:srgbClr val="3FB57A"/>
          </a:solidFill>
          <a:ln/>
        </p:spPr>
      </p:sp>
      <p:pic>
        <p:nvPicPr>
          <p:cNvPr id="16" name="Image 3" descr="preencoded.png">    </p:cNvPr>
          <p:cNvPicPr>
            <a:picLocks noChangeAspect="1"/>
          </p:cNvPicPr>
          <p:nvPr/>
        </p:nvPicPr>
        <p:blipFill>
          <a:blip r:embed="rId4"/>
          <a:stretch>
            <a:fillRect/>
          </a:stretch>
        </p:blipFill>
        <p:spPr>
          <a:xfrm>
            <a:off x="795528" y="3483864"/>
            <a:ext cx="164592" cy="164592"/>
          </a:xfrm>
          <a:prstGeom prst="rect">
            <a:avLst/>
          </a:prstGeom>
        </p:spPr>
      </p:pic>
      <p:sp>
        <p:nvSpPr>
          <p:cNvPr id="17" name="Text 11"/>
          <p:cNvSpPr/>
          <p:nvPr/>
        </p:nvSpPr>
        <p:spPr>
          <a:xfrm>
            <a:off x="1188720" y="3236976"/>
            <a:ext cx="4617720" cy="658368"/>
          </a:xfrm>
          <a:prstGeom prst="rect">
            <a:avLst/>
          </a:prstGeom>
          <a:noFill/>
          <a:ln/>
        </p:spPr>
        <p:txBody>
          <a:bodyPr wrap="square" rtlCol="0" anchor="ctr"/>
          <a:lstStyle/>
          <a:p>
            <a:pPr indent="0" marL="0">
              <a:buNone/>
            </a:pPr>
            <a:r>
              <a:rPr lang="en-US" sz="1250" b="1" dirty="0">
                <a:solidFill>
                  <a:srgbClr val="FFFFFF"/>
                </a:solidFill>
                <a:latin typeface="Work Sans" pitchFamily="34" charset="0"/>
                <a:ea typeface="Work Sans" pitchFamily="34" charset="-122"/>
                <a:cs typeface="Work Sans" pitchFamily="34" charset="-120"/>
              </a:rPr>
              <a:t>instanceof dhe casting</a:t>
            </a:r>
            <a:endParaRPr lang="en-US" sz="1250" dirty="0"/>
          </a:p>
        </p:txBody>
      </p:sp>
      <p:sp>
        <p:nvSpPr>
          <p:cNvPr id="18" name="Shape 12"/>
          <p:cNvSpPr/>
          <p:nvPr/>
        </p:nvSpPr>
        <p:spPr>
          <a:xfrm>
            <a:off x="548640" y="3986784"/>
            <a:ext cx="5349240" cy="658368"/>
          </a:xfrm>
          <a:prstGeom prst="roundRect">
            <a:avLst>
              <a:gd name="adj" fmla="val 11111"/>
            </a:avLst>
          </a:prstGeom>
          <a:solidFill>
            <a:srgbClr val="1E3050"/>
          </a:solidFill>
          <a:ln w="12700">
            <a:solidFill>
              <a:srgbClr val="2E4568"/>
            </a:solidFill>
            <a:prstDash val="solid"/>
          </a:ln>
        </p:spPr>
      </p:sp>
      <p:sp>
        <p:nvSpPr>
          <p:cNvPr id="19" name="Shape 13"/>
          <p:cNvSpPr/>
          <p:nvPr/>
        </p:nvSpPr>
        <p:spPr>
          <a:xfrm>
            <a:off x="731520" y="4169664"/>
            <a:ext cx="292608" cy="292608"/>
          </a:xfrm>
          <a:prstGeom prst="ellipse">
            <a:avLst/>
          </a:prstGeom>
          <a:solidFill>
            <a:srgbClr val="3FB57A"/>
          </a:solidFill>
          <a:ln/>
        </p:spPr>
      </p:sp>
      <p:pic>
        <p:nvPicPr>
          <p:cNvPr id="20" name="Image 4" descr="preencoded.png">    </p:cNvPr>
          <p:cNvPicPr>
            <a:picLocks noChangeAspect="1"/>
          </p:cNvPicPr>
          <p:nvPr/>
        </p:nvPicPr>
        <p:blipFill>
          <a:blip r:embed="rId5"/>
          <a:stretch>
            <a:fillRect/>
          </a:stretch>
        </p:blipFill>
        <p:spPr>
          <a:xfrm>
            <a:off x="795528" y="4233672"/>
            <a:ext cx="164592" cy="164592"/>
          </a:xfrm>
          <a:prstGeom prst="rect">
            <a:avLst/>
          </a:prstGeom>
        </p:spPr>
      </p:pic>
      <p:sp>
        <p:nvSpPr>
          <p:cNvPr id="21" name="Text 14"/>
          <p:cNvSpPr/>
          <p:nvPr/>
        </p:nvSpPr>
        <p:spPr>
          <a:xfrm>
            <a:off x="1188720" y="3986784"/>
            <a:ext cx="4617720" cy="658368"/>
          </a:xfrm>
          <a:prstGeom prst="rect">
            <a:avLst/>
          </a:prstGeom>
          <a:noFill/>
          <a:ln/>
        </p:spPr>
        <p:txBody>
          <a:bodyPr wrap="square" rtlCol="0" anchor="ctr"/>
          <a:lstStyle/>
          <a:p>
            <a:pPr indent="0" marL="0">
              <a:buNone/>
            </a:pPr>
            <a:r>
              <a:rPr lang="en-US" sz="1250" b="1" dirty="0">
                <a:solidFill>
                  <a:srgbClr val="FFFFFF"/>
                </a:solidFill>
                <a:latin typeface="Work Sans" pitchFamily="34" charset="0"/>
                <a:ea typeface="Work Sans" pitchFamily="34" charset="-122"/>
                <a:cs typeface="Work Sans" pitchFamily="34" charset="-120"/>
              </a:rPr>
              <a:t>Enkapsulimi: private + getter/setter</a:t>
            </a:r>
            <a:endParaRPr lang="en-US" sz="1250" dirty="0"/>
          </a:p>
        </p:txBody>
      </p:sp>
      <p:sp>
        <p:nvSpPr>
          <p:cNvPr id="22" name="Shape 15"/>
          <p:cNvSpPr/>
          <p:nvPr/>
        </p:nvSpPr>
        <p:spPr>
          <a:xfrm>
            <a:off x="548640" y="4736592"/>
            <a:ext cx="5349240" cy="658368"/>
          </a:xfrm>
          <a:prstGeom prst="roundRect">
            <a:avLst>
              <a:gd name="adj" fmla="val 11111"/>
            </a:avLst>
          </a:prstGeom>
          <a:solidFill>
            <a:srgbClr val="1E3050"/>
          </a:solidFill>
          <a:ln w="12700">
            <a:solidFill>
              <a:srgbClr val="2E4568"/>
            </a:solidFill>
            <a:prstDash val="solid"/>
          </a:ln>
        </p:spPr>
      </p:sp>
      <p:sp>
        <p:nvSpPr>
          <p:cNvPr id="23" name="Shape 16"/>
          <p:cNvSpPr/>
          <p:nvPr/>
        </p:nvSpPr>
        <p:spPr>
          <a:xfrm>
            <a:off x="731520" y="4919472"/>
            <a:ext cx="292608" cy="292608"/>
          </a:xfrm>
          <a:prstGeom prst="ellipse">
            <a:avLst/>
          </a:prstGeom>
          <a:solidFill>
            <a:srgbClr val="3FB57A"/>
          </a:solidFill>
          <a:ln/>
        </p:spPr>
      </p:sp>
      <p:pic>
        <p:nvPicPr>
          <p:cNvPr id="24" name="Image 5" descr="preencoded.png">    </p:cNvPr>
          <p:cNvPicPr>
            <a:picLocks noChangeAspect="1"/>
          </p:cNvPicPr>
          <p:nvPr/>
        </p:nvPicPr>
        <p:blipFill>
          <a:blip r:embed="rId6"/>
          <a:stretch>
            <a:fillRect/>
          </a:stretch>
        </p:blipFill>
        <p:spPr>
          <a:xfrm>
            <a:off x="795528" y="4983480"/>
            <a:ext cx="164592" cy="164592"/>
          </a:xfrm>
          <a:prstGeom prst="rect">
            <a:avLst/>
          </a:prstGeom>
        </p:spPr>
      </p:pic>
      <p:sp>
        <p:nvSpPr>
          <p:cNvPr id="25" name="Text 17"/>
          <p:cNvSpPr/>
          <p:nvPr/>
        </p:nvSpPr>
        <p:spPr>
          <a:xfrm>
            <a:off x="1188720" y="4736592"/>
            <a:ext cx="4617720" cy="658368"/>
          </a:xfrm>
          <a:prstGeom prst="rect">
            <a:avLst/>
          </a:prstGeom>
          <a:noFill/>
          <a:ln/>
        </p:spPr>
        <p:txBody>
          <a:bodyPr wrap="square" rtlCol="0" anchor="ctr"/>
          <a:lstStyle/>
          <a:p>
            <a:pPr indent="0" marL="0">
              <a:buNone/>
            </a:pPr>
            <a:r>
              <a:rPr lang="en-US" sz="1250" b="1" dirty="0">
                <a:solidFill>
                  <a:srgbClr val="FFFFFF"/>
                </a:solidFill>
                <a:latin typeface="Work Sans" pitchFamily="34" charset="0"/>
                <a:ea typeface="Work Sans" pitchFamily="34" charset="-122"/>
                <a:cs typeface="Work Sans" pitchFamily="34" charset="-120"/>
              </a:rPr>
              <a:t>super() dhe konstruktorët</a:t>
            </a:r>
            <a:endParaRPr lang="en-US" sz="1250" dirty="0"/>
          </a:p>
        </p:txBody>
      </p:sp>
      <p:sp>
        <p:nvSpPr>
          <p:cNvPr id="26" name="Shape 18"/>
          <p:cNvSpPr/>
          <p:nvPr/>
        </p:nvSpPr>
        <p:spPr>
          <a:xfrm>
            <a:off x="6263640" y="1737360"/>
            <a:ext cx="5349240" cy="658368"/>
          </a:xfrm>
          <a:prstGeom prst="roundRect">
            <a:avLst>
              <a:gd name="adj" fmla="val 11111"/>
            </a:avLst>
          </a:prstGeom>
          <a:solidFill>
            <a:srgbClr val="1E3050"/>
          </a:solidFill>
          <a:ln w="12700">
            <a:solidFill>
              <a:srgbClr val="2E4568"/>
            </a:solidFill>
            <a:prstDash val="solid"/>
          </a:ln>
        </p:spPr>
      </p:sp>
      <p:sp>
        <p:nvSpPr>
          <p:cNvPr id="27" name="Shape 19"/>
          <p:cNvSpPr/>
          <p:nvPr/>
        </p:nvSpPr>
        <p:spPr>
          <a:xfrm>
            <a:off x="6446520" y="1920240"/>
            <a:ext cx="292608" cy="292608"/>
          </a:xfrm>
          <a:prstGeom prst="ellipse">
            <a:avLst/>
          </a:prstGeom>
          <a:solidFill>
            <a:srgbClr val="3FB57A"/>
          </a:solidFill>
          <a:ln/>
        </p:spPr>
      </p:sp>
      <p:pic>
        <p:nvPicPr>
          <p:cNvPr id="28" name="Image 6" descr="preencoded.png">    </p:cNvPr>
          <p:cNvPicPr>
            <a:picLocks noChangeAspect="1"/>
          </p:cNvPicPr>
          <p:nvPr/>
        </p:nvPicPr>
        <p:blipFill>
          <a:blip r:embed="rId7"/>
          <a:stretch>
            <a:fillRect/>
          </a:stretch>
        </p:blipFill>
        <p:spPr>
          <a:xfrm>
            <a:off x="6510528" y="1984248"/>
            <a:ext cx="164592" cy="164592"/>
          </a:xfrm>
          <a:prstGeom prst="rect">
            <a:avLst/>
          </a:prstGeom>
        </p:spPr>
      </p:pic>
      <p:sp>
        <p:nvSpPr>
          <p:cNvPr id="29" name="Text 20"/>
          <p:cNvSpPr/>
          <p:nvPr/>
        </p:nvSpPr>
        <p:spPr>
          <a:xfrm>
            <a:off x="6903720" y="1737360"/>
            <a:ext cx="4617720" cy="658368"/>
          </a:xfrm>
          <a:prstGeom prst="rect">
            <a:avLst/>
          </a:prstGeom>
          <a:noFill/>
          <a:ln/>
        </p:spPr>
        <p:txBody>
          <a:bodyPr wrap="square" rtlCol="0" anchor="ctr"/>
          <a:lstStyle/>
          <a:p>
            <a:pPr indent="0" marL="0">
              <a:buNone/>
            </a:pPr>
            <a:r>
              <a:rPr lang="en-US" sz="1250" b="1" dirty="0">
                <a:solidFill>
                  <a:srgbClr val="FFFFFF"/>
                </a:solidFill>
                <a:latin typeface="Work Sans" pitchFamily="34" charset="0"/>
                <a:ea typeface="Work Sans" pitchFamily="34" charset="-122"/>
                <a:cs typeface="Work Sans" pitchFamily="34" charset="-120"/>
              </a:rPr>
              <a:t>try/catch/finally · checked vs unchecked</a:t>
            </a:r>
            <a:endParaRPr lang="en-US" sz="1250" dirty="0"/>
          </a:p>
        </p:txBody>
      </p:sp>
      <p:sp>
        <p:nvSpPr>
          <p:cNvPr id="30" name="Shape 21"/>
          <p:cNvSpPr/>
          <p:nvPr/>
        </p:nvSpPr>
        <p:spPr>
          <a:xfrm>
            <a:off x="6263640" y="2487168"/>
            <a:ext cx="5349240" cy="658368"/>
          </a:xfrm>
          <a:prstGeom prst="roundRect">
            <a:avLst>
              <a:gd name="adj" fmla="val 11111"/>
            </a:avLst>
          </a:prstGeom>
          <a:solidFill>
            <a:srgbClr val="1E3050"/>
          </a:solidFill>
          <a:ln w="12700">
            <a:solidFill>
              <a:srgbClr val="2E4568"/>
            </a:solidFill>
            <a:prstDash val="solid"/>
          </a:ln>
        </p:spPr>
      </p:sp>
      <p:sp>
        <p:nvSpPr>
          <p:cNvPr id="31" name="Shape 22"/>
          <p:cNvSpPr/>
          <p:nvPr/>
        </p:nvSpPr>
        <p:spPr>
          <a:xfrm>
            <a:off x="6446520" y="2670048"/>
            <a:ext cx="292608" cy="292608"/>
          </a:xfrm>
          <a:prstGeom prst="ellipse">
            <a:avLst/>
          </a:prstGeom>
          <a:solidFill>
            <a:srgbClr val="3FB57A"/>
          </a:solidFill>
          <a:ln/>
        </p:spPr>
      </p:sp>
      <p:pic>
        <p:nvPicPr>
          <p:cNvPr id="32" name="Image 7" descr="preencoded.png">    </p:cNvPr>
          <p:cNvPicPr>
            <a:picLocks noChangeAspect="1"/>
          </p:cNvPicPr>
          <p:nvPr/>
        </p:nvPicPr>
        <p:blipFill>
          <a:blip r:embed="rId8"/>
          <a:stretch>
            <a:fillRect/>
          </a:stretch>
        </p:blipFill>
        <p:spPr>
          <a:xfrm>
            <a:off x="6510528" y="2734056"/>
            <a:ext cx="164592" cy="164592"/>
          </a:xfrm>
          <a:prstGeom prst="rect">
            <a:avLst/>
          </a:prstGeom>
        </p:spPr>
      </p:pic>
      <p:sp>
        <p:nvSpPr>
          <p:cNvPr id="33" name="Text 23"/>
          <p:cNvSpPr/>
          <p:nvPr/>
        </p:nvSpPr>
        <p:spPr>
          <a:xfrm>
            <a:off x="6903720" y="2487168"/>
            <a:ext cx="4617720" cy="658368"/>
          </a:xfrm>
          <a:prstGeom prst="rect">
            <a:avLst/>
          </a:prstGeom>
          <a:noFill/>
          <a:ln/>
        </p:spPr>
        <p:txBody>
          <a:bodyPr wrap="square" rtlCol="0" anchor="ctr"/>
          <a:lstStyle/>
          <a:p>
            <a:pPr indent="0" marL="0">
              <a:buNone/>
            </a:pPr>
            <a:r>
              <a:rPr lang="en-US" sz="1250" b="1" dirty="0">
                <a:solidFill>
                  <a:srgbClr val="FFFFFF"/>
                </a:solidFill>
                <a:latin typeface="Work Sans" pitchFamily="34" charset="0"/>
                <a:ea typeface="Work Sans" pitchFamily="34" charset="-122"/>
                <a:cs typeface="Work Sans" pitchFamily="34" charset="-120"/>
              </a:rPr>
              <a:t>HashMap: put përditëson, çelësa unikë</a:t>
            </a:r>
            <a:endParaRPr lang="en-US" sz="1250" dirty="0"/>
          </a:p>
        </p:txBody>
      </p:sp>
      <p:sp>
        <p:nvSpPr>
          <p:cNvPr id="34" name="Shape 24"/>
          <p:cNvSpPr/>
          <p:nvPr/>
        </p:nvSpPr>
        <p:spPr>
          <a:xfrm>
            <a:off x="6263640" y="3236976"/>
            <a:ext cx="5349240" cy="658368"/>
          </a:xfrm>
          <a:prstGeom prst="roundRect">
            <a:avLst>
              <a:gd name="adj" fmla="val 11111"/>
            </a:avLst>
          </a:prstGeom>
          <a:solidFill>
            <a:srgbClr val="1E3050"/>
          </a:solidFill>
          <a:ln w="12700">
            <a:solidFill>
              <a:srgbClr val="2E4568"/>
            </a:solidFill>
            <a:prstDash val="solid"/>
          </a:ln>
        </p:spPr>
      </p:sp>
      <p:sp>
        <p:nvSpPr>
          <p:cNvPr id="35" name="Shape 25"/>
          <p:cNvSpPr/>
          <p:nvPr/>
        </p:nvSpPr>
        <p:spPr>
          <a:xfrm>
            <a:off x="6446520" y="3419856"/>
            <a:ext cx="292608" cy="292608"/>
          </a:xfrm>
          <a:prstGeom prst="ellipse">
            <a:avLst/>
          </a:prstGeom>
          <a:solidFill>
            <a:srgbClr val="3FB57A"/>
          </a:solidFill>
          <a:ln/>
        </p:spPr>
      </p:sp>
      <p:pic>
        <p:nvPicPr>
          <p:cNvPr id="36" name="Image 8" descr="preencoded.png">    </p:cNvPr>
          <p:cNvPicPr>
            <a:picLocks noChangeAspect="1"/>
          </p:cNvPicPr>
          <p:nvPr/>
        </p:nvPicPr>
        <p:blipFill>
          <a:blip r:embed="rId9"/>
          <a:stretch>
            <a:fillRect/>
          </a:stretch>
        </p:blipFill>
        <p:spPr>
          <a:xfrm>
            <a:off x="6510528" y="3483864"/>
            <a:ext cx="164592" cy="164592"/>
          </a:xfrm>
          <a:prstGeom prst="rect">
            <a:avLst/>
          </a:prstGeom>
        </p:spPr>
      </p:pic>
      <p:sp>
        <p:nvSpPr>
          <p:cNvPr id="37" name="Text 26"/>
          <p:cNvSpPr/>
          <p:nvPr/>
        </p:nvSpPr>
        <p:spPr>
          <a:xfrm>
            <a:off x="6903720" y="3236976"/>
            <a:ext cx="4617720" cy="658368"/>
          </a:xfrm>
          <a:prstGeom prst="rect">
            <a:avLst/>
          </a:prstGeom>
          <a:noFill/>
          <a:ln/>
        </p:spPr>
        <p:txBody>
          <a:bodyPr wrap="square" rtlCol="0" anchor="ctr"/>
          <a:lstStyle/>
          <a:p>
            <a:pPr indent="0" marL="0">
              <a:buNone/>
            </a:pPr>
            <a:r>
              <a:rPr lang="en-US" sz="1250" b="1" dirty="0">
                <a:solidFill>
                  <a:srgbClr val="FFFFFF"/>
                </a:solidFill>
                <a:latin typeface="Work Sans" pitchFamily="34" charset="0"/>
                <a:ea typeface="Work Sans" pitchFamily="34" charset="-122"/>
                <a:cs typeface="Work Sans" pitchFamily="34" charset="-120"/>
              </a:rPr>
              <a:t>JDBC: executeUpdate vs executeQuery</a:t>
            </a:r>
            <a:endParaRPr lang="en-US" sz="1250" dirty="0"/>
          </a:p>
        </p:txBody>
      </p:sp>
      <p:sp>
        <p:nvSpPr>
          <p:cNvPr id="38" name="Shape 27"/>
          <p:cNvSpPr/>
          <p:nvPr/>
        </p:nvSpPr>
        <p:spPr>
          <a:xfrm>
            <a:off x="6263640" y="3986784"/>
            <a:ext cx="5349240" cy="658368"/>
          </a:xfrm>
          <a:prstGeom prst="roundRect">
            <a:avLst>
              <a:gd name="adj" fmla="val 11111"/>
            </a:avLst>
          </a:prstGeom>
          <a:solidFill>
            <a:srgbClr val="1E3050"/>
          </a:solidFill>
          <a:ln w="12700">
            <a:solidFill>
              <a:srgbClr val="2E4568"/>
            </a:solidFill>
            <a:prstDash val="solid"/>
          </a:ln>
        </p:spPr>
      </p:sp>
      <p:sp>
        <p:nvSpPr>
          <p:cNvPr id="39" name="Shape 28"/>
          <p:cNvSpPr/>
          <p:nvPr/>
        </p:nvSpPr>
        <p:spPr>
          <a:xfrm>
            <a:off x="6446520" y="4169664"/>
            <a:ext cx="292608" cy="292608"/>
          </a:xfrm>
          <a:prstGeom prst="ellipse">
            <a:avLst/>
          </a:prstGeom>
          <a:solidFill>
            <a:srgbClr val="3FB57A"/>
          </a:solidFill>
          <a:ln/>
        </p:spPr>
      </p:sp>
      <p:pic>
        <p:nvPicPr>
          <p:cNvPr id="40" name="Image 9" descr="preencoded.png">    </p:cNvPr>
          <p:cNvPicPr>
            <a:picLocks noChangeAspect="1"/>
          </p:cNvPicPr>
          <p:nvPr/>
        </p:nvPicPr>
        <p:blipFill>
          <a:blip r:embed="rId10"/>
          <a:stretch>
            <a:fillRect/>
          </a:stretch>
        </p:blipFill>
        <p:spPr>
          <a:xfrm>
            <a:off x="6510528" y="4233672"/>
            <a:ext cx="164592" cy="164592"/>
          </a:xfrm>
          <a:prstGeom prst="rect">
            <a:avLst/>
          </a:prstGeom>
        </p:spPr>
      </p:pic>
      <p:sp>
        <p:nvSpPr>
          <p:cNvPr id="41" name="Text 29"/>
          <p:cNvSpPr/>
          <p:nvPr/>
        </p:nvSpPr>
        <p:spPr>
          <a:xfrm>
            <a:off x="6903720" y="3986784"/>
            <a:ext cx="4617720" cy="658368"/>
          </a:xfrm>
          <a:prstGeom prst="rect">
            <a:avLst/>
          </a:prstGeom>
          <a:noFill/>
          <a:ln/>
        </p:spPr>
        <p:txBody>
          <a:bodyPr wrap="square" rtlCol="0" anchor="ctr"/>
          <a:lstStyle/>
          <a:p>
            <a:pPr indent="0" marL="0">
              <a:buNone/>
            </a:pPr>
            <a:r>
              <a:rPr lang="en-US" sz="1250" b="1" dirty="0">
                <a:solidFill>
                  <a:srgbClr val="FFFFFF"/>
                </a:solidFill>
                <a:latin typeface="Work Sans" pitchFamily="34" charset="0"/>
                <a:ea typeface="Work Sans" pitchFamily="34" charset="-122"/>
                <a:cs typeface="Work Sans" pitchFamily="34" charset="-120"/>
              </a:rPr>
              <a:t>PreparedStatement dhe ResultSet</a:t>
            </a:r>
            <a:endParaRPr lang="en-US" sz="1250" dirty="0"/>
          </a:p>
        </p:txBody>
      </p:sp>
      <p:sp>
        <p:nvSpPr>
          <p:cNvPr id="42" name="Shape 30"/>
          <p:cNvSpPr/>
          <p:nvPr/>
        </p:nvSpPr>
        <p:spPr>
          <a:xfrm>
            <a:off x="6263640" y="4736592"/>
            <a:ext cx="5349240" cy="658368"/>
          </a:xfrm>
          <a:prstGeom prst="roundRect">
            <a:avLst>
              <a:gd name="adj" fmla="val 11111"/>
            </a:avLst>
          </a:prstGeom>
          <a:solidFill>
            <a:srgbClr val="1E3050"/>
          </a:solidFill>
          <a:ln w="12700">
            <a:solidFill>
              <a:srgbClr val="2E4568"/>
            </a:solidFill>
            <a:prstDash val="solid"/>
          </a:ln>
        </p:spPr>
      </p:sp>
      <p:sp>
        <p:nvSpPr>
          <p:cNvPr id="43" name="Shape 31"/>
          <p:cNvSpPr/>
          <p:nvPr/>
        </p:nvSpPr>
        <p:spPr>
          <a:xfrm>
            <a:off x="6446520" y="4919472"/>
            <a:ext cx="292608" cy="292608"/>
          </a:xfrm>
          <a:prstGeom prst="ellipse">
            <a:avLst/>
          </a:prstGeom>
          <a:solidFill>
            <a:srgbClr val="3FB57A"/>
          </a:solidFill>
          <a:ln/>
        </p:spPr>
      </p:sp>
      <p:pic>
        <p:nvPicPr>
          <p:cNvPr id="44" name="Image 10" descr="preencoded.png">    </p:cNvPr>
          <p:cNvPicPr>
            <a:picLocks noChangeAspect="1"/>
          </p:cNvPicPr>
          <p:nvPr/>
        </p:nvPicPr>
        <p:blipFill>
          <a:blip r:embed="rId11"/>
          <a:stretch>
            <a:fillRect/>
          </a:stretch>
        </p:blipFill>
        <p:spPr>
          <a:xfrm>
            <a:off x="6510528" y="4983480"/>
            <a:ext cx="164592" cy="164592"/>
          </a:xfrm>
          <a:prstGeom prst="rect">
            <a:avLst/>
          </a:prstGeom>
        </p:spPr>
      </p:pic>
      <p:sp>
        <p:nvSpPr>
          <p:cNvPr id="45" name="Text 32"/>
          <p:cNvSpPr/>
          <p:nvPr/>
        </p:nvSpPr>
        <p:spPr>
          <a:xfrm>
            <a:off x="6903720" y="4736592"/>
            <a:ext cx="4617720" cy="658368"/>
          </a:xfrm>
          <a:prstGeom prst="rect">
            <a:avLst/>
          </a:prstGeom>
          <a:noFill/>
          <a:ln/>
        </p:spPr>
        <p:txBody>
          <a:bodyPr wrap="square" rtlCol="0" anchor="ctr"/>
          <a:lstStyle/>
          <a:p>
            <a:pPr indent="0" marL="0">
              <a:buNone/>
            </a:pPr>
            <a:r>
              <a:rPr lang="en-US" sz="1250" b="1" dirty="0">
                <a:solidFill>
                  <a:srgbClr val="FFFFFF"/>
                </a:solidFill>
                <a:latin typeface="Work Sans" pitchFamily="34" charset="0"/>
                <a:ea typeface="Work Sans" pitchFamily="34" charset="-122"/>
                <a:cs typeface="Work Sans" pitchFamily="34" charset="-120"/>
              </a:rPr>
              <a:t>Swing: JFrame + ActionListener</a:t>
            </a:r>
            <a:endParaRPr lang="en-US" sz="1250" dirty="0"/>
          </a:p>
        </p:txBody>
      </p:sp>
      <p:sp>
        <p:nvSpPr>
          <p:cNvPr id="46" name="Text 33"/>
          <p:cNvSpPr/>
          <p:nvPr/>
        </p:nvSpPr>
        <p:spPr>
          <a:xfrm>
            <a:off x="11612880" y="6400800"/>
            <a:ext cx="457200" cy="274320"/>
          </a:xfrm>
          <a:prstGeom prst="rect">
            <a:avLst/>
          </a:prstGeom>
          <a:noFill/>
          <a:ln/>
        </p:spPr>
        <p:txBody>
          <a:bodyPr wrap="square" rtlCol="0" anchor="ctr"/>
          <a:lstStyle/>
          <a:p>
            <a:pPr algn="r" indent="0" marL="0">
              <a:buNone/>
            </a:pPr>
            <a:r>
              <a:rPr lang="en-US" sz="1100" dirty="0">
                <a:solidFill>
                  <a:srgbClr val="6A7889"/>
                </a:solidFill>
                <a:latin typeface="Work Sans" pitchFamily="34" charset="0"/>
                <a:ea typeface="Work Sans" pitchFamily="34" charset="-122"/>
                <a:cs typeface="Work Sans"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F2F5F9"/>
          </a:solidFill>
          <a:ln/>
        </p:spPr>
      </p:sp>
      <p:sp>
        <p:nvSpPr>
          <p:cNvPr id="3" name="Shape 1"/>
          <p:cNvSpPr/>
          <p:nvPr/>
        </p:nvSpPr>
        <p:spPr>
          <a:xfrm>
            <a:off x="0" y="1051560"/>
            <a:ext cx="12191695" cy="27432"/>
          </a:xfrm>
          <a:prstGeom prst="rect">
            <a:avLst/>
          </a:prstGeom>
          <a:solidFill>
            <a:srgbClr val="E8730C"/>
          </a:solidFill>
          <a:ln/>
        </p:spPr>
      </p:sp>
      <p:sp>
        <p:nvSpPr>
          <p:cNvPr id="4" name="Text 2"/>
          <p:cNvSpPr/>
          <p:nvPr/>
        </p:nvSpPr>
        <p:spPr>
          <a:xfrm>
            <a:off x="548640" y="182880"/>
            <a:ext cx="10972800" cy="274320"/>
          </a:xfrm>
          <a:prstGeom prst="rect">
            <a:avLst/>
          </a:prstGeom>
          <a:noFill/>
          <a:ln/>
        </p:spPr>
        <p:txBody>
          <a:bodyPr wrap="square" rtlCol="0" anchor="ctr"/>
          <a:lstStyle/>
          <a:p>
            <a:pPr indent="0" marL="0">
              <a:buNone/>
            </a:pPr>
            <a:r>
              <a:rPr lang="en-US" sz="1200" b="1" spc="200" kern="0" dirty="0">
                <a:solidFill>
                  <a:srgbClr val="E8730C"/>
                </a:solidFill>
                <a:latin typeface="Poppins" pitchFamily="34" charset="0"/>
                <a:ea typeface="Poppins" pitchFamily="34" charset="-122"/>
                <a:cs typeface="Poppins" pitchFamily="34" charset="-120"/>
              </a:rPr>
              <a:t>GABIMET E ZAKONSHME</a:t>
            </a:r>
            <a:endParaRPr lang="en-US" sz="1200" dirty="0"/>
          </a:p>
        </p:txBody>
      </p:sp>
      <p:sp>
        <p:nvSpPr>
          <p:cNvPr id="5" name="Text 3"/>
          <p:cNvSpPr/>
          <p:nvPr/>
        </p:nvSpPr>
        <p:spPr>
          <a:xfrm>
            <a:off x="548640" y="420624"/>
            <a:ext cx="11064240" cy="566928"/>
          </a:xfrm>
          <a:prstGeom prst="rect">
            <a:avLst/>
          </a:prstGeom>
          <a:noFill/>
          <a:ln/>
        </p:spPr>
        <p:txBody>
          <a:bodyPr wrap="square" rtlCol="0" anchor="ctr"/>
          <a:lstStyle/>
          <a:p>
            <a:pPr indent="0" marL="0">
              <a:buNone/>
            </a:pPr>
            <a:r>
              <a:rPr lang="en-US" sz="2600" b="1" dirty="0">
                <a:solidFill>
                  <a:srgbClr val="142033"/>
                </a:solidFill>
                <a:latin typeface="Poppins" pitchFamily="34" charset="0"/>
                <a:ea typeface="Poppins" pitchFamily="34" charset="-122"/>
                <a:cs typeface="Poppins" pitchFamily="34" charset="-120"/>
              </a:rPr>
              <a:t>Shmangni këto në provim</a:t>
            </a:r>
            <a:endParaRPr lang="en-US" sz="2600" dirty="0"/>
          </a:p>
        </p:txBody>
      </p:sp>
      <p:sp>
        <p:nvSpPr>
          <p:cNvPr id="6" name="Shape 4"/>
          <p:cNvSpPr/>
          <p:nvPr/>
        </p:nvSpPr>
        <p:spPr>
          <a:xfrm>
            <a:off x="640080" y="1463040"/>
            <a:ext cx="5303520" cy="1325880"/>
          </a:xfrm>
          <a:prstGeom prst="roundRect">
            <a:avLst>
              <a:gd name="adj" fmla="val 6897"/>
            </a:avLst>
          </a:prstGeom>
          <a:solidFill>
            <a:srgbClr val="F2F5F9"/>
          </a:solidFill>
          <a:ln w="12700">
            <a:solidFill>
              <a:srgbClr val="DBE2EA"/>
            </a:solidFill>
            <a:prstDash val="solid"/>
          </a:ln>
        </p:spPr>
      </p:sp>
      <p:sp>
        <p:nvSpPr>
          <p:cNvPr id="7" name="Shape 5"/>
          <p:cNvSpPr/>
          <p:nvPr/>
        </p:nvSpPr>
        <p:spPr>
          <a:xfrm>
            <a:off x="868680" y="1719072"/>
            <a:ext cx="457200" cy="457200"/>
          </a:xfrm>
          <a:prstGeom prst="ellipse">
            <a:avLst/>
          </a:prstGeom>
          <a:solidFill>
            <a:srgbClr val="E05B4B"/>
          </a:solidFill>
          <a:ln/>
        </p:spPr>
      </p:sp>
      <p:pic>
        <p:nvPicPr>
          <p:cNvPr id="8" name="Image 0" descr="preencoded.png">    </p:cNvPr>
          <p:cNvPicPr>
            <a:picLocks noChangeAspect="1"/>
          </p:cNvPicPr>
          <p:nvPr/>
        </p:nvPicPr>
        <p:blipFill>
          <a:blip r:embed="rId1"/>
          <a:stretch>
            <a:fillRect/>
          </a:stretch>
        </p:blipFill>
        <p:spPr>
          <a:xfrm>
            <a:off x="969264" y="1819656"/>
            <a:ext cx="256032" cy="256032"/>
          </a:xfrm>
          <a:prstGeom prst="rect">
            <a:avLst/>
          </a:prstGeom>
        </p:spPr>
      </p:pic>
      <p:sp>
        <p:nvSpPr>
          <p:cNvPr id="9" name="Text 6"/>
          <p:cNvSpPr/>
          <p:nvPr/>
        </p:nvSpPr>
        <p:spPr>
          <a:xfrm>
            <a:off x="1508760" y="1645920"/>
            <a:ext cx="4297680" cy="457200"/>
          </a:xfrm>
          <a:prstGeom prst="rect">
            <a:avLst/>
          </a:prstGeom>
          <a:noFill/>
          <a:ln/>
        </p:spPr>
        <p:txBody>
          <a:bodyPr wrap="square" rtlCol="0" anchor="ctr"/>
          <a:lstStyle/>
          <a:p>
            <a:pPr indent="0" marL="0">
              <a:buNone/>
            </a:pPr>
            <a:r>
              <a:rPr lang="en-US" sz="1450" b="1" dirty="0">
                <a:solidFill>
                  <a:srgbClr val="142033"/>
                </a:solidFill>
                <a:latin typeface="Poppins" pitchFamily="34" charset="0"/>
                <a:ea typeface="Poppins" pitchFamily="34" charset="-122"/>
                <a:cs typeface="Poppins" pitchFamily="34" charset="-120"/>
              </a:rPr>
              <a:t>== me String</a:t>
            </a:r>
            <a:endParaRPr lang="en-US" sz="1450" dirty="0"/>
          </a:p>
        </p:txBody>
      </p:sp>
      <p:sp>
        <p:nvSpPr>
          <p:cNvPr id="10" name="Text 7"/>
          <p:cNvSpPr/>
          <p:nvPr/>
        </p:nvSpPr>
        <p:spPr>
          <a:xfrm>
            <a:off x="1508760" y="2121408"/>
            <a:ext cx="4297680" cy="548640"/>
          </a:xfrm>
          <a:prstGeom prst="rect">
            <a:avLst/>
          </a:prstGeom>
          <a:noFill/>
          <a:ln/>
        </p:spPr>
        <p:txBody>
          <a:bodyPr wrap="square" rtlCol="0" anchor="t"/>
          <a:lstStyle/>
          <a:p>
            <a:pPr indent="0" marL="0">
              <a:buNone/>
            </a:pPr>
            <a:r>
              <a:rPr lang="en-US" sz="1200" dirty="0">
                <a:solidFill>
                  <a:srgbClr val="26313F"/>
                </a:solidFill>
                <a:latin typeface="Work Sans" pitchFamily="34" charset="0"/>
                <a:ea typeface="Work Sans" pitchFamily="34" charset="-122"/>
                <a:cs typeface="Work Sans" pitchFamily="34" charset="-120"/>
              </a:rPr>
              <a:t>Përdor .equals() për të krahasuar përmbajtjen, jo ==</a:t>
            </a:r>
            <a:endParaRPr lang="en-US" sz="1200" dirty="0"/>
          </a:p>
        </p:txBody>
      </p:sp>
      <p:sp>
        <p:nvSpPr>
          <p:cNvPr id="11" name="Shape 8"/>
          <p:cNvSpPr/>
          <p:nvPr/>
        </p:nvSpPr>
        <p:spPr>
          <a:xfrm>
            <a:off x="6172200" y="1463040"/>
            <a:ext cx="5303520" cy="1325880"/>
          </a:xfrm>
          <a:prstGeom prst="roundRect">
            <a:avLst>
              <a:gd name="adj" fmla="val 6897"/>
            </a:avLst>
          </a:prstGeom>
          <a:solidFill>
            <a:srgbClr val="F2F5F9"/>
          </a:solidFill>
          <a:ln w="12700">
            <a:solidFill>
              <a:srgbClr val="DBE2EA"/>
            </a:solidFill>
            <a:prstDash val="solid"/>
          </a:ln>
        </p:spPr>
      </p:sp>
      <p:sp>
        <p:nvSpPr>
          <p:cNvPr id="12" name="Shape 9"/>
          <p:cNvSpPr/>
          <p:nvPr/>
        </p:nvSpPr>
        <p:spPr>
          <a:xfrm>
            <a:off x="6400800" y="1719072"/>
            <a:ext cx="457200" cy="457200"/>
          </a:xfrm>
          <a:prstGeom prst="ellipse">
            <a:avLst/>
          </a:prstGeom>
          <a:solidFill>
            <a:srgbClr val="E05B4B"/>
          </a:solidFill>
          <a:ln/>
        </p:spPr>
      </p:sp>
      <p:pic>
        <p:nvPicPr>
          <p:cNvPr id="13" name="Image 1" descr="preencoded.png">    </p:cNvPr>
          <p:cNvPicPr>
            <a:picLocks noChangeAspect="1"/>
          </p:cNvPicPr>
          <p:nvPr/>
        </p:nvPicPr>
        <p:blipFill>
          <a:blip r:embed="rId2"/>
          <a:stretch>
            <a:fillRect/>
          </a:stretch>
        </p:blipFill>
        <p:spPr>
          <a:xfrm>
            <a:off x="6501384" y="1819656"/>
            <a:ext cx="256032" cy="256032"/>
          </a:xfrm>
          <a:prstGeom prst="rect">
            <a:avLst/>
          </a:prstGeom>
        </p:spPr>
      </p:pic>
      <p:sp>
        <p:nvSpPr>
          <p:cNvPr id="14" name="Text 10"/>
          <p:cNvSpPr/>
          <p:nvPr/>
        </p:nvSpPr>
        <p:spPr>
          <a:xfrm>
            <a:off x="7040880" y="1645920"/>
            <a:ext cx="4297680" cy="457200"/>
          </a:xfrm>
          <a:prstGeom prst="rect">
            <a:avLst/>
          </a:prstGeom>
          <a:noFill/>
          <a:ln/>
        </p:spPr>
        <p:txBody>
          <a:bodyPr wrap="square" rtlCol="0" anchor="ctr"/>
          <a:lstStyle/>
          <a:p>
            <a:pPr indent="0" marL="0">
              <a:buNone/>
            </a:pPr>
            <a:r>
              <a:rPr lang="en-US" sz="1450" b="1" dirty="0">
                <a:solidFill>
                  <a:srgbClr val="142033"/>
                </a:solidFill>
                <a:latin typeface="Poppins" pitchFamily="34" charset="0"/>
                <a:ea typeface="Poppins" pitchFamily="34" charset="-122"/>
                <a:cs typeface="Poppins" pitchFamily="34" charset="-120"/>
              </a:rPr>
              <a:t>NullPointerException</a:t>
            </a:r>
            <a:endParaRPr lang="en-US" sz="1450" dirty="0"/>
          </a:p>
        </p:txBody>
      </p:sp>
      <p:sp>
        <p:nvSpPr>
          <p:cNvPr id="15" name="Text 11"/>
          <p:cNvSpPr/>
          <p:nvPr/>
        </p:nvSpPr>
        <p:spPr>
          <a:xfrm>
            <a:off x="7040880" y="2121408"/>
            <a:ext cx="4297680" cy="548640"/>
          </a:xfrm>
          <a:prstGeom prst="rect">
            <a:avLst/>
          </a:prstGeom>
          <a:noFill/>
          <a:ln/>
        </p:spPr>
        <p:txBody>
          <a:bodyPr wrap="square" rtlCol="0" anchor="t"/>
          <a:lstStyle/>
          <a:p>
            <a:pPr indent="0" marL="0">
              <a:buNone/>
            </a:pPr>
            <a:r>
              <a:rPr lang="en-US" sz="1200" dirty="0">
                <a:solidFill>
                  <a:srgbClr val="26313F"/>
                </a:solidFill>
                <a:latin typeface="Work Sans" pitchFamily="34" charset="0"/>
                <a:ea typeface="Work Sans" pitchFamily="34" charset="-122"/>
                <a:cs typeface="Work Sans" pitchFamily="34" charset="-120"/>
              </a:rPr>
              <a:t>Objekt i papërdorur me new / referencë null</a:t>
            </a:r>
            <a:endParaRPr lang="en-US" sz="1200" dirty="0"/>
          </a:p>
        </p:txBody>
      </p:sp>
      <p:sp>
        <p:nvSpPr>
          <p:cNvPr id="16" name="Shape 12"/>
          <p:cNvSpPr/>
          <p:nvPr/>
        </p:nvSpPr>
        <p:spPr>
          <a:xfrm>
            <a:off x="640080" y="2971800"/>
            <a:ext cx="5303520" cy="1325880"/>
          </a:xfrm>
          <a:prstGeom prst="roundRect">
            <a:avLst>
              <a:gd name="adj" fmla="val 6897"/>
            </a:avLst>
          </a:prstGeom>
          <a:solidFill>
            <a:srgbClr val="F2F5F9"/>
          </a:solidFill>
          <a:ln w="12700">
            <a:solidFill>
              <a:srgbClr val="DBE2EA"/>
            </a:solidFill>
            <a:prstDash val="solid"/>
          </a:ln>
        </p:spPr>
      </p:sp>
      <p:sp>
        <p:nvSpPr>
          <p:cNvPr id="17" name="Shape 13"/>
          <p:cNvSpPr/>
          <p:nvPr/>
        </p:nvSpPr>
        <p:spPr>
          <a:xfrm>
            <a:off x="868680" y="3227832"/>
            <a:ext cx="457200" cy="457200"/>
          </a:xfrm>
          <a:prstGeom prst="ellipse">
            <a:avLst/>
          </a:prstGeom>
          <a:solidFill>
            <a:srgbClr val="E05B4B"/>
          </a:solidFill>
          <a:ln/>
        </p:spPr>
      </p:sp>
      <p:pic>
        <p:nvPicPr>
          <p:cNvPr id="18" name="Image 2" descr="preencoded.png">    </p:cNvPr>
          <p:cNvPicPr>
            <a:picLocks noChangeAspect="1"/>
          </p:cNvPicPr>
          <p:nvPr/>
        </p:nvPicPr>
        <p:blipFill>
          <a:blip r:embed="rId3"/>
          <a:stretch>
            <a:fillRect/>
          </a:stretch>
        </p:blipFill>
        <p:spPr>
          <a:xfrm>
            <a:off x="969264" y="3328416"/>
            <a:ext cx="256032" cy="256032"/>
          </a:xfrm>
          <a:prstGeom prst="rect">
            <a:avLst/>
          </a:prstGeom>
        </p:spPr>
      </p:pic>
      <p:sp>
        <p:nvSpPr>
          <p:cNvPr id="19" name="Text 14"/>
          <p:cNvSpPr/>
          <p:nvPr/>
        </p:nvSpPr>
        <p:spPr>
          <a:xfrm>
            <a:off x="1508760" y="3154680"/>
            <a:ext cx="4297680" cy="457200"/>
          </a:xfrm>
          <a:prstGeom prst="rect">
            <a:avLst/>
          </a:prstGeom>
          <a:noFill/>
          <a:ln/>
        </p:spPr>
        <p:txBody>
          <a:bodyPr wrap="square" rtlCol="0" anchor="ctr"/>
          <a:lstStyle/>
          <a:p>
            <a:pPr indent="0" marL="0">
              <a:buNone/>
            </a:pPr>
            <a:r>
              <a:rPr lang="en-US" sz="1450" b="1" dirty="0">
                <a:solidFill>
                  <a:srgbClr val="142033"/>
                </a:solidFill>
                <a:latin typeface="Poppins" pitchFamily="34" charset="0"/>
                <a:ea typeface="Poppins" pitchFamily="34" charset="-122"/>
                <a:cs typeface="Poppins" pitchFamily="34" charset="-120"/>
              </a:rPr>
              <a:t>Klasa publike ≠ emri i file-it</a:t>
            </a:r>
            <a:endParaRPr lang="en-US" sz="1450" dirty="0"/>
          </a:p>
        </p:txBody>
      </p:sp>
      <p:sp>
        <p:nvSpPr>
          <p:cNvPr id="20" name="Text 15"/>
          <p:cNvSpPr/>
          <p:nvPr/>
        </p:nvSpPr>
        <p:spPr>
          <a:xfrm>
            <a:off x="1508760" y="3630168"/>
            <a:ext cx="4297680" cy="548640"/>
          </a:xfrm>
          <a:prstGeom prst="rect">
            <a:avLst/>
          </a:prstGeom>
          <a:noFill/>
          <a:ln/>
        </p:spPr>
        <p:txBody>
          <a:bodyPr wrap="square" rtlCol="0" anchor="t"/>
          <a:lstStyle/>
          <a:p>
            <a:pPr indent="0" marL="0">
              <a:buNone/>
            </a:pPr>
            <a:r>
              <a:rPr lang="en-US" sz="1200" dirty="0">
                <a:solidFill>
                  <a:srgbClr val="26313F"/>
                </a:solidFill>
                <a:latin typeface="Work Sans" pitchFamily="34" charset="0"/>
                <a:ea typeface="Work Sans" pitchFamily="34" charset="-122"/>
                <a:cs typeface="Work Sans" pitchFamily="34" charset="-120"/>
              </a:rPr>
              <a:t>public class X duhet në X.java</a:t>
            </a:r>
            <a:endParaRPr lang="en-US" sz="1200" dirty="0"/>
          </a:p>
        </p:txBody>
      </p:sp>
      <p:sp>
        <p:nvSpPr>
          <p:cNvPr id="21" name="Shape 16"/>
          <p:cNvSpPr/>
          <p:nvPr/>
        </p:nvSpPr>
        <p:spPr>
          <a:xfrm>
            <a:off x="6172200" y="2971800"/>
            <a:ext cx="5303520" cy="1325880"/>
          </a:xfrm>
          <a:prstGeom prst="roundRect">
            <a:avLst>
              <a:gd name="adj" fmla="val 6897"/>
            </a:avLst>
          </a:prstGeom>
          <a:solidFill>
            <a:srgbClr val="F2F5F9"/>
          </a:solidFill>
          <a:ln w="12700">
            <a:solidFill>
              <a:srgbClr val="DBE2EA"/>
            </a:solidFill>
            <a:prstDash val="solid"/>
          </a:ln>
        </p:spPr>
      </p:sp>
      <p:sp>
        <p:nvSpPr>
          <p:cNvPr id="22" name="Shape 17"/>
          <p:cNvSpPr/>
          <p:nvPr/>
        </p:nvSpPr>
        <p:spPr>
          <a:xfrm>
            <a:off x="6400800" y="3227832"/>
            <a:ext cx="457200" cy="457200"/>
          </a:xfrm>
          <a:prstGeom prst="ellipse">
            <a:avLst/>
          </a:prstGeom>
          <a:solidFill>
            <a:srgbClr val="E05B4B"/>
          </a:solidFill>
          <a:ln/>
        </p:spPr>
      </p:sp>
      <p:pic>
        <p:nvPicPr>
          <p:cNvPr id="23" name="Image 3" descr="preencoded.png">    </p:cNvPr>
          <p:cNvPicPr>
            <a:picLocks noChangeAspect="1"/>
          </p:cNvPicPr>
          <p:nvPr/>
        </p:nvPicPr>
        <p:blipFill>
          <a:blip r:embed="rId4"/>
          <a:stretch>
            <a:fillRect/>
          </a:stretch>
        </p:blipFill>
        <p:spPr>
          <a:xfrm>
            <a:off x="6501384" y="3328416"/>
            <a:ext cx="256032" cy="256032"/>
          </a:xfrm>
          <a:prstGeom prst="rect">
            <a:avLst/>
          </a:prstGeom>
        </p:spPr>
      </p:pic>
      <p:sp>
        <p:nvSpPr>
          <p:cNvPr id="24" name="Text 18"/>
          <p:cNvSpPr/>
          <p:nvPr/>
        </p:nvSpPr>
        <p:spPr>
          <a:xfrm>
            <a:off x="7040880" y="3154680"/>
            <a:ext cx="4297680" cy="457200"/>
          </a:xfrm>
          <a:prstGeom prst="rect">
            <a:avLst/>
          </a:prstGeom>
          <a:noFill/>
          <a:ln/>
        </p:spPr>
        <p:txBody>
          <a:bodyPr wrap="square" rtlCol="0" anchor="ctr"/>
          <a:lstStyle/>
          <a:p>
            <a:pPr indent="0" marL="0">
              <a:buNone/>
            </a:pPr>
            <a:r>
              <a:rPr lang="en-US" sz="1450" b="1" dirty="0">
                <a:solidFill>
                  <a:srgbClr val="142033"/>
                </a:solidFill>
                <a:latin typeface="Poppins" pitchFamily="34" charset="0"/>
                <a:ea typeface="Poppins" pitchFamily="34" charset="-122"/>
                <a:cs typeface="Poppins" pitchFamily="34" charset="-120"/>
              </a:rPr>
              <a:t>Harresa e break në switch</a:t>
            </a:r>
            <a:endParaRPr lang="en-US" sz="1450" dirty="0"/>
          </a:p>
        </p:txBody>
      </p:sp>
      <p:sp>
        <p:nvSpPr>
          <p:cNvPr id="25" name="Text 19"/>
          <p:cNvSpPr/>
          <p:nvPr/>
        </p:nvSpPr>
        <p:spPr>
          <a:xfrm>
            <a:off x="7040880" y="3630168"/>
            <a:ext cx="4297680" cy="548640"/>
          </a:xfrm>
          <a:prstGeom prst="rect">
            <a:avLst/>
          </a:prstGeom>
          <a:noFill/>
          <a:ln/>
        </p:spPr>
        <p:txBody>
          <a:bodyPr wrap="square" rtlCol="0" anchor="t"/>
          <a:lstStyle/>
          <a:p>
            <a:pPr indent="0" marL="0">
              <a:buNone/>
            </a:pPr>
            <a:r>
              <a:rPr lang="en-US" sz="1200" dirty="0">
                <a:solidFill>
                  <a:srgbClr val="26313F"/>
                </a:solidFill>
                <a:latin typeface="Work Sans" pitchFamily="34" charset="0"/>
                <a:ea typeface="Work Sans" pitchFamily="34" charset="-122"/>
                <a:cs typeface="Work Sans" pitchFamily="34" charset="-120"/>
              </a:rPr>
              <a:t>Rrjedh te case-i tjetër (fall-through)</a:t>
            </a:r>
            <a:endParaRPr lang="en-US" sz="1200" dirty="0"/>
          </a:p>
        </p:txBody>
      </p:sp>
      <p:sp>
        <p:nvSpPr>
          <p:cNvPr id="26" name="Shape 20"/>
          <p:cNvSpPr/>
          <p:nvPr/>
        </p:nvSpPr>
        <p:spPr>
          <a:xfrm>
            <a:off x="640080" y="4480560"/>
            <a:ext cx="5303520" cy="1325880"/>
          </a:xfrm>
          <a:prstGeom prst="roundRect">
            <a:avLst>
              <a:gd name="adj" fmla="val 6897"/>
            </a:avLst>
          </a:prstGeom>
          <a:solidFill>
            <a:srgbClr val="F2F5F9"/>
          </a:solidFill>
          <a:ln w="12700">
            <a:solidFill>
              <a:srgbClr val="DBE2EA"/>
            </a:solidFill>
            <a:prstDash val="solid"/>
          </a:ln>
        </p:spPr>
      </p:sp>
      <p:sp>
        <p:nvSpPr>
          <p:cNvPr id="27" name="Shape 21"/>
          <p:cNvSpPr/>
          <p:nvPr/>
        </p:nvSpPr>
        <p:spPr>
          <a:xfrm>
            <a:off x="868680" y="4736592"/>
            <a:ext cx="457200" cy="457200"/>
          </a:xfrm>
          <a:prstGeom prst="ellipse">
            <a:avLst/>
          </a:prstGeom>
          <a:solidFill>
            <a:srgbClr val="E05B4B"/>
          </a:solidFill>
          <a:ln/>
        </p:spPr>
      </p:sp>
      <p:pic>
        <p:nvPicPr>
          <p:cNvPr id="28" name="Image 4" descr="preencoded.png">    </p:cNvPr>
          <p:cNvPicPr>
            <a:picLocks noChangeAspect="1"/>
          </p:cNvPicPr>
          <p:nvPr/>
        </p:nvPicPr>
        <p:blipFill>
          <a:blip r:embed="rId5"/>
          <a:stretch>
            <a:fillRect/>
          </a:stretch>
        </p:blipFill>
        <p:spPr>
          <a:xfrm>
            <a:off x="969264" y="4837176"/>
            <a:ext cx="256032" cy="256032"/>
          </a:xfrm>
          <a:prstGeom prst="rect">
            <a:avLst/>
          </a:prstGeom>
        </p:spPr>
      </p:pic>
      <p:sp>
        <p:nvSpPr>
          <p:cNvPr id="29" name="Text 22"/>
          <p:cNvSpPr/>
          <p:nvPr/>
        </p:nvSpPr>
        <p:spPr>
          <a:xfrm>
            <a:off x="1508760" y="4663440"/>
            <a:ext cx="4297680" cy="457200"/>
          </a:xfrm>
          <a:prstGeom prst="rect">
            <a:avLst/>
          </a:prstGeom>
          <a:noFill/>
          <a:ln/>
        </p:spPr>
        <p:txBody>
          <a:bodyPr wrap="square" rtlCol="0" anchor="ctr"/>
          <a:lstStyle/>
          <a:p>
            <a:pPr indent="0" marL="0">
              <a:buNone/>
            </a:pPr>
            <a:r>
              <a:rPr lang="en-US" sz="1450" b="1" dirty="0">
                <a:solidFill>
                  <a:srgbClr val="142033"/>
                </a:solidFill>
                <a:latin typeface="Poppins" pitchFamily="34" charset="0"/>
                <a:ea typeface="Poppins" pitchFamily="34" charset="-122"/>
                <a:cs typeface="Poppins" pitchFamily="34" charset="-120"/>
              </a:rPr>
              <a:t>Mos-mbyllja e lidhjes DB</a:t>
            </a:r>
            <a:endParaRPr lang="en-US" sz="1450" dirty="0"/>
          </a:p>
        </p:txBody>
      </p:sp>
      <p:sp>
        <p:nvSpPr>
          <p:cNvPr id="30" name="Text 23"/>
          <p:cNvSpPr/>
          <p:nvPr/>
        </p:nvSpPr>
        <p:spPr>
          <a:xfrm>
            <a:off x="1508760" y="5138928"/>
            <a:ext cx="4297680" cy="548640"/>
          </a:xfrm>
          <a:prstGeom prst="rect">
            <a:avLst/>
          </a:prstGeom>
          <a:noFill/>
          <a:ln/>
        </p:spPr>
        <p:txBody>
          <a:bodyPr wrap="square" rtlCol="0" anchor="t"/>
          <a:lstStyle/>
          <a:p>
            <a:pPr indent="0" marL="0">
              <a:buNone/>
            </a:pPr>
            <a:r>
              <a:rPr lang="en-US" sz="1200" dirty="0">
                <a:solidFill>
                  <a:srgbClr val="26313F"/>
                </a:solidFill>
                <a:latin typeface="Work Sans" pitchFamily="34" charset="0"/>
                <a:ea typeface="Work Sans" pitchFamily="34" charset="-122"/>
                <a:cs typeface="Work Sans" pitchFamily="34" charset="-120"/>
              </a:rPr>
              <a:t>Përdor try-with-resources</a:t>
            </a:r>
            <a:endParaRPr lang="en-US" sz="1200" dirty="0"/>
          </a:p>
        </p:txBody>
      </p:sp>
      <p:sp>
        <p:nvSpPr>
          <p:cNvPr id="31" name="Shape 24"/>
          <p:cNvSpPr/>
          <p:nvPr/>
        </p:nvSpPr>
        <p:spPr>
          <a:xfrm>
            <a:off x="6172200" y="4480560"/>
            <a:ext cx="5303520" cy="1325880"/>
          </a:xfrm>
          <a:prstGeom prst="roundRect">
            <a:avLst>
              <a:gd name="adj" fmla="val 6897"/>
            </a:avLst>
          </a:prstGeom>
          <a:solidFill>
            <a:srgbClr val="F2F5F9"/>
          </a:solidFill>
          <a:ln w="12700">
            <a:solidFill>
              <a:srgbClr val="DBE2EA"/>
            </a:solidFill>
            <a:prstDash val="solid"/>
          </a:ln>
        </p:spPr>
      </p:sp>
      <p:sp>
        <p:nvSpPr>
          <p:cNvPr id="32" name="Shape 25"/>
          <p:cNvSpPr/>
          <p:nvPr/>
        </p:nvSpPr>
        <p:spPr>
          <a:xfrm>
            <a:off x="6400800" y="4736592"/>
            <a:ext cx="457200" cy="457200"/>
          </a:xfrm>
          <a:prstGeom prst="ellipse">
            <a:avLst/>
          </a:prstGeom>
          <a:solidFill>
            <a:srgbClr val="E05B4B"/>
          </a:solidFill>
          <a:ln/>
        </p:spPr>
      </p:sp>
      <p:pic>
        <p:nvPicPr>
          <p:cNvPr id="33" name="Image 5" descr="preencoded.png">    </p:cNvPr>
          <p:cNvPicPr>
            <a:picLocks noChangeAspect="1"/>
          </p:cNvPicPr>
          <p:nvPr/>
        </p:nvPicPr>
        <p:blipFill>
          <a:blip r:embed="rId6"/>
          <a:stretch>
            <a:fillRect/>
          </a:stretch>
        </p:blipFill>
        <p:spPr>
          <a:xfrm>
            <a:off x="6501384" y="4837176"/>
            <a:ext cx="256032" cy="256032"/>
          </a:xfrm>
          <a:prstGeom prst="rect">
            <a:avLst/>
          </a:prstGeom>
        </p:spPr>
      </p:pic>
      <p:sp>
        <p:nvSpPr>
          <p:cNvPr id="34" name="Text 26"/>
          <p:cNvSpPr/>
          <p:nvPr/>
        </p:nvSpPr>
        <p:spPr>
          <a:xfrm>
            <a:off x="7040880" y="4663440"/>
            <a:ext cx="4297680" cy="457200"/>
          </a:xfrm>
          <a:prstGeom prst="rect">
            <a:avLst/>
          </a:prstGeom>
          <a:noFill/>
          <a:ln/>
        </p:spPr>
        <p:txBody>
          <a:bodyPr wrap="square" rtlCol="0" anchor="ctr"/>
          <a:lstStyle/>
          <a:p>
            <a:pPr indent="0" marL="0">
              <a:buNone/>
            </a:pPr>
            <a:r>
              <a:rPr lang="en-US" sz="1450" b="1" dirty="0">
                <a:solidFill>
                  <a:srgbClr val="142033"/>
                </a:solidFill>
                <a:latin typeface="Poppins" pitchFamily="34" charset="0"/>
                <a:ea typeface="Poppins" pitchFamily="34" charset="-122"/>
                <a:cs typeface="Poppins" pitchFamily="34" charset="-120"/>
              </a:rPr>
              <a:t>executeQuery për INSERT</a:t>
            </a:r>
            <a:endParaRPr lang="en-US" sz="1450" dirty="0"/>
          </a:p>
        </p:txBody>
      </p:sp>
      <p:sp>
        <p:nvSpPr>
          <p:cNvPr id="35" name="Text 27"/>
          <p:cNvSpPr/>
          <p:nvPr/>
        </p:nvSpPr>
        <p:spPr>
          <a:xfrm>
            <a:off x="7040880" y="5138928"/>
            <a:ext cx="4297680" cy="548640"/>
          </a:xfrm>
          <a:prstGeom prst="rect">
            <a:avLst/>
          </a:prstGeom>
          <a:noFill/>
          <a:ln/>
        </p:spPr>
        <p:txBody>
          <a:bodyPr wrap="square" rtlCol="0" anchor="t"/>
          <a:lstStyle/>
          <a:p>
            <a:pPr indent="0" marL="0">
              <a:buNone/>
            </a:pPr>
            <a:r>
              <a:rPr lang="en-US" sz="1200" dirty="0">
                <a:solidFill>
                  <a:srgbClr val="26313F"/>
                </a:solidFill>
                <a:latin typeface="Work Sans" pitchFamily="34" charset="0"/>
                <a:ea typeface="Work Sans" pitchFamily="34" charset="-122"/>
                <a:cs typeface="Work Sans" pitchFamily="34" charset="-120"/>
              </a:rPr>
              <a:t>INSERT/UPDATE/DELETE → executeUpdate</a:t>
            </a:r>
            <a:endParaRPr lang="en-US" sz="1200" dirty="0"/>
          </a:p>
        </p:txBody>
      </p:sp>
      <p:sp>
        <p:nvSpPr>
          <p:cNvPr id="36" name="Text 28"/>
          <p:cNvSpPr/>
          <p:nvPr/>
        </p:nvSpPr>
        <p:spPr>
          <a:xfrm>
            <a:off x="11612880" y="6400800"/>
            <a:ext cx="457200" cy="274320"/>
          </a:xfrm>
          <a:prstGeom prst="rect">
            <a:avLst/>
          </a:prstGeom>
          <a:noFill/>
          <a:ln/>
        </p:spPr>
        <p:txBody>
          <a:bodyPr wrap="square" rtlCol="0" anchor="ctr"/>
          <a:lstStyle/>
          <a:p>
            <a:pPr algn="r" indent="0" marL="0">
              <a:buNone/>
            </a:pPr>
            <a:r>
              <a:rPr lang="en-US" sz="1100" dirty="0">
                <a:solidFill>
                  <a:srgbClr val="6A7889"/>
                </a:solidFill>
                <a:latin typeface="Work Sans" pitchFamily="34" charset="0"/>
                <a:ea typeface="Work Sans" pitchFamily="34" charset="-122"/>
                <a:cs typeface="Work Sans"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203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2033"/>
          </a:solidFill>
          <a:ln/>
        </p:spPr>
      </p:sp>
      <p:sp>
        <p:nvSpPr>
          <p:cNvPr id="3" name="Text 1"/>
          <p:cNvSpPr/>
          <p:nvPr/>
        </p:nvSpPr>
        <p:spPr>
          <a:xfrm>
            <a:off x="548640" y="320040"/>
            <a:ext cx="10972800" cy="274320"/>
          </a:xfrm>
          <a:prstGeom prst="rect">
            <a:avLst/>
          </a:prstGeom>
          <a:noFill/>
          <a:ln/>
        </p:spPr>
        <p:txBody>
          <a:bodyPr wrap="square" rtlCol="0" anchor="ctr"/>
          <a:lstStyle/>
          <a:p>
            <a:pPr indent="0" marL="0">
              <a:buNone/>
            </a:pPr>
            <a:r>
              <a:rPr lang="en-US" sz="1200" b="1" spc="200" kern="0" dirty="0">
                <a:solidFill>
                  <a:srgbClr val="F6A63B"/>
                </a:solidFill>
                <a:latin typeface="Poppins" pitchFamily="34" charset="0"/>
                <a:ea typeface="Poppins" pitchFamily="34" charset="-122"/>
                <a:cs typeface="Poppins" pitchFamily="34" charset="-120"/>
              </a:rPr>
              <a:t>E PREMTJA — DITA E FUNDIT</a:t>
            </a:r>
            <a:endParaRPr lang="en-US" sz="1200" dirty="0"/>
          </a:p>
        </p:txBody>
      </p:sp>
      <p:sp>
        <p:nvSpPr>
          <p:cNvPr id="4" name="Text 2"/>
          <p:cNvSpPr/>
          <p:nvPr/>
        </p:nvSpPr>
        <p:spPr>
          <a:xfrm>
            <a:off x="548640" y="621792"/>
            <a:ext cx="11064240" cy="658368"/>
          </a:xfrm>
          <a:prstGeom prst="rect">
            <a:avLst/>
          </a:prstGeom>
          <a:noFill/>
          <a:ln/>
        </p:spPr>
        <p:txBody>
          <a:bodyPr wrap="square" rtlCol="0" anchor="ctr"/>
          <a:lstStyle/>
          <a:p>
            <a:pPr indent="0" marL="0">
              <a:buNone/>
            </a:pPr>
            <a:r>
              <a:rPr lang="en-US" sz="2800" b="1" dirty="0">
                <a:solidFill>
                  <a:srgbClr val="FFFFFF"/>
                </a:solidFill>
                <a:latin typeface="Poppins" pitchFamily="34" charset="0"/>
                <a:ea typeface="Poppins" pitchFamily="34" charset="-122"/>
                <a:cs typeface="Poppins" pitchFamily="34" charset="-120"/>
              </a:rPr>
              <a:t>6 shembuj me kod të plotë për t'i zgjidhur bashkë</a:t>
            </a:r>
            <a:endParaRPr lang="en-US" sz="2800" dirty="0"/>
          </a:p>
        </p:txBody>
      </p:sp>
      <p:sp>
        <p:nvSpPr>
          <p:cNvPr id="5" name="Shape 3"/>
          <p:cNvSpPr/>
          <p:nvPr/>
        </p:nvSpPr>
        <p:spPr>
          <a:xfrm>
            <a:off x="548640" y="1691640"/>
            <a:ext cx="5394960" cy="1234440"/>
          </a:xfrm>
          <a:prstGeom prst="roundRect">
            <a:avLst>
              <a:gd name="adj" fmla="val 7407"/>
            </a:avLst>
          </a:prstGeom>
          <a:solidFill>
            <a:srgbClr val="1E3050"/>
          </a:solidFill>
          <a:ln w="12700">
            <a:solidFill>
              <a:srgbClr val="2E4568"/>
            </a:solidFill>
            <a:prstDash val="solid"/>
          </a:ln>
        </p:spPr>
      </p:sp>
      <p:sp>
        <p:nvSpPr>
          <p:cNvPr id="6" name="Shape 4"/>
          <p:cNvSpPr/>
          <p:nvPr/>
        </p:nvSpPr>
        <p:spPr>
          <a:xfrm>
            <a:off x="548640" y="1691640"/>
            <a:ext cx="91440" cy="1234440"/>
          </a:xfrm>
          <a:prstGeom prst="rect">
            <a:avLst/>
          </a:prstGeom>
          <a:solidFill>
            <a:srgbClr val="E8730C"/>
          </a:solidFill>
          <a:ln/>
        </p:spPr>
      </p:sp>
      <p:pic>
        <p:nvPicPr>
          <p:cNvPr id="7" name="Image 0" descr="preencoded.png">    </p:cNvPr>
          <p:cNvPicPr>
            <a:picLocks noChangeAspect="1"/>
          </p:cNvPicPr>
          <p:nvPr/>
        </p:nvPicPr>
        <p:blipFill>
          <a:blip r:embed="rId1"/>
          <a:stretch>
            <a:fillRect/>
          </a:stretch>
        </p:blipFill>
        <p:spPr>
          <a:xfrm>
            <a:off x="868680" y="1965960"/>
            <a:ext cx="640080" cy="640080"/>
          </a:xfrm>
          <a:prstGeom prst="rect">
            <a:avLst/>
          </a:prstGeom>
        </p:spPr>
      </p:pic>
      <p:sp>
        <p:nvSpPr>
          <p:cNvPr id="8" name="Text 5"/>
          <p:cNvSpPr/>
          <p:nvPr/>
        </p:nvSpPr>
        <p:spPr>
          <a:xfrm>
            <a:off x="1691640" y="1874520"/>
            <a:ext cx="4114800" cy="457200"/>
          </a:xfrm>
          <a:prstGeom prst="rect">
            <a:avLst/>
          </a:prstGeom>
          <a:noFill/>
          <a:ln/>
        </p:spPr>
        <p:txBody>
          <a:bodyPr wrap="square" rtlCol="0" anchor="ctr"/>
          <a:lstStyle/>
          <a:p>
            <a:pPr indent="0" marL="0">
              <a:buNone/>
            </a:pPr>
            <a:r>
              <a:rPr lang="en-US" sz="1500" b="1" dirty="0">
                <a:solidFill>
                  <a:srgbClr val="FFFFFF"/>
                </a:solidFill>
                <a:latin typeface="Poppins" pitchFamily="34" charset="0"/>
                <a:ea typeface="Poppins" pitchFamily="34" charset="-122"/>
                <a:cs typeface="Poppins" pitchFamily="34" charset="-120"/>
              </a:rPr>
              <a:t>1. Figura</a:t>
            </a:r>
            <a:endParaRPr lang="en-US" sz="1500" dirty="0"/>
          </a:p>
        </p:txBody>
      </p:sp>
      <p:sp>
        <p:nvSpPr>
          <p:cNvPr id="9" name="Text 6"/>
          <p:cNvSpPr/>
          <p:nvPr/>
        </p:nvSpPr>
        <p:spPr>
          <a:xfrm>
            <a:off x="1691640" y="2350008"/>
            <a:ext cx="4114800" cy="502920"/>
          </a:xfrm>
          <a:prstGeom prst="rect">
            <a:avLst/>
          </a:prstGeom>
          <a:noFill/>
          <a:ln/>
        </p:spPr>
        <p:txBody>
          <a:bodyPr wrap="square" rtlCol="0" anchor="t"/>
          <a:lstStyle/>
          <a:p>
            <a:pPr indent="0" marL="0">
              <a:buNone/>
            </a:pPr>
            <a:r>
              <a:rPr lang="en-US" sz="1150" dirty="0">
                <a:solidFill>
                  <a:srgbClr val="DBE2EA"/>
                </a:solidFill>
                <a:latin typeface="Work Sans" pitchFamily="34" charset="0"/>
                <a:ea typeface="Work Sans" pitchFamily="34" charset="-122"/>
                <a:cs typeface="Work Sans" pitchFamily="34" charset="-120"/>
              </a:rPr>
              <a:t>Klasë abstrakte, polimorfizëm, instanceof</a:t>
            </a:r>
            <a:endParaRPr lang="en-US" sz="1150" dirty="0"/>
          </a:p>
        </p:txBody>
      </p:sp>
      <p:sp>
        <p:nvSpPr>
          <p:cNvPr id="10" name="Shape 7"/>
          <p:cNvSpPr/>
          <p:nvPr/>
        </p:nvSpPr>
        <p:spPr>
          <a:xfrm>
            <a:off x="6172200" y="1691640"/>
            <a:ext cx="5394960" cy="1234440"/>
          </a:xfrm>
          <a:prstGeom prst="roundRect">
            <a:avLst>
              <a:gd name="adj" fmla="val 7407"/>
            </a:avLst>
          </a:prstGeom>
          <a:solidFill>
            <a:srgbClr val="1E3050"/>
          </a:solidFill>
          <a:ln w="12700">
            <a:solidFill>
              <a:srgbClr val="2E4568"/>
            </a:solidFill>
            <a:prstDash val="solid"/>
          </a:ln>
        </p:spPr>
      </p:sp>
      <p:sp>
        <p:nvSpPr>
          <p:cNvPr id="11" name="Shape 8"/>
          <p:cNvSpPr/>
          <p:nvPr/>
        </p:nvSpPr>
        <p:spPr>
          <a:xfrm>
            <a:off x="6172200" y="1691640"/>
            <a:ext cx="91440" cy="1234440"/>
          </a:xfrm>
          <a:prstGeom prst="rect">
            <a:avLst/>
          </a:prstGeom>
          <a:solidFill>
            <a:srgbClr val="E8730C"/>
          </a:solidFill>
          <a:ln/>
        </p:spPr>
      </p:sp>
      <p:pic>
        <p:nvPicPr>
          <p:cNvPr id="12" name="Image 1" descr="preencoded.png">    </p:cNvPr>
          <p:cNvPicPr>
            <a:picLocks noChangeAspect="1"/>
          </p:cNvPicPr>
          <p:nvPr/>
        </p:nvPicPr>
        <p:blipFill>
          <a:blip r:embed="rId2"/>
          <a:stretch>
            <a:fillRect/>
          </a:stretch>
        </p:blipFill>
        <p:spPr>
          <a:xfrm>
            <a:off x="6492240" y="1965960"/>
            <a:ext cx="640080" cy="640080"/>
          </a:xfrm>
          <a:prstGeom prst="rect">
            <a:avLst/>
          </a:prstGeom>
        </p:spPr>
      </p:pic>
      <p:sp>
        <p:nvSpPr>
          <p:cNvPr id="13" name="Text 9"/>
          <p:cNvSpPr/>
          <p:nvPr/>
        </p:nvSpPr>
        <p:spPr>
          <a:xfrm>
            <a:off x="7315200" y="1874520"/>
            <a:ext cx="4114800" cy="457200"/>
          </a:xfrm>
          <a:prstGeom prst="rect">
            <a:avLst/>
          </a:prstGeom>
          <a:noFill/>
          <a:ln/>
        </p:spPr>
        <p:txBody>
          <a:bodyPr wrap="square" rtlCol="0" anchor="ctr"/>
          <a:lstStyle/>
          <a:p>
            <a:pPr indent="0" marL="0">
              <a:buNone/>
            </a:pPr>
            <a:r>
              <a:rPr lang="en-US" sz="1500" b="1" dirty="0">
                <a:solidFill>
                  <a:srgbClr val="FFFFFF"/>
                </a:solidFill>
                <a:latin typeface="Poppins" pitchFamily="34" charset="0"/>
                <a:ea typeface="Poppins" pitchFamily="34" charset="-122"/>
                <a:cs typeface="Poppins" pitchFamily="34" charset="-120"/>
              </a:rPr>
              <a:t>2. Llogaria Bankare</a:t>
            </a:r>
            <a:endParaRPr lang="en-US" sz="1500" dirty="0"/>
          </a:p>
        </p:txBody>
      </p:sp>
      <p:sp>
        <p:nvSpPr>
          <p:cNvPr id="14" name="Text 10"/>
          <p:cNvSpPr/>
          <p:nvPr/>
        </p:nvSpPr>
        <p:spPr>
          <a:xfrm>
            <a:off x="7315200" y="2350008"/>
            <a:ext cx="4114800" cy="502920"/>
          </a:xfrm>
          <a:prstGeom prst="rect">
            <a:avLst/>
          </a:prstGeom>
          <a:noFill/>
          <a:ln/>
        </p:spPr>
        <p:txBody>
          <a:bodyPr wrap="square" rtlCol="0" anchor="t"/>
          <a:lstStyle/>
          <a:p>
            <a:pPr indent="0" marL="0">
              <a:buNone/>
            </a:pPr>
            <a:r>
              <a:rPr lang="en-US" sz="1150" dirty="0">
                <a:solidFill>
                  <a:srgbClr val="DBE2EA"/>
                </a:solidFill>
                <a:latin typeface="Work Sans" pitchFamily="34" charset="0"/>
                <a:ea typeface="Work Sans" pitchFamily="34" charset="-122"/>
                <a:cs typeface="Work Sans" pitchFamily="34" charset="-120"/>
              </a:rPr>
              <a:t>Interface, exception e personalizuar, try/catch/finally</a:t>
            </a:r>
            <a:endParaRPr lang="en-US" sz="1150" dirty="0"/>
          </a:p>
        </p:txBody>
      </p:sp>
      <p:sp>
        <p:nvSpPr>
          <p:cNvPr id="15" name="Shape 11"/>
          <p:cNvSpPr/>
          <p:nvPr/>
        </p:nvSpPr>
        <p:spPr>
          <a:xfrm>
            <a:off x="548640" y="3108960"/>
            <a:ext cx="5394960" cy="1234440"/>
          </a:xfrm>
          <a:prstGeom prst="roundRect">
            <a:avLst>
              <a:gd name="adj" fmla="val 7407"/>
            </a:avLst>
          </a:prstGeom>
          <a:solidFill>
            <a:srgbClr val="1E3050"/>
          </a:solidFill>
          <a:ln w="12700">
            <a:solidFill>
              <a:srgbClr val="2E4568"/>
            </a:solidFill>
            <a:prstDash val="solid"/>
          </a:ln>
        </p:spPr>
      </p:sp>
      <p:sp>
        <p:nvSpPr>
          <p:cNvPr id="16" name="Shape 12"/>
          <p:cNvSpPr/>
          <p:nvPr/>
        </p:nvSpPr>
        <p:spPr>
          <a:xfrm>
            <a:off x="548640" y="3108960"/>
            <a:ext cx="91440" cy="1234440"/>
          </a:xfrm>
          <a:prstGeom prst="rect">
            <a:avLst/>
          </a:prstGeom>
          <a:solidFill>
            <a:srgbClr val="E8730C"/>
          </a:solidFill>
          <a:ln/>
        </p:spPr>
      </p:sp>
      <p:pic>
        <p:nvPicPr>
          <p:cNvPr id="17" name="Image 2" descr="preencoded.png">    </p:cNvPr>
          <p:cNvPicPr>
            <a:picLocks noChangeAspect="1"/>
          </p:cNvPicPr>
          <p:nvPr/>
        </p:nvPicPr>
        <p:blipFill>
          <a:blip r:embed="rId3"/>
          <a:stretch>
            <a:fillRect/>
          </a:stretch>
        </p:blipFill>
        <p:spPr>
          <a:xfrm>
            <a:off x="868680" y="3383280"/>
            <a:ext cx="640080" cy="640080"/>
          </a:xfrm>
          <a:prstGeom prst="rect">
            <a:avLst/>
          </a:prstGeom>
        </p:spPr>
      </p:pic>
      <p:sp>
        <p:nvSpPr>
          <p:cNvPr id="18" name="Text 13"/>
          <p:cNvSpPr/>
          <p:nvPr/>
        </p:nvSpPr>
        <p:spPr>
          <a:xfrm>
            <a:off x="1691640" y="3291840"/>
            <a:ext cx="4114800" cy="457200"/>
          </a:xfrm>
          <a:prstGeom prst="rect">
            <a:avLst/>
          </a:prstGeom>
          <a:noFill/>
          <a:ln/>
        </p:spPr>
        <p:txBody>
          <a:bodyPr wrap="square" rtlCol="0" anchor="ctr"/>
          <a:lstStyle/>
          <a:p>
            <a:pPr indent="0" marL="0">
              <a:buNone/>
            </a:pPr>
            <a:r>
              <a:rPr lang="en-US" sz="1500" b="1" dirty="0">
                <a:solidFill>
                  <a:srgbClr val="FFFFFF"/>
                </a:solidFill>
                <a:latin typeface="Poppins" pitchFamily="34" charset="0"/>
                <a:ea typeface="Poppins" pitchFamily="34" charset="-122"/>
                <a:cs typeface="Poppins" pitchFamily="34" charset="-120"/>
              </a:rPr>
              <a:t>3. Statistika</a:t>
            </a:r>
            <a:endParaRPr lang="en-US" sz="1500" dirty="0"/>
          </a:p>
        </p:txBody>
      </p:sp>
      <p:sp>
        <p:nvSpPr>
          <p:cNvPr id="19" name="Text 14"/>
          <p:cNvSpPr/>
          <p:nvPr/>
        </p:nvSpPr>
        <p:spPr>
          <a:xfrm>
            <a:off x="1691640" y="3767328"/>
            <a:ext cx="4114800" cy="502920"/>
          </a:xfrm>
          <a:prstGeom prst="rect">
            <a:avLst/>
          </a:prstGeom>
          <a:noFill/>
          <a:ln/>
        </p:spPr>
        <p:txBody>
          <a:bodyPr wrap="square" rtlCol="0" anchor="t"/>
          <a:lstStyle/>
          <a:p>
            <a:pPr indent="0" marL="0">
              <a:buNone/>
            </a:pPr>
            <a:r>
              <a:rPr lang="en-US" sz="1150" dirty="0">
                <a:solidFill>
                  <a:srgbClr val="DBE2EA"/>
                </a:solidFill>
                <a:latin typeface="Work Sans" pitchFamily="34" charset="0"/>
                <a:ea typeface="Work Sans" pitchFamily="34" charset="-122"/>
                <a:cs typeface="Work Sans" pitchFamily="34" charset="-120"/>
              </a:rPr>
              <a:t>Vargje, metoda, unaza (max &amp; mesatare)</a:t>
            </a:r>
            <a:endParaRPr lang="en-US" sz="1150" dirty="0"/>
          </a:p>
        </p:txBody>
      </p:sp>
      <p:sp>
        <p:nvSpPr>
          <p:cNvPr id="20" name="Shape 15"/>
          <p:cNvSpPr/>
          <p:nvPr/>
        </p:nvSpPr>
        <p:spPr>
          <a:xfrm>
            <a:off x="6172200" y="3108960"/>
            <a:ext cx="5394960" cy="1234440"/>
          </a:xfrm>
          <a:prstGeom prst="roundRect">
            <a:avLst>
              <a:gd name="adj" fmla="val 7407"/>
            </a:avLst>
          </a:prstGeom>
          <a:solidFill>
            <a:srgbClr val="1E3050"/>
          </a:solidFill>
          <a:ln w="12700">
            <a:solidFill>
              <a:srgbClr val="2E4568"/>
            </a:solidFill>
            <a:prstDash val="solid"/>
          </a:ln>
        </p:spPr>
      </p:sp>
      <p:sp>
        <p:nvSpPr>
          <p:cNvPr id="21" name="Shape 16"/>
          <p:cNvSpPr/>
          <p:nvPr/>
        </p:nvSpPr>
        <p:spPr>
          <a:xfrm>
            <a:off x="6172200" y="3108960"/>
            <a:ext cx="91440" cy="1234440"/>
          </a:xfrm>
          <a:prstGeom prst="rect">
            <a:avLst/>
          </a:prstGeom>
          <a:solidFill>
            <a:srgbClr val="E8730C"/>
          </a:solidFill>
          <a:ln/>
        </p:spPr>
      </p:sp>
      <p:pic>
        <p:nvPicPr>
          <p:cNvPr id="22" name="Image 3" descr="preencoded.png">    </p:cNvPr>
          <p:cNvPicPr>
            <a:picLocks noChangeAspect="1"/>
          </p:cNvPicPr>
          <p:nvPr/>
        </p:nvPicPr>
        <p:blipFill>
          <a:blip r:embed="rId4"/>
          <a:stretch>
            <a:fillRect/>
          </a:stretch>
        </p:blipFill>
        <p:spPr>
          <a:xfrm>
            <a:off x="6492240" y="3383280"/>
            <a:ext cx="640080" cy="640080"/>
          </a:xfrm>
          <a:prstGeom prst="rect">
            <a:avLst/>
          </a:prstGeom>
        </p:spPr>
      </p:pic>
      <p:sp>
        <p:nvSpPr>
          <p:cNvPr id="23" name="Text 17"/>
          <p:cNvSpPr/>
          <p:nvPr/>
        </p:nvSpPr>
        <p:spPr>
          <a:xfrm>
            <a:off x="7315200" y="3291840"/>
            <a:ext cx="4114800" cy="457200"/>
          </a:xfrm>
          <a:prstGeom prst="rect">
            <a:avLst/>
          </a:prstGeom>
          <a:noFill/>
          <a:ln/>
        </p:spPr>
        <p:txBody>
          <a:bodyPr wrap="square" rtlCol="0" anchor="ctr"/>
          <a:lstStyle/>
          <a:p>
            <a:pPr indent="0" marL="0">
              <a:buNone/>
            </a:pPr>
            <a:r>
              <a:rPr lang="en-US" sz="1500" b="1" dirty="0">
                <a:solidFill>
                  <a:srgbClr val="FFFFFF"/>
                </a:solidFill>
                <a:latin typeface="Poppins" pitchFamily="34" charset="0"/>
                <a:ea typeface="Poppins" pitchFamily="34" charset="-122"/>
                <a:cs typeface="Poppins" pitchFamily="34" charset="-120"/>
              </a:rPr>
              <a:t>4. Fjalori i Notave</a:t>
            </a:r>
            <a:endParaRPr lang="en-US" sz="1500" dirty="0"/>
          </a:p>
        </p:txBody>
      </p:sp>
      <p:sp>
        <p:nvSpPr>
          <p:cNvPr id="24" name="Text 18"/>
          <p:cNvSpPr/>
          <p:nvPr/>
        </p:nvSpPr>
        <p:spPr>
          <a:xfrm>
            <a:off x="7315200" y="3767328"/>
            <a:ext cx="4114800" cy="502920"/>
          </a:xfrm>
          <a:prstGeom prst="rect">
            <a:avLst/>
          </a:prstGeom>
          <a:noFill/>
          <a:ln/>
        </p:spPr>
        <p:txBody>
          <a:bodyPr wrap="square" rtlCol="0" anchor="t"/>
          <a:lstStyle/>
          <a:p>
            <a:pPr indent="0" marL="0">
              <a:buNone/>
            </a:pPr>
            <a:r>
              <a:rPr lang="en-US" sz="1150" dirty="0">
                <a:solidFill>
                  <a:srgbClr val="DBE2EA"/>
                </a:solidFill>
                <a:latin typeface="Work Sans" pitchFamily="34" charset="0"/>
                <a:ea typeface="Work Sans" pitchFamily="34" charset="-122"/>
                <a:cs typeface="Work Sans" pitchFamily="34" charset="-120"/>
              </a:rPr>
              <a:t>HashMap: put, get, entrySet</a:t>
            </a:r>
            <a:endParaRPr lang="en-US" sz="1150" dirty="0"/>
          </a:p>
        </p:txBody>
      </p:sp>
      <p:sp>
        <p:nvSpPr>
          <p:cNvPr id="25" name="Shape 19"/>
          <p:cNvSpPr/>
          <p:nvPr/>
        </p:nvSpPr>
        <p:spPr>
          <a:xfrm>
            <a:off x="548640" y="4526280"/>
            <a:ext cx="5394960" cy="1234440"/>
          </a:xfrm>
          <a:prstGeom prst="roundRect">
            <a:avLst>
              <a:gd name="adj" fmla="val 7407"/>
            </a:avLst>
          </a:prstGeom>
          <a:solidFill>
            <a:srgbClr val="1E3050"/>
          </a:solidFill>
          <a:ln w="12700">
            <a:solidFill>
              <a:srgbClr val="2E4568"/>
            </a:solidFill>
            <a:prstDash val="solid"/>
          </a:ln>
        </p:spPr>
      </p:sp>
      <p:sp>
        <p:nvSpPr>
          <p:cNvPr id="26" name="Shape 20"/>
          <p:cNvSpPr/>
          <p:nvPr/>
        </p:nvSpPr>
        <p:spPr>
          <a:xfrm>
            <a:off x="548640" y="4526280"/>
            <a:ext cx="91440" cy="1234440"/>
          </a:xfrm>
          <a:prstGeom prst="rect">
            <a:avLst/>
          </a:prstGeom>
          <a:solidFill>
            <a:srgbClr val="E8730C"/>
          </a:solidFill>
          <a:ln/>
        </p:spPr>
      </p:sp>
      <p:pic>
        <p:nvPicPr>
          <p:cNvPr id="27" name="Image 4" descr="preencoded.png">    </p:cNvPr>
          <p:cNvPicPr>
            <a:picLocks noChangeAspect="1"/>
          </p:cNvPicPr>
          <p:nvPr/>
        </p:nvPicPr>
        <p:blipFill>
          <a:blip r:embed="rId5"/>
          <a:stretch>
            <a:fillRect/>
          </a:stretch>
        </p:blipFill>
        <p:spPr>
          <a:xfrm>
            <a:off x="868680" y="4800600"/>
            <a:ext cx="640080" cy="640080"/>
          </a:xfrm>
          <a:prstGeom prst="rect">
            <a:avLst/>
          </a:prstGeom>
        </p:spPr>
      </p:pic>
      <p:sp>
        <p:nvSpPr>
          <p:cNvPr id="28" name="Text 21"/>
          <p:cNvSpPr/>
          <p:nvPr/>
        </p:nvSpPr>
        <p:spPr>
          <a:xfrm>
            <a:off x="1691640" y="4709160"/>
            <a:ext cx="4114800" cy="457200"/>
          </a:xfrm>
          <a:prstGeom prst="rect">
            <a:avLst/>
          </a:prstGeom>
          <a:noFill/>
          <a:ln/>
        </p:spPr>
        <p:txBody>
          <a:bodyPr wrap="square" rtlCol="0" anchor="ctr"/>
          <a:lstStyle/>
          <a:p>
            <a:pPr indent="0" marL="0">
              <a:buNone/>
            </a:pPr>
            <a:r>
              <a:rPr lang="en-US" sz="1500" b="1" dirty="0">
                <a:solidFill>
                  <a:srgbClr val="FFFFFF"/>
                </a:solidFill>
                <a:latin typeface="Poppins" pitchFamily="34" charset="0"/>
                <a:ea typeface="Poppins" pitchFamily="34" charset="-122"/>
                <a:cs typeface="Poppins" pitchFamily="34" charset="-120"/>
              </a:rPr>
              <a:t>5. Numëruesi GUI</a:t>
            </a:r>
            <a:endParaRPr lang="en-US" sz="1500" dirty="0"/>
          </a:p>
        </p:txBody>
      </p:sp>
      <p:sp>
        <p:nvSpPr>
          <p:cNvPr id="29" name="Text 22"/>
          <p:cNvSpPr/>
          <p:nvPr/>
        </p:nvSpPr>
        <p:spPr>
          <a:xfrm>
            <a:off x="1691640" y="5184648"/>
            <a:ext cx="4114800" cy="502920"/>
          </a:xfrm>
          <a:prstGeom prst="rect">
            <a:avLst/>
          </a:prstGeom>
          <a:noFill/>
          <a:ln/>
        </p:spPr>
        <p:txBody>
          <a:bodyPr wrap="square" rtlCol="0" anchor="t"/>
          <a:lstStyle/>
          <a:p>
            <a:pPr indent="0" marL="0">
              <a:buNone/>
            </a:pPr>
            <a:r>
              <a:rPr lang="en-US" sz="1150" dirty="0">
                <a:solidFill>
                  <a:srgbClr val="DBE2EA"/>
                </a:solidFill>
                <a:latin typeface="Work Sans" pitchFamily="34" charset="0"/>
                <a:ea typeface="Work Sans" pitchFamily="34" charset="-122"/>
                <a:cs typeface="Work Sans" pitchFamily="34" charset="-120"/>
              </a:rPr>
              <a:t>Swing: JButton, JLabel, ActionListener</a:t>
            </a:r>
            <a:endParaRPr lang="en-US" sz="1150" dirty="0"/>
          </a:p>
        </p:txBody>
      </p:sp>
      <p:sp>
        <p:nvSpPr>
          <p:cNvPr id="30" name="Shape 23"/>
          <p:cNvSpPr/>
          <p:nvPr/>
        </p:nvSpPr>
        <p:spPr>
          <a:xfrm>
            <a:off x="6172200" y="4526280"/>
            <a:ext cx="5394960" cy="1234440"/>
          </a:xfrm>
          <a:prstGeom prst="roundRect">
            <a:avLst>
              <a:gd name="adj" fmla="val 7407"/>
            </a:avLst>
          </a:prstGeom>
          <a:solidFill>
            <a:srgbClr val="1E3050"/>
          </a:solidFill>
          <a:ln w="12700">
            <a:solidFill>
              <a:srgbClr val="2E4568"/>
            </a:solidFill>
            <a:prstDash val="solid"/>
          </a:ln>
        </p:spPr>
      </p:sp>
      <p:sp>
        <p:nvSpPr>
          <p:cNvPr id="31" name="Shape 24"/>
          <p:cNvSpPr/>
          <p:nvPr/>
        </p:nvSpPr>
        <p:spPr>
          <a:xfrm>
            <a:off x="6172200" y="4526280"/>
            <a:ext cx="91440" cy="1234440"/>
          </a:xfrm>
          <a:prstGeom prst="rect">
            <a:avLst/>
          </a:prstGeom>
          <a:solidFill>
            <a:srgbClr val="E8730C"/>
          </a:solidFill>
          <a:ln/>
        </p:spPr>
      </p:sp>
      <p:pic>
        <p:nvPicPr>
          <p:cNvPr id="32" name="Image 5" descr="preencoded.png">    </p:cNvPr>
          <p:cNvPicPr>
            <a:picLocks noChangeAspect="1"/>
          </p:cNvPicPr>
          <p:nvPr/>
        </p:nvPicPr>
        <p:blipFill>
          <a:blip r:embed="rId6"/>
          <a:stretch>
            <a:fillRect/>
          </a:stretch>
        </p:blipFill>
        <p:spPr>
          <a:xfrm>
            <a:off x="6492240" y="4800600"/>
            <a:ext cx="640080" cy="640080"/>
          </a:xfrm>
          <a:prstGeom prst="rect">
            <a:avLst/>
          </a:prstGeom>
        </p:spPr>
      </p:pic>
      <p:sp>
        <p:nvSpPr>
          <p:cNvPr id="33" name="Text 25"/>
          <p:cNvSpPr/>
          <p:nvPr/>
        </p:nvSpPr>
        <p:spPr>
          <a:xfrm>
            <a:off x="7315200" y="4709160"/>
            <a:ext cx="4114800" cy="457200"/>
          </a:xfrm>
          <a:prstGeom prst="rect">
            <a:avLst/>
          </a:prstGeom>
          <a:noFill/>
          <a:ln/>
        </p:spPr>
        <p:txBody>
          <a:bodyPr wrap="square" rtlCol="0" anchor="ctr"/>
          <a:lstStyle/>
          <a:p>
            <a:pPr indent="0" marL="0">
              <a:buNone/>
            </a:pPr>
            <a:r>
              <a:rPr lang="en-US" sz="1500" b="1" dirty="0">
                <a:solidFill>
                  <a:srgbClr val="FFFFFF"/>
                </a:solidFill>
                <a:latin typeface="Poppins" pitchFamily="34" charset="0"/>
                <a:ea typeface="Poppins" pitchFamily="34" charset="-122"/>
                <a:cs typeface="Poppins" pitchFamily="34" charset="-120"/>
              </a:rPr>
              <a:t>6. Baza e Studentëve</a:t>
            </a:r>
            <a:endParaRPr lang="en-US" sz="1500" dirty="0"/>
          </a:p>
        </p:txBody>
      </p:sp>
      <p:sp>
        <p:nvSpPr>
          <p:cNvPr id="34" name="Text 26"/>
          <p:cNvSpPr/>
          <p:nvPr/>
        </p:nvSpPr>
        <p:spPr>
          <a:xfrm>
            <a:off x="7315200" y="5184648"/>
            <a:ext cx="4114800" cy="502920"/>
          </a:xfrm>
          <a:prstGeom prst="rect">
            <a:avLst/>
          </a:prstGeom>
          <a:noFill/>
          <a:ln/>
        </p:spPr>
        <p:txBody>
          <a:bodyPr wrap="square" rtlCol="0" anchor="t"/>
          <a:lstStyle/>
          <a:p>
            <a:pPr indent="0" marL="0">
              <a:buNone/>
            </a:pPr>
            <a:r>
              <a:rPr lang="en-US" sz="1150" dirty="0">
                <a:solidFill>
                  <a:srgbClr val="DBE2EA"/>
                </a:solidFill>
                <a:latin typeface="Work Sans" pitchFamily="34" charset="0"/>
                <a:ea typeface="Work Sans" pitchFamily="34" charset="-122"/>
                <a:cs typeface="Work Sans" pitchFamily="34" charset="-120"/>
              </a:rPr>
              <a:t>JDBC: INSERT + SELECT me ResultSet</a:t>
            </a:r>
            <a:endParaRPr lang="en-US" sz="1150" dirty="0"/>
          </a:p>
        </p:txBody>
      </p:sp>
      <p:sp>
        <p:nvSpPr>
          <p:cNvPr id="35" name="Shape 27"/>
          <p:cNvSpPr/>
          <p:nvPr/>
        </p:nvSpPr>
        <p:spPr>
          <a:xfrm>
            <a:off x="548640" y="6400800"/>
            <a:ext cx="5480914" cy="310896"/>
          </a:xfrm>
          <a:prstGeom prst="roundRect">
            <a:avLst>
              <a:gd name="adj" fmla="val 50000"/>
            </a:avLst>
          </a:prstGeom>
          <a:solidFill>
            <a:srgbClr val="3FB57A"/>
          </a:solidFill>
          <a:ln/>
        </p:spPr>
      </p:sp>
      <p:pic>
        <p:nvPicPr>
          <p:cNvPr id="36" name="Image 6" descr="preencoded.png">    </p:cNvPr>
          <p:cNvPicPr>
            <a:picLocks noChangeAspect="1"/>
          </p:cNvPicPr>
          <p:nvPr/>
        </p:nvPicPr>
        <p:blipFill>
          <a:blip r:embed="rId7"/>
          <a:stretch>
            <a:fillRect/>
          </a:stretch>
        </p:blipFill>
        <p:spPr>
          <a:xfrm>
            <a:off x="694944" y="6478524"/>
            <a:ext cx="155448" cy="155448"/>
          </a:xfrm>
          <a:prstGeom prst="rect">
            <a:avLst/>
          </a:prstGeom>
        </p:spPr>
      </p:pic>
      <p:sp>
        <p:nvSpPr>
          <p:cNvPr id="37" name="Text 28"/>
          <p:cNvSpPr/>
          <p:nvPr/>
        </p:nvSpPr>
        <p:spPr>
          <a:xfrm>
            <a:off x="859536" y="6400800"/>
            <a:ext cx="5096866" cy="310896"/>
          </a:xfrm>
          <a:prstGeom prst="rect">
            <a:avLst/>
          </a:prstGeom>
          <a:noFill/>
          <a:ln/>
        </p:spPr>
        <p:txBody>
          <a:bodyPr wrap="square" rtlCol="0" anchor="ctr"/>
          <a:lstStyle/>
          <a:p>
            <a:pPr algn="l" indent="0" marL="0">
              <a:buNone/>
            </a:pPr>
            <a:r>
              <a:rPr lang="en-US" sz="1050" b="1" dirty="0">
                <a:solidFill>
                  <a:srgbClr val="FFFFFF"/>
                </a:solidFill>
                <a:latin typeface="Work Sans" pitchFamily="34" charset="0"/>
                <a:ea typeface="Work Sans" pitchFamily="34" charset="-122"/>
                <a:cs typeface="Work Sans" pitchFamily="34" charset="-120"/>
              </a:rPr>
              <a:t>Të 6 kodet janë ekzekutuar &amp; verifikuar — janë në PDF-në shoqëruese</a:t>
            </a:r>
            <a:endParaRPr lang="en-US" sz="1050" dirty="0"/>
          </a:p>
        </p:txBody>
      </p:sp>
      <p:sp>
        <p:nvSpPr>
          <p:cNvPr id="38" name="Text 29"/>
          <p:cNvSpPr/>
          <p:nvPr/>
        </p:nvSpPr>
        <p:spPr>
          <a:xfrm>
            <a:off x="11612880" y="6400800"/>
            <a:ext cx="457200" cy="274320"/>
          </a:xfrm>
          <a:prstGeom prst="rect">
            <a:avLst/>
          </a:prstGeom>
          <a:noFill/>
          <a:ln/>
        </p:spPr>
        <p:txBody>
          <a:bodyPr wrap="square" rtlCol="0" anchor="ctr"/>
          <a:lstStyle/>
          <a:p>
            <a:pPr algn="r" indent="0" marL="0">
              <a:buNone/>
            </a:pPr>
            <a:r>
              <a:rPr lang="en-US" sz="1100" dirty="0">
                <a:solidFill>
                  <a:srgbClr val="6A7889"/>
                </a:solidFill>
                <a:latin typeface="Work Sans" pitchFamily="34" charset="0"/>
                <a:ea typeface="Work Sans" pitchFamily="34" charset="-122"/>
                <a:cs typeface="Work Sans"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203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2033"/>
          </a:solidFill>
          <a:ln/>
        </p:spPr>
      </p:sp>
      <p:sp>
        <p:nvSpPr>
          <p:cNvPr id="3" name="Shape 1"/>
          <p:cNvSpPr/>
          <p:nvPr/>
        </p:nvSpPr>
        <p:spPr>
          <a:xfrm>
            <a:off x="0" y="4114800"/>
            <a:ext cx="12191695" cy="45720"/>
          </a:xfrm>
          <a:prstGeom prst="rect">
            <a:avLst/>
          </a:prstGeom>
          <a:solidFill>
            <a:srgbClr val="E8730C"/>
          </a:solidFill>
          <a:ln/>
        </p:spPr>
      </p:sp>
      <p:pic>
        <p:nvPicPr>
          <p:cNvPr id="4" name="Image 0" descr="preencoded.png">    </p:cNvPr>
          <p:cNvPicPr>
            <a:picLocks noChangeAspect="1"/>
          </p:cNvPicPr>
          <p:nvPr/>
        </p:nvPicPr>
        <p:blipFill>
          <a:blip r:embed="rId1"/>
          <a:stretch>
            <a:fillRect/>
          </a:stretch>
        </p:blipFill>
        <p:spPr>
          <a:xfrm>
            <a:off x="5632704" y="1280160"/>
            <a:ext cx="914400" cy="914400"/>
          </a:xfrm>
          <a:prstGeom prst="rect">
            <a:avLst/>
          </a:prstGeom>
        </p:spPr>
      </p:pic>
      <p:sp>
        <p:nvSpPr>
          <p:cNvPr id="5" name="Text 2"/>
          <p:cNvSpPr/>
          <p:nvPr/>
        </p:nvSpPr>
        <p:spPr>
          <a:xfrm>
            <a:off x="0" y="2331720"/>
            <a:ext cx="12191695" cy="822960"/>
          </a:xfrm>
          <a:prstGeom prst="rect">
            <a:avLst/>
          </a:prstGeom>
          <a:noFill/>
          <a:ln/>
        </p:spPr>
        <p:txBody>
          <a:bodyPr wrap="square" rtlCol="0" anchor="ctr"/>
          <a:lstStyle/>
          <a:p>
            <a:pPr algn="ctr" indent="0" marL="0">
              <a:buNone/>
            </a:pPr>
            <a:r>
              <a:rPr lang="en-US" sz="4200" b="1" dirty="0">
                <a:solidFill>
                  <a:srgbClr val="FFFFFF"/>
                </a:solidFill>
                <a:latin typeface="Poppins" pitchFamily="34" charset="0"/>
                <a:ea typeface="Poppins" pitchFamily="34" charset="-122"/>
                <a:cs typeface="Poppins" pitchFamily="34" charset="-120"/>
              </a:rPr>
              <a:t>Suksese në provim!</a:t>
            </a:r>
            <a:endParaRPr lang="en-US" sz="4200" dirty="0"/>
          </a:p>
        </p:txBody>
      </p:sp>
      <p:sp>
        <p:nvSpPr>
          <p:cNvPr id="6" name="Text 3"/>
          <p:cNvSpPr/>
          <p:nvPr/>
        </p:nvSpPr>
        <p:spPr>
          <a:xfrm>
            <a:off x="0" y="3291840"/>
            <a:ext cx="12191695" cy="457200"/>
          </a:xfrm>
          <a:prstGeom prst="rect">
            <a:avLst/>
          </a:prstGeom>
          <a:noFill/>
          <a:ln/>
        </p:spPr>
        <p:txBody>
          <a:bodyPr wrap="square" rtlCol="0" anchor="ctr"/>
          <a:lstStyle/>
          <a:p>
            <a:pPr algn="ctr" indent="0" marL="0">
              <a:buNone/>
            </a:pPr>
            <a:r>
              <a:rPr lang="en-US" sz="1800" dirty="0">
                <a:solidFill>
                  <a:srgbClr val="DBE2EA"/>
                </a:solidFill>
                <a:latin typeface="Work Sans" pitchFamily="34" charset="0"/>
                <a:ea typeface="Work Sans" pitchFamily="34" charset="-122"/>
                <a:cs typeface="Work Sans" pitchFamily="34" charset="-120"/>
              </a:rPr>
              <a:t>E premten zgjidhim bashkë 6 shembujt — sillni pyetjet tuaja</a:t>
            </a:r>
            <a:endParaRPr lang="en-US" sz="1800" dirty="0"/>
          </a:p>
        </p:txBody>
      </p:sp>
      <p:sp>
        <p:nvSpPr>
          <p:cNvPr id="7" name="Text 4"/>
          <p:cNvSpPr/>
          <p:nvPr/>
        </p:nvSpPr>
        <p:spPr>
          <a:xfrm>
            <a:off x="0" y="4343400"/>
            <a:ext cx="12191695" cy="457200"/>
          </a:xfrm>
          <a:prstGeom prst="rect">
            <a:avLst/>
          </a:prstGeom>
          <a:noFill/>
          <a:ln/>
        </p:spPr>
        <p:txBody>
          <a:bodyPr wrap="square" rtlCol="0" anchor="ctr"/>
          <a:lstStyle/>
          <a:p>
            <a:pPr algn="ctr" indent="0" marL="0">
              <a:buNone/>
            </a:pPr>
            <a:r>
              <a:rPr lang="en-US" sz="1500" i="1" dirty="0">
                <a:solidFill>
                  <a:srgbClr val="F6A63B"/>
                </a:solidFill>
                <a:latin typeface="Work Sans" pitchFamily="34" charset="0"/>
                <a:ea typeface="Work Sans" pitchFamily="34" charset="-122"/>
                <a:cs typeface="Work Sans" pitchFamily="34" charset="-120"/>
              </a:rPr>
              <a:t>Përsëritni listën e kontrollit dhe gabimet e zakonshme</a:t>
            </a:r>
            <a:endParaRPr lang="en-US" sz="1500" dirty="0"/>
          </a:p>
        </p:txBody>
      </p:sp>
      <p:sp>
        <p:nvSpPr>
          <p:cNvPr id="8" name="Text 5"/>
          <p:cNvSpPr/>
          <p:nvPr/>
        </p:nvSpPr>
        <p:spPr>
          <a:xfrm>
            <a:off x="0" y="5029200"/>
            <a:ext cx="12191695" cy="457200"/>
          </a:xfrm>
          <a:prstGeom prst="rect">
            <a:avLst/>
          </a:prstGeom>
          <a:noFill/>
          <a:ln/>
        </p:spPr>
        <p:txBody>
          <a:bodyPr wrap="square" rtlCol="0" anchor="ctr"/>
          <a:lstStyle/>
          <a:p>
            <a:pPr algn="ctr" indent="0" marL="0">
              <a:buNone/>
            </a:pPr>
            <a:r>
              <a:rPr lang="en-US" sz="2200" b="1" dirty="0">
                <a:solidFill>
                  <a:srgbClr val="FFFFFF"/>
                </a:solidFill>
                <a:latin typeface="Poppins" pitchFamily="34" charset="0"/>
                <a:ea typeface="Poppins" pitchFamily="34" charset="-122"/>
                <a:cs typeface="Poppins" pitchFamily="34" charset="-120"/>
              </a:rPr>
              <a:t>Pyetje?</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2026-09-30T13:33:55Z</dcterms:created>
  <dcterms:modified xsi:type="dcterms:W3CDTF">2026-09-30T13:33:55Z</dcterms:modified>
</cp:coreProperties>
</file>