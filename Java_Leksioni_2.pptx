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92E0E5-2ED8-41C2-9D95-88939D7EF5F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Mirësevini në leksionin e dytë! Sot ndërtojmë mbi themelet e leksionit 1: do t'i kombinojmë ciklet me if/else për probleme reale, do të mësojmë metodat — mënyra si e organizojmë kodin — dhe në fund kemi një quiz të shkurtër për vetëkontroll. Ligjëratë 60-minutëshe.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D27A34-C8B2-41C2-A320-13BE3B4ED0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Prezantoni planin. Theksoni se quiz-i në fund nuk vlerësohet me notë — është vetëm për vetëkontroll. Nëse rikujtimi zgjat më shumë se 5 minuta, shkurtoni pak pjesën e cikleve të mbivendosura.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F853A3-7BF6-4DD3-A442-B20C8A0B0C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Bëni pyetje të shpejta klasës për secilin koncept: 'Kush ma thotë çfarë bën %?', 'Kur përdorim while në vend të for?'. Mos kaloni më shumë se 5 minuta. Kontrolloni edhe detyrat e shtëpisë me ngritje dore.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5BE859-4A51-4D62-945A-6EA197E2F2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Ky është hapi i parë i kombinimit: cikli përsërit, if-i vendos. Bëni 'dry run' në tabelë për i=1,2,3. Kujtoni operatorin % nga leksioni 1: i % 2 == 0 do të thotë numër çift. Pyetni: si do ta ndryshonim që të printonte vetëm numrat çift?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F73161-880F-4A26-80A8-DC2D79D27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Modeli 'accumulator' është ndoshta modeli më i rëndësishëm i programimit fillestar: inicializo para ciklit, përditëso brenda, lexo pas. Theksoni gabimin e shpeshtë: deklarimi i shumës BRENDA ciklit e rikthen në 0 çdo herë!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AA196-176F-4892-84C8-9D831BF565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Kujtoni: pjesëtimi i numrave të plotë në Java pret pjesën dhjetore — 4725/10 = 472, jo 472.5. Tabela e gjurmimit është vegël e artë: mësojini studentët ta bëjnë vetë në letër. Ky shembull tregon rastin klasik ku while është zgjedhja e duhur.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1B974E-5338-4D4C-A88B-42335424A2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Koncepti më sfidues i sotëm. Përdorni analogjinë e orës: akrepi i orëve (cikli i jashtëm) lëviz një herë ndërsa akrepi i minutave (i brendshmi) bën xhiron e plotë. Vini re print vs println: print nuk kalon në rresht të ri. Ushtrimi në klasë: si ta kthejmë trekëndëshin përmbys?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BE200-1FC0-463D-8F05-45E9A9E027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Motivimi para sintaksës! Tregoni dhimbjen e kodit të përsëritur: nëse duam të ndryshojmë kutinë, duhet ta bëjmë në shumë vende. Me metodë — vetëm në një vend. Studentët tashmë kanë PËRDORUR metoda: println ËSHTË metodë! Kjo lidhje i ndihmon shumë.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4E81E8-2471-43AD-8F02-6AD78103D3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 i mbytni me terminologji. Tri pjesët thelbësore: çfarë kthen, si quhet, çfarë merr. 'static' shpjegohet shkurt — 'e nevojshme për tani, e kuptojmë më vonë' — kjo është qasje standarde pedagogjike për Java.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17424F-11AF-4C5E-B4E4-63A632BAC4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Dallimi parametër/argument: parametri është 'kutia' në deklarim, argumenti është vlera që dërgojmë në thirrje. Vini re: e njëjta metodë, dalje të ndryshme — kjo është fuqia e parametrave. Renditja dhe tipet duhet të përputhen: pershendet(20, "Ana") jep gabim.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37549-3AE0-4408-8F6F-E05FC25594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Dallimi kryesor nga slajdi i mëparshëm: pershendet PRINTONTE vetë, mbledh KTHEN vlerën dhe thirrësi vendos çfarë të bëjë me të. Kjo është shumë më fleksibël. Theksoni rreshtin mbledh(10,5)*2 — rezultati përdoret direkt në shprehje.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CA8EE6-E760-46E2-A130-CE858E008A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Rregulli i thjeshtë: nëse rezultati na duhet MË VONË në kod — return. Nëse veprim i menjëhershëm — void. Në praktikë profesionale preferohen metodat me return sepse janë më të ripërdorshme dhe më të testueshme.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61411F-BE41-413A-A909-C9C7AD6B6E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Kulmi i leksionit: tre konceptet bashkohen natyrshëm. Metoda boolean brenda kushtit të if-it është model shumë i zakonshëm profesional. Sfidë për klasën: shkruani eshtePozitiv(int n) dhe përdoreni në një cikël nga -3 deri në 3.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1B69A-A3C0-4538-A832-4A209A1F6D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Jepuni studentëve 8 minuta të plota. Kërkojuni të shkruajnë përgjigjet në letër PA parë shënimet. Kjo është 'retrieval practice' — mënyra më efektive e të mësuarit. Ecni nëpër klasë dhe vëzhgoni ku ngecin më shumë.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8C1050-6EE4-4FFB-8487-4114734255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 teston ciklin zbritës (i--) — përgjigja b. Q2 teston renditjen e else if: 10 nuk pjesëtohet me 3, por pjesëtohet me 2 — përgjigja b. Mos i zbuloni ende përgjigjet!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66FF0B-E79A-40D3-8EF9-48DA2BF729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Q3: dyfisho(5)=10, plus 1 = 11 — përgjigja b. Q4: i merr vlerat 0,1,2,3; ylli printohet për 0 dhe 2 — pra 2 herë, përgjigja a. Q4 është më e vështira sepse kombinon while + if + numërim mendor.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5D83ED-E310-419F-86BE-97CEC47D88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Diskutojini përgjigjet një nga një, duke pyetur studentët PSE — jo vetëm cilën zgjodhën. Për Q4 bëni gjurmimin në tabelë. Normalizoni gabimet: 'kush zgjodhi c te pyetja 4? Shumë mirë që e provuat — ja ku qëndron kurthi…'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1F3BCA-8502-4213-B310-CEBC56BE1F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Rikapitullim i shpejtë. Lidhja e madhe: ciklet përsërisin, if-i vendos, metodat organizojnë. Këto tri janë blloqet e ndërtimit të çdo programi — gjithçka tjetër ndërtohet mbi 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2D1D56-8061-4E18-B2B5-4525D6BA45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Detyra 4 (FizzBuzz) është klasiku i intervistave të punës — thuajuani këtë studentëve, i motivon shumë! Kujdes te renditja e kushteve: 'me të dyja' duhet kontrolluar E PARA (i % 15 == 0), përndryshe nuk arrihet kurrë. Ky është mësim i fshehtë nga slajdi i else-if.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7298B9-190C-49E6-9A80-F9F8F70E32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595360" y="-1463040"/>
            <a:ext cx="5028840" cy="5028840"/>
          </a:xfrm>
          <a:prstGeom prst="ellipse">
            <a:avLst/>
          </a:prstGeom>
          <a:solidFill>
            <a:srgbClr val="E8730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3291840"/>
            <a:ext cx="3840120" cy="3840120"/>
          </a:xfrm>
          <a:prstGeom prst="ellipse">
            <a:avLst/>
          </a:prstGeom>
          <a:solidFill>
            <a:srgbClr val="1E305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8732520" y="123444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822960" y="14173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40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LEKSIONI 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86240" y="1828800"/>
            <a:ext cx="7680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Cikle të 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avancuara 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dhe </a:t>
            </a: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22960" y="361188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840960" y="4343400"/>
            <a:ext cx="6949440" cy="360"/>
          </a:xfrm>
          <a:prstGeom prst="line">
            <a:avLst/>
          </a:prstGeom>
          <a:ln w="1905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822960" y="45262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Ligjëratë 60 minuta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Nivel: Fillestar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Informatikë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AGJENDA · 60 MINUTA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Plani i leksionit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54864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8046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preencoded.png"/>
          <p:cNvPicPr/>
          <p:nvPr/>
        </p:nvPicPr>
        <p:blipFill>
          <a:blip r:embed="rId2"/>
          <a:stretch/>
        </p:blipFill>
        <p:spPr>
          <a:xfrm>
            <a:off x="93276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309996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05'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04600" y="2624400"/>
            <a:ext cx="31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Rikujtim i shpejtë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04600" y="30448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Variablat, if/else, for, while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37076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462672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2" descr="preencoded.png"/>
          <p:cNvPicPr/>
          <p:nvPr/>
        </p:nvPicPr>
        <p:blipFill>
          <a:blip r:embed="rId3"/>
          <a:stretch/>
        </p:blipFill>
        <p:spPr>
          <a:xfrm>
            <a:off x="475488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10"/>
          <p:cNvSpPr/>
          <p:nvPr/>
        </p:nvSpPr>
        <p:spPr>
          <a:xfrm>
            <a:off x="692208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12'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4626720" y="2624400"/>
            <a:ext cx="31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Cikle + if/else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4626720" y="30448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Numra çift/tek, shuma, numërimi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819288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84492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3" descr="preencoded.png"/>
          <p:cNvPicPr/>
          <p:nvPr/>
        </p:nvPicPr>
        <p:blipFill>
          <a:blip r:embed="rId4"/>
          <a:stretch/>
        </p:blipFill>
        <p:spPr>
          <a:xfrm>
            <a:off x="857700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5"/>
          <p:cNvSpPr/>
          <p:nvPr/>
        </p:nvSpPr>
        <p:spPr>
          <a:xfrm>
            <a:off x="1074420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08'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8449200" y="2624400"/>
            <a:ext cx="31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Cikle të mbivendosura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8449200" y="30448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Cikël brenda ciklit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54864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8046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4" descr="preencoded.png"/>
          <p:cNvPicPr/>
          <p:nvPr/>
        </p:nvPicPr>
        <p:blipFill>
          <a:blip r:embed="rId5"/>
          <a:stretch/>
        </p:blipFill>
        <p:spPr>
          <a:xfrm>
            <a:off x="93276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20"/>
          <p:cNvSpPr/>
          <p:nvPr/>
        </p:nvSpPr>
        <p:spPr>
          <a:xfrm>
            <a:off x="309996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10'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804600" y="4965120"/>
            <a:ext cx="31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Metodat &amp; parametrat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804600" y="53859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Organizimi i kodit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437076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462672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5" descr="preencoded.png"/>
          <p:cNvPicPr/>
          <p:nvPr/>
        </p:nvPicPr>
        <p:blipFill>
          <a:blip r:embed="rId6"/>
          <a:stretch/>
        </p:blipFill>
        <p:spPr>
          <a:xfrm>
            <a:off x="475488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5"/>
          <p:cNvSpPr/>
          <p:nvPr/>
        </p:nvSpPr>
        <p:spPr>
          <a:xfrm>
            <a:off x="692208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10'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4626720" y="4965120"/>
            <a:ext cx="31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Metodat me return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4626720" y="53859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Vlerat e kthimit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8"/>
          <p:cNvSpPr/>
          <p:nvPr/>
        </p:nvSpPr>
        <p:spPr>
          <a:xfrm>
            <a:off x="819288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9"/>
          <p:cNvSpPr/>
          <p:nvPr/>
        </p:nvSpPr>
        <p:spPr>
          <a:xfrm>
            <a:off x="84492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6" descr="preencoded.png"/>
          <p:cNvPicPr/>
          <p:nvPr/>
        </p:nvPicPr>
        <p:blipFill>
          <a:blip r:embed="rId7"/>
          <a:stretch/>
        </p:blipFill>
        <p:spPr>
          <a:xfrm>
            <a:off x="857700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30"/>
          <p:cNvSpPr/>
          <p:nvPr/>
        </p:nvSpPr>
        <p:spPr>
          <a:xfrm>
            <a:off x="1074420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15'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8449200" y="4965120"/>
            <a:ext cx="31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Quiz + përmbledhje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8449200" y="53859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4 pyetje për vetëkontroll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5 MINUTA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Rikujtim nga Leksioni 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94360" y="1691640"/>
            <a:ext cx="5348880" cy="173700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868680" y="18745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Variablat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868680" y="2313360"/>
            <a:ext cx="4800240" cy="475200"/>
          </a:xfrm>
          <a:prstGeom prst="roundRect">
            <a:avLst>
              <a:gd name="adj" fmla="val 11538"/>
            </a:avLst>
          </a:prstGeom>
          <a:solidFill>
            <a:srgbClr val="1B27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051560" y="231336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int mosha = 20;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868680" y="28803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Kontejnerë për të dhëna me tip, emër dhe vlerë.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6217920" y="1691640"/>
            <a:ext cx="5348880" cy="173700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6492240" y="18745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if / else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6492240" y="2313360"/>
            <a:ext cx="4800240" cy="475200"/>
          </a:xfrm>
          <a:prstGeom prst="roundRect">
            <a:avLst>
              <a:gd name="adj" fmla="val 11538"/>
            </a:avLst>
          </a:prstGeom>
          <a:solidFill>
            <a:srgbClr val="1B27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6675120" y="231336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if (mosha &gt;= 18) { ... 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6492240" y="28803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Programi zgjedh një degë sipas kushtit.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594360" y="3657600"/>
            <a:ext cx="5348880" cy="173700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868680" y="384048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Cikli for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868680" y="4279320"/>
            <a:ext cx="4800240" cy="475200"/>
          </a:xfrm>
          <a:prstGeom prst="roundRect">
            <a:avLst>
              <a:gd name="adj" fmla="val 11538"/>
            </a:avLst>
          </a:prstGeom>
          <a:solidFill>
            <a:srgbClr val="1B27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1051560" y="427932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for (int i = 1; i &lt;= 5; i++)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868680" y="484632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Përsërit kur e dimë numrin e herëve.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8"/>
          <p:cNvSpPr/>
          <p:nvPr/>
        </p:nvSpPr>
        <p:spPr>
          <a:xfrm>
            <a:off x="6217920" y="3657600"/>
            <a:ext cx="5348880" cy="173700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6492240" y="384048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Cikli while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6492240" y="4279320"/>
            <a:ext cx="4800240" cy="475200"/>
          </a:xfrm>
          <a:prstGeom prst="roundRect">
            <a:avLst>
              <a:gd name="adj" fmla="val 11538"/>
            </a:avLst>
          </a:prstGeom>
          <a:solidFill>
            <a:srgbClr val="1B27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6675120" y="427932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while (i &lt;= 5) { ... i++; 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6492240" y="484632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Përsërit sa kohë kushti është true.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594360" y="5669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Sot i bashkojmë të gjitha këto — dhe shtojmë veglën më të rëndësishme të organizimit: metodat.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KOMBINIMI </a:t>
            </a: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I PARË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1508760" y="7498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Cikël + vendim: çift apo tek?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914400" y="1828800"/>
            <a:ext cx="6583320" cy="2441160"/>
          </a:xfrm>
          <a:prstGeom prst="roundRect">
            <a:avLst>
              <a:gd name="adj" fmla="val 3371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1115640" y="20116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316880" y="20116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1517760" y="20116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1170360" y="2286000"/>
            <a:ext cx="6126120" cy="18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6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++)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%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eshte cift"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eshte tek"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7818120" y="1828800"/>
            <a:ext cx="3794400" cy="2880000"/>
          </a:xfrm>
          <a:prstGeom prst="roundRect">
            <a:avLst>
              <a:gd name="adj" fmla="val 2857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1" descr="preencoded.png"/>
          <p:cNvPicPr/>
          <p:nvPr/>
        </p:nvPicPr>
        <p:blipFill>
          <a:blip r:embed="rId2"/>
          <a:stretch/>
        </p:blipFill>
        <p:spPr>
          <a:xfrm>
            <a:off x="8046720" y="20116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9"/>
          <p:cNvSpPr/>
          <p:nvPr/>
        </p:nvSpPr>
        <p:spPr>
          <a:xfrm>
            <a:off x="8476560" y="201168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8092440" y="2450520"/>
            <a:ext cx="32914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1 eshte tek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2 eshte cift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3 eshte tek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4 eshte cift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5 eshte tek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6 eshte cift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914400" y="4892040"/>
            <a:ext cx="10698120" cy="868320"/>
          </a:xfrm>
          <a:prstGeom prst="roundRect">
            <a:avLst>
              <a:gd name="adj" fmla="val 8421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1188720" y="4892040"/>
            <a:ext cx="10240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Ideja kryesore:  </a:t>
            </a:r>
            <a:r>
              <a:rPr lang="en-US" sz="14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brenda çdo përsëritjeje, if/else merr një vendim të ri për vlerën aktuale të i-së.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MODELI MË I PËRDORUR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Mbledhësi (accumulator) — shuma dhe numërimi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594360" y="1645920"/>
            <a:ext cx="6491880" cy="3584160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850320" y="2103120"/>
            <a:ext cx="6034680" cy="30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shuma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numerimi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%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shuma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shuma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2+4+6+8+10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numerimi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++;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"Shuma: "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shuma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"Sa numra: "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numerimi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7406640" y="1737360"/>
            <a:ext cx="42058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Variablat deklarohen PARA ciklit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shuma dhe numerimi nisin nga 0.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Përditësohen BRENDA ciklit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Vetëm kur kushti i if-it plotësohet.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Rezultati lexohet PAS ciklit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Vlera përfundimtare pas të gjitha përsëritjeve.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7406640" y="4572000"/>
            <a:ext cx="4205880" cy="1416960"/>
          </a:xfrm>
          <a:prstGeom prst="roundRect">
            <a:avLst>
              <a:gd name="adj" fmla="val 5806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7635240" y="47548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0"/>
          <p:cNvSpPr/>
          <p:nvPr/>
        </p:nvSpPr>
        <p:spPr>
          <a:xfrm>
            <a:off x="8065080" y="475488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7680960" y="5193720"/>
            <a:ext cx="370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Shuma: 30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Sa numra: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KUR NUK E DIMË NUMRIN E HAPAVE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while + if/else — numërimi i shifrave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594360" y="1645920"/>
            <a:ext cx="6309000" cy="2802240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850320" y="2103120"/>
            <a:ext cx="5851800" cy="22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numri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4725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shifra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numri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&gt;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numri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numri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4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heq shifren e fundit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shifra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"Ka "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shifra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shifra"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7269480" y="1645920"/>
            <a:ext cx="4343040" cy="3017160"/>
          </a:xfrm>
          <a:prstGeom prst="roundRect">
            <a:avLst>
              <a:gd name="adj" fmla="val 2727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7543800" y="18288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Gjurmimi hap-pas-hapi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Table 0"/>
          <p:cNvGraphicFramePr/>
          <p:nvPr/>
        </p:nvGraphicFramePr>
        <p:xfrm>
          <a:off x="7543800" y="2286000"/>
          <a:ext cx="3794400" cy="2194560"/>
        </p:xfrm>
        <a:graphic>
          <a:graphicData uri="http://schemas.openxmlformats.org/drawingml/2006/table">
            <a:tbl>
              <a:tblPr/>
              <a:tblGrid>
                <a:gridCol w="1143000"/>
                <a:gridCol w="1371600"/>
                <a:gridCol w="1280160"/>
              </a:tblGrid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Hapi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numri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shifra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fillimi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4725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0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472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2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47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2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3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3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0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  ✓ ndalon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1" name="Shape 10"/>
          <p:cNvSpPr/>
          <p:nvPr/>
        </p:nvSpPr>
        <p:spPr>
          <a:xfrm>
            <a:off x="594360" y="5120640"/>
            <a:ext cx="11018160" cy="776880"/>
          </a:xfrm>
          <a:prstGeom prst="roundRect">
            <a:avLst>
              <a:gd name="adj" fmla="val 9412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1" descr="preencoded.png"/>
          <p:cNvPicPr/>
          <p:nvPr/>
        </p:nvPicPr>
        <p:blipFill>
          <a:blip r:embed="rId2"/>
          <a:stretch/>
        </p:blipFill>
        <p:spPr>
          <a:xfrm>
            <a:off x="822960" y="53308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11"/>
          <p:cNvSpPr/>
          <p:nvPr/>
        </p:nvSpPr>
        <p:spPr>
          <a:xfrm>
            <a:off x="1325880" y="52304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Pse while dhe jo for? 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Nuk e dimë paraprakisht sa shifra ka numri — cikli vazhdon derisa kushti (numri &gt; 0) të bëhet false.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CIKËL BRENDA CIKLIT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1508760" y="7498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Cikle të mbivendosura (nested loops)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914400" y="1828800"/>
            <a:ext cx="6583320" cy="2157480"/>
          </a:xfrm>
          <a:prstGeom prst="roundRect">
            <a:avLst>
              <a:gd name="adj" fmla="val 3814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1115640" y="20116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1316880" y="20116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1517760" y="20116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1170360" y="2286000"/>
            <a:ext cx="612612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rreshti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rreshti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rreshti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++)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rreshti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++)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"*"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5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rresht i ri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7818120" y="1828800"/>
            <a:ext cx="3794400" cy="2285640"/>
          </a:xfrm>
          <a:prstGeom prst="roundRect">
            <a:avLst>
              <a:gd name="adj" fmla="val 3600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1" descr="preencoded.png"/>
          <p:cNvPicPr/>
          <p:nvPr/>
        </p:nvPicPr>
        <p:blipFill>
          <a:blip r:embed="rId2"/>
          <a:stretch/>
        </p:blipFill>
        <p:spPr>
          <a:xfrm>
            <a:off x="8046720" y="20116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9"/>
          <p:cNvSpPr/>
          <p:nvPr/>
        </p:nvSpPr>
        <p:spPr>
          <a:xfrm>
            <a:off x="8476560" y="201168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8092440" y="2450520"/>
            <a:ext cx="32914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*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**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***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****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914400" y="4434840"/>
            <a:ext cx="10698120" cy="1325520"/>
          </a:xfrm>
          <a:prstGeom prst="roundRect">
            <a:avLst>
              <a:gd name="adj" fmla="val 5517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1188720" y="459036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Si funksionon: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1188720" y="491940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Cikli i jashtëm kontrollon rreshtat (1 deri 4). Për ÇDO rresht, cikli i brendshëm ekzekutohet plotësisht </a:t>
            </a: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— printon aq yje sa numri i rreshtit.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ORGANIZIMI </a:t>
            </a: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I KODIT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Pse na duhen metodat?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594360" y="1600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PROBLEMI: kod i përsëritur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594360" y="1920240"/>
            <a:ext cx="5486040" cy="2280960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795600" y="21031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996840" y="21031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1197720" y="21031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850320" y="2377440"/>
            <a:ext cx="502884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"========="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MIRESEVINI 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"========="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... me vone perseri ...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"========="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MIRUPAFSHIM 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"========="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6492240" y="1600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2FA84F"/>
                </a:solidFill>
                <a:effectLst/>
                <a:uFillTx/>
                <a:latin typeface="Calibri"/>
                <a:ea typeface="Calibri"/>
              </a:rPr>
              <a:t>ZGJIDHJA: një metodë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6492240" y="1920240"/>
            <a:ext cx="5120280" cy="2802240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6693480" y="21031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6894720" y="21031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7095600" y="21031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6748200" y="2377440"/>
            <a:ext cx="4663080" cy="22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printoKuti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teksti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"========="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"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teksti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"========="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perdorimi: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printoKuti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"MIRESEVINI"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printoKuti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"MIRUPAFSHIM"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594360" y="5257800"/>
            <a:ext cx="11018160" cy="868320"/>
          </a:xfrm>
          <a:prstGeom prst="roundRect">
            <a:avLst>
              <a:gd name="adj" fmla="val 8421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1" descr="preencoded.png"/>
          <p:cNvPicPr/>
          <p:nvPr/>
        </p:nvPicPr>
        <p:blipFill>
          <a:blip r:embed="rId2"/>
          <a:stretch/>
        </p:blipFill>
        <p:spPr>
          <a:xfrm>
            <a:off x="822960" y="5504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16"/>
          <p:cNvSpPr/>
          <p:nvPr/>
        </p:nvSpPr>
        <p:spPr>
          <a:xfrm>
            <a:off x="1325880" y="5349240"/>
            <a:ext cx="10149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Metoda = bllok kodi me emër, që e shkruajmë NJË herë dhe e thërrasim SA herë të duam.  </a:t>
            </a:r>
            <a:r>
              <a:rPr lang="en-US" sz="1400" b="0" i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Parimi quhet DRY — Don't Repeat Yourself.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SINTAKSA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Anatomia e një metode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777240" y="1783080"/>
            <a:ext cx="10606680" cy="1234080"/>
          </a:xfrm>
          <a:prstGeom prst="roundRect">
            <a:avLst>
              <a:gd name="adj" fmla="val 666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1188720" y="21031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 </a:t>
            </a:r>
            <a:r>
              <a:rPr lang="en-US" sz="2400" b="1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240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 mbledh</a:t>
            </a:r>
            <a:r>
              <a:rPr lang="en-US" sz="2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2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int a, int b</a:t>
            </a:r>
            <a:r>
              <a:rPr lang="en-US" sz="2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 { ...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>
            <a:off x="2194560" y="3017520"/>
            <a:ext cx="360" cy="457200"/>
          </a:xfrm>
          <a:prstGeom prst="line">
            <a:avLst/>
          </a:prstGeom>
          <a:ln w="25400">
            <a:solidFill>
              <a:srgbClr val="5FB3E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777240" y="3520440"/>
            <a:ext cx="3382920" cy="1554120"/>
          </a:xfrm>
          <a:prstGeom prst="roundRect">
            <a:avLst>
              <a:gd name="adj" fmla="val 5294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1005840" y="3703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tipi i kthimit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1005840" y="41148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Çfarë vlere kthen metoda (int, double, String… ose void = asgjë)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4572000" y="3063240"/>
            <a:ext cx="360" cy="457200"/>
          </a:xfrm>
          <a:prstGeom prst="line">
            <a:avLst/>
          </a:prstGeom>
          <a:ln w="25400">
            <a:solidFill>
              <a:srgbClr val="F6A63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0"/>
          <p:cNvSpPr/>
          <p:nvPr/>
        </p:nvSpPr>
        <p:spPr>
          <a:xfrm>
            <a:off x="4389120" y="3520440"/>
            <a:ext cx="3382920" cy="1554120"/>
          </a:xfrm>
          <a:prstGeom prst="roundRect">
            <a:avLst>
              <a:gd name="adj" fmla="val 5294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4617720" y="3703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emri i metodës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4617720" y="41148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Zgjedhim emra veprues: mbledh, printoKuti, eshteCift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8229240" y="3063240"/>
            <a:ext cx="360" cy="457200"/>
          </a:xfrm>
          <a:prstGeom prst="line">
            <a:avLst/>
          </a:prstGeom>
          <a:ln w="25400">
            <a:solidFill>
              <a:srgbClr val="8FCB6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8001000" y="3520440"/>
            <a:ext cx="3382920" cy="1554120"/>
          </a:xfrm>
          <a:prstGeom prst="roundRect">
            <a:avLst>
              <a:gd name="adj" fmla="val 5294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8229600" y="3703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parametrat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6"/>
          <p:cNvSpPr/>
          <p:nvPr/>
        </p:nvSpPr>
        <p:spPr>
          <a:xfrm>
            <a:off x="8229600" y="41148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Të dhënat hyrëse që metoda i merr për të punuar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777240" y="54406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static — për tani, shkruajeni gjithmonë; kuptimin e plotë e mësojmë kur të flasim për klasat dhe objektet.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9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TË DHËNAT </a:t>
            </a: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HYRËSE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1508760" y="7498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Metodat me parametra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"/>
          <p:cNvSpPr/>
          <p:nvPr/>
        </p:nvSpPr>
        <p:spPr>
          <a:xfrm>
            <a:off x="914400" y="1783080"/>
            <a:ext cx="6949080" cy="3584160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1115640" y="196596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1316880" y="196596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1517760" y="196596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1170360" y="2240280"/>
            <a:ext cx="6491880" cy="30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pershendet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"Pershendetje "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"!"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"Ti je "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vjec."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pershendet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"Ana"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pershendet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"Beni"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22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8"/>
          <p:cNvSpPr/>
          <p:nvPr/>
        </p:nvSpPr>
        <p:spPr>
          <a:xfrm>
            <a:off x="8183880" y="1783080"/>
            <a:ext cx="3428640" cy="2377080"/>
          </a:xfrm>
          <a:prstGeom prst="roundRect">
            <a:avLst>
              <a:gd name="adj" fmla="val 3462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1" descr="preencoded.png"/>
          <p:cNvPicPr/>
          <p:nvPr/>
        </p:nvPicPr>
        <p:blipFill>
          <a:blip r:embed="rId2"/>
          <a:stretch/>
        </p:blipFill>
        <p:spPr>
          <a:xfrm>
            <a:off x="8412480" y="19659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9"/>
          <p:cNvSpPr/>
          <p:nvPr/>
        </p:nvSpPr>
        <p:spPr>
          <a:xfrm>
            <a:off x="8842320" y="19659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8458200" y="2404800"/>
            <a:ext cx="29257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Pershendetje Ana!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Ti je 20 vjec.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Pershendetje Beni!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Ti je 22 vjec.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8183880" y="4389120"/>
            <a:ext cx="3428640" cy="1554120"/>
          </a:xfrm>
          <a:prstGeom prst="roundRect">
            <a:avLst>
              <a:gd name="adj" fmla="val 5294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8412480" y="452628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Argumentet </a:t>
            </a:r>
            <a:r>
              <a:rPr lang="en-US" sz="13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("Ana", 20) kopjohen te </a:t>
            </a:r>
            <a:r>
              <a:rPr lang="en-US" sz="13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parametrat </a:t>
            </a:r>
            <a:r>
              <a:rPr lang="en-US" sz="13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(emri, mosha) sa herë thirret metoda.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TË DHËNAT DALËSE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1508760" y="7498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Metodat me vlerë kthimi (return)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914400" y="1783080"/>
            <a:ext cx="6949080" cy="306288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1115640" y="196596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1316880" y="196596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1517760" y="196596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1170360" y="2240280"/>
            <a:ext cx="64918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mbledh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b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rezultati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b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rezultati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kthen vleren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shuma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mbledh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shuma = 7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shuma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mbledh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30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8183880" y="1783080"/>
            <a:ext cx="3428640" cy="3931560"/>
          </a:xfrm>
          <a:prstGeom prst="roundRect">
            <a:avLst>
              <a:gd name="adj" fmla="val 2667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8412480" y="2011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return bën dy gjëra: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8412480" y="2468880"/>
            <a:ext cx="30171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1. </a:t>
            </a:r>
            <a:r>
              <a:rPr lang="en-US" sz="13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Kthen vlerën te thirrësi — mund ta ruajmë në variabël ose ta përdorim direkt.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2. </a:t>
            </a:r>
            <a:r>
              <a:rPr lang="en-US" sz="13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E përfundon metodën menjëherë — kodi pas return nuk ekzekutohet.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DB0C6"/>
                </a:solidFill>
                <a:effectLst/>
                <a:uFillTx/>
                <a:latin typeface="Calibri"/>
                <a:ea typeface="Calibri"/>
              </a:rPr>
              <a:t>Tipi i return duhet të përputhet me tipin e deklaruar (këtu: int).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KRAHASIMI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void kundrejt return — kur cilin?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94360" y="1691640"/>
            <a:ext cx="5348880" cy="4160160"/>
          </a:xfrm>
          <a:prstGeom prst="roundRect">
            <a:avLst>
              <a:gd name="adj" fmla="val 2198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594360" y="1691640"/>
            <a:ext cx="5348880" cy="621360"/>
          </a:xfrm>
          <a:prstGeom prst="roundRect">
            <a:avLst>
              <a:gd name="adj" fmla="val 14706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868680" y="1691640"/>
            <a:ext cx="4845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void — VEPRON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868680" y="2514600"/>
            <a:ext cx="480024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1069920" y="26974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8"/>
          <p:cNvSpPr/>
          <p:nvPr/>
        </p:nvSpPr>
        <p:spPr>
          <a:xfrm>
            <a:off x="1271160" y="26974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9"/>
          <p:cNvSpPr/>
          <p:nvPr/>
        </p:nvSpPr>
        <p:spPr>
          <a:xfrm>
            <a:off x="1472040" y="26974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1124640" y="2971800"/>
            <a:ext cx="434304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printoCmimin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double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c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"Cmimi: "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c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914400" y="4160520"/>
            <a:ext cx="4754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Bën diçka (printon, ruan…)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Nuk kthen asnjë vlerë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Thirret si urdhër i thjeshtë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2"/>
          <p:cNvSpPr/>
          <p:nvPr/>
        </p:nvSpPr>
        <p:spPr>
          <a:xfrm>
            <a:off x="6217920" y="1691640"/>
            <a:ext cx="5348880" cy="4160160"/>
          </a:xfrm>
          <a:prstGeom prst="roundRect">
            <a:avLst>
              <a:gd name="adj" fmla="val 2198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3"/>
          <p:cNvSpPr/>
          <p:nvPr/>
        </p:nvSpPr>
        <p:spPr>
          <a:xfrm>
            <a:off x="6217920" y="1691640"/>
            <a:ext cx="5348880" cy="621360"/>
          </a:xfrm>
          <a:prstGeom prst="roundRect">
            <a:avLst>
              <a:gd name="adj" fmla="val 14706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6492240" y="1691640"/>
            <a:ext cx="4845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return — LLOGARIT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5"/>
          <p:cNvSpPr/>
          <p:nvPr/>
        </p:nvSpPr>
        <p:spPr>
          <a:xfrm>
            <a:off x="6492240" y="2514600"/>
            <a:ext cx="480024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6"/>
          <p:cNvSpPr/>
          <p:nvPr/>
        </p:nvSpPr>
        <p:spPr>
          <a:xfrm>
            <a:off x="6693480" y="26974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7"/>
          <p:cNvSpPr/>
          <p:nvPr/>
        </p:nvSpPr>
        <p:spPr>
          <a:xfrm>
            <a:off x="6894720" y="26974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7095600" y="26974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6748200" y="2971800"/>
            <a:ext cx="434304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double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meTvsh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double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c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c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1.20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0"/>
          <p:cNvSpPr/>
          <p:nvPr/>
        </p:nvSpPr>
        <p:spPr>
          <a:xfrm>
            <a:off x="6537960" y="4160520"/>
            <a:ext cx="4754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Llogarit dhe kthen një vlerë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Rezultati përdoret më tej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Thirret brenda shprehjeve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SHEMBULL I PLOTË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1508760" y="7498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Gjithçka së bashku: metodë + cikël + if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914400" y="1783080"/>
            <a:ext cx="676620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1115640" y="196596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"/>
          <p:cNvSpPr/>
          <p:nvPr/>
        </p:nvSpPr>
        <p:spPr>
          <a:xfrm>
            <a:off x="1316880" y="196596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1517760" y="196596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1170360" y="2240280"/>
            <a:ext cx="630900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boolean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eshteCift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%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8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eshteCift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"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8"/>
          <p:cNvSpPr/>
          <p:nvPr/>
        </p:nvSpPr>
        <p:spPr>
          <a:xfrm>
            <a:off x="8001000" y="1783080"/>
            <a:ext cx="3611520" cy="137124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1" descr="preencoded.png"/>
          <p:cNvPicPr/>
          <p:nvPr/>
        </p:nvPicPr>
        <p:blipFill>
          <a:blip r:embed="rId2"/>
          <a:stretch/>
        </p:blipFill>
        <p:spPr>
          <a:xfrm>
            <a:off x="8229600" y="19659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9"/>
          <p:cNvSpPr/>
          <p:nvPr/>
        </p:nvSpPr>
        <p:spPr>
          <a:xfrm>
            <a:off x="8659440" y="1965960"/>
            <a:ext cx="2697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8275320" y="240480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2 4 6 8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8001000" y="3383280"/>
            <a:ext cx="3611520" cy="2468520"/>
          </a:xfrm>
          <a:prstGeom prst="roundRect">
            <a:avLst>
              <a:gd name="adj" fmla="val 3704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2"/>
          <p:cNvSpPr/>
          <p:nvPr/>
        </p:nvSpPr>
        <p:spPr>
          <a:xfrm>
            <a:off x="8229600" y="35845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Vëreni bukurinë: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8229600" y="4023360"/>
            <a:ext cx="3200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eshteCift(i) </a:t>
            </a:r>
            <a:r>
              <a:rPr lang="en-US" sz="13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lexohet si fjali natyrale brenda if-it.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Metoda kthen boolean — pikërisht çfarë pret if-i.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Kod i lexueshëm = kod i mirë.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-1645920" y="-1645920"/>
            <a:ext cx="5486040" cy="54860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"/>
          <p:cNvSpPr/>
          <p:nvPr/>
        </p:nvSpPr>
        <p:spPr>
          <a:xfrm>
            <a:off x="9326880" y="3657600"/>
            <a:ext cx="4571640" cy="4571640"/>
          </a:xfrm>
          <a:prstGeom prst="ellipse">
            <a:avLst/>
          </a:prstGeom>
          <a:solidFill>
            <a:srgbClr val="1E3050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"/>
          <p:cNvSpPr/>
          <p:nvPr/>
        </p:nvSpPr>
        <p:spPr>
          <a:xfrm>
            <a:off x="5367600" y="1371600"/>
            <a:ext cx="1462680" cy="146268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0" descr="preencoded.png"/>
          <p:cNvPicPr/>
          <p:nvPr/>
        </p:nvPicPr>
        <p:blipFill>
          <a:blip r:embed="rId1"/>
          <a:stretch/>
        </p:blipFill>
        <p:spPr>
          <a:xfrm>
            <a:off x="5687640" y="169164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3"/>
          <p:cNvSpPr/>
          <p:nvPr/>
        </p:nvSpPr>
        <p:spPr>
          <a:xfrm>
            <a:off x="1371600" y="3108960"/>
            <a:ext cx="944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KOHA E QUIZ-it!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1371600" y="3931920"/>
            <a:ext cx="94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4 pyetje · 8 minuta · punoni vetë në letër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2286000" y="4572000"/>
            <a:ext cx="7616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Nuk vlerësohet me notë — është vetëm për të parë ku qëndroni. Përgjigjet i diskutojmë bashkë menjëherë pas.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ÇFARË PRINTON KODI?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1 dhe 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1234440" y="17557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printon ky cikël?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594360" y="2286000"/>
            <a:ext cx="539460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7"/>
          <p:cNvSpPr/>
          <p:nvPr/>
        </p:nvSpPr>
        <p:spPr>
          <a:xfrm>
            <a:off x="79560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8"/>
          <p:cNvSpPr/>
          <p:nvPr/>
        </p:nvSpPr>
        <p:spPr>
          <a:xfrm>
            <a:off x="99684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9"/>
          <p:cNvSpPr/>
          <p:nvPr/>
        </p:nvSpPr>
        <p:spPr>
          <a:xfrm>
            <a:off x="119772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0"/>
          <p:cNvSpPr/>
          <p:nvPr/>
        </p:nvSpPr>
        <p:spPr>
          <a:xfrm>
            <a:off x="850320" y="2743200"/>
            <a:ext cx="49374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&gt;=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--)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"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685800" y="397764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1 2 3 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3 2 1 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3 3 3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2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3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4"/>
          <p:cNvSpPr/>
          <p:nvPr/>
        </p:nvSpPr>
        <p:spPr>
          <a:xfrm>
            <a:off x="7040880" y="17557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printon ky program?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5"/>
          <p:cNvSpPr/>
          <p:nvPr/>
        </p:nvSpPr>
        <p:spPr>
          <a:xfrm>
            <a:off x="6400800" y="2286000"/>
            <a:ext cx="516600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6"/>
          <p:cNvSpPr/>
          <p:nvPr/>
        </p:nvSpPr>
        <p:spPr>
          <a:xfrm>
            <a:off x="660204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7"/>
          <p:cNvSpPr/>
          <p:nvPr/>
        </p:nvSpPr>
        <p:spPr>
          <a:xfrm>
            <a:off x="680328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8"/>
          <p:cNvSpPr/>
          <p:nvPr/>
        </p:nvSpPr>
        <p:spPr>
          <a:xfrm>
            <a:off x="700416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9"/>
          <p:cNvSpPr/>
          <p:nvPr/>
        </p:nvSpPr>
        <p:spPr>
          <a:xfrm>
            <a:off x="6656760" y="2743200"/>
            <a:ext cx="470880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%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%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"B"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"C"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6492240" y="539496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A 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B 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METODAT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3 dhe 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1234440" y="17557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printon ky program?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594360" y="2286000"/>
            <a:ext cx="5394600" cy="2020320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79560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99684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119772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0"/>
          <p:cNvSpPr/>
          <p:nvPr/>
        </p:nvSpPr>
        <p:spPr>
          <a:xfrm>
            <a:off x="850320" y="2743200"/>
            <a:ext cx="493740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dyfisho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ne main: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dyfisho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685800" y="470916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10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11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2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7040880" y="17557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Sa herë printohet yll-i?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6400800" y="2286000"/>
            <a:ext cx="5166000" cy="2280960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6"/>
          <p:cNvSpPr/>
          <p:nvPr/>
        </p:nvSpPr>
        <p:spPr>
          <a:xfrm>
            <a:off x="660204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680328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700416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6656760" y="2743200"/>
            <a:ext cx="470880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%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"*"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i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6492240" y="512064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2 herë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3 herë 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4 herë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2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ZGJIDHJA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Përgjigjet dhe shpjegimet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594360" y="164592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868680" y="18561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5"/>
          <p:cNvSpPr/>
          <p:nvPr/>
        </p:nvSpPr>
        <p:spPr>
          <a:xfrm>
            <a:off x="868680" y="18561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1645920" y="181044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3 2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7"/>
          <p:cNvSpPr/>
          <p:nvPr/>
        </p:nvSpPr>
        <p:spPr>
          <a:xfrm>
            <a:off x="4206240" y="1810440"/>
            <a:ext cx="7223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Cikli nis nga 3 dhe zbret me i-- derisa i &gt;= 1 të bëhet false.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8"/>
          <p:cNvSpPr/>
          <p:nvPr/>
        </p:nvSpPr>
        <p:spPr>
          <a:xfrm>
            <a:off x="594360" y="27248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9"/>
          <p:cNvSpPr/>
          <p:nvPr/>
        </p:nvSpPr>
        <p:spPr>
          <a:xfrm>
            <a:off x="868680" y="29350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868680" y="2935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1"/>
          <p:cNvSpPr/>
          <p:nvPr/>
        </p:nvSpPr>
        <p:spPr>
          <a:xfrm>
            <a:off x="1645920" y="288936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2"/>
          <p:cNvSpPr/>
          <p:nvPr/>
        </p:nvSpPr>
        <p:spPr>
          <a:xfrm>
            <a:off x="4206240" y="2889360"/>
            <a:ext cx="7223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10 % 3 = 1 (jo zero) → kalon te else if. 10 % 2 = 0 → printon B.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3"/>
          <p:cNvSpPr/>
          <p:nvPr/>
        </p:nvSpPr>
        <p:spPr>
          <a:xfrm>
            <a:off x="594360" y="380376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4"/>
          <p:cNvSpPr/>
          <p:nvPr/>
        </p:nvSpPr>
        <p:spPr>
          <a:xfrm>
            <a:off x="868680" y="40143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5"/>
          <p:cNvSpPr/>
          <p:nvPr/>
        </p:nvSpPr>
        <p:spPr>
          <a:xfrm>
            <a:off x="868680" y="40143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6"/>
          <p:cNvSpPr/>
          <p:nvPr/>
        </p:nvSpPr>
        <p:spPr>
          <a:xfrm>
            <a:off x="1645920" y="396864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7"/>
          <p:cNvSpPr/>
          <p:nvPr/>
        </p:nvSpPr>
        <p:spPr>
          <a:xfrm>
            <a:off x="4206240" y="3968640"/>
            <a:ext cx="7223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dyfisho(5) kthen 10, pastaj 10 + 1 = 11.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8"/>
          <p:cNvSpPr/>
          <p:nvPr/>
        </p:nvSpPr>
        <p:spPr>
          <a:xfrm>
            <a:off x="594360" y="48830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868680" y="50932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0"/>
          <p:cNvSpPr/>
          <p:nvPr/>
        </p:nvSpPr>
        <p:spPr>
          <a:xfrm>
            <a:off x="868680" y="5093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1"/>
          <p:cNvSpPr/>
          <p:nvPr/>
        </p:nvSpPr>
        <p:spPr>
          <a:xfrm>
            <a:off x="1645920" y="504756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a)  2 herë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2"/>
          <p:cNvSpPr/>
          <p:nvPr/>
        </p:nvSpPr>
        <p:spPr>
          <a:xfrm>
            <a:off x="4206240" y="5047560"/>
            <a:ext cx="7223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 = 0, 1, 2, 3 → if-i plotësohet vetëm për 0 dhe 2.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3"/>
          <p:cNvSpPr/>
          <p:nvPr/>
        </p:nvSpPr>
        <p:spPr>
          <a:xfrm>
            <a:off x="594360" y="60350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3–4 saktë: shkëlqyeshëm! · 2 saktë: rishikoni ciklet · 0–1: ejani në konsultime — jemi këtu për ju.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-1371600" y="3840480"/>
            <a:ext cx="4571640" cy="45716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685800" y="54864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preencoded.png"/>
          <p:cNvPicPr/>
          <p:nvPr/>
        </p:nvPicPr>
        <p:blipFill>
          <a:blip r:embed="rId1"/>
          <a:stretch/>
        </p:blipFill>
        <p:spPr>
          <a:xfrm>
            <a:off x="831960" y="694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2"/>
          <p:cNvSpPr/>
          <p:nvPr/>
        </p:nvSpPr>
        <p:spPr>
          <a:xfrm>
            <a:off x="1508760" y="548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PËRMBLEDHJE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1508760" y="7956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Çfarë mësuam sot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68580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"/>
          <p:cNvSpPr/>
          <p:nvPr/>
        </p:nvSpPr>
        <p:spPr>
          <a:xfrm>
            <a:off x="96012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1" descr="preencoded.png"/>
          <p:cNvPicPr/>
          <p:nvPr/>
        </p:nvPicPr>
        <p:blipFill>
          <a:blip r:embed="rId2"/>
          <a:stretch/>
        </p:blipFill>
        <p:spPr>
          <a:xfrm>
            <a:off x="110628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 6"/>
          <p:cNvSpPr/>
          <p:nvPr/>
        </p:nvSpPr>
        <p:spPr>
          <a:xfrm>
            <a:off x="173736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Cikle + if/else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960120" y="280728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Vendime brenda çdo përsëritjeje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438912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9"/>
          <p:cNvSpPr/>
          <p:nvPr/>
        </p:nvSpPr>
        <p:spPr>
          <a:xfrm>
            <a:off x="466344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 2" descr="preencoded.png"/>
          <p:cNvPicPr/>
          <p:nvPr/>
        </p:nvPicPr>
        <p:blipFill>
          <a:blip r:embed="rId3"/>
          <a:stretch/>
        </p:blipFill>
        <p:spPr>
          <a:xfrm>
            <a:off x="480960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10"/>
          <p:cNvSpPr/>
          <p:nvPr/>
        </p:nvSpPr>
        <p:spPr>
          <a:xfrm>
            <a:off x="544068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Accumulator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1"/>
          <p:cNvSpPr/>
          <p:nvPr/>
        </p:nvSpPr>
        <p:spPr>
          <a:xfrm>
            <a:off x="4663440" y="280728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Shuma &amp; numërimi: para → brenda → pas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2"/>
          <p:cNvSpPr/>
          <p:nvPr/>
        </p:nvSpPr>
        <p:spPr>
          <a:xfrm>
            <a:off x="809244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3"/>
          <p:cNvSpPr/>
          <p:nvPr/>
        </p:nvSpPr>
        <p:spPr>
          <a:xfrm>
            <a:off x="836676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3" descr="preencoded.png"/>
          <p:cNvPicPr/>
          <p:nvPr/>
        </p:nvPicPr>
        <p:blipFill>
          <a:blip r:embed="rId4"/>
          <a:stretch/>
        </p:blipFill>
        <p:spPr>
          <a:xfrm>
            <a:off x="851292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14"/>
          <p:cNvSpPr/>
          <p:nvPr/>
        </p:nvSpPr>
        <p:spPr>
          <a:xfrm>
            <a:off x="914400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Cikle të mbivendosura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8366760" y="280728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Cikël brenda ciklit — rreshtat &amp; kolonat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6"/>
          <p:cNvSpPr/>
          <p:nvPr/>
        </p:nvSpPr>
        <p:spPr>
          <a:xfrm>
            <a:off x="68580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7"/>
          <p:cNvSpPr/>
          <p:nvPr/>
        </p:nvSpPr>
        <p:spPr>
          <a:xfrm>
            <a:off x="96012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4" descr="preencoded.png"/>
          <p:cNvPicPr/>
          <p:nvPr/>
        </p:nvPicPr>
        <p:blipFill>
          <a:blip r:embed="rId5"/>
          <a:stretch/>
        </p:blipFill>
        <p:spPr>
          <a:xfrm>
            <a:off x="110628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18"/>
          <p:cNvSpPr/>
          <p:nvPr/>
        </p:nvSpPr>
        <p:spPr>
          <a:xfrm>
            <a:off x="173736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9"/>
          <p:cNvSpPr/>
          <p:nvPr/>
        </p:nvSpPr>
        <p:spPr>
          <a:xfrm>
            <a:off x="960120" y="477324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Bllok kodi me emër — DRY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0"/>
          <p:cNvSpPr/>
          <p:nvPr/>
        </p:nvSpPr>
        <p:spPr>
          <a:xfrm>
            <a:off x="438912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1"/>
          <p:cNvSpPr/>
          <p:nvPr/>
        </p:nvSpPr>
        <p:spPr>
          <a:xfrm>
            <a:off x="466344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5" descr="preencoded.png"/>
          <p:cNvPicPr/>
          <p:nvPr/>
        </p:nvPicPr>
        <p:blipFill>
          <a:blip r:embed="rId6"/>
          <a:stretch/>
        </p:blipFill>
        <p:spPr>
          <a:xfrm>
            <a:off x="480960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22"/>
          <p:cNvSpPr/>
          <p:nvPr/>
        </p:nvSpPr>
        <p:spPr>
          <a:xfrm>
            <a:off x="544068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Parametrat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3"/>
          <p:cNvSpPr/>
          <p:nvPr/>
        </p:nvSpPr>
        <p:spPr>
          <a:xfrm>
            <a:off x="4663440" y="477324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Të dhënat hyrëse të metodës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4"/>
          <p:cNvSpPr/>
          <p:nvPr/>
        </p:nvSpPr>
        <p:spPr>
          <a:xfrm>
            <a:off x="809244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5"/>
          <p:cNvSpPr/>
          <p:nvPr/>
        </p:nvSpPr>
        <p:spPr>
          <a:xfrm>
            <a:off x="836676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6" descr="preencoded.png"/>
          <p:cNvPicPr/>
          <p:nvPr/>
        </p:nvPicPr>
        <p:blipFill>
          <a:blip r:embed="rId7"/>
          <a:stretch/>
        </p:blipFill>
        <p:spPr>
          <a:xfrm>
            <a:off x="851292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26"/>
          <p:cNvSpPr/>
          <p:nvPr/>
        </p:nvSpPr>
        <p:spPr>
          <a:xfrm>
            <a:off x="914400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return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7"/>
          <p:cNvSpPr/>
          <p:nvPr/>
        </p:nvSpPr>
        <p:spPr>
          <a:xfrm>
            <a:off x="8366760" y="4773240"/>
            <a:ext cx="2971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Vlera dalëse që përdoret më tej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5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PRAKTIKA E JAVËS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Detyra për shtëpi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"/>
          <p:cNvSpPr/>
          <p:nvPr/>
        </p:nvSpPr>
        <p:spPr>
          <a:xfrm>
            <a:off x="594360" y="153612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4"/>
          <p:cNvSpPr/>
          <p:nvPr/>
        </p:nvSpPr>
        <p:spPr>
          <a:xfrm>
            <a:off x="868680" y="170064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5"/>
          <p:cNvSpPr/>
          <p:nvPr/>
        </p:nvSpPr>
        <p:spPr>
          <a:xfrm>
            <a:off x="868680" y="170064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6"/>
          <p:cNvSpPr/>
          <p:nvPr/>
        </p:nvSpPr>
        <p:spPr>
          <a:xfrm>
            <a:off x="1600200" y="16459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Tabela e shumëzimit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7"/>
          <p:cNvSpPr/>
          <p:nvPr/>
        </p:nvSpPr>
        <p:spPr>
          <a:xfrm>
            <a:off x="5760720" y="1645920"/>
            <a:ext cx="5668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Me cikël të mbivendosur, printo tabelën e shumëzimit 1–5.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8"/>
          <p:cNvSpPr/>
          <p:nvPr/>
        </p:nvSpPr>
        <p:spPr>
          <a:xfrm>
            <a:off x="594360" y="249624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9"/>
          <p:cNvSpPr/>
          <p:nvPr/>
        </p:nvSpPr>
        <p:spPr>
          <a:xfrm>
            <a:off x="868680" y="266076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0"/>
          <p:cNvSpPr/>
          <p:nvPr/>
        </p:nvSpPr>
        <p:spPr>
          <a:xfrm>
            <a:off x="868680" y="26607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1"/>
          <p:cNvSpPr/>
          <p:nvPr/>
        </p:nvSpPr>
        <p:spPr>
          <a:xfrm>
            <a:off x="1600200" y="260604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Metoda eshtePozitiv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2"/>
          <p:cNvSpPr/>
          <p:nvPr/>
        </p:nvSpPr>
        <p:spPr>
          <a:xfrm>
            <a:off x="5760720" y="2606040"/>
            <a:ext cx="5668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Shkruaj boolean eshtePozitiv(int n) dhe testoje në një cikël nga -3 deri 3.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3"/>
          <p:cNvSpPr/>
          <p:nvPr/>
        </p:nvSpPr>
        <p:spPr>
          <a:xfrm>
            <a:off x="594360" y="345636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4"/>
          <p:cNvSpPr/>
          <p:nvPr/>
        </p:nvSpPr>
        <p:spPr>
          <a:xfrm>
            <a:off x="868680" y="362088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5"/>
          <p:cNvSpPr/>
          <p:nvPr/>
        </p:nvSpPr>
        <p:spPr>
          <a:xfrm>
            <a:off x="868680" y="36208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6"/>
          <p:cNvSpPr/>
          <p:nvPr/>
        </p:nvSpPr>
        <p:spPr>
          <a:xfrm>
            <a:off x="1600200" y="356616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Metoda mesatarja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7"/>
          <p:cNvSpPr/>
          <p:nvPr/>
        </p:nvSpPr>
        <p:spPr>
          <a:xfrm>
            <a:off x="5760720" y="3566160"/>
            <a:ext cx="5668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Shkruaj double mesatarja(int a, int b, int c) që kthen mesataren.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8"/>
          <p:cNvSpPr/>
          <p:nvPr/>
        </p:nvSpPr>
        <p:spPr>
          <a:xfrm>
            <a:off x="594360" y="441648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9"/>
          <p:cNvSpPr/>
          <p:nvPr/>
        </p:nvSpPr>
        <p:spPr>
          <a:xfrm>
            <a:off x="868680" y="458100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0"/>
          <p:cNvSpPr/>
          <p:nvPr/>
        </p:nvSpPr>
        <p:spPr>
          <a:xfrm>
            <a:off x="868680" y="4581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1"/>
          <p:cNvSpPr/>
          <p:nvPr/>
        </p:nvSpPr>
        <p:spPr>
          <a:xfrm>
            <a:off x="1600200" y="452628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Sfidë: FizzBuzz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2"/>
          <p:cNvSpPr/>
          <p:nvPr/>
        </p:nvSpPr>
        <p:spPr>
          <a:xfrm>
            <a:off x="5760720" y="4526280"/>
            <a:ext cx="5668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1–20: nëse pjesëtohet me 3 printo Fizz, me 5 Buzz, me të dyja FizzBuzz.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3"/>
          <p:cNvSpPr/>
          <p:nvPr/>
        </p:nvSpPr>
        <p:spPr>
          <a:xfrm>
            <a:off x="594360" y="5596200"/>
            <a:ext cx="11018160" cy="54828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4"/>
          <p:cNvSpPr/>
          <p:nvPr/>
        </p:nvSpPr>
        <p:spPr>
          <a:xfrm>
            <a:off x="914400" y="5596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Leksioni tjetër: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vargjet (arrays) — si të ruajmë shumë vlera në një variabël të vetme.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6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2026-07-03T12:53:28Z</dcterms:created>
  <dc:creator>Kreni</dc:creator>
  <dc:description/>
  <dc:language>en-US</dc:language>
  <cp:lastModifiedBy/>
  <dcterms:modified xsi:type="dcterms:W3CDTF">2026-07-03T15:03:35Z</dcterms:modified>
  <cp:revision>3</cp:revision>
  <dc:subject>PptxGenJS Presentation</dc:subject>
  <dc:title>Java — Leksioni 2: Cikle të avancuara dhe Metodat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