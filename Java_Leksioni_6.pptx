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e dytë e madhe e OOP-së: trashëgimia — klasat ndërtohen mbi klasa. Hapim me rikujtimin e enkapsulimit (siç u premtua), pastaj extends, super, mbishkrimi i metodave, dhe puna me vargjet bosh — përfshirë kurthin e madh të null te vargjet e objekteve.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tema të mëdha sot që bashkohen në fund: Person[] që mban studentë dhe pedagogë njëkohësisht. Rikujtimi i enkapsulimit hap leksionin siç u premtua javën e kaluar.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Rikujtim 7-minutësh, jo leksion i ri. Pyetje kontrolli: pse setKapaciteti(-50) heshtë e injorohet? Ku tjetër e kemi parë validimin? (konstruktori-roje, L4; validimi i Scanner-it, L5). Fjalia e fundit hap temën e ditës — private dhe trashëgimia takohen te slajdi i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 standard: dublimi. Nëse nesër duam të shtojmë fushën 'email' te të dy — dy vende për ta bërë, dy vende për të harruar. Lidheni me DRY të metodave (L2): metodat hoqën dublimin e rreshtave; trashëgimia heq dublimin e klasave.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Fjalor i ditës: superklasa/prindi dhe nënklasa/fëmija. Shigjeta e trashëgimisë lexohet 'extends' = 'zgjeron'. Testi 'është një' (is-a) është kriteri i artë — përdoreni sa herë dikush pyet 'a duhet extends këtu?'. Kundër-shembulli i makinës i fikson idenë.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Momenti 'wow': klasa bosh që di gjithçka. Ekzekutojeni live. Detaji 'vetëm një prind' dallon Java-n nga C++ — mjafton ta përmendni. Pyetje kontrolli: nëse te Person shtojmë fushën email, sa rreshta duhen ndryshuar te Studenti? (zero!).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Formula: nënklasa = gjithçka e prindit + shtesat e veta. meso() përdor emri direkt — trashëgimia i bën fushat e prindit pjesë të fëmijës (por prisni slajdin e protected për private-t!). Pyetje: a e ka Person-i metodën meso()? JO — trashëgimia rrjedh vetëm POSHTË.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Analogjia e ndërtesës: themeli (Person) para katit (Studenti). super lidhet direkt me this të L4 — this = vetja, super = prindi. Gotcha e konstruktorit të fshehtë (L4 slajdi 11) rikthehet këtu me fuqi: pa super(emri), kodi s'kompilon sepse Person s'ka më konstruktor bosh!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Override vs overload — pyetje klasike provimi: OVERRIDE = fëmija zëvendëson metodën e prindit (emër + parametra identikë); OVERLOAD = e njëjta klasë, emër i njëjtë, parametra të ndryshëm (max me 2 dhe 3 argumente, L3). Demonstroni @Override me gabim shkrimi (prezantohuu) — kompajleri e kap vetëm me anotacion!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Përgjigjet pyetja e slajdit 3: fëmija NUK i sheh private-t e prindit — trashëgimia s'i thyen rregullat e enkapsulimit. protected është shkalla e mesme: e dukshme për fëmijët, e fshehur për botën. Për fillestarët: private + getter mbetet zgjidhja e parazgjedhur.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i mbush vargjet me vlera default — ndryshe nga C, ku brenda ka mbeturina kujtese. Kjo është premtimi i sigurisë së Java-s. Tabela është rikujtim i L3 (vlerat default u përmendën aty), por tani rreshti i fundit — null për objektet — bëhet tema qendrore.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SLAJDI MË I RËNDËSISHËM i pjesës së vargjeve: vargu i objekteve mban REFERENCA, jo objekte. Analogjia e raftit të bibliotekës: new Studenti[3] ndërton raftin me 3 vende; librat (objektet) vendosen një nga një. NullPointerException është gabimi më i famshëm i Java-s — do ta shohin mijëra herë; mësojini ta duan si mik që tregon vendin bosh.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Kulmi i leksionit dhe ura drejt tjetrit: dy temat e sotme (trashëgimia + vargjet) bashkohen. Mos hyni në detajet e polimorfizmit — vetëm emërtojeni dhe premtoni thellimin. Dalja tregon që secili objekt 'e di' se kush është, edhe pse rafti i sheh të gjithë si Person. Supozohet që Studenti/Pedagogu kanë mbishkruar prezantohu() (slajdi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njohur. Pyetjet: trashëgimi fushe, override, varg primitiv bosh, varg objektesh me null. Q4 është NPE — kush e kap, e ka kuptuar raftin bosh.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fusha x trashëgohet — b merr 5, përgjigja b. Q2: mbishkrimi — versioni i fëmijës fiton, printon Student, përgjigja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default 0 + 7 + 0 = 7 — përgjigja a. Q4: klasa[1] është null (rafti u ndërtua, por vendi 1 s'u mbush kurrë) → NullPointerException NË EKZEKUTIM, jo në kompilim — përgjigja b. Dallimi ekzekutim/kompilim është vlerë e shtuar e pyetjes.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është ndarësi i klasës. Vizatoni raftin në tabelë: [obj Ana][null] dhe pyesni 'kujt po i thoni prezantohu te vendi 1?' — askujt. Kjo fotografi mendore i shpëton nga mijëra NPE në karrierë.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Fjalitë kyçe: 'extends = merr gjithçka', 'super = themeli para katit', 'rafti bosh mban null, jo objekte'. Java tjetër: polimorfizmi në detaje — magjia e Person[] merr emrin dhe teorinë e 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Familja Kafshë/Qeni/Macja është zgjedhur qëllimisht e ndryshme nga Person/Studenti — të përkthejnë konceptin, jo të kopjojnë. Detyra 3 stërvit kontrollin != null. Detyra 4 kombinon L5 (Scanner) + L6 (trashëgimi + varg objektesh) — parapërgatitje e përsosur për polimorfizmin.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Trashëgimia e klasave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· super · mbishkrimi · vargjet bosh dhe null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377440" y="32461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377440" y="3246120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sp>
        <p:nvSpPr>
          <p:cNvPr id="10" name="Text 7"/>
          <p:cNvSpPr/>
          <p:nvPr/>
        </p:nvSpPr>
        <p:spPr>
          <a:xfrm>
            <a:off x="2377440" y="32461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578608" y="3730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emri, mosha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 flipH="1">
            <a:off x="2423160" y="4160520"/>
            <a:ext cx="1097280" cy="502920"/>
          </a:xfrm>
          <a:prstGeom prst="line">
            <a:avLst/>
          </a:prstGeom>
          <a:noFill/>
          <a:ln w="22225">
            <a:solidFill>
              <a:srgbClr val="F6A6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4160520"/>
            <a:ext cx="1097280" cy="502920"/>
          </a:xfrm>
          <a:prstGeom prst="line">
            <a:avLst/>
          </a:prstGeom>
          <a:noFill/>
          <a:ln w="22225">
            <a:solidFill>
              <a:srgbClr val="F6A6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468172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4681728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273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4681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42416" y="5166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fakulteti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77640" y="4681728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977640" y="4681728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27395C"/>
          </a:solidFill>
          <a:ln/>
        </p:spPr>
      </p:sp>
      <p:sp>
        <p:nvSpPr>
          <p:cNvPr id="20" name="Text 17"/>
          <p:cNvSpPr/>
          <p:nvPr/>
        </p:nvSpPr>
        <p:spPr>
          <a:xfrm>
            <a:off x="3977640" y="4681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178808" y="5166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lenda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20840" y="5989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algn="r"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algn="r"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algn="r"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algn="r"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Rikujtim: enkapsulimi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get/set, validimi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Trashëgimia — koncepti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prind &amp; fëmijë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&amp; mbishkrimi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Konstruktorët, @Override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bosh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Vlerat default, null, NPE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 + trashëgimi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Person[] mban të gjithë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GETTERS · SETTERS · VALIDIMI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Rikujtim: enkapsulimi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5943600" cy="3845052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486400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FSHEHUR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getKapaciteti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leximi i lejuar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setKapaciteti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ROJA - validimi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kapaciteti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1645920"/>
            <a:ext cx="489204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2200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12317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2434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976872" y="2103120"/>
            <a:ext cx="443484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setKapaciteti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setKapaciteti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injorohet!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getKapaciteti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20840" y="30632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fusha e fshehur nga jashtë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Askush s'e prek direkt: banka.kapaciteti = -500 → gabim kompilimi.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set — dyert zyrtare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 me getX(); ndryshimi VETËM përmes setX().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Validimi jeton BRENDA klasës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Rregulli (k &gt;= 0) shkruhet një herë dhe mbron çdo objekt, gjithmonë — roja e konstruktorit (L4), tani për gjithë jetën e objektit.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5559552"/>
            <a:ext cx="11018520" cy="603504"/>
          </a:xfrm>
          <a:prstGeom prst="roundRect">
            <a:avLst>
              <a:gd name="adj" fmla="val 12121"/>
            </a:avLst>
          </a:prstGeom>
          <a:solidFill>
            <a:srgbClr val="FBEDD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78424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25880" y="55778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kjo na duhet: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trashëgimia do të na pyesë menjëherë — a i sheh fëmija fushat private të prindit?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TRASHËGIMIA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dy klasa, i njëjti kod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828800"/>
            <a:ext cx="53949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286000"/>
            <a:ext cx="49377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1828800"/>
            <a:ext cx="51663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80313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00430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656832" y="2286000"/>
            <a:ext cx="47091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KOPJE!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KOPJE!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KOPJE!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jepMesim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4206240"/>
            <a:ext cx="11018520" cy="1554480"/>
          </a:xfrm>
          <a:prstGeom prst="roundRect">
            <a:avLst>
              <a:gd name="adj" fmla="val 529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4370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dhe Pedagogu janë të dy... PERSONA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48280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Pjesën e përbashkët (emri, mosha, prezantohu) e shkruajmë NJË herë në një klasë prind — dhe fëmijët e trashëgojnë. DRY (leksioni 2) tani në nivel klasash!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MARRËDHËNIA "ËSHTË NJË"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Prindi dhe fëmijët — hierarkia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617720" y="1783080"/>
            <a:ext cx="2926080" cy="1225296"/>
          </a:xfrm>
          <a:prstGeom prst="roundRect">
            <a:avLst>
              <a:gd name="adj" fmla="val 5970"/>
            </a:avLst>
          </a:prstGeom>
          <a:solidFill>
            <a:srgbClr val="1E3050"/>
          </a:solidFill>
          <a:ln w="25400">
            <a:solidFill>
              <a:srgbClr val="E8730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17720" y="17830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4617720" y="1783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 (prindi)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18888" y="2267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emri, mosha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18888" y="2578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prezantohu()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>
            <a:off x="3291840" y="3063240"/>
            <a:ext cx="2788920" cy="777240"/>
          </a:xfrm>
          <a:prstGeom prst="line">
            <a:avLst/>
          </a:prstGeom>
          <a:noFill/>
          <a:ln w="25400">
            <a:solidFill>
              <a:srgbClr val="F6A6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3063240"/>
            <a:ext cx="2788920" cy="777240"/>
          </a:xfrm>
          <a:prstGeom prst="line">
            <a:avLst/>
          </a:prstGeom>
          <a:noFill/>
          <a:ln w="25400">
            <a:solidFill>
              <a:srgbClr val="F6A6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26680" y="3127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554480" y="3886200"/>
            <a:ext cx="3108960" cy="1225296"/>
          </a:xfrm>
          <a:prstGeom prst="roundRect">
            <a:avLst>
              <a:gd name="adj" fmla="val 5970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554480" y="388620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27395C"/>
          </a:solidFill>
          <a:ln/>
        </p:spPr>
      </p:sp>
      <p:sp>
        <p:nvSpPr>
          <p:cNvPr id="17" name="Text 14"/>
          <p:cNvSpPr/>
          <p:nvPr/>
        </p:nvSpPr>
        <p:spPr>
          <a:xfrm>
            <a:off x="1554480" y="3886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  (fëmijë)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755648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trashëgon gjithçka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755648" y="4681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fakulteti, meso()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43800" y="3886200"/>
            <a:ext cx="3108960" cy="1225296"/>
          </a:xfrm>
          <a:prstGeom prst="roundRect">
            <a:avLst>
              <a:gd name="adj" fmla="val 5970"/>
            </a:avLst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43800" y="388620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27395C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3886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  (fëmijë)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744968" y="4370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trashëgon gjithçka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44968" y="4681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lenda, jepMesim()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554480" y="5486400"/>
            <a:ext cx="9098280" cy="777240"/>
          </a:xfrm>
          <a:prstGeom prst="roundRect">
            <a:avLst>
              <a:gd name="adj" fmla="val 9412"/>
            </a:avLst>
          </a:prstGeom>
          <a:solidFill>
            <a:srgbClr val="1E3050"/>
          </a:solidFill>
          <a:ln/>
        </p:spPr>
      </p:sp>
      <p:sp>
        <p:nvSpPr>
          <p:cNvPr id="26" name="Text 23"/>
          <p:cNvSpPr/>
          <p:nvPr/>
        </p:nvSpPr>
        <p:spPr>
          <a:xfrm>
            <a:off x="1828800" y="55595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"është një":  </a:t>
            </a:r>
            <a:pPr indent="0" marL="0"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ËSHTË person? Po → trashëgimia ka kuptim. Makina ËSHTË person? Jo → s'ka extends!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I PARË ME TRASHËGIMI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Fjala magjike: extends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766560" cy="4887468"/>
          </a:xfrm>
          <a:prstGeom prst="roundRect">
            <a:avLst>
              <a:gd name="adj" fmla="val 168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309360" cy="433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bosh - por TRASHEGON gjithcka!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main: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fushe e trasheguar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metode e trasheguar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74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3134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Ana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329184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47888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ndodhi?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47888" y="3913632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s'ka shkruar ASNJË rresht — por ka emri, mosha dhe prezantohu().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Person = "merr gjithçka që ka Person-i".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klasë mund të ketë vetëm NJË prind direkt.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TRASHËGON + ZGJERON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shton të vetat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67512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21792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fushe e RE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metode e RE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po meson 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3840480"/>
            <a:ext cx="667512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4023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996696" y="4023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197864" y="4023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297680"/>
            <a:ext cx="62179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nga PRINDI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"Informatike"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VETJA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nga PRINDI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 VETJA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80960" y="169164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36992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= Person + shtesat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936992" y="233172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Person (falas):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emri, mosha, prezantohu()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vetat (të reja):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2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fakulteti, meso()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te meso(): fëmija përdor lirshëm fushën emri të prindit — është e TIJA tani.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ZINXHIRI I NDËRTIMIT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— thirrja e konstruktorit të prindit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949440" cy="4887468"/>
          </a:xfrm>
          <a:prstGeom prst="roundRect">
            <a:avLst>
              <a:gd name="adj" fmla="val 168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492240" cy="433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ndertohet pjesa Person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pjesa e re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"Informatike"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83880" y="16916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430768" y="19019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Rregullat e super: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30768" y="23317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super(...) thërret konstruktorin e PRINDIT — si this për veten, super për prindin.</a:t>
            </a:r>
            <a:endParaRPr lang="en-US" sz="1250" dirty="0"/>
          </a:p>
          <a:p>
            <a:pPr marL="177800" indent="-1778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DUHET të jetë rreshti i PARË i konstruktorit të fëmijës.</a:t>
            </a:r>
            <a:endParaRPr lang="en-US" sz="1250" dirty="0"/>
          </a:p>
          <a:p>
            <a:pPr marL="177800" indent="-1778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Logjika: s'mund të ndërtosh katin e dytë para themelit — pjesa Person ndërtohet e para.</a:t>
            </a:r>
            <a:endParaRPr lang="en-US" sz="1250" dirty="0"/>
          </a:p>
          <a:p>
            <a:pPr marL="177800" indent="-1778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 gotcha-n e L4: prindi me konstruktor të vetin e HUMB atë boshin — fëmija detyrohet të thërrasë super(...) me argumente.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FLET NDRYSHE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Mbishkrimi i metodave (@Override)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76656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30936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nje person."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student!"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169164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74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3134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nje person.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347472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47888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funksionon: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47888" y="40690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njëjti emër + parametra si te prindi → versioni i fëmijës FITON.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s'është i detyruar, por ju mbron: nëse gaboni emrin, kompajleri bërtet.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e ngatërroni me MBINGARKIMIN (L3): overload = emër i njëjtë, parametra të ndryshëm.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PËRGJIGJA E PYETJES SË HAPJES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protected dhe trashëgimia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58368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12648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femija NUK e sheh dot!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femija E SHEH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 - protected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GABIM - private!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783080"/>
          <a:ext cx="4069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6868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Modifikuesi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Vetë klasa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Fëmijët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Të gjithë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protected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7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543800" y="3977640"/>
            <a:ext cx="406908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99832" y="41148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mirë: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 mbeten private edhe me trashëgimi — fëmija i lexon me getter-at publikë (getMosha()). protected përdoret me kursim.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VLERAT DEFAULT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bosh — çfarë ka brenda?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58368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1264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0 - JO mbeturine!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{0.0, 0.0, 0.0}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{false, false}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{null, null} !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" y="379476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3794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79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56232" y="379476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56232" y="3794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5623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90672" y="379476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0672" y="3794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9067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25112" y="379476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25112" y="37947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2511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int[4] — "bosh" do të thotë plot me zero, jo i paqartë.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783080"/>
          <a:ext cx="40690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Vlera 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int, long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'\u0000'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Objektet (String…)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2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  ⚠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7543800" y="4709160"/>
            <a:ext cx="4069080" cy="1097280"/>
          </a:xfrm>
          <a:prstGeom prst="roundRect">
            <a:avLst>
              <a:gd name="adj" fmla="val 7500"/>
            </a:avLst>
          </a:prstGeom>
          <a:solidFill>
            <a:srgbClr val="FBEDDD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74920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29600" y="4828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Rreshti i fundit i tabelës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është hero i slajdit tjetër — null është tjetër gjë nga 0!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DHE NULLPOINTEREXCEPTION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bosh i objekteve = rafte pa libra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72084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2636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{null, null, null} - vetem VENDE bosh!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mbushim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 - "Jam student!"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NullPointerException!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234440" y="4343400"/>
            <a:ext cx="1920240" cy="6858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4343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4343400"/>
            <a:ext cx="1920240" cy="6858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4343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5468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4343400"/>
            <a:ext cx="1920240" cy="685800"/>
          </a:xfrm>
          <a:prstGeom prst="rect">
            <a:avLst/>
          </a:prstGeom>
          <a:solidFill>
            <a:srgbClr val="3A2430"/>
          </a:solidFill>
          <a:ln w="15875">
            <a:solidFill>
              <a:srgbClr val="C065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4343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5056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01000" y="16916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E3050"/>
          </a:solidFill>
          <a:ln/>
        </p:spPr>
      </p:sp>
      <p:sp>
        <p:nvSpPr>
          <p:cNvPr id="21" name="Text 18"/>
          <p:cNvSpPr/>
          <p:nvPr/>
        </p:nvSpPr>
        <p:spPr>
          <a:xfrm>
            <a:off x="8247888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hapa, jo një: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247888" y="22860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 Studenti[3] ndërton RAFTIN — jo studentët!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Çdo vend duhet mbushur me new Studenti(...) — ndryshe mbetet null.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001000" y="41605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3A2430"/>
          </a:solidFill>
          <a:ln w="15875">
            <a:solidFill>
              <a:srgbClr val="C065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47888" y="431596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8A7E"/>
                </a:solidFill>
              </a:rPr>
              <a:t>Mbrojtja: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C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(klasa[i] != null)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C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klasa[i].prezantohu();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C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TRASHËGIMIA + VARGJET BASHKË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i prindit mban gjithë familjen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72084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26364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rafti bosh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pedagog!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01000" y="16916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74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313432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pedagog!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37490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47888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Magjia me emër të madh: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47888" y="4315968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ËSHTË Person → futet në Person[].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element thërret versionin E VET të prezantohu().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Kjo quhet POLIMORFIZËM — detajet leksionin tjetër!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14400" y="4590288"/>
            <a:ext cx="6720840" cy="1280160"/>
          </a:xfrm>
          <a:prstGeom prst="roundRect">
            <a:avLst>
              <a:gd name="adj" fmla="val 6429"/>
            </a:avLst>
          </a:prstGeom>
          <a:solidFill>
            <a:srgbClr val="1E3050"/>
          </a:solidFill>
          <a:ln/>
        </p:spPr>
      </p:sp>
      <p:sp>
        <p:nvSpPr>
          <p:cNvPr id="19" name="Text 15"/>
          <p:cNvSpPr/>
          <p:nvPr/>
        </p:nvSpPr>
        <p:spPr>
          <a:xfrm>
            <a:off x="1188720" y="466344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funksionon?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"është një" i slajdit 5 në veprim: rafti është për PERSONA, dhe studentët e pedagogët JANË persona. Një cikël i vetëm përpunon gjithë familjen — pa ditur kush është kush.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457200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Pyetni veten: kush e ka këtë metodë — prindi, fëmija, apo askush (null)?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TRASHËGIMIA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48920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kompilimi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rreshti i fundit?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"Person"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5230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të dyja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VARGJET BOSH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vlera te rastesishme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ndodh te rreshti i fundit?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922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printon bosh    </a:t>
            </a:r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    </a:t>
            </a:r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kompilimi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5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394960" y="181051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 x trashëgohet nga A — klasa B bosh e ka pa shkruar asgjë.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Student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394960" y="28895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Mbishkrimi: kur fëmija e ka metodën me të njëjtin emër e parametra, versioni i tij fiton.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7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394960" y="396849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i ri i int-eve mbushet me 0: pra 0 + 7 + 0 = 7 — s'ka vlera të rastësishme në Java.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NullPointerException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394960" y="504748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klasa[1] mbeti null — rafti u ndërtua, por objekti s'u krijua kurrë. Gabim ekzekutimi!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familja OOP ju përqafon! · 2 saktë: rishikoni slajdet 9 dhe 12 · 0–1: ejani në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Enkapsulimi (rikujtim)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+ get/set + validim brenda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trashëgon fushat &amp; metodat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super(...)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Themeli para katit — rreshti i parë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flet me zërin e vet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bosh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int→0, boolean→false, objektet→null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Person[] &amp; NPE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 mban familjen; vendet bosh = null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Familja Kafshë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03520" y="164592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Kafsha (emri, mosha, beZe()); Qeni dhe Macja extends me beZe() të mbishkruar.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në veprim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03520" y="260604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konstruktorë: Kafsha(emri), fëmijët me super(emri) + fushën e tyre të re.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 bosh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03520" y="356616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Kafsha[5]; mbush vetëm 3 vende; printoji të gjitha PA marrë NPE (kontrolli != null).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kopshti zoologjik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303520" y="452628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Kafsha[] me qen e mace të përzier nga Scanner; në fund secila bën zërin e vet me një cikël.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polimorfizmi — pse njerzit[i].prezantohu() di gjithmonë kë të thërrasë.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6: Trashëgimia dhe vargjet bosh</dc:title>
  <dc:subject>PptxGenJS Presentation</dc:subject>
  <dc:creator>Kreni</dc:creator>
  <cp:lastModifiedBy>Kreni</cp:lastModifiedBy>
  <cp:revision>1</cp:revision>
  <dcterms:created xsi:type="dcterms:W3CDTF">2026-07-24T13:45:10Z</dcterms:created>
  <dcterms:modified xsi:type="dcterms:W3CDTF">2026-07-24T13:45:10Z</dcterms:modified>
</cp:coreProperties>
</file>