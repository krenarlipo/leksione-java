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82A5A5E-4637-4C81-8E73-253AF464B21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Dy tema të mëdha: interfejsat (hapi i fundit i trekëndëshit OOP pas trashëgimisë dhe abstraktes) dhe trajtimi i gabimeve — ku studentët më në fund mësojnë të zbusin exceptionet që i kanë përndjekur gjithë semestrin. Si në L9: ÇDO shembull është kompiluar dhe ekzekutuar; daljet dhe stack trace-t janë reale. 70 minuta.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5663E7-2D9F-48D7-8C04-F46A350637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Struktura: gjysma e parë mbyll trekëndëshin OOP (trashëgimi → abstract → interface), gjysma e dytë hap kapitullin e gabimeve. Çdo kod i sotëm është testuar me kompajler — edhe stack trace-t janë reale.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A5D7D7-DA7C-42B6-BFDD-C1B6CA9539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Rikujtim i shpejtë me pyetje, jo leksion: 'çfarë NUK bëhet me abstrakten?' (new), 'çfarë DUHET të bëjë fëmija?' (mbishkrimi). Kontrolloni detyrat me Git — Trekendeshi pa prekur main-in ishte prova e polimorfizmit. Pyetja e fundit e slajdit është ura e drejtpërdrejtë te interfejsat.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A054BD-17B5-4B39-9155-58D2E95D4B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Motivimi para sintaksës, si gjithmonë. Pika kyçe: interfejsi nuk është 'klasë e dobët' — është koncept tjetër: aftësi/kontratë, jo familje. Analogjia e certifikatave do të na shoqërojë gjithë orën.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67C951-EC8B-4E8C-AE76-6B12CBA021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Tri detaje sintakse: (1) interface në vend të class; (2) metodat brenda janë automatikisht public abstract — pa e shkruar; (3) te implements mbishkrimi DUHET public — gabimi klasik është ta lësh pa public dhe kompajleri ankohet për 'weaker access privileges'. Kodi + dalja: të verifikuara.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D45B04-DCCD-4A40-8E0F-C5995931D5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Dokumenti mban dy certifikata dhe plotëson të dyja kontratat. Pyetje kontrolli: nëse Dokumenti harron ruaj(), çfarë ndodh? (I njëjti gabim si te abstraktja e L9: 'is not abstract and does not override...'). Mund të kombinohen: class X extends Y implements A, B — familja + certifikatat bashkë.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32FCEC-3CFB-4183-B86A-76D9057653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Kulmi i pjesës së parë: vargu Printueshem[] mban objekte nga familje krejt të ndryshme. Krahasojeni me Person[] të L6 — atje familja i bashkonte, këtu certifikata. Kjo është arsyeja pse Java preferon interfejsat për kontrata publike.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DAB62B-CD52-4F88-964B-94FFECA466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Tabela referuese — për fotografim. Rreshti i konstruktorit është më i thelli: abstraktja MBAN gjendje (fusha+konstruktor), interfejsi s'ka gjendje fare — vetëm premtime. Shënimi me yll parandalon konfuzionin nëse dikush ka parë default methods në internet.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57758F-3605-4389-B70B-F3871E8E47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Momenti i njohjes: të katër gabimet i kanë përjetuar vetë — pyesni 'kush e ka parë secilin?' dhe duart ngrihen. Trace-i djathtas është REAL, i kopjuar nga ekzekutimi. Deri sot gabimi = vdekja e programit; nga slajdi tjetër = ngjarje që kapet.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F7DA5A-F6EE-4780-B8CA-F19E055523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Struktura bazë e ditës. Vëreni ndryshimin me slajdin 9: atje 'Ky rresht s'arrihet kurre' vdiq me programin; këtu rreshti pas try-catch JETON. Emri i variablës e te catch është objekti i gabimit — e.getMessage() vjen në slajdin e throw.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FAC913-9483-4764-AFF8-A8BD2253A9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Të dyja daljet janë reale — programi u ekzekutua me 'abc' dhe me '0'. Demonstroni live duke ndryshuar tekstin. parseInt prezantohet këtu natyrshëm. Për kuriozët: catch (Exception e) kap gjithçka — por përmendeni si 'rrjetë e gjerë' që fsheh informacion; specifikja është praktika e mirë.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5E629B-FD41-4641-9E02-10BB39378A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finally = 'pavarësisht si shkon, këtë e bëj'. Shembulli praktik më i afërt: sc.close() në finally. Mos i zhytni në raste ekstreme (System.exit etj.) — për fillestarët mjaftojnë tri skenarët e panelit.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DED54E-6E53-4BA1-83C7-58E489D5BF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Rrethi mbyllet: InputMismatchException që i tmerroi në L5 tani kapet me emër. Të dyja ekzekutimet janë reale (me 'abc' dhe me '20'). Detaj i importit: InputMismatchException jeton në java.util. Për cikël të plotë validimi me try-catch duhet edhe sc.nextLine() në catch për të pastruar hyrjen e keqe — detyra 2!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B7E3BF-F8C9-4CBC-BE37-FFC9C70D66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Rrethi i dytë që mbyllet: konstruktori-roje i L4 injoronte vlerat e këqija (sasia=0); tani ka gjuhë — throw. Trace-i tregon zinxhirin: gabimi lindi te Studenti.&lt;init&gt; (konstruktori!), i thirrur nga main. Vini re 'Ana, 20' PARA trace-it — objekti i parë u krijua me sukses, plasi vetëm i dyti. e.getMessage() merr tekstin e mesazhit.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B38AFA-326F-4659-9244-1173B48C1C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Dy pyetje interfejsa, dy pyetje exceptions. Kodet e quiz-it janë testuar me kompajler.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E0ACA6-8A8C-4DE2-9EEF-C415D719D4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Q1: përgjigja a — rregulli i artë i slajdit 6. Q2: referenca e tipit interface + objekti konkret — printon Ham!, përgjigja c. Kush zgjodhi a te Q2, kujtojini se referencat e interfejsave lejohen njësoj si ato abstrakte.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814EBC-F347-4497-8D50-660EAF6DFD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Q3: v[5] plas PARA se të printohet A — kërcen te catch (B), pastaj vazhdon (C): përgjigja b. Ky është kurthi kryesor: A duket sikur printohet, por rreshtat pas gabimit brenda try anashkalohen. Q4: throw pa kapje = ndërprerje me trace — përgjigja b (e pamë live në slajdin 14).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C0F9B7-0B6A-4676-94C9-015782AA4C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Q3 është ndarësi i pjesës së gabimeve — 'A' e rreme zbulon kush e ka kuptuar kërcimin te catch. Nëse shumë gabuan, rikthehuni te slajdi 10 dhe ndiqni rrjedhën me gisht në kod.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496897-5ACE-4E2C-8C5E-9A4B756B55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Trekëndëshi OOP u mbyll: trashëgimia (L6) → abstract (L9) → interface (L10). Dhe gabimet u zbutën: nga vdekja me trace te kapja elegante. Java tjetër: HashMap dhe koleksionet — struktura e fundit e madhe e semestrit.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BD0B6D-1854-420C-AE38-0773DF04F5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Detyra 2 mbyll rrethin e L5; detyra 3 mbyll rrethin e L4 (roja); detyra 4 kombinon L9+L10. Kujtesa e Git: kontrolloni git log — 4 commit-e me mesazhe të qarta janë pjesë e vlerësimit.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DD9AEE-19D3-4EC2-9FE5-115FF73D82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5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595360" y="-1463040"/>
            <a:ext cx="5028840" cy="5028840"/>
          </a:xfrm>
          <a:prstGeom prst="ellipse">
            <a:avLst/>
          </a:prstGeom>
          <a:solidFill>
            <a:srgbClr val="E8730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692640" y="3291840"/>
            <a:ext cx="3840120" cy="3840120"/>
          </a:xfrm>
          <a:prstGeom prst="ellipse">
            <a:avLst/>
          </a:prstGeom>
          <a:solidFill>
            <a:srgbClr val="1E3050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preencoded.png"/>
          <p:cNvPicPr/>
          <p:nvPr/>
        </p:nvPicPr>
        <p:blipFill>
          <a:blip r:embed="rId1"/>
          <a:stretch/>
        </p:blipFill>
        <p:spPr>
          <a:xfrm>
            <a:off x="8732520" y="1234440"/>
            <a:ext cx="274284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2"/>
          <p:cNvSpPr/>
          <p:nvPr/>
        </p:nvSpPr>
        <p:spPr>
          <a:xfrm>
            <a:off x="822960" y="12344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400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LEKSIONI 10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786240" y="1645920"/>
            <a:ext cx="78634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Interfaces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dhe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trajtimi i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gabimeve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822960" y="3127320"/>
            <a:ext cx="7497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interface · implements · </a:t>
            </a:r>
            <a:r>
              <a:rPr lang="en-US" sz="1800" b="0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try / catch / finally · throw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841320" y="3703320"/>
            <a:ext cx="6309000" cy="176004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1042560" y="388620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1243440" y="388620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8"/>
          <p:cNvSpPr/>
          <p:nvPr/>
        </p:nvSpPr>
        <p:spPr>
          <a:xfrm>
            <a:off x="1444680" y="388620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1097280" y="4160520"/>
            <a:ext cx="5851800" cy="12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mosha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sc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nextInt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InputMismatchException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"Kjo s'eshte numer!"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0"/>
          <p:cNvSpPr/>
          <p:nvPr/>
        </p:nvSpPr>
        <p:spPr>
          <a:xfrm>
            <a:off x="840960" y="5623560"/>
            <a:ext cx="6949440" cy="360"/>
          </a:xfrm>
          <a:prstGeom prst="line">
            <a:avLst/>
          </a:prstGeom>
          <a:ln w="1905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822960" y="57790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Ligjëratë 70 minuta</a:t>
            </a:r>
            <a:r>
              <a:rPr lang="en-US" sz="1300" b="0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     •     </a:t>
            </a:r>
            <a:r>
              <a:rPr lang="en-US" sz="13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Nivel: Fillestar</a:t>
            </a:r>
            <a:r>
              <a:rPr lang="en-US" sz="1300" b="0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     •     </a:t>
            </a:r>
            <a:r>
              <a:rPr lang="en-US" sz="13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Informatikë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AGJENDA · 70 MINUTA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Plani i leksionit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548640" y="160020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804600" y="185616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1" descr="preencoded.png"/>
          <p:cNvPicPr/>
          <p:nvPr/>
        </p:nvPicPr>
        <p:blipFill>
          <a:blip r:embed="rId2"/>
          <a:stretch/>
        </p:blipFill>
        <p:spPr>
          <a:xfrm>
            <a:off x="932760" y="1984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5"/>
          <p:cNvSpPr/>
          <p:nvPr/>
        </p:nvSpPr>
        <p:spPr>
          <a:xfrm>
            <a:off x="3099960" y="183780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07'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804600" y="258768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Rikujtim: abstract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804600" y="308160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Kontrata e L9 — ende e ngrohtë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4370760" y="160020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9"/>
          <p:cNvSpPr/>
          <p:nvPr/>
        </p:nvSpPr>
        <p:spPr>
          <a:xfrm>
            <a:off x="4626720" y="185616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2" descr="preencoded.png"/>
          <p:cNvPicPr/>
          <p:nvPr/>
        </p:nvPicPr>
        <p:blipFill>
          <a:blip r:embed="rId3"/>
          <a:stretch/>
        </p:blipFill>
        <p:spPr>
          <a:xfrm>
            <a:off x="4754880" y="1984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0"/>
          <p:cNvSpPr/>
          <p:nvPr/>
        </p:nvSpPr>
        <p:spPr>
          <a:xfrm>
            <a:off x="6922080" y="183780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15'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4626720" y="258768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Interface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4626720" y="308160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interface, implements, shumë njëherësh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3"/>
          <p:cNvSpPr/>
          <p:nvPr/>
        </p:nvSpPr>
        <p:spPr>
          <a:xfrm>
            <a:off x="8192880" y="160020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4"/>
          <p:cNvSpPr/>
          <p:nvPr/>
        </p:nvSpPr>
        <p:spPr>
          <a:xfrm>
            <a:off x="8449200" y="185616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3" descr="preencoded.png"/>
          <p:cNvPicPr/>
          <p:nvPr/>
        </p:nvPicPr>
        <p:blipFill>
          <a:blip r:embed="rId4"/>
          <a:stretch/>
        </p:blipFill>
        <p:spPr>
          <a:xfrm>
            <a:off x="8577000" y="19843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15"/>
          <p:cNvSpPr/>
          <p:nvPr/>
        </p:nvSpPr>
        <p:spPr>
          <a:xfrm>
            <a:off x="10744200" y="183780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06'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8449200" y="258768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Abstract vs Interface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8449200" y="308160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Familja kundrejt aftësisë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8"/>
          <p:cNvSpPr/>
          <p:nvPr/>
        </p:nvSpPr>
        <p:spPr>
          <a:xfrm>
            <a:off x="548640" y="394092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9"/>
          <p:cNvSpPr/>
          <p:nvPr/>
        </p:nvSpPr>
        <p:spPr>
          <a:xfrm>
            <a:off x="804600" y="419724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4" descr="preencoded.png"/>
          <p:cNvPicPr/>
          <p:nvPr/>
        </p:nvPicPr>
        <p:blipFill>
          <a:blip r:embed="rId5"/>
          <a:stretch/>
        </p:blipFill>
        <p:spPr>
          <a:xfrm>
            <a:off x="932760" y="4325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20"/>
          <p:cNvSpPr/>
          <p:nvPr/>
        </p:nvSpPr>
        <p:spPr>
          <a:xfrm>
            <a:off x="3099960" y="417888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14'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1"/>
          <p:cNvSpPr/>
          <p:nvPr/>
        </p:nvSpPr>
        <p:spPr>
          <a:xfrm>
            <a:off x="804600" y="492876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Gabimet &amp; try-catch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2"/>
          <p:cNvSpPr/>
          <p:nvPr/>
        </p:nvSpPr>
        <p:spPr>
          <a:xfrm>
            <a:off x="804600" y="542232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Kapja e exceptioneve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3"/>
          <p:cNvSpPr/>
          <p:nvPr/>
        </p:nvSpPr>
        <p:spPr>
          <a:xfrm>
            <a:off x="4370760" y="394092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4"/>
          <p:cNvSpPr/>
          <p:nvPr/>
        </p:nvSpPr>
        <p:spPr>
          <a:xfrm>
            <a:off x="4626720" y="419724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 5" descr="preencoded.png"/>
          <p:cNvPicPr/>
          <p:nvPr/>
        </p:nvPicPr>
        <p:blipFill>
          <a:blip r:embed="rId6"/>
          <a:stretch/>
        </p:blipFill>
        <p:spPr>
          <a:xfrm>
            <a:off x="4754880" y="4325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25"/>
          <p:cNvSpPr/>
          <p:nvPr/>
        </p:nvSpPr>
        <p:spPr>
          <a:xfrm>
            <a:off x="6922080" y="417888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13'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6"/>
          <p:cNvSpPr/>
          <p:nvPr/>
        </p:nvSpPr>
        <p:spPr>
          <a:xfrm>
            <a:off x="4626720" y="492876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finally &amp; throw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7"/>
          <p:cNvSpPr/>
          <p:nvPr/>
        </p:nvSpPr>
        <p:spPr>
          <a:xfrm>
            <a:off x="4626720" y="542232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Praktika: Scanner + roja që flet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8"/>
          <p:cNvSpPr/>
          <p:nvPr/>
        </p:nvSpPr>
        <p:spPr>
          <a:xfrm>
            <a:off x="8192880" y="3940920"/>
            <a:ext cx="3602520" cy="2084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9"/>
          <p:cNvSpPr/>
          <p:nvPr/>
        </p:nvSpPr>
        <p:spPr>
          <a:xfrm>
            <a:off x="8449200" y="419724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6" descr="preencoded.png"/>
          <p:cNvPicPr/>
          <p:nvPr/>
        </p:nvPicPr>
        <p:blipFill>
          <a:blip r:embed="rId7"/>
          <a:stretch/>
        </p:blipFill>
        <p:spPr>
          <a:xfrm>
            <a:off x="8577000" y="432504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30"/>
          <p:cNvSpPr/>
          <p:nvPr/>
        </p:nvSpPr>
        <p:spPr>
          <a:xfrm>
            <a:off x="10744200" y="4178880"/>
            <a:ext cx="868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15'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1"/>
          <p:cNvSpPr/>
          <p:nvPr/>
        </p:nvSpPr>
        <p:spPr>
          <a:xfrm>
            <a:off x="8449200" y="4928760"/>
            <a:ext cx="314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Quiz + përmbledhje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2"/>
          <p:cNvSpPr/>
          <p:nvPr/>
        </p:nvSpPr>
        <p:spPr>
          <a:xfrm>
            <a:off x="8449200" y="5422320"/>
            <a:ext cx="31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4 pyetje për vetëkontroll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3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4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7 MINUTA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Rikujtim: klasa abstrakte (L9)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594360" y="1783080"/>
            <a:ext cx="6034680" cy="2541600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795600" y="196596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996840" y="196596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1197720" y="196596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850320" y="2240280"/>
            <a:ext cx="557748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abstract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Kafsha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Kafsha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this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emri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abstract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beZe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kontrata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fli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emri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 fle"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6858000" y="1828800"/>
            <a:ext cx="47545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Koncept, jo send: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new Kafsha(...) ndalohet — instancohen vetëm fëmijët konkretë.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Klasë e plotë me vende bosh: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Ka fusha, konstruktor, metoda normale — vetëm beZe() mbetet kontratë.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Referenca abstrakte lejohet: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Kafsha k = new Qeni(...) — thelbi i polimorfizmit.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9"/>
          <p:cNvSpPr/>
          <p:nvPr/>
        </p:nvSpPr>
        <p:spPr>
          <a:xfrm>
            <a:off x="594360" y="4892040"/>
            <a:ext cx="11018160" cy="1188360"/>
          </a:xfrm>
          <a:prstGeom prst="roundRect">
            <a:avLst>
              <a:gd name="adj" fmla="val 6923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1" descr="preencoded.png"/>
          <p:cNvPicPr/>
          <p:nvPr/>
        </p:nvPicPr>
        <p:blipFill>
          <a:blip r:embed="rId2"/>
          <a:stretch/>
        </p:blipFill>
        <p:spPr>
          <a:xfrm>
            <a:off x="868680" y="52851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10"/>
          <p:cNvSpPr/>
          <p:nvPr/>
        </p:nvSpPr>
        <p:spPr>
          <a:xfrm>
            <a:off x="1371600" y="5010840"/>
            <a:ext cx="10058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Pyetja që hap ditën:  </a:t>
            </a:r>
            <a:r>
              <a:rPr lang="en-US" sz="14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Studenti dhe Dokumenti duhet të printohen TË DY — por s'kanë asnjë prind të përbashkët, dhe extends lejohet vetëm NJË herë. Ku e vendosim kontratën e përbashkët?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PSE EKZISTOJNË INTERFEJSAT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Problemi: aftësi që s'njohin familje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594360" y="1828800"/>
            <a:ext cx="6309000" cy="2020320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4"/>
          <p:cNvSpPr/>
          <p:nvPr/>
        </p:nvSpPr>
        <p:spPr>
          <a:xfrm>
            <a:off x="795600" y="20116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996840" y="20116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1197720" y="20116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850320" y="2286000"/>
            <a:ext cx="5851800" cy="14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Studenti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extends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Person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...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familja 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Dokumenti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extends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???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...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s'ka familje!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Te dy duhet te printohen.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extends lejohet VETEM NJE here.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Ku e vendosim kontraten "printohem"?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7178040" y="1828800"/>
            <a:ext cx="443448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Trashëgimia = "është një"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Studenti është Person — po Dokumenti ç'është? Jo person!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Aftësia s'është familje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"Di të printohem" e kanë sende krejt të ndryshme.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E8730C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Zgjidhja: interface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601"/>
              </a:spcAft>
              <a:buClr>
                <a:srgbClr val="26313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Certifikatë aftësie — çdo klasë mund të mbajë SA TË DOJË certifikata, pavarësisht familjes.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9"/>
          <p:cNvSpPr/>
          <p:nvPr/>
        </p:nvSpPr>
        <p:spPr>
          <a:xfrm>
            <a:off x="594360" y="4892040"/>
            <a:ext cx="11018160" cy="1188360"/>
          </a:xfrm>
          <a:prstGeom prst="roundRect">
            <a:avLst>
              <a:gd name="adj" fmla="val 6923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1" descr="preencoded.png"/>
          <p:cNvPicPr/>
          <p:nvPr/>
        </p:nvPicPr>
        <p:blipFill>
          <a:blip r:embed="rId2"/>
          <a:stretch/>
        </p:blipFill>
        <p:spPr>
          <a:xfrm>
            <a:off x="868680" y="52851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10"/>
          <p:cNvSpPr/>
          <p:nvPr/>
        </p:nvSpPr>
        <p:spPr>
          <a:xfrm>
            <a:off x="1371600" y="5010840"/>
            <a:ext cx="10058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Analogjia e ditës: 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familja (extends) e ke NJË dhe s'e zgjedh dot dy herë; certifikatat (implements) i merr sa të duash — patentë shoferi, certifikatë noti, diplomë — dhe secila të DETYRON të dish diçka konkrete.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KODI I PLOTË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Interface e parë: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interface +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implements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914400" y="1600200"/>
            <a:ext cx="6400440" cy="4626360"/>
          </a:xfrm>
          <a:prstGeom prst="roundRect">
            <a:avLst>
              <a:gd name="adj" fmla="val 1779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1115640" y="17830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1316880" y="17830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6"/>
          <p:cNvSpPr/>
          <p:nvPr/>
        </p:nvSpPr>
        <p:spPr>
          <a:xfrm>
            <a:off x="1517760" y="17830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1170360" y="2057400"/>
            <a:ext cx="5943240" cy="40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interface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Printueshem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printo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automatikisht public abstract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Studenti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implements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Printueshem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Studenti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this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emri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@Override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printo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</a:t>
            </a:r>
            <a:r>
              <a:rPr lang="en-US" sz="10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KUJDES: duhet public!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"Studenti: "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7452360" y="1600200"/>
            <a:ext cx="4160160" cy="2020320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9"/>
          <p:cNvSpPr/>
          <p:nvPr/>
        </p:nvSpPr>
        <p:spPr>
          <a:xfrm>
            <a:off x="7653600" y="17830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0"/>
          <p:cNvSpPr/>
          <p:nvPr/>
        </p:nvSpPr>
        <p:spPr>
          <a:xfrm>
            <a:off x="7854840" y="17830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1"/>
          <p:cNvSpPr/>
          <p:nvPr/>
        </p:nvSpPr>
        <p:spPr>
          <a:xfrm>
            <a:off x="8055720" y="17830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2"/>
          <p:cNvSpPr/>
          <p:nvPr/>
        </p:nvSpPr>
        <p:spPr>
          <a:xfrm>
            <a:off x="7708320" y="2057400"/>
            <a:ext cx="3702960" cy="14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Main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main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args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Printueshem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p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Studenti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"Ana"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p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printo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3"/>
          <p:cNvSpPr/>
          <p:nvPr/>
        </p:nvSpPr>
        <p:spPr>
          <a:xfrm>
            <a:off x="7452360" y="3749040"/>
            <a:ext cx="4160160" cy="1051200"/>
          </a:xfrm>
          <a:prstGeom prst="roundRect">
            <a:avLst>
              <a:gd name="adj" fmla="val 7826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 1" descr="preencoded.png"/>
          <p:cNvPicPr/>
          <p:nvPr/>
        </p:nvPicPr>
        <p:blipFill>
          <a:blip r:embed="rId2"/>
          <a:stretch/>
        </p:blipFill>
        <p:spPr>
          <a:xfrm>
            <a:off x="7680960" y="39135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14"/>
          <p:cNvSpPr/>
          <p:nvPr/>
        </p:nvSpPr>
        <p:spPr>
          <a:xfrm>
            <a:off x="8074080" y="390456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Dalja reale (e testuar)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7726680" y="4297680"/>
            <a:ext cx="36572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Studenti: Ana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6"/>
          <p:cNvSpPr/>
          <p:nvPr/>
        </p:nvSpPr>
        <p:spPr>
          <a:xfrm>
            <a:off x="7452360" y="4983480"/>
            <a:ext cx="4160160" cy="1188360"/>
          </a:xfrm>
          <a:prstGeom prst="roundRect">
            <a:avLst>
              <a:gd name="adj" fmla="val 7692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7"/>
          <p:cNvSpPr/>
          <p:nvPr/>
        </p:nvSpPr>
        <p:spPr>
          <a:xfrm>
            <a:off x="7699320" y="5056560"/>
            <a:ext cx="37029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Vëreni referencën:  </a:t>
            </a:r>
            <a:r>
              <a:rPr lang="en-US" sz="12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Printueshem p — referenca e tipit INTERFACE, si referenca abstrakte e L9!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8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IMPLEMENTS A, 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Shumë certifikata njëherësh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594360" y="1645920"/>
            <a:ext cx="6857640" cy="3844800"/>
          </a:xfrm>
          <a:prstGeom prst="roundRect">
            <a:avLst>
              <a:gd name="adj" fmla="val 2140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4"/>
          <p:cNvSpPr/>
          <p:nvPr/>
        </p:nvSpPr>
        <p:spPr>
          <a:xfrm>
            <a:off x="795600" y="182880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996840" y="182880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1197720" y="182880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850320" y="2103120"/>
            <a:ext cx="6400440" cy="329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interface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Printueshem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printo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interface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Ruajtshem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ruaj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Dokumenti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implements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Printueshem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Ruajtshem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Dokumenti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this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emri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@Override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printo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"Po printohet: "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@Override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ruaj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"U ruajt ne disk: "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r>
              <a:rPr lang="en-US" sz="10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8"/>
          <p:cNvSpPr/>
          <p:nvPr/>
        </p:nvSpPr>
        <p:spPr>
          <a:xfrm>
            <a:off x="7680960" y="1645920"/>
            <a:ext cx="3931560" cy="1238760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7882200" y="182880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0"/>
          <p:cNvSpPr/>
          <p:nvPr/>
        </p:nvSpPr>
        <p:spPr>
          <a:xfrm>
            <a:off x="8083440" y="182880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8284320" y="182880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7936920" y="2103120"/>
            <a:ext cx="347436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Dokumenti</a:t>
            </a:r>
            <a:r>
              <a:rPr lang="en-US" sz="9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d </a:t>
            </a:r>
            <a:r>
              <a:rPr lang="en-US" sz="9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9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9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9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9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Dokumenti</a:t>
            </a:r>
            <a:r>
              <a:rPr lang="en-US" sz="9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9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"Teza.docx"</a:t>
            </a:r>
            <a:r>
              <a:rPr lang="en-US" sz="9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</a:t>
            </a:r>
            <a:r>
              <a:rPr lang="en-US" sz="9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9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printo</a:t>
            </a:r>
            <a:r>
              <a:rPr lang="en-US" sz="9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</a:t>
            </a:r>
            <a:r>
              <a:rPr lang="en-US" sz="9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9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ruaj</a:t>
            </a:r>
            <a:r>
              <a:rPr lang="en-US" sz="9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3"/>
          <p:cNvSpPr/>
          <p:nvPr/>
        </p:nvSpPr>
        <p:spPr>
          <a:xfrm>
            <a:off x="7680960" y="3017520"/>
            <a:ext cx="3931560" cy="1416960"/>
          </a:xfrm>
          <a:prstGeom prst="roundRect">
            <a:avLst>
              <a:gd name="adj" fmla="val 5806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1" descr="preencoded.png"/>
          <p:cNvPicPr/>
          <p:nvPr/>
        </p:nvPicPr>
        <p:blipFill>
          <a:blip r:embed="rId2"/>
          <a:stretch/>
        </p:blipFill>
        <p:spPr>
          <a:xfrm>
            <a:off x="7909560" y="31820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14"/>
          <p:cNvSpPr/>
          <p:nvPr/>
        </p:nvSpPr>
        <p:spPr>
          <a:xfrm>
            <a:off x="8302680" y="3173040"/>
            <a:ext cx="3062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Dalja reale (e testuar)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5"/>
          <p:cNvSpPr/>
          <p:nvPr/>
        </p:nvSpPr>
        <p:spPr>
          <a:xfrm>
            <a:off x="7955280" y="3566160"/>
            <a:ext cx="3428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Po printohet: Teza.docx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U ruajt ne disk: Teza.docx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6"/>
          <p:cNvSpPr/>
          <p:nvPr/>
        </p:nvSpPr>
        <p:spPr>
          <a:xfrm>
            <a:off x="7680960" y="4617720"/>
            <a:ext cx="3931560" cy="137124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7"/>
          <p:cNvSpPr/>
          <p:nvPr/>
        </p:nvSpPr>
        <p:spPr>
          <a:xfrm>
            <a:off x="7936920" y="4709160"/>
            <a:ext cx="3474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Rregulli i artë:  </a:t>
            </a: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extends — VETËM NJË herë.  implements — SA TË DUASH, të ndara me presje. Çdo certifikatë = detyrime të reja për t'u plotësuar.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8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9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VARGU I TIPIT INTERFACE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Polimorfizëm përtej familjeve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914400" y="1691640"/>
            <a:ext cx="6309000" cy="3323520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4"/>
          <p:cNvSpPr/>
          <p:nvPr/>
        </p:nvSpPr>
        <p:spPr>
          <a:xfrm>
            <a:off x="1115640" y="187452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5"/>
          <p:cNvSpPr/>
          <p:nvPr/>
        </p:nvSpPr>
        <p:spPr>
          <a:xfrm>
            <a:off x="1316880" y="187452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6"/>
          <p:cNvSpPr/>
          <p:nvPr/>
        </p:nvSpPr>
        <p:spPr>
          <a:xfrm>
            <a:off x="1517760" y="187452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1170360" y="2148840"/>
            <a:ext cx="5851800" cy="27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Main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main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args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Printueshem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gjerat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Printueshem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];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gjerat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Studenti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"Ana"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gjerat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Dokumenti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"Teza.docx"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&lt;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gjerat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length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++)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gjerat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].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printo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941760" y="4892040"/>
            <a:ext cx="6217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9DB0C6"/>
                </a:solidFill>
                <a:effectLst/>
                <a:uFillTx/>
                <a:latin typeface="Calibri"/>
                <a:ea typeface="Calibri"/>
              </a:rPr>
              <a:t>Studenti dhe Dokumenti — si në slajdet 5 dhe 6.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9"/>
          <p:cNvSpPr/>
          <p:nvPr/>
        </p:nvSpPr>
        <p:spPr>
          <a:xfrm>
            <a:off x="7543800" y="1691640"/>
            <a:ext cx="4068720" cy="1462680"/>
          </a:xfrm>
          <a:prstGeom prst="roundRect">
            <a:avLst>
              <a:gd name="adj" fmla="val 5625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1" descr="preencoded.png"/>
          <p:cNvPicPr/>
          <p:nvPr/>
        </p:nvPicPr>
        <p:blipFill>
          <a:blip r:embed="rId2"/>
          <a:stretch/>
        </p:blipFill>
        <p:spPr>
          <a:xfrm>
            <a:off x="7772400" y="18561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10"/>
          <p:cNvSpPr/>
          <p:nvPr/>
        </p:nvSpPr>
        <p:spPr>
          <a:xfrm>
            <a:off x="8165520" y="184716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Dalja reale (e testuar)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7818120" y="2240280"/>
            <a:ext cx="35658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Studenti: Ana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Po printohet: Teza.docx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2"/>
          <p:cNvSpPr/>
          <p:nvPr/>
        </p:nvSpPr>
        <p:spPr>
          <a:xfrm>
            <a:off x="7543800" y="3337560"/>
            <a:ext cx="4068720" cy="2514240"/>
          </a:xfrm>
          <a:prstGeom prst="roundRect">
            <a:avLst>
              <a:gd name="adj" fmla="val 3636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7790760" y="3520440"/>
            <a:ext cx="3565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Momenti i madh: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7790760" y="3913560"/>
            <a:ext cx="3657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77840" indent="-177840" defTabSz="914400">
              <a:lnSpc>
                <a:spcPct val="106000"/>
              </a:lnSpc>
              <a:spcAft>
                <a:spcPts val="901"/>
              </a:spcAft>
              <a:buClr>
                <a:srgbClr val="D7E0EC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Studenti dhe Dokumenti s'kanë ASNJË prind të përbashkët...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6000"/>
              </a:lnSpc>
              <a:spcAft>
                <a:spcPts val="901"/>
              </a:spcAft>
              <a:buClr>
                <a:srgbClr val="D7E0EC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...por rrinë në të NJËJTIN varg, sepse mbajnë të njëjtën certifikatë.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6000"/>
              </a:lnSpc>
              <a:buClr>
                <a:srgbClr val="F6A63B"/>
              </a:buClr>
              <a:buFont typeface="Symbol" charset="2"/>
              <a:buChar char=""/>
            </a:pP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Polimorfizmi i L9 tani kapërcen kufijtë e familjeve!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5"/>
          <p:cNvSpPr/>
          <p:nvPr/>
        </p:nvSpPr>
        <p:spPr>
          <a:xfrm>
            <a:off x="914400" y="5349240"/>
            <a:ext cx="6309000" cy="731160"/>
          </a:xfrm>
          <a:prstGeom prst="roundRect">
            <a:avLst>
              <a:gd name="adj" fmla="val 10000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1188720" y="5413320"/>
            <a:ext cx="58060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Ky është sekreti i bibliotekave të Java-s:  </a:t>
            </a:r>
            <a:r>
              <a:rPr lang="en-US" sz="12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ArrayList, Scanner, të gjitha punojnë me kontrata interface — jo me klasa konkrete.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FAMILJA KUNDREJT AFTËSISË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Përballja: abstract class vs interface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2" name="Table 0"/>
          <p:cNvGraphicFramePr/>
          <p:nvPr/>
        </p:nvGraphicFramePr>
        <p:xfrm>
          <a:off x="594360" y="1645920"/>
          <a:ext cx="11018160" cy="3163680"/>
        </p:xfrm>
        <a:graphic>
          <a:graphicData uri="http://schemas.openxmlformats.org/drawingml/2006/table">
            <a:tbl>
              <a:tblPr/>
              <a:tblGrid>
                <a:gridCol w="2651760"/>
                <a:gridCol w="4160520"/>
                <a:gridCol w="4206240"/>
              </a:tblGrid>
              <a:tr h="420480">
                <a:tc>
                  <a:txBody>
                    <a:bodyPr lIns="101520" tIns="37800" rIns="101520" bIns="37800" anchor="ctr">
                      <a:noAutofit/>
                    </a:bodyPr>
                    <a:p>
                      <a:endParaRPr lang="en-US" sz="125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abstract class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interface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142033"/>
                    </a:solidFill>
                  </a:tcPr>
                </a:tc>
              </a:tr>
              <a:tr h="45720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Marrëdhënia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"është një" — familja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"di të bëjë" — aftësia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 lejohen?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extends VETËM 1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implements sa të duash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Fusha të zakonshme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JO (vetëm konstante)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Konstruktor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 — thirret me super(...)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JO — s'ka gjendje për të ndërtuar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Metoda me trup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 — trashëgohen gati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JO (klasike)*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Kur e zgjedhim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familje me kod të përbashkët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rIns="10152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631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kontratë e pastër mes familjeve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9360">
                      <a:solidFill>
                        <a:srgbClr val="DBE2EA"/>
                      </a:solidFill>
                      <a:prstDash val="solid"/>
                    </a:lnL>
                    <a:lnR w="9360">
                      <a:solidFill>
                        <a:srgbClr val="DBE2EA"/>
                      </a:solidFill>
                      <a:prstDash val="solid"/>
                    </a:lnR>
                    <a:lnT w="9360">
                      <a:solidFill>
                        <a:srgbClr val="DBE2EA"/>
                      </a:solidFill>
                      <a:prstDash val="solid"/>
                    </a:lnT>
                    <a:lnB w="9360">
                      <a:solidFill>
                        <a:srgbClr val="DB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3" name="Text 3"/>
          <p:cNvSpPr/>
          <p:nvPr/>
        </p:nvSpPr>
        <p:spPr>
          <a:xfrm>
            <a:off x="594360" y="4892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* Java 8+ lejon edhe metoda "default" me trup në interfejsa — kuriozitet për tani, jo lëndë provimi.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"/>
          <p:cNvSpPr/>
          <p:nvPr/>
        </p:nvSpPr>
        <p:spPr>
          <a:xfrm>
            <a:off x="594360" y="5303520"/>
            <a:ext cx="11018160" cy="776880"/>
          </a:xfrm>
          <a:prstGeom prst="roundRect">
            <a:avLst>
              <a:gd name="adj" fmla="val 9412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1" descr="preencoded.png"/>
          <p:cNvPicPr/>
          <p:nvPr/>
        </p:nvPicPr>
        <p:blipFill>
          <a:blip r:embed="rId2"/>
          <a:stretch/>
        </p:blipFill>
        <p:spPr>
          <a:xfrm>
            <a:off x="868680" y="55137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5"/>
          <p:cNvSpPr/>
          <p:nvPr/>
        </p:nvSpPr>
        <p:spPr>
          <a:xfrm>
            <a:off x="1371600" y="537660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Testi praktik: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nëse thua "X është një Y" → abstract/extends. Nëse thua "X di të bëjë Z" → interface/implements.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HITET E SEMESTRIT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Gabi</a:t>
            </a: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met </a:t>
            </a: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— i </a:t>
            </a: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njihni </a:t>
            </a: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tash</a:t>
            </a: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më të </a:t>
            </a: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gjithë</a:t>
            </a: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"/>
          <p:cNvSpPr/>
          <p:nvPr/>
        </p:nvSpPr>
        <p:spPr>
          <a:xfrm>
            <a:off x="594360" y="1691640"/>
            <a:ext cx="5120280" cy="749520"/>
          </a:xfrm>
          <a:prstGeom prst="roundRect">
            <a:avLst>
              <a:gd name="adj" fmla="val 9756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841320" y="1764720"/>
            <a:ext cx="4663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B23A2C"/>
                </a:solidFill>
                <a:effectLst/>
                <a:uFillTx/>
                <a:latin typeface="Courier New"/>
                <a:ea typeface="Courier New"/>
              </a:rPr>
              <a:t>ArrayIndexOutOfBounds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841320" y="209412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L3 — v[5] në varg me 3 vende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6"/>
          <p:cNvSpPr/>
          <p:nvPr/>
        </p:nvSpPr>
        <p:spPr>
          <a:xfrm>
            <a:off x="594360" y="2560320"/>
            <a:ext cx="5120280" cy="749520"/>
          </a:xfrm>
          <a:prstGeom prst="roundRect">
            <a:avLst>
              <a:gd name="adj" fmla="val 9756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841320" y="2633400"/>
            <a:ext cx="4663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B23A2C"/>
                </a:solidFill>
                <a:effectLst/>
                <a:uFillTx/>
                <a:latin typeface="Courier New"/>
                <a:ea typeface="Courier New"/>
              </a:rPr>
              <a:t>InputMismatchException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8"/>
          <p:cNvSpPr/>
          <p:nvPr/>
        </p:nvSpPr>
        <p:spPr>
          <a:xfrm>
            <a:off x="841320" y="296280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L5 — shkruajte "abc" te nextInt()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9"/>
          <p:cNvSpPr/>
          <p:nvPr/>
        </p:nvSpPr>
        <p:spPr>
          <a:xfrm>
            <a:off x="594360" y="3429000"/>
            <a:ext cx="5120280" cy="749520"/>
          </a:xfrm>
          <a:prstGeom prst="roundRect">
            <a:avLst>
              <a:gd name="adj" fmla="val 9756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841320" y="3502080"/>
            <a:ext cx="4663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B23A2C"/>
                </a:solidFill>
                <a:effectLst/>
                <a:uFillTx/>
                <a:latin typeface="Courier New"/>
                <a:ea typeface="Courier New"/>
              </a:rPr>
              <a:t>NullPointerException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1"/>
          <p:cNvSpPr/>
          <p:nvPr/>
        </p:nvSpPr>
        <p:spPr>
          <a:xfrm>
            <a:off x="841320" y="383148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L6 — rafti 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bosh: 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klasa[2].preza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ntohu()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2"/>
          <p:cNvSpPr/>
          <p:nvPr/>
        </p:nvSpPr>
        <p:spPr>
          <a:xfrm>
            <a:off x="594360" y="4297680"/>
            <a:ext cx="5120280" cy="749520"/>
          </a:xfrm>
          <a:prstGeom prst="roundRect">
            <a:avLst>
              <a:gd name="adj" fmla="val 9756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841320" y="4370760"/>
            <a:ext cx="4663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B23A2C"/>
                </a:solidFill>
                <a:effectLst/>
                <a:uFillTx/>
                <a:latin typeface="Courier New"/>
                <a:ea typeface="Courier New"/>
              </a:rPr>
              <a:t>ClassCastException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4"/>
          <p:cNvSpPr/>
          <p:nvPr/>
        </p:nvSpPr>
        <p:spPr>
          <a:xfrm>
            <a:off x="841320" y="470016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L9 — casting pa instanceof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5"/>
          <p:cNvSpPr/>
          <p:nvPr/>
        </p:nvSpPr>
        <p:spPr>
          <a:xfrm>
            <a:off x="5989320" y="1691640"/>
            <a:ext cx="5623200" cy="1238760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6"/>
          <p:cNvSpPr/>
          <p:nvPr/>
        </p:nvSpPr>
        <p:spPr>
          <a:xfrm>
            <a:off x="6190560" y="187452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7"/>
          <p:cNvSpPr/>
          <p:nvPr/>
        </p:nvSpPr>
        <p:spPr>
          <a:xfrm>
            <a:off x="6391800" y="187452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8"/>
          <p:cNvSpPr/>
          <p:nvPr/>
        </p:nvSpPr>
        <p:spPr>
          <a:xfrm>
            <a:off x="6592680" y="187452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9"/>
          <p:cNvSpPr/>
          <p:nvPr/>
        </p:nvSpPr>
        <p:spPr>
          <a:xfrm>
            <a:off x="6245280" y="2148840"/>
            <a:ext cx="516600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v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];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v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]);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"Ky rresht 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s'arrihet kurre"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0"/>
          <p:cNvSpPr/>
          <p:nvPr/>
        </p:nvSpPr>
        <p:spPr>
          <a:xfrm>
            <a:off x="5989320" y="3200400"/>
            <a:ext cx="5623200" cy="1691280"/>
          </a:xfrm>
          <a:prstGeom prst="roundRect">
            <a:avLst>
              <a:gd name="adj" fmla="val 4865"/>
            </a:avLst>
          </a:prstGeom>
          <a:solidFill>
            <a:srgbClr val="FBEAE7"/>
          </a:solidFill>
          <a:ln w="15875">
            <a:solidFill>
              <a:srgbClr val="E8A9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Image 1" descr="preencoded.png"/>
          <p:cNvPicPr/>
          <p:nvPr/>
        </p:nvPicPr>
        <p:blipFill>
          <a:blip r:embed="rId2"/>
          <a:stretch/>
        </p:blipFill>
        <p:spPr>
          <a:xfrm>
            <a:off x="6217920" y="336492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21"/>
          <p:cNvSpPr/>
          <p:nvPr/>
        </p:nvSpPr>
        <p:spPr>
          <a:xfrm>
            <a:off x="6611040" y="3355920"/>
            <a:ext cx="4754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B23A2C"/>
                </a:solidFill>
                <a:effectLst/>
                <a:uFillTx/>
                <a:latin typeface="Calibri"/>
                <a:ea typeface="Calibri"/>
              </a:rPr>
              <a:t>Dalja reale — programi PLAS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6245280" y="3749040"/>
            <a:ext cx="5166000" cy="9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A3527"/>
                </a:solidFill>
                <a:effectLst/>
                <a:uFillTx/>
                <a:latin typeface="Courier New"/>
                <a:ea typeface="Courier New"/>
              </a:rPr>
              <a:t>Exception in thread "main"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A3527"/>
                </a:solidFill>
                <a:effectLst/>
                <a:uFillTx/>
                <a:latin typeface="Courier New"/>
                <a:ea typeface="Courier New"/>
              </a:rPr>
              <a:t>java.lang.ArrayIndexOutOfBoundsException: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A3527"/>
                </a:solidFill>
                <a:effectLst/>
                <a:uFillTx/>
                <a:latin typeface="Courier New"/>
                <a:ea typeface="Courier New"/>
              </a:rPr>
              <a:t>Index 5 out of bounds for length 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A3527"/>
                </a:solidFill>
                <a:effectLst/>
                <a:uFillTx/>
                <a:latin typeface="Courier New"/>
                <a:ea typeface="Courier New"/>
              </a:rPr>
              <a:t>        at Main.main(Main.java:4)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3"/>
          <p:cNvSpPr/>
          <p:nvPr/>
        </p:nvSpPr>
        <p:spPr>
          <a:xfrm>
            <a:off x="594360" y="5166360"/>
            <a:ext cx="11018160" cy="914040"/>
          </a:xfrm>
          <a:prstGeom prst="roundRect">
            <a:avLst>
              <a:gd name="adj" fmla="val 9000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2" descr="preencoded.png"/>
          <p:cNvPicPr/>
          <p:nvPr/>
        </p:nvPicPr>
        <p:blipFill>
          <a:blip r:embed="rId3"/>
          <a:stretch/>
        </p:blipFill>
        <p:spPr>
          <a:xfrm>
            <a:off x="868680" y="54406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24"/>
          <p:cNvSpPr/>
          <p:nvPr/>
        </p:nvSpPr>
        <p:spPr>
          <a:xfrm>
            <a:off x="1371600" y="5239440"/>
            <a:ext cx="10058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Lexoni </a:t>
            </a: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trace-in </a:t>
            </a: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nga </a:t>
            </a: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fundi: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ÇFARË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ndodhi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(lloji +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mesazh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i) dhe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KU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ndodhi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(Main.j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ava:4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—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skedari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dhe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rreshti!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).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Trace-i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s'është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armik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—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është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harta e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gabimit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5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6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KAP DHE VAZHDO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try-catch — rrjeta e sigurisë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914400" y="1691640"/>
            <a:ext cx="6491880" cy="3323520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1115640" y="187452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1316880" y="187452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6"/>
          <p:cNvSpPr/>
          <p:nvPr/>
        </p:nvSpPr>
        <p:spPr>
          <a:xfrm>
            <a:off x="1517760" y="187452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1170360" y="2148840"/>
            <a:ext cx="6034680" cy="27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Main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main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args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v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];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v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]);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1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BUM ketu...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ArrayIndexOutOfBoundsException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"Gabim: indeksi jashte kufijve!"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"Programi vazhdon normalisht."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7726680" y="1691640"/>
            <a:ext cx="3885840" cy="1462680"/>
          </a:xfrm>
          <a:prstGeom prst="roundRect">
            <a:avLst>
              <a:gd name="adj" fmla="val 5625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Image 1" descr="preencoded.png"/>
          <p:cNvPicPr/>
          <p:nvPr/>
        </p:nvPicPr>
        <p:blipFill>
          <a:blip r:embed="rId2"/>
          <a:stretch/>
        </p:blipFill>
        <p:spPr>
          <a:xfrm>
            <a:off x="7955280" y="18561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 9"/>
          <p:cNvSpPr/>
          <p:nvPr/>
        </p:nvSpPr>
        <p:spPr>
          <a:xfrm>
            <a:off x="8348400" y="1847160"/>
            <a:ext cx="3017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Dalja reale (e testuar)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8001000" y="2240280"/>
            <a:ext cx="33829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Gabim: indeksi jashte kufijve!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Programi vazhdon normalisht.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1"/>
          <p:cNvSpPr/>
          <p:nvPr/>
        </p:nvSpPr>
        <p:spPr>
          <a:xfrm>
            <a:off x="7726680" y="3429000"/>
            <a:ext cx="3885840" cy="2422800"/>
          </a:xfrm>
          <a:prstGeom prst="roundRect">
            <a:avLst>
              <a:gd name="adj" fmla="val 3774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7973640" y="3611880"/>
            <a:ext cx="3382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Si funksionon: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7973640" y="4005000"/>
            <a:ext cx="34286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77840" indent="-177840" defTabSz="914400">
              <a:lnSpc>
                <a:spcPct val="105000"/>
              </a:lnSpc>
              <a:spcAft>
                <a:spcPts val="799"/>
              </a:spcAft>
              <a:buClr>
                <a:srgbClr val="D7E0E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try { } — "provo këtë bllok të rrezikshëm"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799"/>
              </a:spcAft>
              <a:buClr>
                <a:srgbClr val="D7E0E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Në gabim: kërcen MENJËHERË te catch — rreshtat pas gabimit brenda try anashkalohen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5000"/>
              </a:lnSpc>
              <a:buClr>
                <a:srgbClr val="F6A63B"/>
              </a:buClr>
              <a:buFont typeface="Symbol" charset="2"/>
              <a:buChar char=""/>
            </a:pPr>
            <a:r>
              <a:rPr lang="en-US" sz="12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Pas catch-it, programi VAZHDON — s'ka më vdekje me trace!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4"/>
          <p:cNvSpPr/>
          <p:nvPr/>
        </p:nvSpPr>
        <p:spPr>
          <a:xfrm>
            <a:off x="914400" y="5257800"/>
            <a:ext cx="6491880" cy="776880"/>
          </a:xfrm>
          <a:prstGeom prst="roundRect">
            <a:avLst>
              <a:gd name="adj" fmla="val 9412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1188720" y="5330880"/>
            <a:ext cx="5988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Krahasoni me slajdin 9:  </a:t>
            </a:r>
            <a:r>
              <a:rPr lang="en-US" sz="125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i njëjti gabim — por tani programi mbijeton dhe rreshti i fundit EKZEKUTOHET.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ZGJIDHET I PARI QË PËRPUTHET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Shumë catch — një për çdo lloj gabimi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"/>
          <p:cNvSpPr/>
          <p:nvPr/>
        </p:nvSpPr>
        <p:spPr>
          <a:xfrm>
            <a:off x="594360" y="1645920"/>
            <a:ext cx="6583320" cy="3062880"/>
          </a:xfrm>
          <a:prstGeom prst="roundRect">
            <a:avLst>
              <a:gd name="adj" fmla="val 2687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"/>
          <p:cNvSpPr/>
          <p:nvPr/>
        </p:nvSpPr>
        <p:spPr>
          <a:xfrm>
            <a:off x="795600" y="182880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5"/>
          <p:cNvSpPr/>
          <p:nvPr/>
        </p:nvSpPr>
        <p:spPr>
          <a:xfrm>
            <a:off x="996840" y="182880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6"/>
          <p:cNvSpPr/>
          <p:nvPr/>
        </p:nvSpPr>
        <p:spPr>
          <a:xfrm>
            <a:off x="1197720" y="182880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850320" y="2103120"/>
            <a:ext cx="612612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teksti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"abc"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1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provoni edhe me "0"!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numri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Integer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parseInt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teksti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100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/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numri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NumberFormatException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"'"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teksti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"' nuk eshte numer!"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ArithmeticException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"Pjesetim me zero!"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8"/>
          <p:cNvSpPr/>
          <p:nvPr/>
        </p:nvSpPr>
        <p:spPr>
          <a:xfrm>
            <a:off x="7452360" y="1645920"/>
            <a:ext cx="4160160" cy="1188360"/>
          </a:xfrm>
          <a:prstGeom prst="roundRect">
            <a:avLst>
              <a:gd name="adj" fmla="val 6923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" name="Image 1" descr="preencoded.png"/>
          <p:cNvPicPr/>
          <p:nvPr/>
        </p:nvPicPr>
        <p:blipFill>
          <a:blip r:embed="rId2"/>
          <a:stretch/>
        </p:blipFill>
        <p:spPr>
          <a:xfrm>
            <a:off x="7680960" y="18104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 9"/>
          <p:cNvSpPr/>
          <p:nvPr/>
        </p:nvSpPr>
        <p:spPr>
          <a:xfrm>
            <a:off x="8074080" y="180144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Kur teksti = "abc"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7726680" y="2194560"/>
            <a:ext cx="3657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'abc' nuk eshte numer!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1"/>
          <p:cNvSpPr/>
          <p:nvPr/>
        </p:nvSpPr>
        <p:spPr>
          <a:xfrm>
            <a:off x="7452360" y="3017520"/>
            <a:ext cx="4160160" cy="1188360"/>
          </a:xfrm>
          <a:prstGeom prst="roundRect">
            <a:avLst>
              <a:gd name="adj" fmla="val 6923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2" descr="preencoded.png"/>
          <p:cNvPicPr/>
          <p:nvPr/>
        </p:nvPicPr>
        <p:blipFill>
          <a:blip r:embed="rId3"/>
          <a:stretch/>
        </p:blipFill>
        <p:spPr>
          <a:xfrm>
            <a:off x="7680960" y="31820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12"/>
          <p:cNvSpPr/>
          <p:nvPr/>
        </p:nvSpPr>
        <p:spPr>
          <a:xfrm>
            <a:off x="8074080" y="317304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Kur teksti = "0"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7726680" y="3566160"/>
            <a:ext cx="3657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Pjesetim me zero!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4"/>
          <p:cNvSpPr/>
          <p:nvPr/>
        </p:nvSpPr>
        <p:spPr>
          <a:xfrm>
            <a:off x="7452360" y="4434840"/>
            <a:ext cx="4160160" cy="1462680"/>
          </a:xfrm>
          <a:prstGeom prst="roundRect">
            <a:avLst>
              <a:gd name="adj" fmla="val 6250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7708320" y="4526280"/>
            <a:ext cx="3657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730C"/>
                </a:solidFill>
                <a:effectLst/>
                <a:uFillTx/>
                <a:latin typeface="Courier New"/>
                <a:ea typeface="Courier New"/>
              </a:rPr>
              <a:t>E re: Integer.parseInt  </a:t>
            </a:r>
            <a:r>
              <a:rPr lang="en-US" sz="120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— kthen String në int ("25" → 25). Kur teksti s'është numër, hedh NumberFormatException.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594360" y="5074920"/>
            <a:ext cx="6583320" cy="1005480"/>
          </a:xfrm>
          <a:prstGeom prst="roundRect">
            <a:avLst>
              <a:gd name="adj" fmla="val 7273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" name="Image 3" descr="preencoded.png"/>
          <p:cNvPicPr/>
          <p:nvPr/>
        </p:nvPicPr>
        <p:blipFill>
          <a:blip r:embed="rId4"/>
          <a:stretch/>
        </p:blipFill>
        <p:spPr>
          <a:xfrm>
            <a:off x="841320" y="53766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Text 17"/>
          <p:cNvSpPr/>
          <p:nvPr/>
        </p:nvSpPr>
        <p:spPr>
          <a:xfrm>
            <a:off x="1298520" y="5148000"/>
            <a:ext cx="58060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Dy gabime të ndryshme, dy përgjigje të ndryshme:  </a:t>
            </a: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Java kontrollon catch-et me radhë dhe ekzekuton të PARIN që përputhet me llojin e gabimit.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8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9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3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BLLOKU I TRETË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finally — premtimi që mbahet gjithmonë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3"/>
          <p:cNvSpPr/>
          <p:nvPr/>
        </p:nvSpPr>
        <p:spPr>
          <a:xfrm>
            <a:off x="914400" y="1691640"/>
            <a:ext cx="6583320" cy="3323520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4"/>
          <p:cNvSpPr/>
          <p:nvPr/>
        </p:nvSpPr>
        <p:spPr>
          <a:xfrm>
            <a:off x="1115640" y="187452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5"/>
          <p:cNvSpPr/>
          <p:nvPr/>
        </p:nvSpPr>
        <p:spPr>
          <a:xfrm>
            <a:off x="1316880" y="187452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6"/>
          <p:cNvSpPr/>
          <p:nvPr/>
        </p:nvSpPr>
        <p:spPr>
          <a:xfrm>
            <a:off x="1517760" y="187452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7"/>
          <p:cNvSpPr/>
          <p:nvPr/>
        </p:nvSpPr>
        <p:spPr>
          <a:xfrm>
            <a:off x="1170360" y="2148840"/>
            <a:ext cx="6126120" cy="27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Main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main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args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/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7B8A99"/>
                </a:solidFill>
                <a:effectLst/>
                <a:uFillTx/>
                <a:latin typeface="Courier New"/>
                <a:ea typeface="Courier New"/>
              </a:rPr>
              <a:t>// BUM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ArithmeticException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"U kap gabimi!"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finally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"finally ekzekutohet GJITHMONE."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8"/>
          <p:cNvSpPr/>
          <p:nvPr/>
        </p:nvSpPr>
        <p:spPr>
          <a:xfrm>
            <a:off x="7818120" y="1691640"/>
            <a:ext cx="3794400" cy="1462680"/>
          </a:xfrm>
          <a:prstGeom prst="roundRect">
            <a:avLst>
              <a:gd name="adj" fmla="val 5625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1" descr="preencoded.png"/>
          <p:cNvPicPr/>
          <p:nvPr/>
        </p:nvPicPr>
        <p:blipFill>
          <a:blip r:embed="rId2"/>
          <a:stretch/>
        </p:blipFill>
        <p:spPr>
          <a:xfrm>
            <a:off x="8046720" y="185616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Text 9"/>
          <p:cNvSpPr/>
          <p:nvPr/>
        </p:nvSpPr>
        <p:spPr>
          <a:xfrm>
            <a:off x="8439840" y="1847160"/>
            <a:ext cx="2925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Dalja reale (e testuar)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0"/>
          <p:cNvSpPr/>
          <p:nvPr/>
        </p:nvSpPr>
        <p:spPr>
          <a:xfrm>
            <a:off x="8092440" y="2240280"/>
            <a:ext cx="32914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U kap gabimi!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finally ekzekutohet GJITHMONE.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1"/>
          <p:cNvSpPr/>
          <p:nvPr/>
        </p:nvSpPr>
        <p:spPr>
          <a:xfrm>
            <a:off x="7818120" y="3429000"/>
            <a:ext cx="3794400" cy="2422800"/>
          </a:xfrm>
          <a:prstGeom prst="roundRect">
            <a:avLst>
              <a:gd name="adj" fmla="val 3774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2"/>
          <p:cNvSpPr/>
          <p:nvPr/>
        </p:nvSpPr>
        <p:spPr>
          <a:xfrm>
            <a:off x="8065080" y="361188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Tri skenarët — një fund: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3"/>
          <p:cNvSpPr/>
          <p:nvPr/>
        </p:nvSpPr>
        <p:spPr>
          <a:xfrm>
            <a:off x="8065080" y="4005000"/>
            <a:ext cx="333720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77840" indent="-177840" defTabSz="914400">
              <a:lnSpc>
                <a:spcPct val="105000"/>
              </a:lnSpc>
              <a:spcAft>
                <a:spcPts val="799"/>
              </a:spcAft>
              <a:buClr>
                <a:srgbClr val="D7E0E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S'ka gabim → try i plotë, pastaj finally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5000"/>
              </a:lnSpc>
              <a:spcAft>
                <a:spcPts val="799"/>
              </a:spcAft>
              <a:buClr>
                <a:srgbClr val="D7E0E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Gabim i kapur → catch, pastaj finally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5000"/>
              </a:lnSpc>
              <a:buClr>
                <a:srgbClr val="F6A63B"/>
              </a:buClr>
              <a:buFont typeface="Symbol" charset="2"/>
              <a:buChar char=""/>
            </a:pPr>
            <a:r>
              <a:rPr lang="en-US" sz="120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Gabim i pakapur → finally ekzekutohet PARA se programi të vdesë!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4"/>
          <p:cNvSpPr/>
          <p:nvPr/>
        </p:nvSpPr>
        <p:spPr>
          <a:xfrm>
            <a:off x="914400" y="5257800"/>
            <a:ext cx="6583320" cy="776880"/>
          </a:xfrm>
          <a:prstGeom prst="roundRect">
            <a:avLst>
              <a:gd name="adj" fmla="val 9412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5"/>
          <p:cNvSpPr/>
          <p:nvPr/>
        </p:nvSpPr>
        <p:spPr>
          <a:xfrm>
            <a:off x="1188720" y="5330880"/>
            <a:ext cx="5988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Për çfarë përdoret?  </a:t>
            </a:r>
            <a:r>
              <a:rPr lang="en-US" sz="125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Pastrim: mbyllja e Scanner-it, e skedarëve, e lidhjeve — gjëra që DUHEN bërë sido që të shkojë puna.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685800" y="50292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2" name="Image 0" descr="preencoded.png"/>
          <p:cNvPicPr/>
          <p:nvPr/>
        </p:nvPicPr>
        <p:blipFill>
          <a:blip r:embed="rId1"/>
          <a:stretch/>
        </p:blipFill>
        <p:spPr>
          <a:xfrm>
            <a:off x="831960" y="649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ext 1"/>
          <p:cNvSpPr/>
          <p:nvPr/>
        </p:nvSpPr>
        <p:spPr>
          <a:xfrm>
            <a:off x="150876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GABIMI I L5 ZBUTET MË NË FUND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1508760" y="7498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Praktika: Scanner i blinduar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3"/>
          <p:cNvSpPr/>
          <p:nvPr/>
        </p:nvSpPr>
        <p:spPr>
          <a:xfrm>
            <a:off x="914400" y="1600200"/>
            <a:ext cx="6674760" cy="4626360"/>
          </a:xfrm>
          <a:prstGeom prst="roundRect">
            <a:avLst>
              <a:gd name="adj" fmla="val 1779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4"/>
          <p:cNvSpPr/>
          <p:nvPr/>
        </p:nvSpPr>
        <p:spPr>
          <a:xfrm>
            <a:off x="1115640" y="17830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5"/>
          <p:cNvSpPr/>
          <p:nvPr/>
        </p:nvSpPr>
        <p:spPr>
          <a:xfrm>
            <a:off x="1316880" y="17830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6"/>
          <p:cNvSpPr/>
          <p:nvPr/>
        </p:nvSpPr>
        <p:spPr>
          <a:xfrm>
            <a:off x="1517760" y="17830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1170360" y="2057400"/>
            <a:ext cx="6217560" cy="40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java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util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Scanner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java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util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InputMismatchException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Main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static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main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args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Scanner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sc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Scanner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"Jep moshen: "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mosha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sc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nextInt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"Mosha u pranua: "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mosha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InputMismatchException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"Kjo nuk eshte numer i plote!"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"Fund i programit."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8"/>
          <p:cNvSpPr/>
          <p:nvPr/>
        </p:nvSpPr>
        <p:spPr>
          <a:xfrm>
            <a:off x="7909560" y="1600200"/>
            <a:ext cx="3702960" cy="1416960"/>
          </a:xfrm>
          <a:prstGeom prst="roundRect">
            <a:avLst>
              <a:gd name="adj" fmla="val 5806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1" name="Image 1" descr="preencoded.png"/>
          <p:cNvPicPr/>
          <p:nvPr/>
        </p:nvPicPr>
        <p:blipFill>
          <a:blip r:embed="rId2"/>
          <a:stretch/>
        </p:blipFill>
        <p:spPr>
          <a:xfrm>
            <a:off x="8138160" y="176472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Text 9"/>
          <p:cNvSpPr/>
          <p:nvPr/>
        </p:nvSpPr>
        <p:spPr>
          <a:xfrm>
            <a:off x="8531280" y="1755720"/>
            <a:ext cx="2834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Përdoruesi shkruan "abc"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0"/>
          <p:cNvSpPr/>
          <p:nvPr/>
        </p:nvSpPr>
        <p:spPr>
          <a:xfrm>
            <a:off x="8183880" y="2148840"/>
            <a:ext cx="32000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Jep moshen: abc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Kjo nuk eshte numer i plote!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Fund i programit.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1"/>
          <p:cNvSpPr/>
          <p:nvPr/>
        </p:nvSpPr>
        <p:spPr>
          <a:xfrm>
            <a:off x="7909560" y="3200400"/>
            <a:ext cx="3702960" cy="1416960"/>
          </a:xfrm>
          <a:prstGeom prst="roundRect">
            <a:avLst>
              <a:gd name="adj" fmla="val 5806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5" name="Image 2" descr="preencoded.png"/>
          <p:cNvPicPr/>
          <p:nvPr/>
        </p:nvPicPr>
        <p:blipFill>
          <a:blip r:embed="rId3"/>
          <a:stretch/>
        </p:blipFill>
        <p:spPr>
          <a:xfrm>
            <a:off x="8138160" y="336492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Text 12"/>
          <p:cNvSpPr/>
          <p:nvPr/>
        </p:nvSpPr>
        <p:spPr>
          <a:xfrm>
            <a:off x="8531280" y="3355920"/>
            <a:ext cx="2834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Përdoruesi shkruan "20"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3"/>
          <p:cNvSpPr/>
          <p:nvPr/>
        </p:nvSpPr>
        <p:spPr>
          <a:xfrm>
            <a:off x="8183880" y="3749040"/>
            <a:ext cx="32000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Jep moshen: 20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Mosha u pranua: 20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Fund i programit.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4"/>
          <p:cNvSpPr/>
          <p:nvPr/>
        </p:nvSpPr>
        <p:spPr>
          <a:xfrm>
            <a:off x="7909560" y="4800600"/>
            <a:ext cx="3702960" cy="1279800"/>
          </a:xfrm>
          <a:prstGeom prst="roundRect">
            <a:avLst>
              <a:gd name="adj" fmla="val 7143"/>
            </a:avLst>
          </a:prstGeom>
          <a:solidFill>
            <a:srgbClr val="1E3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5"/>
          <p:cNvSpPr/>
          <p:nvPr/>
        </p:nvSpPr>
        <p:spPr>
          <a:xfrm>
            <a:off x="8156520" y="4873680"/>
            <a:ext cx="32457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Dy rrugë, një qëllim:  </a:t>
            </a:r>
            <a:r>
              <a:rPr lang="en-US" sz="1150" b="0" u="none" strike="noStrike">
                <a:solidFill>
                  <a:srgbClr val="D7E0EC"/>
                </a:solidFill>
                <a:effectLst/>
                <a:uFillTx/>
                <a:latin typeface="Calibri"/>
                <a:ea typeface="Calibri"/>
              </a:rPr>
              <a:t>validimi me while (L5) PARANDALON; try-catch KAP kur ndodh. Në praktikë përdoren të dyja.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2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KTHIMI I MADH I L4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throw — roja e konstruktorit flet me zë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3"/>
          <p:cNvSpPr/>
          <p:nvPr/>
        </p:nvSpPr>
        <p:spPr>
          <a:xfrm>
            <a:off x="594360" y="1645920"/>
            <a:ext cx="6034680" cy="3844800"/>
          </a:xfrm>
          <a:prstGeom prst="roundRect">
            <a:avLst>
              <a:gd name="adj" fmla="val 2140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4"/>
          <p:cNvSpPr/>
          <p:nvPr/>
        </p:nvSpPr>
        <p:spPr>
          <a:xfrm>
            <a:off x="795600" y="182880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5"/>
          <p:cNvSpPr/>
          <p:nvPr/>
        </p:nvSpPr>
        <p:spPr>
          <a:xfrm>
            <a:off x="996840" y="182880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6"/>
          <p:cNvSpPr/>
          <p:nvPr/>
        </p:nvSpPr>
        <p:spPr>
          <a:xfrm>
            <a:off x="1197720" y="182880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7"/>
          <p:cNvSpPr/>
          <p:nvPr/>
        </p:nvSpPr>
        <p:spPr>
          <a:xfrm>
            <a:off x="850320" y="2103120"/>
            <a:ext cx="5577480" cy="329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Studenti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mosha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Studenti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String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,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mosha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mosha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&lt;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throw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IllegalArgumentException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    </a:t>
            </a:r>
            <a:r>
              <a:rPr lang="en-US" sz="110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"Mosha negative: "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+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mosha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this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emri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emri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0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this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mosha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mosha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8"/>
          <p:cNvSpPr/>
          <p:nvPr/>
        </p:nvSpPr>
        <p:spPr>
          <a:xfrm>
            <a:off x="6858000" y="1645920"/>
            <a:ext cx="4754520" cy="1874160"/>
          </a:xfrm>
          <a:prstGeom prst="roundRect">
            <a:avLst>
              <a:gd name="adj" fmla="val 4390"/>
            </a:avLst>
          </a:prstGeom>
          <a:solidFill>
            <a:srgbClr val="FBEAE7"/>
          </a:solidFill>
          <a:ln w="15875">
            <a:solidFill>
              <a:srgbClr val="E8A9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1" name="Image 1" descr="preencoded.png"/>
          <p:cNvPicPr/>
          <p:nvPr/>
        </p:nvPicPr>
        <p:blipFill>
          <a:blip r:embed="rId2"/>
          <a:stretch/>
        </p:blipFill>
        <p:spPr>
          <a:xfrm>
            <a:off x="7086600" y="18104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Text 9"/>
          <p:cNvSpPr/>
          <p:nvPr/>
        </p:nvSpPr>
        <p:spPr>
          <a:xfrm>
            <a:off x="7479720" y="1801440"/>
            <a:ext cx="3885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B23A2C"/>
                </a:solidFill>
                <a:effectLst/>
                <a:uFillTx/>
                <a:latin typeface="Calibri"/>
                <a:ea typeface="Calibri"/>
              </a:rPr>
              <a:t>PA try-catch — new Studenti("Beni", -5)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0"/>
          <p:cNvSpPr/>
          <p:nvPr/>
        </p:nvSpPr>
        <p:spPr>
          <a:xfrm>
            <a:off x="7113960" y="2194560"/>
            <a:ext cx="4297320" cy="11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A3527"/>
                </a:solidFill>
                <a:effectLst/>
                <a:uFillTx/>
                <a:latin typeface="Courier New"/>
                <a:ea typeface="Courier New"/>
              </a:rPr>
              <a:t>Ana, 20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A3527"/>
                </a:solidFill>
                <a:effectLst/>
                <a:uFillTx/>
                <a:latin typeface="Courier New"/>
                <a:ea typeface="Courier New"/>
              </a:rPr>
              <a:t>Exception in thread "main"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A3527"/>
                </a:solidFill>
                <a:effectLst/>
                <a:uFillTx/>
                <a:latin typeface="Courier New"/>
                <a:ea typeface="Courier New"/>
              </a:rPr>
              <a:t>java.lang.IllegalArgumentException: Mosha negative: -5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A3527"/>
                </a:solidFill>
                <a:effectLst/>
                <a:uFillTx/>
                <a:latin typeface="Courier New"/>
                <a:ea typeface="Courier New"/>
              </a:rPr>
              <a:t>    at Studenti.&lt;init&gt;(Main.java:17)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A3527"/>
                </a:solidFill>
                <a:effectLst/>
                <a:uFillTx/>
                <a:latin typeface="Courier New"/>
                <a:ea typeface="Courier New"/>
              </a:rPr>
              <a:t>    at Main.main(Main.java:6)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1"/>
          <p:cNvSpPr/>
          <p:nvPr/>
        </p:nvSpPr>
        <p:spPr>
          <a:xfrm>
            <a:off x="6858000" y="3703320"/>
            <a:ext cx="4754520" cy="1371240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BFE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5" name="Image 2" descr="preencoded.png"/>
          <p:cNvPicPr/>
          <p:nvPr/>
        </p:nvPicPr>
        <p:blipFill>
          <a:blip r:embed="rId3"/>
          <a:stretch/>
        </p:blipFill>
        <p:spPr>
          <a:xfrm>
            <a:off x="7086600" y="3867840"/>
            <a:ext cx="310680" cy="31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Text 12"/>
          <p:cNvSpPr/>
          <p:nvPr/>
        </p:nvSpPr>
        <p:spPr>
          <a:xfrm>
            <a:off x="7479720" y="3858840"/>
            <a:ext cx="3885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7A38"/>
                </a:solidFill>
                <a:effectLst/>
                <a:uFillTx/>
                <a:latin typeface="Calibri"/>
                <a:ea typeface="Calibri"/>
              </a:rPr>
              <a:t>ME try-catch + e.getMessage()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7132320" y="4251960"/>
            <a:ext cx="4251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Refuzohet: Mosha negative: -5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Programi vazhdon.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4"/>
          <p:cNvSpPr/>
          <p:nvPr/>
        </p:nvSpPr>
        <p:spPr>
          <a:xfrm>
            <a:off x="594360" y="5504760"/>
            <a:ext cx="11018160" cy="621360"/>
          </a:xfrm>
          <a:prstGeom prst="roundRect">
            <a:avLst>
              <a:gd name="adj" fmla="val 11765"/>
            </a:avLst>
          </a:prstGeom>
          <a:solidFill>
            <a:srgbClr val="FBE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9" name="Image 3" descr="preencoded.png"/>
          <p:cNvPicPr/>
          <p:nvPr/>
        </p:nvPicPr>
        <p:blipFill>
          <a:blip r:embed="rId4"/>
          <a:stretch/>
        </p:blipFill>
        <p:spPr>
          <a:xfrm>
            <a:off x="841320" y="563256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Text 15"/>
          <p:cNvSpPr/>
          <p:nvPr/>
        </p:nvSpPr>
        <p:spPr>
          <a:xfrm>
            <a:off x="1280160" y="5541120"/>
            <a:ext cx="10195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Evolucioni i rojes (L4 → sot):  </a:t>
            </a: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dikur e injoronte vlerën e keqe në heshtje; tani e REFUZON me zë — dhe thirrësi vendos si ta trajtojë.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7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-1645920" y="-1645920"/>
            <a:ext cx="5486040" cy="5486040"/>
          </a:xfrm>
          <a:prstGeom prst="ellipse">
            <a:avLst/>
          </a:prstGeom>
          <a:solidFill>
            <a:srgbClr val="E8730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"/>
          <p:cNvSpPr/>
          <p:nvPr/>
        </p:nvSpPr>
        <p:spPr>
          <a:xfrm>
            <a:off x="9326880" y="3657600"/>
            <a:ext cx="4571640" cy="4571640"/>
          </a:xfrm>
          <a:prstGeom prst="ellipse">
            <a:avLst/>
          </a:prstGeom>
          <a:solidFill>
            <a:srgbClr val="1E3050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"/>
          <p:cNvSpPr/>
          <p:nvPr/>
        </p:nvSpPr>
        <p:spPr>
          <a:xfrm>
            <a:off x="5367600" y="1371600"/>
            <a:ext cx="1462680" cy="146268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6" name="Image 0" descr="preencoded.png"/>
          <p:cNvPicPr/>
          <p:nvPr/>
        </p:nvPicPr>
        <p:blipFill>
          <a:blip r:embed="rId1"/>
          <a:stretch/>
        </p:blipFill>
        <p:spPr>
          <a:xfrm>
            <a:off x="5687640" y="1691640"/>
            <a:ext cx="82260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 3"/>
          <p:cNvSpPr/>
          <p:nvPr/>
        </p:nvSpPr>
        <p:spPr>
          <a:xfrm>
            <a:off x="1371600" y="3108960"/>
            <a:ext cx="9445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KOHA E QUIZ-it!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4"/>
          <p:cNvSpPr/>
          <p:nvPr/>
        </p:nvSpPr>
        <p:spPr>
          <a:xfrm>
            <a:off x="1371600" y="3931920"/>
            <a:ext cx="944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4 pyetje · 8 minuta · punoni vetë në letër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1645920" y="4572000"/>
            <a:ext cx="889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Kujtoni: familja është një, certifikatat sa të duash — dhe gabimi i kapur s'e vret programin.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2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QUIZ · INTERFEJSAT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Pyetjet 1 dhe 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"/>
          <p:cNvSpPr/>
          <p:nvPr/>
        </p:nvSpPr>
        <p:spPr>
          <a:xfrm>
            <a:off x="59436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4"/>
          <p:cNvSpPr/>
          <p:nvPr/>
        </p:nvSpPr>
        <p:spPr>
          <a:xfrm>
            <a:off x="59436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5"/>
          <p:cNvSpPr/>
          <p:nvPr/>
        </p:nvSpPr>
        <p:spPr>
          <a:xfrm>
            <a:off x="1234440" y="175572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Cili pohim është i SAKTË?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6"/>
          <p:cNvSpPr/>
          <p:nvPr/>
        </p:nvSpPr>
        <p:spPr>
          <a:xfrm>
            <a:off x="1234440" y="2377440"/>
            <a:ext cx="47545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1301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Një klasë: extends VETËM 1, implements sa të duash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301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Një klasë: extends sa të duash, implements vetëm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Të dyja lejohen vetëm një herë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7"/>
          <p:cNvSpPr/>
          <p:nvPr/>
        </p:nvSpPr>
        <p:spPr>
          <a:xfrm>
            <a:off x="640080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8"/>
          <p:cNvSpPr/>
          <p:nvPr/>
        </p:nvSpPr>
        <p:spPr>
          <a:xfrm>
            <a:off x="640080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9"/>
          <p:cNvSpPr/>
          <p:nvPr/>
        </p:nvSpPr>
        <p:spPr>
          <a:xfrm>
            <a:off x="7040880" y="175572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Çfarë printon ky kod?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0"/>
          <p:cNvSpPr/>
          <p:nvPr/>
        </p:nvSpPr>
        <p:spPr>
          <a:xfrm>
            <a:off x="6400800" y="2286000"/>
            <a:ext cx="5166000" cy="3584160"/>
          </a:xfrm>
          <a:prstGeom prst="roundRect">
            <a:avLst>
              <a:gd name="adj" fmla="val 2296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1"/>
          <p:cNvSpPr/>
          <p:nvPr/>
        </p:nvSpPr>
        <p:spPr>
          <a:xfrm>
            <a:off x="6602040" y="24688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2"/>
          <p:cNvSpPr/>
          <p:nvPr/>
        </p:nvSpPr>
        <p:spPr>
          <a:xfrm>
            <a:off x="6803280" y="24688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3"/>
          <p:cNvSpPr/>
          <p:nvPr/>
        </p:nvSpPr>
        <p:spPr>
          <a:xfrm>
            <a:off x="7004160" y="24688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4"/>
          <p:cNvSpPr/>
          <p:nvPr/>
        </p:nvSpPr>
        <p:spPr>
          <a:xfrm>
            <a:off x="6656760" y="2743200"/>
            <a:ext cx="4708800" cy="30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interface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Zeshem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beZe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Qeni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implements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Zeshem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@Override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void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beZe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"Ham!"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Zeshem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z 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Qeni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z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beZe</a:t>
            </a:r>
            <a:r>
              <a:rPr lang="en-US" sz="10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5"/>
          <p:cNvSpPr/>
          <p:nvPr/>
        </p:nvSpPr>
        <p:spPr>
          <a:xfrm>
            <a:off x="6492240" y="574236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gabim kompilimi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asgje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Ham!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7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1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QUIZ · GABIMET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Pyetjet 3 dhe 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"/>
          <p:cNvSpPr/>
          <p:nvPr/>
        </p:nvSpPr>
        <p:spPr>
          <a:xfrm>
            <a:off x="59436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4"/>
          <p:cNvSpPr/>
          <p:nvPr/>
        </p:nvSpPr>
        <p:spPr>
          <a:xfrm>
            <a:off x="59436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5"/>
          <p:cNvSpPr/>
          <p:nvPr/>
        </p:nvSpPr>
        <p:spPr>
          <a:xfrm>
            <a:off x="1234440" y="1755720"/>
            <a:ext cx="475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Çfarë printon ky kod?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6"/>
          <p:cNvSpPr/>
          <p:nvPr/>
        </p:nvSpPr>
        <p:spPr>
          <a:xfrm>
            <a:off x="594360" y="2286000"/>
            <a:ext cx="5394600" cy="2541600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7"/>
          <p:cNvSpPr/>
          <p:nvPr/>
        </p:nvSpPr>
        <p:spPr>
          <a:xfrm>
            <a:off x="795600" y="2468880"/>
            <a:ext cx="100080" cy="10008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8"/>
          <p:cNvSpPr/>
          <p:nvPr/>
        </p:nvSpPr>
        <p:spPr>
          <a:xfrm>
            <a:off x="996840" y="2468880"/>
            <a:ext cx="100080" cy="10008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9"/>
          <p:cNvSpPr/>
          <p:nvPr/>
        </p:nvSpPr>
        <p:spPr>
          <a:xfrm>
            <a:off x="1197720" y="2468880"/>
            <a:ext cx="100080" cy="10008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0"/>
          <p:cNvSpPr/>
          <p:nvPr/>
        </p:nvSpPr>
        <p:spPr>
          <a:xfrm>
            <a:off x="850320" y="2743200"/>
            <a:ext cx="4937400" cy="19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v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];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v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=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D9A06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"A"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8963C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ArrayIndexOutOfBoundsException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e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"B"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FB3E0"/>
                </a:solidFill>
                <a:effectLst/>
                <a:uFillTx/>
                <a:latin typeface="Courier New"/>
                <a:ea typeface="Courier New"/>
              </a:rPr>
              <a:t>System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out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15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println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FCB6B"/>
                </a:solidFill>
                <a:effectLst/>
                <a:uFillTx/>
                <a:latin typeface="Courier New"/>
                <a:ea typeface="Courier New"/>
              </a:rPr>
              <a:t>"C"</a:t>
            </a:r>
            <a:r>
              <a:rPr lang="en-US" sz="1150" b="0" u="none" strike="noStrike">
                <a:solidFill>
                  <a:srgbClr val="C3CBD6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1"/>
          <p:cNvSpPr/>
          <p:nvPr/>
        </p:nvSpPr>
        <p:spPr>
          <a:xfrm>
            <a:off x="685800" y="502920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A B C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B C     </a:t>
            </a:r>
            <a:r>
              <a:rPr lang="en-US" sz="140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</a:t>
            </a:r>
            <a:r>
              <a:rPr lang="en-US" sz="1400" b="0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A 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2"/>
          <p:cNvSpPr/>
          <p:nvPr/>
        </p:nvSpPr>
        <p:spPr>
          <a:xfrm>
            <a:off x="6400800" y="1691640"/>
            <a:ext cx="502560" cy="502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3"/>
          <p:cNvSpPr/>
          <p:nvPr/>
        </p:nvSpPr>
        <p:spPr>
          <a:xfrm>
            <a:off x="6400800" y="1691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4"/>
          <p:cNvSpPr/>
          <p:nvPr/>
        </p:nvSpPr>
        <p:spPr>
          <a:xfrm>
            <a:off x="7040880" y="1719000"/>
            <a:ext cx="4663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Konstruktori hedh throw për moshë negative. Çfarë ndodh me new Studenti("B", -5) PA try-catch?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5"/>
          <p:cNvSpPr/>
          <p:nvPr/>
        </p:nvSpPr>
        <p:spPr>
          <a:xfrm>
            <a:off x="7040880" y="2606040"/>
            <a:ext cx="46630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1301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a)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Objekti krijohet me moshë 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301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b)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Programi ndërpritet me IllegalArgumentException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c)  </a:t>
            </a:r>
            <a:r>
              <a:rPr lang="en-US" sz="13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Kodi nuk kompilon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6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7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0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QUIZ · ZGJIDHJA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Përgjigjet dhe shpjegimet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3"/>
          <p:cNvSpPr/>
          <p:nvPr/>
        </p:nvSpPr>
        <p:spPr>
          <a:xfrm>
            <a:off x="594360" y="164592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4"/>
          <p:cNvSpPr/>
          <p:nvPr/>
        </p:nvSpPr>
        <p:spPr>
          <a:xfrm>
            <a:off x="868680" y="185616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868680" y="18561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6"/>
          <p:cNvSpPr/>
          <p:nvPr/>
        </p:nvSpPr>
        <p:spPr>
          <a:xfrm>
            <a:off x="1645920" y="1810440"/>
            <a:ext cx="3611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a)  1 familje, N certifikata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7"/>
          <p:cNvSpPr/>
          <p:nvPr/>
        </p:nvSpPr>
        <p:spPr>
          <a:xfrm>
            <a:off x="5440680" y="1810440"/>
            <a:ext cx="5988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extends vetëm një herë; implements sa të duash, me presje.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8"/>
          <p:cNvSpPr/>
          <p:nvPr/>
        </p:nvSpPr>
        <p:spPr>
          <a:xfrm>
            <a:off x="594360" y="272484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9"/>
          <p:cNvSpPr/>
          <p:nvPr/>
        </p:nvSpPr>
        <p:spPr>
          <a:xfrm>
            <a:off x="868680" y="293508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0"/>
          <p:cNvSpPr/>
          <p:nvPr/>
        </p:nvSpPr>
        <p:spPr>
          <a:xfrm>
            <a:off x="868680" y="2935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1"/>
          <p:cNvSpPr/>
          <p:nvPr/>
        </p:nvSpPr>
        <p:spPr>
          <a:xfrm>
            <a:off x="1645920" y="2889360"/>
            <a:ext cx="3611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c)  Ham!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2"/>
          <p:cNvSpPr/>
          <p:nvPr/>
        </p:nvSpPr>
        <p:spPr>
          <a:xfrm>
            <a:off x="5440680" y="2889360"/>
            <a:ext cx="5988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Referenca e tipit interface + objekti konkret — polimorfizmi punon njësoj si me klasat.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3"/>
          <p:cNvSpPr/>
          <p:nvPr/>
        </p:nvSpPr>
        <p:spPr>
          <a:xfrm>
            <a:off x="594360" y="380376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4"/>
          <p:cNvSpPr/>
          <p:nvPr/>
        </p:nvSpPr>
        <p:spPr>
          <a:xfrm>
            <a:off x="868680" y="401436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5"/>
          <p:cNvSpPr/>
          <p:nvPr/>
        </p:nvSpPr>
        <p:spPr>
          <a:xfrm>
            <a:off x="868680" y="40143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6"/>
          <p:cNvSpPr/>
          <p:nvPr/>
        </p:nvSpPr>
        <p:spPr>
          <a:xfrm>
            <a:off x="1645920" y="3968640"/>
            <a:ext cx="3611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b)  B C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7"/>
          <p:cNvSpPr/>
          <p:nvPr/>
        </p:nvSpPr>
        <p:spPr>
          <a:xfrm>
            <a:off x="5440680" y="3968640"/>
            <a:ext cx="5988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v[5] plas para A-së; try braktiset aty, catch printon B, programi vazhdon me C.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8"/>
          <p:cNvSpPr/>
          <p:nvPr/>
        </p:nvSpPr>
        <p:spPr>
          <a:xfrm>
            <a:off x="594360" y="4883040"/>
            <a:ext cx="11018160" cy="9324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9"/>
          <p:cNvSpPr/>
          <p:nvPr/>
        </p:nvSpPr>
        <p:spPr>
          <a:xfrm>
            <a:off x="868680" y="5093280"/>
            <a:ext cx="511560" cy="511560"/>
          </a:xfrm>
          <a:prstGeom prst="ellipse">
            <a:avLst/>
          </a:prstGeom>
          <a:solidFill>
            <a:srgbClr val="2FA8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0"/>
          <p:cNvSpPr/>
          <p:nvPr/>
        </p:nvSpPr>
        <p:spPr>
          <a:xfrm>
            <a:off x="868680" y="50932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1"/>
          <p:cNvSpPr/>
          <p:nvPr/>
        </p:nvSpPr>
        <p:spPr>
          <a:xfrm>
            <a:off x="1645920" y="5047560"/>
            <a:ext cx="36115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42033"/>
                </a:solidFill>
                <a:effectLst/>
                <a:uFillTx/>
                <a:latin typeface="Courier New"/>
                <a:ea typeface="Courier New"/>
              </a:rPr>
              <a:t>b)  ndërpritet me exception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2"/>
          <p:cNvSpPr/>
          <p:nvPr/>
        </p:nvSpPr>
        <p:spPr>
          <a:xfrm>
            <a:off x="5440680" y="5047560"/>
            <a:ext cx="5988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throw pa try-catch = programi vdes me stack trace — siç e pamë live.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3"/>
          <p:cNvSpPr/>
          <p:nvPr/>
        </p:nvSpPr>
        <p:spPr>
          <a:xfrm>
            <a:off x="594360" y="60350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3–4 saktë: gati për projektet reale! · 2 saktë: rishikoni slajdet 6 dhe 10 · 0–1: ejani në konsultime.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4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5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0"/>
          <p:cNvSpPr/>
          <p:nvPr/>
        </p:nvSpPr>
        <p:spPr>
          <a:xfrm>
            <a:off x="-1371600" y="3840480"/>
            <a:ext cx="4571640" cy="4571640"/>
          </a:xfrm>
          <a:prstGeom prst="ellipse">
            <a:avLst/>
          </a:prstGeom>
          <a:solidFill>
            <a:srgbClr val="E8730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"/>
          <p:cNvSpPr/>
          <p:nvPr/>
        </p:nvSpPr>
        <p:spPr>
          <a:xfrm>
            <a:off x="685800" y="54864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8" name="Image 0" descr="preencoded.png"/>
          <p:cNvPicPr/>
          <p:nvPr/>
        </p:nvPicPr>
        <p:blipFill>
          <a:blip r:embed="rId1"/>
          <a:stretch/>
        </p:blipFill>
        <p:spPr>
          <a:xfrm>
            <a:off x="831960" y="6948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" name="Text 2"/>
          <p:cNvSpPr/>
          <p:nvPr/>
        </p:nvSpPr>
        <p:spPr>
          <a:xfrm>
            <a:off x="1508760" y="5486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PËRMBLEDHJE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3"/>
          <p:cNvSpPr/>
          <p:nvPr/>
        </p:nvSpPr>
        <p:spPr>
          <a:xfrm>
            <a:off x="1508760" y="7956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Çfarë mësuam sot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4"/>
          <p:cNvSpPr/>
          <p:nvPr/>
        </p:nvSpPr>
        <p:spPr>
          <a:xfrm>
            <a:off x="685800" y="178308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5"/>
          <p:cNvSpPr/>
          <p:nvPr/>
        </p:nvSpPr>
        <p:spPr>
          <a:xfrm>
            <a:off x="960120" y="207576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3" name="Image 1" descr="preencoded.png"/>
          <p:cNvPicPr/>
          <p:nvPr/>
        </p:nvPicPr>
        <p:blipFill>
          <a:blip r:embed="rId2"/>
          <a:stretch/>
        </p:blipFill>
        <p:spPr>
          <a:xfrm>
            <a:off x="1106280" y="22219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Text 6"/>
          <p:cNvSpPr/>
          <p:nvPr/>
        </p:nvSpPr>
        <p:spPr>
          <a:xfrm>
            <a:off x="1737360" y="20574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interface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7"/>
          <p:cNvSpPr/>
          <p:nvPr/>
        </p:nvSpPr>
        <p:spPr>
          <a:xfrm>
            <a:off x="960120" y="280728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Kontratë e pastër — certifikatë aftësie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8"/>
          <p:cNvSpPr/>
          <p:nvPr/>
        </p:nvSpPr>
        <p:spPr>
          <a:xfrm>
            <a:off x="4389120" y="178308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9"/>
          <p:cNvSpPr/>
          <p:nvPr/>
        </p:nvSpPr>
        <p:spPr>
          <a:xfrm>
            <a:off x="4663440" y="207576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8" name="Image 2" descr="preencoded.png"/>
          <p:cNvPicPr/>
          <p:nvPr/>
        </p:nvPicPr>
        <p:blipFill>
          <a:blip r:embed="rId3"/>
          <a:stretch/>
        </p:blipFill>
        <p:spPr>
          <a:xfrm>
            <a:off x="4809600" y="22219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Text 10"/>
          <p:cNvSpPr/>
          <p:nvPr/>
        </p:nvSpPr>
        <p:spPr>
          <a:xfrm>
            <a:off x="5440680" y="20574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implements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1"/>
          <p:cNvSpPr/>
          <p:nvPr/>
        </p:nvSpPr>
        <p:spPr>
          <a:xfrm>
            <a:off x="4663440" y="280728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extends 1 herë; implements sa të duash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2"/>
          <p:cNvSpPr/>
          <p:nvPr/>
        </p:nvSpPr>
        <p:spPr>
          <a:xfrm>
            <a:off x="8092440" y="178308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3"/>
          <p:cNvSpPr/>
          <p:nvPr/>
        </p:nvSpPr>
        <p:spPr>
          <a:xfrm>
            <a:off x="8366760" y="207576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3" name="Image 3" descr="preencoded.png"/>
          <p:cNvPicPr/>
          <p:nvPr/>
        </p:nvPicPr>
        <p:blipFill>
          <a:blip r:embed="rId4"/>
          <a:stretch/>
        </p:blipFill>
        <p:spPr>
          <a:xfrm>
            <a:off x="8512920" y="222192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Text 14"/>
          <p:cNvSpPr/>
          <p:nvPr/>
        </p:nvSpPr>
        <p:spPr>
          <a:xfrm>
            <a:off x="9144000" y="205740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Familja vs aftësia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5"/>
          <p:cNvSpPr/>
          <p:nvPr/>
        </p:nvSpPr>
        <p:spPr>
          <a:xfrm>
            <a:off x="8366760" y="280728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"është një" → abstract; "di të bëjë" → interface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16"/>
          <p:cNvSpPr/>
          <p:nvPr/>
        </p:nvSpPr>
        <p:spPr>
          <a:xfrm>
            <a:off x="685800" y="374904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7"/>
          <p:cNvSpPr/>
          <p:nvPr/>
        </p:nvSpPr>
        <p:spPr>
          <a:xfrm>
            <a:off x="960120" y="404172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8" name="Image 4" descr="preencoded.png"/>
          <p:cNvPicPr/>
          <p:nvPr/>
        </p:nvPicPr>
        <p:blipFill>
          <a:blip r:embed="rId5"/>
          <a:stretch/>
        </p:blipFill>
        <p:spPr>
          <a:xfrm>
            <a:off x="1106280" y="41878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Text 18"/>
          <p:cNvSpPr/>
          <p:nvPr/>
        </p:nvSpPr>
        <p:spPr>
          <a:xfrm>
            <a:off x="1737360" y="402336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try-catch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9"/>
          <p:cNvSpPr/>
          <p:nvPr/>
        </p:nvSpPr>
        <p:spPr>
          <a:xfrm>
            <a:off x="960120" y="477324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Kap gabimin dhe programi VAZHDON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0"/>
          <p:cNvSpPr/>
          <p:nvPr/>
        </p:nvSpPr>
        <p:spPr>
          <a:xfrm>
            <a:off x="4389120" y="374904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21"/>
          <p:cNvSpPr/>
          <p:nvPr/>
        </p:nvSpPr>
        <p:spPr>
          <a:xfrm>
            <a:off x="4663440" y="404172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3" name="Image 5" descr="preencoded.png"/>
          <p:cNvPicPr/>
          <p:nvPr/>
        </p:nvPicPr>
        <p:blipFill>
          <a:blip r:embed="rId6"/>
          <a:stretch/>
        </p:blipFill>
        <p:spPr>
          <a:xfrm>
            <a:off x="4809600" y="41878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 22"/>
          <p:cNvSpPr/>
          <p:nvPr/>
        </p:nvSpPr>
        <p:spPr>
          <a:xfrm>
            <a:off x="5440680" y="402336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finally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3"/>
          <p:cNvSpPr/>
          <p:nvPr/>
        </p:nvSpPr>
        <p:spPr>
          <a:xfrm>
            <a:off x="4663440" y="477324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Ekzekutohet gjithmonë — pastrim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24"/>
          <p:cNvSpPr/>
          <p:nvPr/>
        </p:nvSpPr>
        <p:spPr>
          <a:xfrm>
            <a:off x="8092440" y="3749040"/>
            <a:ext cx="3456000" cy="173700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25"/>
          <p:cNvSpPr/>
          <p:nvPr/>
        </p:nvSpPr>
        <p:spPr>
          <a:xfrm>
            <a:off x="8366760" y="4041720"/>
            <a:ext cx="639720" cy="63972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8" name="Image 6" descr="preencoded.png"/>
          <p:cNvPicPr/>
          <p:nvPr/>
        </p:nvPicPr>
        <p:blipFill>
          <a:blip r:embed="rId7"/>
          <a:stretch/>
        </p:blipFill>
        <p:spPr>
          <a:xfrm>
            <a:off x="8512920" y="418788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9" name="Text 26"/>
          <p:cNvSpPr/>
          <p:nvPr/>
        </p:nvSpPr>
        <p:spPr>
          <a:xfrm>
            <a:off x="9144000" y="4023360"/>
            <a:ext cx="23313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throw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7"/>
          <p:cNvSpPr/>
          <p:nvPr/>
        </p:nvSpPr>
        <p:spPr>
          <a:xfrm>
            <a:off x="8366760" y="4773240"/>
            <a:ext cx="2971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EBCCC"/>
                </a:solidFill>
                <a:effectLst/>
                <a:uFillTx/>
                <a:latin typeface="Calibri"/>
                <a:ea typeface="Calibri"/>
              </a:rPr>
              <a:t>Roja e L4 tani flet: refuzim me zë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8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497AC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0"/>
          <p:cNvSpPr/>
          <p:nvPr/>
        </p:nvSpPr>
        <p:spPr>
          <a:xfrm>
            <a:off x="548640" y="457200"/>
            <a:ext cx="658080" cy="658080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3" name="Image 0" descr="preencoded.png"/>
          <p:cNvPicPr/>
          <p:nvPr/>
        </p:nvPicPr>
        <p:blipFill>
          <a:blip r:embed="rId1"/>
          <a:stretch/>
        </p:blipFill>
        <p:spPr>
          <a:xfrm>
            <a:off x="694800" y="6033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 1"/>
          <p:cNvSpPr/>
          <p:nvPr/>
        </p:nvSpPr>
        <p:spPr>
          <a:xfrm>
            <a:off x="1371600" y="457200"/>
            <a:ext cx="9600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E8730C"/>
                </a:solidFill>
                <a:effectLst/>
                <a:uFillTx/>
                <a:latin typeface="Calibri"/>
                <a:ea typeface="Calibri"/>
              </a:rPr>
              <a:t>PRAKTIKA E JAVËS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"/>
          <p:cNvSpPr/>
          <p:nvPr/>
        </p:nvSpPr>
        <p:spPr>
          <a:xfrm>
            <a:off x="137160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Detyra për shtëpi — dorëzim me Git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"/>
          <p:cNvSpPr/>
          <p:nvPr/>
        </p:nvSpPr>
        <p:spPr>
          <a:xfrm>
            <a:off x="594360" y="153612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4"/>
          <p:cNvSpPr/>
          <p:nvPr/>
        </p:nvSpPr>
        <p:spPr>
          <a:xfrm>
            <a:off x="868680" y="170064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5"/>
          <p:cNvSpPr/>
          <p:nvPr/>
        </p:nvSpPr>
        <p:spPr>
          <a:xfrm>
            <a:off x="868680" y="170064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6"/>
          <p:cNvSpPr/>
          <p:nvPr/>
        </p:nvSpPr>
        <p:spPr>
          <a:xfrm>
            <a:off x="1600200" y="1645920"/>
            <a:ext cx="30171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Certifikata jote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7"/>
          <p:cNvSpPr/>
          <p:nvPr/>
        </p:nvSpPr>
        <p:spPr>
          <a:xfrm>
            <a:off x="4754880" y="1645920"/>
            <a:ext cx="66747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Krijo interface Pershkrues { String pershkrimi(); }; implementoje te 2 klasa PA lidhje familjare dhe printoji nga një varg Pershkrues[].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8"/>
          <p:cNvSpPr/>
          <p:nvPr/>
        </p:nvSpPr>
        <p:spPr>
          <a:xfrm>
            <a:off x="594360" y="249624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9"/>
          <p:cNvSpPr/>
          <p:nvPr/>
        </p:nvSpPr>
        <p:spPr>
          <a:xfrm>
            <a:off x="868680" y="266076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0"/>
          <p:cNvSpPr/>
          <p:nvPr/>
        </p:nvSpPr>
        <p:spPr>
          <a:xfrm>
            <a:off x="868680" y="26607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1"/>
          <p:cNvSpPr/>
          <p:nvPr/>
        </p:nvSpPr>
        <p:spPr>
          <a:xfrm>
            <a:off x="1600200" y="2606040"/>
            <a:ext cx="30171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Scanner i pathyeshëm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2"/>
          <p:cNvSpPr/>
          <p:nvPr/>
        </p:nvSpPr>
        <p:spPr>
          <a:xfrm>
            <a:off x="4754880" y="2606040"/>
            <a:ext cx="66747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Merr programin e notave (L5) dhe mbroje me try-catch: hyrja e gabuar s'e vret më — kërkon sërish (kujdes: pastro me sc.nextLine() në catch).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3"/>
          <p:cNvSpPr/>
          <p:nvPr/>
        </p:nvSpPr>
        <p:spPr>
          <a:xfrm>
            <a:off x="594360" y="345636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4"/>
          <p:cNvSpPr/>
          <p:nvPr/>
        </p:nvSpPr>
        <p:spPr>
          <a:xfrm>
            <a:off x="868680" y="362088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5"/>
          <p:cNvSpPr/>
          <p:nvPr/>
        </p:nvSpPr>
        <p:spPr>
          <a:xfrm>
            <a:off x="868680" y="36208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6"/>
          <p:cNvSpPr/>
          <p:nvPr/>
        </p:nvSpPr>
        <p:spPr>
          <a:xfrm>
            <a:off x="1600200" y="3566160"/>
            <a:ext cx="30171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Roja që flet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7"/>
          <p:cNvSpPr/>
          <p:nvPr/>
        </p:nvSpPr>
        <p:spPr>
          <a:xfrm>
            <a:off x="4754880" y="3566160"/>
            <a:ext cx="66747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Te klasa Produkti (ushtrimi 1) zëvendëso injorimin e heshtur me throw new IllegalArgumentException për çmim ose sasi negative; kape në main.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8"/>
          <p:cNvSpPr/>
          <p:nvPr/>
        </p:nvSpPr>
        <p:spPr>
          <a:xfrm>
            <a:off x="594360" y="4416480"/>
            <a:ext cx="11018160" cy="840960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9"/>
          <p:cNvSpPr/>
          <p:nvPr/>
        </p:nvSpPr>
        <p:spPr>
          <a:xfrm>
            <a:off x="868680" y="4581000"/>
            <a:ext cx="511560" cy="511560"/>
          </a:xfrm>
          <a:prstGeom prst="ellipse">
            <a:avLst/>
          </a:prstGeom>
          <a:solidFill>
            <a:srgbClr val="E873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0"/>
          <p:cNvSpPr/>
          <p:nvPr/>
        </p:nvSpPr>
        <p:spPr>
          <a:xfrm>
            <a:off x="868680" y="45810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21"/>
          <p:cNvSpPr/>
          <p:nvPr/>
        </p:nvSpPr>
        <p:spPr>
          <a:xfrm>
            <a:off x="1600200" y="4526280"/>
            <a:ext cx="30171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Sfidë: kombinimi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2"/>
          <p:cNvSpPr/>
          <p:nvPr/>
        </p:nvSpPr>
        <p:spPr>
          <a:xfrm>
            <a:off x="4754880" y="4526280"/>
            <a:ext cx="66747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Figura + interface Vizatueshem { void vizato(); } — çdo formë vizatohet me tekst; leximi i përmasave nga Scanner i mbrojtur me try-catch.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23"/>
          <p:cNvSpPr/>
          <p:nvPr/>
        </p:nvSpPr>
        <p:spPr>
          <a:xfrm>
            <a:off x="594360" y="5596200"/>
            <a:ext cx="11018160" cy="54828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4"/>
          <p:cNvSpPr/>
          <p:nvPr/>
        </p:nvSpPr>
        <p:spPr>
          <a:xfrm>
            <a:off x="914400" y="559620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Dorëzimi:  </a:t>
            </a: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repo me 4 commit-e + link.  Java tjetër: HashMap — fjalori i Java-s.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5"/>
          <p:cNvSpPr/>
          <p:nvPr/>
        </p:nvSpPr>
        <p:spPr>
          <a:xfrm>
            <a:off x="1118592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6"/>
          <p:cNvSpPr/>
          <p:nvPr/>
        </p:nvSpPr>
        <p:spPr>
          <a:xfrm>
            <a:off x="548640" y="63550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Leksioni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LibreOffice/26.2.2.2$Linux_X86_64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2026-08-21T13:38:42Z</dcterms:created>
  <dc:creator>Kreni</dc:creator>
  <dc:description/>
  <dc:language>en-US</dc:language>
  <cp:lastModifiedBy/>
  <dcterms:modified xsi:type="dcterms:W3CDTF">2026-08-21T15:44:04Z</dcterms:modified>
  <cp:revision>4</cp:revision>
  <dc:subject>PptxGenJS Presentation</dc:subject>
  <dc:title>Java — Leksioni 10: Interfejsat dhe trajtimi i gabimeve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