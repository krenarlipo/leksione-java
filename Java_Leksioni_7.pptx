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Leksioni i sotëm merr fjalën më misterioze të javës së kaluar — super — dhe e zbërthen deri në fund: super() i padukshëm, gabimi i kompajlerit që prodhon, thirrja e konstruktorit dhe e metodave të prindit. Pjesa e dytë: përballja Array vs ArrayList me programe TË PLOTA. Çdo shembull sot është program i ekzekutueshëm — kopjojeni dhe provojeni!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Çdo shembull sot është program i plotë i ekzekutueshëm — thuajuani studentëve që t'i shkruajnë e provojnë të gjithë. Gabimi i kompajlerit te pjesa e dytë është REAL — i kopjuar fjalë për fjalë nga javac.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Kontrolloni detyrat (familja Kafshë). Pyetje kontrolli: 'çfarë ka brenda new Qeni[4]?' (katër null). Maksimumi 5 minuta.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Harta e orës së parë: dy përdorime, dy shembuj të plotë në vijim. Paralajmëroni: para se t'i shohim në veprim, duhet të njohim FANTAZMËN — super() e padukshme që ka qenë aty gjithë kohën.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Ky kod funksionon PA super — dhe pikërisht kjo është mashtruese: studentët mendojnë se super është opsional. E vërteta: super() thirret GJITHMONË, thjesht e fut Java fshehurazi. Slajdi tjetër tregon çfarë ndodh kur fantazma s'gjen dot çfarë të thërrasë.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Zinxhiri me tre hallka: (1) Person shkroi konstruktorin e vet → Person() bosh u zhduk (gotcha e L4); (2) Studenti s'thërret super → Java fut super() të padukshëm; (3) super() kërkon Person() që s'ekziston → GABIM. Ushtrim klase: tregoni gabimin PA shpjegim dhe pyesni 'kush thirri konstruktor pa argumente?' — lërini të kërkojnë thirrjen që s'është në kod!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Programi i plotë me println GJURMUES në çdo konstruktor — dalja numërohet 1, 2 dhe e bën rendin të padiskutueshëm. Ekzekutojeni live. Gjurma e plotë: new → konstruktori i Studentit nis → super(emri) zbret te Person → printon 1 → kthehet → printon 2 → objekti gati. Pyetje: çfarë do të printohej po të hiqnim super(emri)? (Asgjë — s'kompilon, slajdi 6!)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Modeli 'zgjero': shumë i përdorur në praktikë — fëmija respekton sjelljen e prindit dhe shton të vetën. Detaji i rrezikshëm në fund: prezantohu() pa super brenda vetes = rekursion i pafund → StackOverflowError. super e zgjidh duke kërkuar te prindi. Ekzekutojeni me dhe pa super për efekt dramatik (kujdes — pa super var programin!).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Tabela mbyll gjysmën e parë. this(...) përmendet vetëm si kuriozitet për simetri — mos e thelloni. Pyetje kontrolli: 'ku e kemi parë this.emri = emri?' (konstruktori, L4). 'Po super.prezantohu()?' (slajdi i mëparshëm).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Të dy kontejnerët janë të njohur — sot i vëmë kokë më kokë me të njëjtën detyrë. Metoda e krahasimit 'i njëjti problem, dy zgjidhje' është më efektivja: dallimet dalin vetë nga kodi.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Program i plotë — kopjojeni e provojeni. Zbulojeni komentin notat[3] duke e ç'komentuar live: ArrayIndexOutOfBoundsException në ekzekutim. Kjo dhimbje (s'ka vend të 4-t) është pikërisht ajo që ArrayList e zgjidh në slajdin tjetër.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njëjti problem, zgjidhja tjetër. Krahasoni daljet: pas remove(0), Nota 0 është 10 — indekset rrëshqitën (L4). Pyetje kontrolli: pse dalja fillon me 10 e jo me 8? Kush përgjigjet saktë, e ka kuptuar remove-in.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Tabela referuese — thuajuni ta fotografojnë. Rreshti më kurthndjellës në provime: .length vs .size() — pa/me kllapa. Mund të shtoni edhe detajin e shpejtësisë (vargu pak më i shpejtë) por për fillestarët zgjedhja bëhet nga fleksibiliteti, jo nga performanca.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Rutina e njohur: 8 minuta, letër, pa shënime. Dy pyetje super, dy pyetje Array/ArrayList.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Q1: Person ka vetëm Person(String) → Person() bosh s'ekziston → super() i padukshëm dështon → GABIM KOMPILIMI, përgjigja b. Q2: super.fol() ekzekuton të parën versionin e prindit (A), pastaj B — përgjigja 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Q3: v.size() s'ekziston — vargu ka .length pa kllapa; rreshti C, përgjigja c. Q4: remove(1) heq 8-ën; lista bëhet [5, 2]; get(1) = 2 — përgjigja b. Rrëshqitja e indekseve godet sërish!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Q1 rikthen zinxhirin trihallkësh të slajdit 6 — kush e zgjidh, e ka mbyllur temën e super-it. Q4 provon rrëshqitjen e indekseve për të tretën herë në kurs (L4, L7 dhe tani) — përsëritja e planifikuar funksionon.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Fjalitë kyçe: 'super() është gjithmonë aty — problemi fillon kur s'gjen çfarë të thërrasë' dhe '.length pa kllapa, .size() me kllapa'. Java tjetër: polimorfizmi — premtimi i L6 mbahet më në fund.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Detyra 1 riprodhon slajdin 7 me klasë tjetër. Detyra 3 është krahasimi praktik — kërkojuni t'i vendosin programet krah për krah dhe të nënvizojnë rreshtat që ndryshojnë. Detyra 4 kombinon L5+L7; kujtesa: remove me indeks të dhënë nga përdoruesi kërkon kontroll (indeksi &lt; size()) — përndryshe IndexOutOfBounds!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463040"/>
            <a:ext cx="5029200" cy="5029200"/>
          </a:xfrm>
          <a:prstGeom prst="ellipse">
            <a:avLst/>
          </a:prstGeom>
          <a:solidFill>
            <a:srgbClr val="E8730C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3291840"/>
            <a:ext cx="3840480" cy="3840480"/>
          </a:xfrm>
          <a:prstGeom prst="ellipse">
            <a:avLst/>
          </a:prstGeom>
          <a:solidFill>
            <a:srgbClr val="1E3050">
              <a:alpha val="7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0" y="1234440"/>
            <a:ext cx="2743200" cy="2743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1280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LEKSIONI 7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86384" y="16916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Fjala super në thellësi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22960" y="26517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super() i padukshëm · konstruktori i prindit · metodat e prindit · Array vs ArrayList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41248" y="3383280"/>
            <a:ext cx="6309360" cy="1499616"/>
          </a:xfrm>
          <a:prstGeom prst="roundRect">
            <a:avLst>
              <a:gd name="adj" fmla="val 5488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042416" y="356616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0" name="Shape 7"/>
          <p:cNvSpPr/>
          <p:nvPr/>
        </p:nvSpPr>
        <p:spPr>
          <a:xfrm>
            <a:off x="1243584" y="356616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1" name="Shape 8"/>
          <p:cNvSpPr/>
          <p:nvPr/>
        </p:nvSpPr>
        <p:spPr>
          <a:xfrm>
            <a:off x="1444752" y="356616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2" name="Text 9"/>
          <p:cNvSpPr/>
          <p:nvPr/>
        </p:nvSpPr>
        <p:spPr>
          <a:xfrm>
            <a:off x="1097280" y="3840480"/>
            <a:ext cx="58521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Studenti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emri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fakulteti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emri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themeli i pare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fakulteti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fakulteti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41248" y="5257800"/>
            <a:ext cx="6949440" cy="0"/>
          </a:xfrm>
          <a:prstGeom prst="line">
            <a:avLst/>
          </a:prstGeom>
          <a:noFill/>
          <a:ln w="19050">
            <a:solidFill>
              <a:srgbClr val="E8730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" y="5440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Ligjëratë 70 minuta</a:t>
            </a:r>
            <a:pPr indent="0" marL="0">
              <a:buNone/>
            </a:pPr>
            <a:r>
              <a:rPr lang="en-US" sz="1300" dirty="0">
                <a:solidFill>
                  <a:srgbClr val="E8730C"/>
                </a:solidFill>
              </a:rPr>
              <a:t>     •     </a:t>
            </a:r>
            <a:pPr indent="0" marL="0">
              <a:buNone/>
            </a:pPr>
            <a:r>
              <a:rPr lang="en-US" sz="1300" dirty="0">
                <a:solidFill>
                  <a:srgbClr val="AE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Nivel: Fillestar</a:t>
            </a:r>
            <a:pPr indent="0" marL="0">
              <a:buNone/>
            </a:pPr>
            <a:r>
              <a:rPr lang="en-US" sz="1300" dirty="0">
                <a:solidFill>
                  <a:srgbClr val="E8730C"/>
                </a:solidFill>
              </a:rPr>
              <a:t>     •     </a:t>
            </a:r>
            <a:pPr indent="0" marL="0">
              <a:buNone/>
            </a:pPr>
            <a:r>
              <a:rPr lang="en-US" sz="1300" dirty="0">
                <a:solidFill>
                  <a:srgbClr val="AE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Informatikë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AGJENDA · 70 MINUTA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 i leksionit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3602736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1856232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42033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1984248"/>
            <a:ext cx="347472" cy="347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099816" y="1837944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05'</a:t>
            </a:r>
            <a:endParaRPr lang="en-US" sz="2400" dirty="0"/>
          </a:p>
        </p:txBody>
      </p:sp>
      <p:sp>
        <p:nvSpPr>
          <p:cNvPr id="10" name="Text 6"/>
          <p:cNvSpPr/>
          <p:nvPr/>
        </p:nvSpPr>
        <p:spPr>
          <a:xfrm>
            <a:off x="804672" y="2587752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Rikujtim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804672" y="3081528"/>
            <a:ext cx="3145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extends, override, null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370832" y="1600200"/>
            <a:ext cx="3602736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626864" y="1856232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42033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984248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22008" y="1837944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12'</a:t>
            </a:r>
            <a:endParaRPr lang="en-US" sz="2400" dirty="0"/>
          </a:p>
        </p:txBody>
      </p:sp>
      <p:sp>
        <p:nvSpPr>
          <p:cNvPr id="16" name="Text 11"/>
          <p:cNvSpPr/>
          <p:nvPr/>
        </p:nvSpPr>
        <p:spPr>
          <a:xfrm>
            <a:off x="4626864" y="2587752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super() i padukshëm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4626864" y="3081528"/>
            <a:ext cx="3145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Dhe gabimi i famshëm i kompajlerit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8193024" y="1600200"/>
            <a:ext cx="3602736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449056" y="1856232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42033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7072" y="1984248"/>
            <a:ext cx="347472" cy="34747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744200" y="1837944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12'</a:t>
            </a:r>
            <a:endParaRPr lang="en-US" sz="2400" dirty="0"/>
          </a:p>
        </p:txBody>
      </p:sp>
      <p:sp>
        <p:nvSpPr>
          <p:cNvPr id="22" name="Text 16"/>
          <p:cNvSpPr/>
          <p:nvPr/>
        </p:nvSpPr>
        <p:spPr>
          <a:xfrm>
            <a:off x="8449056" y="2587752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në veprim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8449056" y="3081528"/>
            <a:ext cx="3145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Konstruktori &amp; metodat e prindit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548640" y="3941064"/>
            <a:ext cx="3602736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04672" y="4197096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42033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4325112"/>
            <a:ext cx="347472" cy="34747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099816" y="41788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05'</a:t>
            </a:r>
            <a:endParaRPr lang="en-US" sz="2400" dirty="0"/>
          </a:p>
        </p:txBody>
      </p:sp>
      <p:sp>
        <p:nvSpPr>
          <p:cNvPr id="28" name="Text 21"/>
          <p:cNvSpPr/>
          <p:nvPr/>
        </p:nvSpPr>
        <p:spPr>
          <a:xfrm>
            <a:off x="804672" y="4928616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kundrejt super</a:t>
            </a:r>
            <a:endParaRPr lang="en-US" sz="1500" dirty="0"/>
          </a:p>
        </p:txBody>
      </p:sp>
      <p:sp>
        <p:nvSpPr>
          <p:cNvPr id="29" name="Text 22"/>
          <p:cNvSpPr/>
          <p:nvPr/>
        </p:nvSpPr>
        <p:spPr>
          <a:xfrm>
            <a:off x="804672" y="5422392"/>
            <a:ext cx="3145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Katër përdorimet — një tabelë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4370832" y="3941064"/>
            <a:ext cx="3602736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4626864" y="4197096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42033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4325112"/>
            <a:ext cx="347472" cy="34747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922008" y="41788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21'</a:t>
            </a:r>
            <a:endParaRPr lang="en-US" sz="2400" dirty="0"/>
          </a:p>
        </p:txBody>
      </p:sp>
      <p:sp>
        <p:nvSpPr>
          <p:cNvPr id="34" name="Text 26"/>
          <p:cNvSpPr/>
          <p:nvPr/>
        </p:nvSpPr>
        <p:spPr>
          <a:xfrm>
            <a:off x="4626864" y="4928616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vs ArrayList</a:t>
            </a:r>
            <a:endParaRPr lang="en-US" sz="1500" dirty="0"/>
          </a:p>
        </p:txBody>
      </p:sp>
      <p:sp>
        <p:nvSpPr>
          <p:cNvPr id="35" name="Text 27"/>
          <p:cNvSpPr/>
          <p:nvPr/>
        </p:nvSpPr>
        <p:spPr>
          <a:xfrm>
            <a:off x="4626864" y="5422392"/>
            <a:ext cx="3145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 programe të plota + tabela</a:t>
            </a:r>
            <a:endParaRPr lang="en-US" sz="1200" dirty="0"/>
          </a:p>
        </p:txBody>
      </p:sp>
      <p:sp>
        <p:nvSpPr>
          <p:cNvPr id="36" name="Shape 28"/>
          <p:cNvSpPr/>
          <p:nvPr/>
        </p:nvSpPr>
        <p:spPr>
          <a:xfrm>
            <a:off x="8193024" y="3941064"/>
            <a:ext cx="3602736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8449056" y="4197096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42033"/>
          </a:solidFill>
          <a:ln/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7072" y="4325112"/>
            <a:ext cx="347472" cy="347472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10744200" y="41788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15'</a:t>
            </a:r>
            <a:endParaRPr lang="en-US" sz="2400" dirty="0"/>
          </a:p>
        </p:txBody>
      </p:sp>
      <p:sp>
        <p:nvSpPr>
          <p:cNvPr id="40" name="Text 31"/>
          <p:cNvSpPr/>
          <p:nvPr/>
        </p:nvSpPr>
        <p:spPr>
          <a:xfrm>
            <a:off x="8449056" y="4928616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+ përmbledhje</a:t>
            </a:r>
            <a:endParaRPr lang="en-US" sz="1500" dirty="0"/>
          </a:p>
        </p:txBody>
      </p:sp>
      <p:sp>
        <p:nvSpPr>
          <p:cNvPr id="41" name="Text 32"/>
          <p:cNvSpPr/>
          <p:nvPr/>
        </p:nvSpPr>
        <p:spPr>
          <a:xfrm>
            <a:off x="8449056" y="5422392"/>
            <a:ext cx="3145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pyetje për vetëkontroll</a:t>
            </a:r>
            <a:endParaRPr lang="en-US" sz="1200" dirty="0"/>
          </a:p>
        </p:txBody>
      </p:sp>
      <p:sp>
        <p:nvSpPr>
          <p:cNvPr id="42" name="Text 33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43" name="Text 34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Leksioni 7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MINUTA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Rikujtim nga Leksioni 6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94360" y="1691640"/>
            <a:ext cx="5349240" cy="1737360"/>
          </a:xfrm>
          <a:prstGeom prst="roundRect">
            <a:avLst>
              <a:gd name="adj" fmla="val 4737"/>
            </a:avLst>
          </a:prstGeom>
          <a:solidFill>
            <a:srgbClr val="F2F5F9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68680" y="187452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868680" y="2295144"/>
            <a:ext cx="4800600" cy="493776"/>
          </a:xfrm>
          <a:prstGeom prst="roundRect">
            <a:avLst>
              <a:gd name="adj" fmla="val 11111"/>
            </a:avLst>
          </a:prstGeom>
          <a:solidFill>
            <a:srgbClr val="1B2736"/>
          </a:solidFill>
          <a:ln/>
        </p:spPr>
      </p:sp>
      <p:sp>
        <p:nvSpPr>
          <p:cNvPr id="9" name="Text 6"/>
          <p:cNvSpPr/>
          <p:nvPr/>
        </p:nvSpPr>
        <p:spPr>
          <a:xfrm>
            <a:off x="1033272" y="2295144"/>
            <a:ext cx="4526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Studenti extends Person { }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68680" y="2862072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Fëmija trashëgon fushat dhe metodat e prindit.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17920" y="1691640"/>
            <a:ext cx="5349240" cy="1737360"/>
          </a:xfrm>
          <a:prstGeom prst="roundRect">
            <a:avLst>
              <a:gd name="adj" fmla="val 4737"/>
            </a:avLst>
          </a:prstGeom>
          <a:solidFill>
            <a:srgbClr val="F2F5F9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492240" y="187452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@Override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6492240" y="2295144"/>
            <a:ext cx="4800600" cy="493776"/>
          </a:xfrm>
          <a:prstGeom prst="roundRect">
            <a:avLst>
              <a:gd name="adj" fmla="val 11111"/>
            </a:avLst>
          </a:prstGeom>
          <a:solidFill>
            <a:srgbClr val="1B2736"/>
          </a:solidFill>
          <a:ln/>
        </p:spPr>
      </p:sp>
      <p:sp>
        <p:nvSpPr>
          <p:cNvPr id="14" name="Text 11"/>
          <p:cNvSpPr/>
          <p:nvPr/>
        </p:nvSpPr>
        <p:spPr>
          <a:xfrm>
            <a:off x="6656832" y="2295144"/>
            <a:ext cx="4526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prezantohu() { ... }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492240" y="2862072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Fëmija zëvendëson metodën — versioni i tij fiton.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94360" y="3657600"/>
            <a:ext cx="5349240" cy="1737360"/>
          </a:xfrm>
          <a:prstGeom prst="roundRect">
            <a:avLst>
              <a:gd name="adj" fmla="val 4737"/>
            </a:avLst>
          </a:prstGeom>
          <a:solidFill>
            <a:srgbClr val="F2F5F9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868680" y="384048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Vargjet bosh</a:t>
            </a:r>
            <a:endParaRPr lang="en-US" sz="1650" dirty="0"/>
          </a:p>
        </p:txBody>
      </p:sp>
      <p:sp>
        <p:nvSpPr>
          <p:cNvPr id="18" name="Shape 15"/>
          <p:cNvSpPr/>
          <p:nvPr/>
        </p:nvSpPr>
        <p:spPr>
          <a:xfrm>
            <a:off x="868680" y="4261104"/>
            <a:ext cx="4800600" cy="493776"/>
          </a:xfrm>
          <a:prstGeom prst="roundRect">
            <a:avLst>
              <a:gd name="adj" fmla="val 11111"/>
            </a:avLst>
          </a:prstGeom>
          <a:solidFill>
            <a:srgbClr val="1B2736"/>
          </a:solidFill>
          <a:ln/>
        </p:spPr>
      </p:sp>
      <p:sp>
        <p:nvSpPr>
          <p:cNvPr id="19" name="Text 16"/>
          <p:cNvSpPr/>
          <p:nvPr/>
        </p:nvSpPr>
        <p:spPr>
          <a:xfrm>
            <a:off x="1033272" y="4261104"/>
            <a:ext cx="4526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int[3] → {0,0,0}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68680" y="4828032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Primitivët marrin vlera default — jo mbeturina.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217920" y="3657600"/>
            <a:ext cx="5349240" cy="1737360"/>
          </a:xfrm>
          <a:prstGeom prst="roundRect">
            <a:avLst>
              <a:gd name="adj" fmla="val 4737"/>
            </a:avLst>
          </a:prstGeom>
          <a:solidFill>
            <a:srgbClr val="F2F5F9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6492240" y="384048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&amp; NPE</a:t>
            </a:r>
            <a:endParaRPr lang="en-US" sz="1650" dirty="0"/>
          </a:p>
        </p:txBody>
      </p:sp>
      <p:sp>
        <p:nvSpPr>
          <p:cNvPr id="23" name="Shape 20"/>
          <p:cNvSpPr/>
          <p:nvPr/>
        </p:nvSpPr>
        <p:spPr>
          <a:xfrm>
            <a:off x="6492240" y="4261104"/>
            <a:ext cx="4800600" cy="493776"/>
          </a:xfrm>
          <a:prstGeom prst="roundRect">
            <a:avLst>
              <a:gd name="adj" fmla="val 11111"/>
            </a:avLst>
          </a:prstGeom>
          <a:solidFill>
            <a:srgbClr val="1B2736"/>
          </a:solidFill>
          <a:ln/>
        </p:spPr>
      </p:sp>
      <p:sp>
        <p:nvSpPr>
          <p:cNvPr id="24" name="Text 21"/>
          <p:cNvSpPr/>
          <p:nvPr/>
        </p:nvSpPr>
        <p:spPr>
          <a:xfrm>
            <a:off x="6656832" y="4261104"/>
            <a:ext cx="4526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Studenti[3] → {null,null,null}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492240" y="4828032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Rafti bosh: vendet pa objekt japin NullPointerException.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594360" y="57150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Sot: fjala super — që javën e kaluar e pamë kalimthi — merr gjithë vëmendjen që meriton.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Leksioni 7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HARTA E DITËS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— dy fytyrat e një fjale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94360" y="1691640"/>
            <a:ext cx="5349240" cy="4069080"/>
          </a:xfrm>
          <a:prstGeom prst="roundRect">
            <a:avLst>
              <a:gd name="adj" fmla="val 2247"/>
            </a:avLst>
          </a:prstGeom>
          <a:solidFill>
            <a:srgbClr val="F2F5F9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94360" y="1691640"/>
            <a:ext cx="5349240" cy="658368"/>
          </a:xfrm>
          <a:prstGeom prst="roundRect">
            <a:avLst>
              <a:gd name="adj" fmla="val 13889"/>
            </a:avLst>
          </a:prstGeom>
          <a:solidFill>
            <a:srgbClr val="142033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1691640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super(...)  </a:t>
            </a:r>
            <a:pPr indent="0" marL="0">
              <a:buNone/>
            </a:pPr>
            <a:r>
              <a:rPr lang="en-US" sz="130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konstruktori i prindit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868680" y="2542032"/>
            <a:ext cx="4800600" cy="1239012"/>
          </a:xfrm>
          <a:prstGeom prst="roundRect">
            <a:avLst>
              <a:gd name="adj" fmla="val 6642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069848" y="2724912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1" name="Shape 8"/>
          <p:cNvSpPr/>
          <p:nvPr/>
        </p:nvSpPr>
        <p:spPr>
          <a:xfrm>
            <a:off x="1271016" y="2724912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2" name="Shape 9"/>
          <p:cNvSpPr/>
          <p:nvPr/>
        </p:nvSpPr>
        <p:spPr>
          <a:xfrm>
            <a:off x="1472184" y="2724912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3" name="Text 10"/>
          <p:cNvSpPr/>
          <p:nvPr/>
        </p:nvSpPr>
        <p:spPr>
          <a:xfrm>
            <a:off x="1124712" y="2999232"/>
            <a:ext cx="4343400" cy="690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Studenti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emri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emri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NDERTON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86968" y="397764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Ndërton "katin Person" të objektit — gjithmonë rreshti i parë.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886968" y="489204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Përdoret VETËM në konstruktor, si rreshti i parë.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217920" y="1691640"/>
            <a:ext cx="5349240" cy="4069080"/>
          </a:xfrm>
          <a:prstGeom prst="roundRect">
            <a:avLst>
              <a:gd name="adj" fmla="val 2247"/>
            </a:avLst>
          </a:prstGeom>
          <a:solidFill>
            <a:srgbClr val="F2F5F9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217920" y="1691640"/>
            <a:ext cx="5349240" cy="658368"/>
          </a:xfrm>
          <a:prstGeom prst="roundRect">
            <a:avLst>
              <a:gd name="adj" fmla="val 13889"/>
            </a:avLst>
          </a:prstGeom>
          <a:solidFill>
            <a:srgbClr val="E8730C"/>
          </a:solidFill>
          <a:ln/>
        </p:spPr>
      </p:sp>
      <p:sp>
        <p:nvSpPr>
          <p:cNvPr id="18" name="Text 15"/>
          <p:cNvSpPr/>
          <p:nvPr/>
        </p:nvSpPr>
        <p:spPr>
          <a:xfrm>
            <a:off x="6492240" y="1691640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super.metoda()  </a:t>
            </a:r>
            <a:pPr indent="0" marL="0">
              <a:buNone/>
            </a:pPr>
            <a:r>
              <a:rPr lang="en-US" sz="1300" dirty="0">
                <a:solidFill>
                  <a:srgbClr val="FBE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metoda e prindit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6492240" y="2542032"/>
            <a:ext cx="4800600" cy="1239012"/>
          </a:xfrm>
          <a:prstGeom prst="roundRect">
            <a:avLst>
              <a:gd name="adj" fmla="val 6642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693408" y="2724912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1" name="Shape 18"/>
          <p:cNvSpPr/>
          <p:nvPr/>
        </p:nvSpPr>
        <p:spPr>
          <a:xfrm>
            <a:off x="6894576" y="2724912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2" name="Shape 19"/>
          <p:cNvSpPr/>
          <p:nvPr/>
        </p:nvSpPr>
        <p:spPr>
          <a:xfrm>
            <a:off x="7095744" y="2724912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3" name="Text 20"/>
          <p:cNvSpPr/>
          <p:nvPr/>
        </p:nvSpPr>
        <p:spPr>
          <a:xfrm>
            <a:off x="6748272" y="2999232"/>
            <a:ext cx="4343400" cy="690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prezantohu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prezantohu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THERRET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6510528" y="397764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Thërret versionin e prindit të një metode — edhe pas mbishkrimit.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6510528" y="489204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Përdoret brenda çdo metode — zakonisht te @Override.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594360" y="58978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Të dyja thonë të njëjtën gjë: "kërkoje te PRINDI im" — njëra për ndërtim, tjetra për sjellje.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Leksioni 7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0292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64922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 QENË ATY GJITHË KOHËN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08760" y="74980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Fantazma: super() i padukshëm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914400" y="1691640"/>
            <a:ext cx="6766560" cy="4366260"/>
          </a:xfrm>
          <a:prstGeom prst="roundRect">
            <a:avLst>
              <a:gd name="adj" fmla="val 1885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115568" y="187452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1316736" y="187452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517904" y="187452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1170432" y="2148840"/>
            <a:ext cx="6309360" cy="381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emri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 emer"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ASNJE konstruktor -&gt; Java jep Person() FALAS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Studenti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extends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Studenti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Java fut FSHEHURAZI ketu: super();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"Studenti u ndertua"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ne main: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Studenti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Studenti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emri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001000" y="1691640"/>
            <a:ext cx="3611880" cy="1600200"/>
          </a:xfrm>
          <a:prstGeom prst="roundRect">
            <a:avLst>
              <a:gd name="adj" fmla="val 5143"/>
            </a:avLst>
          </a:prstGeom>
          <a:solidFill>
            <a:srgbClr val="E9F4EC"/>
          </a:solidFill>
          <a:ln w="12700">
            <a:solidFill>
              <a:srgbClr val="BFE0C8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874520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659368" y="1874520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7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Dalja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8275320" y="2295144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16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Studenti u ndertua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16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 emer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001000" y="3520440"/>
            <a:ext cx="3611880" cy="2331720"/>
          </a:xfrm>
          <a:prstGeom prst="roundRect">
            <a:avLst>
              <a:gd name="adj" fmla="val 3922"/>
            </a:avLst>
          </a:prstGeom>
          <a:solidFill>
            <a:srgbClr val="1E3050"/>
          </a:solidFill>
          <a:ln/>
        </p:spPr>
      </p:sp>
      <p:sp>
        <p:nvSpPr>
          <p:cNvPr id="16" name="Text 12"/>
          <p:cNvSpPr/>
          <p:nvPr/>
        </p:nvSpPr>
        <p:spPr>
          <a:xfrm>
            <a:off x="8247888" y="3703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Rregulli i fshehtë: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8247888" y="4114800"/>
            <a:ext cx="3154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6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NDËRTON GJITHMONË prindin të parin.</a:t>
            </a:r>
            <a:endParaRPr lang="en-US" sz="1250" dirty="0"/>
          </a:p>
          <a:p>
            <a:pPr marL="177800" indent="-177800">
              <a:lnSpc>
                <a:spcPct val="106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s'e the ti si — ajo thërret vetë super() pa argumente.</a:t>
            </a:r>
            <a:endParaRPr lang="en-US" sz="1250" dirty="0"/>
          </a:p>
          <a:p>
            <a:pPr marL="177800" indent="-177800">
              <a:lnSpc>
                <a:spcPct val="106000"/>
              </a:lnSpc>
              <a:buSzPct val="100000"/>
              <a:buChar char="•"/>
            </a:pPr>
            <a:r>
              <a:rPr lang="en-US" sz="1250" b="1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Këtu funksionon, sepse Person() bosh EKZISTON (falas).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4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KODI I PLOTË QË NUK KOMPILON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 fantazma dështon — gabimi i kompajlerit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94360" y="1645920"/>
            <a:ext cx="6035040" cy="3845052"/>
          </a:xfrm>
          <a:prstGeom prst="roundRect">
            <a:avLst>
              <a:gd name="adj" fmla="val 2140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95528" y="182880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996696" y="182880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197864" y="182880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850392" y="2103120"/>
            <a:ext cx="5577840" cy="3296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emri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emri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Person() bosh ZHDUKET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emri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emri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Studenti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extends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fakulteti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Studenti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 super(e) -&gt; Java provon super() ...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fakulteti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0" y="1645920"/>
            <a:ext cx="4754880" cy="2286000"/>
          </a:xfrm>
          <a:prstGeom prst="roundRect">
            <a:avLst>
              <a:gd name="adj" fmla="val 3600"/>
            </a:avLst>
          </a:prstGeom>
          <a:solidFill>
            <a:srgbClr val="FBEAE7"/>
          </a:solidFill>
          <a:ln w="15875">
            <a:solidFill>
              <a:srgbClr val="E8A99E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1828800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516368" y="18288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23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Gabimi REAL i javac: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7114032" y="2231136"/>
            <a:ext cx="4297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8A35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error: constructor Person in class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8A35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 cannot be applied to given types;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8A35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required: String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8A35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found:    no arguments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8A35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reason: actual and formal argument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8A35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lists differ in length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858000" y="4114800"/>
            <a:ext cx="4754880" cy="1691640"/>
          </a:xfrm>
          <a:prstGeom prst="roundRect">
            <a:avLst>
              <a:gd name="adj" fmla="val 4865"/>
            </a:avLst>
          </a:prstGeom>
          <a:solidFill>
            <a:srgbClr val="E9F4EC"/>
          </a:solidFill>
          <a:ln w="12700">
            <a:solidFill>
              <a:srgbClr val="BFE0C8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114032" y="427939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7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Rregullimi — një rresht: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7114032" y="4645152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16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Studenti(String e, String f) {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16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super(e);      // &lt;- SHTO KETE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16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this.fakulteti = f;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16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594360" y="5577840"/>
            <a:ext cx="6035040" cy="685800"/>
          </a:xfrm>
          <a:prstGeom prst="roundRect">
            <a:avLst>
              <a:gd name="adj" fmla="val 10667"/>
            </a:avLst>
          </a:prstGeom>
          <a:solidFill>
            <a:srgbClr val="FBEDDD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5742432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298448" y="5605272"/>
            <a:ext cx="5257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E873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"found: no arguments" —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askush s'e shkroi atë thirrje! Është super() i padukshëm.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Leksioni 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0292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64922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PROGRAMI I PLOTË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08760" y="74980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super(...) në veprim — rendi i ndërtimit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914400" y="1554480"/>
            <a:ext cx="6629400" cy="4626864"/>
          </a:xfrm>
          <a:prstGeom prst="roundRect">
            <a:avLst>
              <a:gd name="adj" fmla="val 1779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115568" y="173736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1316736" y="173736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517904" y="173736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1170432" y="2011680"/>
            <a:ext cx="6172200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emri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emri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"1. Ndertohet pjesa Person"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emri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emri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Studenti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extends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fakulteti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Studenti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emri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fakulteti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emri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themeli i pare!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"2. Ndertohet pjesa Studenti"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fakulteti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fakulteti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818120" y="1554480"/>
            <a:ext cx="3794760" cy="2542032"/>
          </a:xfrm>
          <a:prstGeom prst="roundRect">
            <a:avLst>
              <a:gd name="adj" fmla="val 3237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019288" y="173736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3" name="Shape 10"/>
          <p:cNvSpPr/>
          <p:nvPr/>
        </p:nvSpPr>
        <p:spPr>
          <a:xfrm>
            <a:off x="8220456" y="173736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4" name="Shape 11"/>
          <p:cNvSpPr/>
          <p:nvPr/>
        </p:nvSpPr>
        <p:spPr>
          <a:xfrm>
            <a:off x="8421624" y="173736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5" name="Text 12"/>
          <p:cNvSpPr/>
          <p:nvPr/>
        </p:nvSpPr>
        <p:spPr>
          <a:xfrm>
            <a:off x="8074152" y="2011680"/>
            <a:ext cx="3337560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args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Studenti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endParaRPr lang="en-US" sz="10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Studenti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"Ana"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"Informatike"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emri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- "</a:t>
            </a:r>
            <a:endParaRPr lang="en-US" sz="10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fakulteti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818120" y="4206240"/>
            <a:ext cx="3794760" cy="1645920"/>
          </a:xfrm>
          <a:prstGeom prst="roundRect">
            <a:avLst>
              <a:gd name="adj" fmla="val 5000"/>
            </a:avLst>
          </a:prstGeom>
          <a:solidFill>
            <a:srgbClr val="E9F4EC"/>
          </a:solidFill>
          <a:ln w="12700">
            <a:solidFill>
              <a:srgbClr val="BFE0C8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4389120"/>
            <a:ext cx="329184" cy="32918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8476488" y="4389120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7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Dalja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8092440" y="4809744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16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Ndertohet pjesa Person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16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Ndertohet pjesa Studenti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16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 - Informatike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7818120" y="5961888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i="1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Dalja e PROVON rendin: themeli para katit — gjithmonë.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4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0292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64922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PROGRAMI I PLOTË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08760" y="74980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super.metoda() — shto, mos zëvendëso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914400" y="1600200"/>
            <a:ext cx="6766560" cy="4366260"/>
          </a:xfrm>
          <a:prstGeom prst="roundRect">
            <a:avLst>
              <a:gd name="adj" fmla="val 1885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115568" y="178308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1316736" y="178308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517904" y="178308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1170432" y="2057400"/>
            <a:ext cx="6309360" cy="381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prezantohu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"Jam nje person."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Studenti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extends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@Override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prezantohu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prezantohu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1. versioni i PRINDIT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"...dhe studioj informatike!"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ne main: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Studenti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().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prezantohu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001000" y="1600200"/>
            <a:ext cx="3611880" cy="1600200"/>
          </a:xfrm>
          <a:prstGeom prst="roundRect">
            <a:avLst>
              <a:gd name="adj" fmla="val 5143"/>
            </a:avLst>
          </a:prstGeom>
          <a:solidFill>
            <a:srgbClr val="E9F4EC"/>
          </a:solidFill>
          <a:ln w="12700">
            <a:solidFill>
              <a:srgbClr val="BFE0C8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783080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659368" y="1783080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7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Dalja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8275320" y="2203704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16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Jam nje person.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16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...dhe studioj informatike!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001000" y="3429000"/>
            <a:ext cx="3611880" cy="2423160"/>
          </a:xfrm>
          <a:prstGeom prst="roundRect">
            <a:avLst>
              <a:gd name="adj" fmla="val 3774"/>
            </a:avLst>
          </a:prstGeom>
          <a:solidFill>
            <a:srgbClr val="1E3050"/>
          </a:solidFill>
          <a:ln/>
        </p:spPr>
      </p:sp>
      <p:sp>
        <p:nvSpPr>
          <p:cNvPr id="16" name="Text 12"/>
          <p:cNvSpPr/>
          <p:nvPr/>
        </p:nvSpPr>
        <p:spPr>
          <a:xfrm>
            <a:off x="8247888" y="3611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 strategjitë e fëmijës: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8247888" y="4005072"/>
            <a:ext cx="3154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6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Trashëgo — mos e prek fare metodën.</a:t>
            </a:r>
            <a:endParaRPr lang="en-US" sz="1200" dirty="0"/>
          </a:p>
          <a:p>
            <a:pPr marL="177800" indent="-177800">
              <a:lnSpc>
                <a:spcPct val="106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Zëvendëso — @Override i plotë (L6).</a:t>
            </a:r>
            <a:endParaRPr lang="en-US" sz="1200" dirty="0"/>
          </a:p>
          <a:p>
            <a:pPr marL="177800" indent="-177800">
              <a:lnSpc>
                <a:spcPct val="106000"/>
              </a:lnSpc>
              <a:buSzPct val="100000"/>
              <a:buChar char="•"/>
            </a:pPr>
            <a:r>
              <a:rPr lang="en-US" sz="1200" b="1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ZGJERO — @Override + super.metoda(): merr të prindit DHE shto tënden. (sot)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914400" y="6053328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i="1" dirty="0">
                <a:solidFill>
                  <a:srgbClr val="AE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 super këtu, prezantohu() do të thërriste VETVETEN — cikël i pafund! super e drejton thirrjen NJË KAT LART.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4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VETJA DHE PRINDI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kundrejt super — harta e plotë</a:t>
            </a:r>
            <a:endParaRPr lang="en-US" sz="27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737360"/>
          <a:ext cx="11018520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4434840"/>
                <a:gridCol w="44348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this — VETJA</a:t>
                      </a:r>
                      <a:endParaRPr lang="en-US" sz="1500" dirty="0"/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super — PRINDI</a:t>
                      </a:r>
                      <a:endParaRPr lang="en-US" sz="1500" dirty="0"/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3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6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Fusha / metoda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31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this.emri — fusha ime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31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this.metoda() — metoda ime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31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super.metoda() — versioni i prindit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31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(edhe pas @Override)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6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Konstruktori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31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this(...) — konstruktori tjetër i vetes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31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(kuriozitet — s'e përdorim ende)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31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super(...) — konstruktori i prindit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31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GJITHMONË rreshti i parë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94360" y="4617720"/>
            <a:ext cx="11018520" cy="1188720"/>
          </a:xfrm>
          <a:prstGeom prst="roundRect">
            <a:avLst>
              <a:gd name="adj" fmla="val 6923"/>
            </a:avLst>
          </a:prstGeom>
          <a:solidFill>
            <a:srgbClr val="F2F5F9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5029200"/>
            <a:ext cx="384048" cy="38404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371600" y="47548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Simetria për t'u mbajtur mend:  </a:t>
            </a:r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tregon veten, super tregon një kat lart. Të dyja fjalët punojnë njësoj — vetëm drejtimi ndryshon.</a:t>
            </a:r>
            <a:endParaRPr lang="en-US" sz="1450" dirty="0"/>
          </a:p>
        </p:txBody>
      </p:sp>
      <p:sp>
        <p:nvSpPr>
          <p:cNvPr id="10" name="Text 5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Leksioni 7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KUNDREJT ARRAYLIST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 kontejnerë, një pyetje: cilin?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94360" y="1737360"/>
            <a:ext cx="5349240" cy="3017520"/>
          </a:xfrm>
          <a:prstGeom prst="roundRect">
            <a:avLst>
              <a:gd name="adj" fmla="val 3030"/>
            </a:avLst>
          </a:prstGeom>
          <a:solidFill>
            <a:srgbClr val="F2F5F9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807208" y="2011680"/>
            <a:ext cx="914400" cy="914400"/>
          </a:xfrm>
          <a:prstGeom prst="ellipse">
            <a:avLst/>
          </a:prstGeom>
          <a:solidFill>
            <a:srgbClr val="142033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8376" y="2212848"/>
            <a:ext cx="512064" cy="51206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68680" y="306324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int[] — VARGU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868680" y="347472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kutia me madhësi fikse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005840" y="388620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njohim që nga leksioni 3: i shpejtë, i thjeshtë, por madhësia caktohet NJË herë dhe s'ndryshon kurrë.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217920" y="1737360"/>
            <a:ext cx="5349240" cy="3017520"/>
          </a:xfrm>
          <a:prstGeom prst="roundRect">
            <a:avLst>
              <a:gd name="adj" fmla="val 3030"/>
            </a:avLst>
          </a:prstGeom>
          <a:solidFill>
            <a:srgbClr val="F2F5F9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8430768" y="2011680"/>
            <a:ext cx="914400" cy="914400"/>
          </a:xfrm>
          <a:prstGeom prst="ellipse">
            <a:avLst/>
          </a:prstGeom>
          <a:solidFill>
            <a:srgbClr val="E8730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36" y="2212848"/>
            <a:ext cx="512064" cy="51206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492240" y="306324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ArrayList — LISTA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6492240" y="347472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kutia që rritet vetë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6629400" y="388620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njohim nga leksionet 3–4: rritet e tkurret me add/remove, plot metoda ndihmëse — por vetëm për objekte.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594360" y="5074920"/>
            <a:ext cx="11018520" cy="914400"/>
          </a:xfrm>
          <a:prstGeom prst="roundRect">
            <a:avLst>
              <a:gd name="adj" fmla="val 9000"/>
            </a:avLst>
          </a:prstGeom>
          <a:solidFill>
            <a:srgbClr val="FBEDDD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5349240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371600" y="51663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Plani: 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të njëjtën detyrë (lista e notave) e zgjidhim DY herë — një herë me varg, një herë me ArrayList — dhe i vëmë përballë.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Leksioni 7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PROGRAMI I PLOTË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Zgjidhja 1: me varg (int[])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94360" y="1645920"/>
            <a:ext cx="6675120" cy="4105656"/>
          </a:xfrm>
          <a:prstGeom prst="roundRect">
            <a:avLst>
              <a:gd name="adj" fmla="val 2004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95528" y="182880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996696" y="182880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197864" y="182880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850392" y="2103120"/>
            <a:ext cx="6217920" cy="3557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args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notat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madhesi FIKSE: 3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notat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notat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notat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notat[3] = 9;  // BUM! ArrayIndexOutOfBounds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notat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++)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"Nota "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": "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notat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]);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635240" y="1645920"/>
            <a:ext cx="3977640" cy="1783080"/>
          </a:xfrm>
          <a:prstGeom prst="roundRect">
            <a:avLst>
              <a:gd name="adj" fmla="val 4615"/>
            </a:avLst>
          </a:prstGeom>
          <a:solidFill>
            <a:srgbClr val="E9F4EC"/>
          </a:solidFill>
          <a:ln w="12700">
            <a:solidFill>
              <a:srgbClr val="BFE0C8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828800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293608" y="1828800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7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Dalja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7909560" y="2249424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16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 0: 8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16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 1: 10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16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 2: 7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7635240" y="3657600"/>
            <a:ext cx="3977640" cy="2148840"/>
          </a:xfrm>
          <a:prstGeom prst="roundRect">
            <a:avLst>
              <a:gd name="adj" fmla="val 4255"/>
            </a:avLst>
          </a:prstGeom>
          <a:solidFill>
            <a:srgbClr val="F2F5F9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7891272" y="382219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Vëreni te vargu: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7891272" y="4206240"/>
            <a:ext cx="3611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Madhësia (3) u caktua te new — përfundimtare.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e 4-t? S'ka vend — duhet varg i RI dhe kopjim.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Shkrimi/leximi: notat[i] — direkt me kllapa.</a:t>
            </a:r>
            <a:endParaRPr lang="en-US" sz="1200" dirty="0"/>
          </a:p>
          <a:p>
            <a:pPr marL="177800" indent="-177800">
              <a:lnSpc>
                <a:spcPct val="105000"/>
              </a:lnSpc>
              <a:buSzPct val="100000"/>
              <a:buChar char="•"/>
            </a:pPr>
            <a:r>
              <a:rPr lang="en-US" sz="12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Gjatësia: notat.length — PA kllapa ().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Leksioni 7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PROGRAMI I PLOTË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Zgjidhja 2: me ArrayList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94360" y="1600200"/>
            <a:ext cx="6675120" cy="4626864"/>
          </a:xfrm>
          <a:prstGeom prst="roundRect">
            <a:avLst>
              <a:gd name="adj" fmla="val 1779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95528" y="178308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996696" y="178308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197864" y="178308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850392" y="2057400"/>
            <a:ext cx="6217920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util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ArrayList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args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ArrayList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Integer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notat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ArrayList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&lt;&gt;();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notat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notat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notat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notat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vend i ri? ASPAK problem!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notat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remove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8-a iken, te tjerat rreshqasin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notat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++)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"Nota "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": "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notat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635240" y="1600200"/>
            <a:ext cx="3977640" cy="1783080"/>
          </a:xfrm>
          <a:prstGeom prst="roundRect">
            <a:avLst>
              <a:gd name="adj" fmla="val 4615"/>
            </a:avLst>
          </a:prstGeom>
          <a:solidFill>
            <a:srgbClr val="E9F4EC"/>
          </a:solidFill>
          <a:ln w="12700">
            <a:solidFill>
              <a:srgbClr val="BFE0C8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783080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293608" y="1783080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7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Dalja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7909560" y="2203704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16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 0: 10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16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 1: 7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16B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 2: 9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7635240" y="3611880"/>
            <a:ext cx="3977640" cy="2194560"/>
          </a:xfrm>
          <a:prstGeom prst="roundRect">
            <a:avLst>
              <a:gd name="adj" fmla="val 4167"/>
            </a:avLst>
          </a:prstGeom>
          <a:solidFill>
            <a:srgbClr val="F2F5F9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7891272" y="377647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Vëreni te lista: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7891272" y="4160520"/>
            <a:ext cx="3611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S'deklarohet madhësi — nis bosh, rritet me add.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Elementi i 4-t hyri pa asnjë ceremony.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Leximi: get(i), gjatësia: size() — ME kllapa.</a:t>
            </a:r>
            <a:endParaRPr lang="en-US" sz="1200" dirty="0"/>
          </a:p>
          <a:p>
            <a:pPr marL="177800" indent="-177800">
              <a:lnSpc>
                <a:spcPct val="105000"/>
              </a:lnSpc>
              <a:buSzPct val="100000"/>
              <a:buChar char="•"/>
            </a:pPr>
            <a:r>
              <a:rPr lang="en-US" sz="12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&lt;Integer&gt;, jo &lt;int&gt; — lista mban vetëm objekte.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Leksioni 7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VS ARRAYLIST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Përballja — tabela e dallimeve</a:t>
            </a:r>
            <a:endParaRPr lang="en-US" sz="27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645920"/>
          <a:ext cx="110185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206240"/>
                <a:gridCol w="443484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int[] (vargu)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ArrayList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6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Madhësia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31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fikse — caktohet te new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31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dinamike — rritet/tkurret vetë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6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Leximi / shkrimi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31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v[i]  /  v[i] = x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31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.get(i)  /  .set(i, x)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6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Gjatësia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31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.length  (pa kllapa)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31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.size()  (me kllapa)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6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Shtim / heqje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31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s'ka — varg i ri + kopjim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31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.add(x)  /  .remove(i)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6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31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primitivë DHE objekte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31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vetëm objekte (Integer, jo int)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6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Metoda ndihmëse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31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jo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31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contains, indexOf, isEmpty…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94360" y="5166360"/>
            <a:ext cx="11018520" cy="914400"/>
          </a:xfrm>
          <a:prstGeom prst="roundRect">
            <a:avLst>
              <a:gd name="adj" fmla="val 8000"/>
            </a:avLst>
          </a:prstGeom>
          <a:solidFill>
            <a:srgbClr val="FBEDDD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5440680"/>
            <a:ext cx="365760" cy="36576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371600" y="52578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Rregulli praktik: 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numër i njohur elementesh që s'ndryshon → varg. Lista që rritet, tkurret ose kërkohet shpesh → ArrayList.</a:t>
            </a:r>
            <a:endParaRPr lang="en-US" sz="1400" dirty="0"/>
          </a:p>
        </p:txBody>
      </p:sp>
      <p:sp>
        <p:nvSpPr>
          <p:cNvPr id="10" name="Text 5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Leksioni 7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5486400" cy="5486400"/>
          </a:xfrm>
          <a:prstGeom prst="ellipse">
            <a:avLst/>
          </a:prstGeom>
          <a:solidFill>
            <a:srgbClr val="E8730C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3657600"/>
            <a:ext cx="4572000" cy="4572000"/>
          </a:xfrm>
          <a:prstGeom prst="ellipse">
            <a:avLst/>
          </a:prstGeom>
          <a:solidFill>
            <a:srgbClr val="1E3050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367528" y="1371600"/>
            <a:ext cx="1463040" cy="1463040"/>
          </a:xfrm>
          <a:prstGeom prst="roundRect">
            <a:avLst>
              <a:gd name="adj" fmla="val 15625"/>
            </a:avLst>
          </a:prstGeom>
          <a:solidFill>
            <a:srgbClr val="E8730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87568" y="169164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3108960"/>
            <a:ext cx="9445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KOHA E QUIZ-it!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1371600" y="3931920"/>
            <a:ext cx="9445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pyetje · 8 minuta · punoni vetë në letër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2286000" y="4572000"/>
            <a:ext cx="7616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E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Kujtoni fantazmën: super() thirret edhe kur s'e shihni.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4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· SUPER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Pyetjet 1 dhe 2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94360" y="1691640"/>
            <a:ext cx="502920" cy="502920"/>
          </a:xfrm>
          <a:prstGeom prst="ellipse">
            <a:avLst/>
          </a:prstGeom>
          <a:solidFill>
            <a:srgbClr val="E8730C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234440" y="175564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Çfarë ndodh me këtë kod?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94360" y="2286000"/>
            <a:ext cx="5394960" cy="2802636"/>
          </a:xfrm>
          <a:prstGeom prst="roundRect">
            <a:avLst>
              <a:gd name="adj" fmla="val 2936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95528" y="246888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1" name="Shape 8"/>
          <p:cNvSpPr/>
          <p:nvPr/>
        </p:nvSpPr>
        <p:spPr>
          <a:xfrm>
            <a:off x="996696" y="246888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2" name="Shape 9"/>
          <p:cNvSpPr/>
          <p:nvPr/>
        </p:nvSpPr>
        <p:spPr>
          <a:xfrm>
            <a:off x="1197864" y="246888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3" name="Text 10"/>
          <p:cNvSpPr/>
          <p:nvPr/>
        </p:nvSpPr>
        <p:spPr>
          <a:xfrm>
            <a:off x="850392" y="2743200"/>
            <a:ext cx="4937760" cy="22539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emri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Studenti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extends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Studenti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"gati"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685800" y="523036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</a:t>
            </a:r>
            <a:pPr indent="0" marL="0">
              <a:buNone/>
            </a:pPr>
            <a:r>
              <a:rPr lang="en-US" sz="1250" dirty="0">
                <a:solidFill>
                  <a:srgbClr val="26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printon gati    </a:t>
            </a:r>
            <a:pPr indent="0" marL="0">
              <a:buNone/>
            </a:pPr>
            <a:r>
              <a:rPr lang="en-US" sz="125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</a:t>
            </a:r>
            <a:pPr indent="0" marL="0">
              <a:buNone/>
            </a:pPr>
            <a:r>
              <a:rPr lang="en-US" sz="1250" dirty="0">
                <a:solidFill>
                  <a:srgbClr val="26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gabim kompilimi    </a:t>
            </a:r>
            <a:pPr indent="0" marL="0">
              <a:buNone/>
            </a:pPr>
            <a:r>
              <a:rPr lang="en-US" sz="125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</a:t>
            </a:r>
            <a:pPr indent="0" marL="0">
              <a:buNone/>
            </a:pPr>
            <a:r>
              <a:rPr lang="en-US" sz="1250" dirty="0">
                <a:solidFill>
                  <a:srgbClr val="26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NullPointerException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400800" y="1691640"/>
            <a:ext cx="502920" cy="502920"/>
          </a:xfrm>
          <a:prstGeom prst="ellipse">
            <a:avLst/>
          </a:prstGeom>
          <a:solidFill>
            <a:srgbClr val="E8730C"/>
          </a:solidFill>
          <a:ln/>
        </p:spPr>
      </p:sp>
      <p:sp>
        <p:nvSpPr>
          <p:cNvPr id="16" name="Text 13"/>
          <p:cNvSpPr/>
          <p:nvPr/>
        </p:nvSpPr>
        <p:spPr>
          <a:xfrm>
            <a:off x="640080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7040880" y="175564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Në ç'rend printohen rreshtat?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400800" y="2286000"/>
            <a:ext cx="5166360" cy="3323844"/>
          </a:xfrm>
          <a:prstGeom prst="roundRect">
            <a:avLst>
              <a:gd name="adj" fmla="val 2476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601968" y="246888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0" name="Shape 17"/>
          <p:cNvSpPr/>
          <p:nvPr/>
        </p:nvSpPr>
        <p:spPr>
          <a:xfrm>
            <a:off x="6803136" y="246888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1" name="Shape 18"/>
          <p:cNvSpPr/>
          <p:nvPr/>
        </p:nvSpPr>
        <p:spPr>
          <a:xfrm>
            <a:off x="7004304" y="246888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2" name="Text 19"/>
          <p:cNvSpPr/>
          <p:nvPr/>
        </p:nvSpPr>
        <p:spPr>
          <a:xfrm>
            <a:off x="6656832" y="2743200"/>
            <a:ext cx="4709160" cy="2775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fol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"A"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Studenti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extends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@Override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fol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fol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"B"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Studenti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().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fol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492240" y="574243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</a:t>
            </a:r>
            <a:pPr indent="0" marL="0">
              <a:buNone/>
            </a:pPr>
            <a:r>
              <a:rPr lang="en-US" sz="1400" dirty="0">
                <a:solidFill>
                  <a:srgbClr val="26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B      </a:t>
            </a:r>
            <a:pPr indent="0" marL="0">
              <a:buNone/>
            </a:pPr>
            <a:r>
              <a:rPr lang="en-US" sz="1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</a:t>
            </a:r>
            <a:pPr indent="0" marL="0">
              <a:buNone/>
            </a:pPr>
            <a:r>
              <a:rPr lang="en-US" sz="1400" dirty="0">
                <a:solidFill>
                  <a:srgbClr val="26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A      </a:t>
            </a:r>
            <a:pPr indent="0" marL="0">
              <a:buNone/>
            </a:pPr>
            <a:r>
              <a:rPr lang="en-US" sz="1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</a:t>
            </a:r>
            <a:pPr indent="0" marL="0">
              <a:buNone/>
            </a:pPr>
            <a:r>
              <a:rPr lang="en-US" sz="1400" dirty="0">
                <a:solidFill>
                  <a:srgbClr val="26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vetem B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Leksioni 7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· ARRAY VS ARRAYLIST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Pyetjet 3 dhe 4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94360" y="1691640"/>
            <a:ext cx="502920" cy="502920"/>
          </a:xfrm>
          <a:prstGeom prst="ellipse">
            <a:avLst/>
          </a:prstGeom>
          <a:solidFill>
            <a:srgbClr val="E8730C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234440" y="175564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Cili rresht NUK kompilon?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94360" y="2286000"/>
            <a:ext cx="5394960" cy="2020824"/>
          </a:xfrm>
          <a:prstGeom prst="roundRect">
            <a:avLst>
              <a:gd name="adj" fmla="val 4072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95528" y="246888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1" name="Shape 8"/>
          <p:cNvSpPr/>
          <p:nvPr/>
        </p:nvSpPr>
        <p:spPr>
          <a:xfrm>
            <a:off x="996696" y="246888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2" name="Shape 9"/>
          <p:cNvSpPr/>
          <p:nvPr/>
        </p:nvSpPr>
        <p:spPr>
          <a:xfrm>
            <a:off x="1197864" y="246888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3" name="Text 10"/>
          <p:cNvSpPr/>
          <p:nvPr/>
        </p:nvSpPr>
        <p:spPr>
          <a:xfrm>
            <a:off x="850392" y="2743200"/>
            <a:ext cx="493776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ArrayList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Integer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ArrayList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&lt;&gt;();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());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());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685800" y="443484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</a:t>
            </a:r>
            <a:pPr indent="0" marL="0">
              <a:buNone/>
            </a:pPr>
            <a:r>
              <a:rPr lang="en-US" sz="1400" dirty="0">
                <a:solidFill>
                  <a:srgbClr val="26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rreshti A      </a:t>
            </a:r>
            <a:pPr indent="0" marL="0">
              <a:buNone/>
            </a:pPr>
            <a:r>
              <a:rPr lang="en-US" sz="1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</a:t>
            </a:r>
            <a:pPr indent="0" marL="0">
              <a:buNone/>
            </a:pPr>
            <a:r>
              <a:rPr lang="en-US" sz="1400" dirty="0">
                <a:solidFill>
                  <a:srgbClr val="26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rreshti B      </a:t>
            </a:r>
            <a:pPr indent="0" marL="0">
              <a:buNone/>
            </a:pPr>
            <a:r>
              <a:rPr lang="en-US" sz="1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</a:t>
            </a:r>
            <a:pPr indent="0" marL="0">
              <a:buNone/>
            </a:pPr>
            <a:r>
              <a:rPr lang="en-US" sz="1400" dirty="0">
                <a:solidFill>
                  <a:srgbClr val="26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rreshti C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400800" y="1691640"/>
            <a:ext cx="502920" cy="502920"/>
          </a:xfrm>
          <a:prstGeom prst="ellipse">
            <a:avLst/>
          </a:prstGeom>
          <a:solidFill>
            <a:srgbClr val="E8730C"/>
          </a:solidFill>
          <a:ln/>
        </p:spPr>
      </p:sp>
      <p:sp>
        <p:nvSpPr>
          <p:cNvPr id="16" name="Text 13"/>
          <p:cNvSpPr/>
          <p:nvPr/>
        </p:nvSpPr>
        <p:spPr>
          <a:xfrm>
            <a:off x="640080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7040880" y="175564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Çfarë printon rreshti i fundit?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400800" y="2286000"/>
            <a:ext cx="5166360" cy="2542032"/>
          </a:xfrm>
          <a:prstGeom prst="roundRect">
            <a:avLst>
              <a:gd name="adj" fmla="val 3237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601968" y="246888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0" name="Shape 17"/>
          <p:cNvSpPr/>
          <p:nvPr/>
        </p:nvSpPr>
        <p:spPr>
          <a:xfrm>
            <a:off x="6803136" y="246888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1" name="Shape 18"/>
          <p:cNvSpPr/>
          <p:nvPr/>
        </p:nvSpPr>
        <p:spPr>
          <a:xfrm>
            <a:off x="7004304" y="246888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2" name="Text 19"/>
          <p:cNvSpPr/>
          <p:nvPr/>
        </p:nvSpPr>
        <p:spPr>
          <a:xfrm>
            <a:off x="6656832" y="2743200"/>
            <a:ext cx="4709160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ArrayList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Integer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ArrayList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&lt;&gt;();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remove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D9A0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3C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6492240" y="50749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</a:t>
            </a:r>
            <a:pPr indent="0" marL="0">
              <a:buNone/>
            </a:pPr>
            <a:r>
              <a:rPr lang="en-US" sz="1400" dirty="0">
                <a:solidFill>
                  <a:srgbClr val="26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     </a:t>
            </a:r>
            <a:pPr indent="0" marL="0">
              <a:buNone/>
            </a:pPr>
            <a:r>
              <a:rPr lang="en-US" sz="1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</a:t>
            </a:r>
            <a:pPr indent="0" marL="0">
              <a:buNone/>
            </a:pPr>
            <a:r>
              <a:rPr lang="en-US" sz="1400" dirty="0">
                <a:solidFill>
                  <a:srgbClr val="26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    </a:t>
            </a:r>
            <a:pPr indent="0" marL="0">
              <a:buNone/>
            </a:pPr>
            <a:r>
              <a:rPr lang="en-US" sz="1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</a:t>
            </a:r>
            <a:pPr indent="0" marL="0">
              <a:buNone/>
            </a:pPr>
            <a:r>
              <a:rPr lang="en-US" sz="1400" dirty="0">
                <a:solidFill>
                  <a:srgbClr val="26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Leksioni 7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· ZGJIDHJA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Përgjigjet dhe shpjegimet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94360" y="1645920"/>
            <a:ext cx="11018520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1856232"/>
            <a:ext cx="512064" cy="512064"/>
          </a:xfrm>
          <a:prstGeom prst="ellipse">
            <a:avLst/>
          </a:prstGeom>
          <a:solidFill>
            <a:srgbClr val="2FA84F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18562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645920" y="1810512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b)  gabim kompilimi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4937760" y="1810512"/>
            <a:ext cx="6492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super() i padukshëm kërkon Person() bosh — që u zhduk kur Person shkroi konstruktorin e vet.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94360" y="2724912"/>
            <a:ext cx="11018520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68680" y="2935224"/>
            <a:ext cx="512064" cy="512064"/>
          </a:xfrm>
          <a:prstGeom prst="ellipse">
            <a:avLst/>
          </a:prstGeom>
          <a:solidFill>
            <a:srgbClr val="2FA84F"/>
          </a:solidFill>
          <a:ln/>
        </p:spPr>
      </p:sp>
      <p:sp>
        <p:nvSpPr>
          <p:cNvPr id="13" name="Text 10"/>
          <p:cNvSpPr/>
          <p:nvPr/>
        </p:nvSpPr>
        <p:spPr>
          <a:xfrm>
            <a:off x="868680" y="29352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1645920" y="2889504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a)  A B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4937760" y="2889504"/>
            <a:ext cx="6492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super.fol() ekzekuton të parin versionin e prindit (A), pastaj vazhdon rreshti i fëmijës (B).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94360" y="3803904"/>
            <a:ext cx="11018520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68680" y="4014216"/>
            <a:ext cx="512064" cy="512064"/>
          </a:xfrm>
          <a:prstGeom prst="ellipse">
            <a:avLst/>
          </a:prstGeom>
          <a:solidFill>
            <a:srgbClr val="2FA84F"/>
          </a:solidFill>
          <a:ln/>
        </p:spPr>
      </p:sp>
      <p:sp>
        <p:nvSpPr>
          <p:cNvPr id="18" name="Text 15"/>
          <p:cNvSpPr/>
          <p:nvPr/>
        </p:nvSpPr>
        <p:spPr>
          <a:xfrm>
            <a:off x="868680" y="40142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1645920" y="3968496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c)  rreshti C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4937760" y="3968496"/>
            <a:ext cx="6492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Vargu ka .length pa kllapa; .size() është vetëm i ArrayList — v.size() s'kompilon.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594360" y="4882896"/>
            <a:ext cx="11018520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868680" y="5093208"/>
            <a:ext cx="512064" cy="512064"/>
          </a:xfrm>
          <a:prstGeom prst="ellipse">
            <a:avLst/>
          </a:prstGeom>
          <a:solidFill>
            <a:srgbClr val="2FA84F"/>
          </a:solidFill>
          <a:ln/>
        </p:spPr>
      </p:sp>
      <p:sp>
        <p:nvSpPr>
          <p:cNvPr id="23" name="Text 20"/>
          <p:cNvSpPr/>
          <p:nvPr/>
        </p:nvSpPr>
        <p:spPr>
          <a:xfrm>
            <a:off x="868680" y="50932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1645920" y="5047488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b)  2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4937760" y="5047488"/>
            <a:ext cx="6492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remove(1) heq 8-ën → lista [5, 2] → indekset rrëshqasin → get(1) tani është 2.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594360" y="6035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saktë: super-yje! · 2 saktë: rishikoni slajdet 6 dhe 13 · 0–1: ejani në konsultime.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Leksioni 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840480"/>
            <a:ext cx="4572000" cy="4572000"/>
          </a:xfrm>
          <a:prstGeom prst="ellipse">
            <a:avLst/>
          </a:prstGeom>
          <a:solidFill>
            <a:srgbClr val="E8730C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54864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694944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0876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PËRMBLEDHJE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508760" y="795528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Çfarë mësuam sot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685800" y="1783080"/>
            <a:ext cx="3456432" cy="1737360"/>
          </a:xfrm>
          <a:prstGeom prst="roundRect">
            <a:avLst>
              <a:gd name="adj" fmla="val 5263"/>
            </a:avLst>
          </a:prstGeom>
          <a:solidFill>
            <a:srgbClr val="1E305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60120" y="2075688"/>
            <a:ext cx="640080" cy="640080"/>
          </a:xfrm>
          <a:prstGeom prst="ellipse">
            <a:avLst/>
          </a:prstGeom>
          <a:solidFill>
            <a:srgbClr val="E8730C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" y="2221992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737360" y="20574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super() i padukshëm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960120" y="2807208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E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Thirret gjithmonë — edhe pa e shkruar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389120" y="1783080"/>
            <a:ext cx="3456432" cy="1737360"/>
          </a:xfrm>
          <a:prstGeom prst="roundRect">
            <a:avLst>
              <a:gd name="adj" fmla="val 5263"/>
            </a:avLst>
          </a:prstGeom>
          <a:solidFill>
            <a:srgbClr val="1E305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663440" y="2075688"/>
            <a:ext cx="640080" cy="640080"/>
          </a:xfrm>
          <a:prstGeom prst="ellipse">
            <a:avLst/>
          </a:prstGeom>
          <a:solidFill>
            <a:srgbClr val="E8730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9744" y="2221992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440680" y="20574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Gabimi i famshëm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4663440" y="2807208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E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"found: no arguments" = fantazma dështoi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8092440" y="1783080"/>
            <a:ext cx="3456432" cy="1737360"/>
          </a:xfrm>
          <a:prstGeom prst="roundRect">
            <a:avLst>
              <a:gd name="adj" fmla="val 5263"/>
            </a:avLst>
          </a:prstGeom>
          <a:solidFill>
            <a:srgbClr val="1E305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366760" y="2075688"/>
            <a:ext cx="640080" cy="640080"/>
          </a:xfrm>
          <a:prstGeom prst="ellipse">
            <a:avLst/>
          </a:prstGeom>
          <a:solidFill>
            <a:srgbClr val="E8730C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3064" y="2221992"/>
            <a:ext cx="347472" cy="34747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144000" y="20574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super(...)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8366760" y="2807208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E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Themeli para katit — rreshti i parë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685800" y="3749040"/>
            <a:ext cx="3456432" cy="1737360"/>
          </a:xfrm>
          <a:prstGeom prst="roundRect">
            <a:avLst>
              <a:gd name="adj" fmla="val 5263"/>
            </a:avLst>
          </a:prstGeom>
          <a:solidFill>
            <a:srgbClr val="1E305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960120" y="4041648"/>
            <a:ext cx="640080" cy="640080"/>
          </a:xfrm>
          <a:prstGeom prst="ellipse">
            <a:avLst/>
          </a:prstGeom>
          <a:solidFill>
            <a:srgbClr val="E8730C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6424" y="4187952"/>
            <a:ext cx="347472" cy="34747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737360" y="40233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super.metoda()</a:t>
            </a:r>
            <a:endParaRPr lang="en-US" sz="1350" dirty="0"/>
          </a:p>
        </p:txBody>
      </p:sp>
      <p:sp>
        <p:nvSpPr>
          <p:cNvPr id="26" name="Text 19"/>
          <p:cNvSpPr/>
          <p:nvPr/>
        </p:nvSpPr>
        <p:spPr>
          <a:xfrm>
            <a:off x="960120" y="4773168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E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Zgjero: e prindit + e jotja</a:t>
            </a:r>
            <a:endParaRPr lang="en-US" sz="1150" dirty="0"/>
          </a:p>
        </p:txBody>
      </p:sp>
      <p:sp>
        <p:nvSpPr>
          <p:cNvPr id="27" name="Shape 20"/>
          <p:cNvSpPr/>
          <p:nvPr/>
        </p:nvSpPr>
        <p:spPr>
          <a:xfrm>
            <a:off x="4389120" y="3749040"/>
            <a:ext cx="3456432" cy="1737360"/>
          </a:xfrm>
          <a:prstGeom prst="roundRect">
            <a:avLst>
              <a:gd name="adj" fmla="val 5263"/>
            </a:avLst>
          </a:prstGeom>
          <a:solidFill>
            <a:srgbClr val="1E305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4663440" y="4041648"/>
            <a:ext cx="640080" cy="640080"/>
          </a:xfrm>
          <a:prstGeom prst="ellipse">
            <a:avLst/>
          </a:prstGeom>
          <a:solidFill>
            <a:srgbClr val="E8730C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9744" y="4187952"/>
            <a:ext cx="347472" cy="347472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5440680" y="40233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vs super</a:t>
            </a:r>
            <a:endParaRPr lang="en-US" sz="1350" dirty="0"/>
          </a:p>
        </p:txBody>
      </p:sp>
      <p:sp>
        <p:nvSpPr>
          <p:cNvPr id="31" name="Text 23"/>
          <p:cNvSpPr/>
          <p:nvPr/>
        </p:nvSpPr>
        <p:spPr>
          <a:xfrm>
            <a:off x="4663440" y="4773168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E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Vetja kundrejt një kati më lart</a:t>
            </a:r>
            <a:endParaRPr lang="en-US" sz="1150" dirty="0"/>
          </a:p>
        </p:txBody>
      </p:sp>
      <p:sp>
        <p:nvSpPr>
          <p:cNvPr id="32" name="Shape 24"/>
          <p:cNvSpPr/>
          <p:nvPr/>
        </p:nvSpPr>
        <p:spPr>
          <a:xfrm>
            <a:off x="8092440" y="3749040"/>
            <a:ext cx="3456432" cy="1737360"/>
          </a:xfrm>
          <a:prstGeom prst="roundRect">
            <a:avLst>
              <a:gd name="adj" fmla="val 5263"/>
            </a:avLst>
          </a:prstGeom>
          <a:solidFill>
            <a:srgbClr val="1E305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3" name="Shape 25"/>
          <p:cNvSpPr/>
          <p:nvPr/>
        </p:nvSpPr>
        <p:spPr>
          <a:xfrm>
            <a:off x="8366760" y="4041648"/>
            <a:ext cx="640080" cy="640080"/>
          </a:xfrm>
          <a:prstGeom prst="ellipse">
            <a:avLst/>
          </a:prstGeom>
          <a:solidFill>
            <a:srgbClr val="E8730C"/>
          </a:solidFill>
          <a:ln/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13064" y="4187952"/>
            <a:ext cx="347472" cy="347472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9144000" y="40233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vs ArrayList</a:t>
            </a:r>
            <a:endParaRPr lang="en-US" sz="1350" dirty="0"/>
          </a:p>
        </p:txBody>
      </p:sp>
      <p:sp>
        <p:nvSpPr>
          <p:cNvPr id="36" name="Text 27"/>
          <p:cNvSpPr/>
          <p:nvPr/>
        </p:nvSpPr>
        <p:spPr>
          <a:xfrm>
            <a:off x="8366760" y="4773168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E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Fiks &amp; i shpejtë vs dinamik &amp; i pasur</a:t>
            </a:r>
            <a:endParaRPr lang="en-US" sz="1150" dirty="0"/>
          </a:p>
        </p:txBody>
      </p:sp>
      <p:sp>
        <p:nvSpPr>
          <p:cNvPr id="37" name="Text 28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4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PRAKTIKA E JAVËS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Detyra për shtëpi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94360" y="1536192"/>
            <a:ext cx="11018520" cy="841248"/>
          </a:xfrm>
          <a:prstGeom prst="roundRect">
            <a:avLst>
              <a:gd name="adj" fmla="val 9783"/>
            </a:avLst>
          </a:prstGeom>
          <a:solidFill>
            <a:srgbClr val="F8FAFC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1700784"/>
            <a:ext cx="512064" cy="512064"/>
          </a:xfrm>
          <a:prstGeom prst="ellipse">
            <a:avLst/>
          </a:prstGeom>
          <a:solidFill>
            <a:srgbClr val="E8730C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17007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600200" y="1645920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 i ndërtimit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5303520" y="1645920"/>
            <a:ext cx="6126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Klasa Punonjesi extends Person me super(emri) dhe println gjurmues në të dy konstruktorët — provo rendin.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94360" y="2496312"/>
            <a:ext cx="11018520" cy="841248"/>
          </a:xfrm>
          <a:prstGeom prst="roundRect">
            <a:avLst>
              <a:gd name="adj" fmla="val 9783"/>
            </a:avLst>
          </a:prstGeom>
          <a:solidFill>
            <a:srgbClr val="F2F5F9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68680" y="2660904"/>
            <a:ext cx="512064" cy="512064"/>
          </a:xfrm>
          <a:prstGeom prst="ellipse">
            <a:avLst/>
          </a:prstGeom>
          <a:solidFill>
            <a:srgbClr val="E8730C"/>
          </a:solidFill>
          <a:ln/>
        </p:spPr>
      </p:sp>
      <p:sp>
        <p:nvSpPr>
          <p:cNvPr id="13" name="Text 10"/>
          <p:cNvSpPr/>
          <p:nvPr/>
        </p:nvSpPr>
        <p:spPr>
          <a:xfrm>
            <a:off x="868680" y="266090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600200" y="2606040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Zgjero me super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5303520" y="2606040"/>
            <a:ext cx="6126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Pedagogu, mbishkruaj prezantohu() që thërret super.prezantohu() dhe shton lëndën e tij.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94360" y="3456432"/>
            <a:ext cx="11018520" cy="841248"/>
          </a:xfrm>
          <a:prstGeom prst="roundRect">
            <a:avLst>
              <a:gd name="adj" fmla="val 9783"/>
            </a:avLst>
          </a:prstGeom>
          <a:solidFill>
            <a:srgbClr val="F8FAFC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68680" y="3621024"/>
            <a:ext cx="512064" cy="512064"/>
          </a:xfrm>
          <a:prstGeom prst="ellipse">
            <a:avLst/>
          </a:prstGeom>
          <a:solidFill>
            <a:srgbClr val="E8730C"/>
          </a:solidFill>
          <a:ln/>
        </p:spPr>
      </p:sp>
      <p:sp>
        <p:nvSpPr>
          <p:cNvPr id="18" name="Text 15"/>
          <p:cNvSpPr/>
          <p:nvPr/>
        </p:nvSpPr>
        <p:spPr>
          <a:xfrm>
            <a:off x="868680" y="36210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1600200" y="3566160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njëjti program, dy herë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5303520" y="3566160"/>
            <a:ext cx="6126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e 4 çmimeve: një version me double[] dhe një me ArrayList&lt;Double&gt; — krahaso rreshtat.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94360" y="4416552"/>
            <a:ext cx="11018520" cy="841248"/>
          </a:xfrm>
          <a:prstGeom prst="roundRect">
            <a:avLst>
              <a:gd name="adj" fmla="val 9783"/>
            </a:avLst>
          </a:prstGeom>
          <a:solidFill>
            <a:srgbClr val="F2F5F9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68680" y="4581144"/>
            <a:ext cx="512064" cy="512064"/>
          </a:xfrm>
          <a:prstGeom prst="ellipse">
            <a:avLst/>
          </a:prstGeom>
          <a:solidFill>
            <a:srgbClr val="E8730C"/>
          </a:solidFill>
          <a:ln/>
        </p:spPr>
      </p:sp>
      <p:sp>
        <p:nvSpPr>
          <p:cNvPr id="23" name="Text 20"/>
          <p:cNvSpPr/>
          <p:nvPr/>
        </p:nvSpPr>
        <p:spPr>
          <a:xfrm>
            <a:off x="868680" y="45811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1600200" y="4526280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Sfidë: lista e blerjeve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5303520" y="4526280"/>
            <a:ext cx="6126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Scanner: add produkte derisa "fund", pastaj hiq një me indeks nga përdoruesi dhe printo listën.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594360" y="5596128"/>
            <a:ext cx="11018520" cy="548640"/>
          </a:xfrm>
          <a:prstGeom prst="roundRect">
            <a:avLst>
              <a:gd name="adj" fmla="val 13333"/>
            </a:avLst>
          </a:prstGeom>
          <a:solidFill>
            <a:srgbClr val="142033"/>
          </a:solidFill>
          <a:ln/>
        </p:spPr>
      </p:sp>
      <p:sp>
        <p:nvSpPr>
          <p:cNvPr id="27" name="Text 24"/>
          <p:cNvSpPr/>
          <p:nvPr/>
        </p:nvSpPr>
        <p:spPr>
          <a:xfrm>
            <a:off x="914400" y="559612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tjetër: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polimorfizmi — pse Person[] e di gjithmonë kë të thërrasë.</a:t>
            </a:r>
            <a:endParaRPr lang="en-US" sz="1350" dirty="0"/>
          </a:p>
        </p:txBody>
      </p:sp>
      <p:sp>
        <p:nvSpPr>
          <p:cNvPr id="28" name="Text 25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Leksioni 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— Leksioni 7: super dhe Array vs ArrayList</dc:title>
  <dc:subject>PptxGenJS Presentation</dc:subject>
  <dc:creator>Kreni</dc:creator>
  <cp:lastModifiedBy>Kreni</cp:lastModifiedBy>
  <cp:revision>1</cp:revision>
  <dcterms:created xsi:type="dcterms:W3CDTF">2026-07-29T08:17:18Z</dcterms:created>
  <dcterms:modified xsi:type="dcterms:W3CDTF">2026-07-29T08:17:18Z</dcterms:modified>
</cp:coreProperties>
</file>