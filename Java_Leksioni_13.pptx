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Deri sot përdorëm widget-e gati (butona, fusha). Sot VIZATOJMË vetë — forma, ngjyra, skena — dhe lidhim vizatimin me miun që përdoruesi të krijojë. SHËNIM I RËNDËSISHËM: këtë herë vizatimet në slajde JANË renderim REAL. Grafika offscreen punon headless, prandaj çdo formë u vizatua vërtet nga kodi dhe u ruajt si figurë. Njeriu i borës lart është dalje e vërtetë. 70 minuta.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Gjysma e parë: vizatimi statik (format, koordinatat, një skenë). Gjysma e dytë: ndërveprimi me miun që e bën vizatimin të gjallë, deri te një aplikacion i vërtetë vizatimi. Çdo figurë e treguar është renderim real i kodit.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Koncepti kyç: krijojmë klasën tonë që zgjeron JPanel dhe mbishkruajmë paintComponent. 'g' (Graphics) është furça — çdo vizatim bëhet me metodat e saj. Ashtu si actionPerformed (L11), paintComponent thirret NGA Java, jo nga ne. super.paintComponent(g) pastron më parë — pa të, mbeten gjurmë të vjetra.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Figura djathtas është renderim REAL i këtij kodi. Katër numrat: x,y të këndit lart-majtas + gjerësi,lartësi. Parashtesa fill-/draw- vlen për ÇDO formë: fillOval/drawOval, etj. Vëreni: koordinata (40,60) është këndi, jo qendra — pikë e rëndësishme që i ngatërron fillestarët.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Renderim real djathtas. Ideja kyçe që i habit studentët: rrethi përcaktohet nga një DREJTKËNDËSH kufizues — të njëjtët katër numra. Nëse gjerësia = lartësia, del rreth; ndryshe elips. Kjo shpjegon pse s'jepet 'qendra dhe rrezja' si në matematikë.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Renderim real. drawLine merr dy pika (fillim, fund). Vija portokalli u bë me RGB new Color(230,115,12) — ngjyra jonë e markës! Theksoni RGB: tre numra 0-255 për të kuqen, gjelbër, blu. setColor ndikon çdo vizatim PAS tij derisa ta ndryshosh sërish — si 'ngritja e një furçe tjetër'.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Diagrami është renderim real me rrjetë. Pika kritike: sistemi i ekranit ndryshon nga matematika — (0,0) lart-majtas, y rritet POSHTË. Kjo shkakton gabimin klasik ku figurat dalin përmbys. Pika e kuqe (200,120) e ilustron: 200 djathtas, 120 poshtë. Çdo njësi = 1 piksel.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Renderim REAL — pikërisht kjo dalje. Mesazhi: skenat komplekse janë thjesht shumë forma të thjeshta të renditura mirë. Rendi ka rëndësi: qielli i pari (sfondi), pastaj trupi, pastaj detajet sipër. Ai që vizatohet i FUNDIT del SIPËR. getWidth()/getHeight() marrin madhësinë e panelit. Ky është një ushtrim i shkëlqyer krijimtarie për studentët.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Ndërveprimi fillon këtu. MouseListener (me MouseAdapter për shkurtim) kap klikimet. e.getX()/getY() japin KU klikoi përdoruesi. repaint() është kritik: pa të, ruajmë x,y por ekrani s'përditësohet. Figura djathtas simulon një klikim në (200,150). Cikli: klik → ruaj koordinatat → repaint → paintComponent vizaton.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Lidhja me ArrayList: një klikim ruante vetëm një pikë (slajdi 9); tani mbajmë të GJITHA në një ArrayList&lt;Point&gt;. paintComponent kalon në cikël dhe i rivizaton — kjo është pse ruajtja e gjendjes ka rëndësi. Point është klasë gati e Java-s me fusha x,y. Figura simulon 5 klikime. Ky është themeli i çdo aplikacioni vizatimi.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MouseMotionListener kap LËVIZJEN, jo vetëm klikimin. mouseDragged thirret dhjetëra herë në sekondë ndërsa tërhiqet miu i shtypur — kështu mbledhim shumë pika afër. Duke i lidhur me drawLine, del një vijë e lirë. Figura (figure-eth) është renderim real i një sekuence pikash. Kjo është si funksionojnë programet e vizatimit si Paint.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Kapstoni bashkon GJITHÇKA: paintComponent (sot), MouseListener (sot), ArrayList (L9), ngjyra (sot), butona me lambda (L11), BorderLayout (L11). Truku kyç: dy lista paralele — pikat DHE ngjyrat — që çdo pikë të mbajë ngjyrën e vet. Kanavaca djathtas është renderim real me pika shumëngjyrëshe. Ky është një program i vërtetë vizatimi!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Fletë referimi. Rreshti i artë përmbledh ciklin interaktiv: mouse → ruaj → repaint → paint. Theksoni parashtesat fill/draw dhe se të gjitha format marrin kutinë kufizuese (x,y,gjerësi,lartësi), përveç drawLine që merr dy pika dhe drawString që merr pozicionin e tekstit.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Dy pyetje mbi format/koordinatat, dy mbi ndërveprimin me miun. Të gjitha kodet u kompiluan dhe u renderuan.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Q1: fill = i mbushur; përgjigja a. Q2: x=10 (afër majtas), y=200 (poshtë, sepse y rritet poshtë); përgjigja b. Të dyja testojnë keqkuptimet kryesore: fill vs draw dhe drejtimi i y-së.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Q3: repaint() mungon — pa të, paintComponent s'thirret; përgjigja b. Q4: mouseDragged kap tërheqjen (nga MouseMotionListener); përgjigja b. Bonusi: ArrayList na lejon të mbajmë SHUMË pika (histori), jo vetëm të fundit — thelbi i vizatimit.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Q2 dhe Q3 janë keqkuptimet kryesore: drejtimi i y-së dhe nevoja për repaint(). Nëse dikush gaboi Q3, riktheni te slajdi 9 dhe tregoni ciklin klik→repaint→paint me gisht.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Fjalia për t'u marrë me vete: 'vizatimi është përshkrim — ne themi ÇFARË, Java e vizaton; miu i jep jetë përmes repaint()'. Sot kaluam nga widget-e gati te grafikë tona interaktive. Java tjetër: mund të bashkojmë grafikën me skedarët (ruaj vizatimin) ose një projekt përfundimtar.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Detyra 1 është krijuese — skenë e lirë me forma. Detyra 2 lidh vizatimin me butonat (gjendje + repaint). Detyra 4 bashkon L13 (grafika) me L12 (skedarët) — ura drejt projektit përfundimtar. Kërkoni screenshot: provë se u ekzekutua te makina e tyre. Git: 4 commit-e me mesazhe të qarta.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463040"/>
            <a:ext cx="5029200" cy="5029200"/>
          </a:xfrm>
          <a:prstGeom prst="ellipse">
            <a:avLst/>
          </a:prstGeom>
          <a:solidFill>
            <a:srgbClr val="E8730C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291840"/>
            <a:ext cx="3840480" cy="3840480"/>
          </a:xfrm>
          <a:prstGeom prst="ellipse">
            <a:avLst/>
          </a:prstGeom>
          <a:solidFill>
            <a:srgbClr val="1E3050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549640" y="1600200"/>
            <a:ext cx="2880360" cy="3209544"/>
          </a:xfrm>
          <a:prstGeom prst="rect">
            <a:avLst/>
          </a:prstGeom>
          <a:solidFill>
            <a:srgbClr val="6B748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49640" y="1600200"/>
            <a:ext cx="2880360" cy="292608"/>
          </a:xfrm>
          <a:prstGeom prst="rect">
            <a:avLst/>
          </a:prstGeom>
          <a:solidFill>
            <a:srgbClr val="0A2A4A"/>
          </a:solidFill>
          <a:ln/>
        </p:spPr>
      </p:sp>
      <p:sp>
        <p:nvSpPr>
          <p:cNvPr id="6" name="Text 4"/>
          <p:cNvSpPr/>
          <p:nvPr/>
        </p:nvSpPr>
        <p:spPr>
          <a:xfrm>
            <a:off x="8659368" y="160020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Njeriu i borës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67928" y="1892808"/>
            <a:ext cx="2843784" cy="2880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1188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LEKSIONI 13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86384" y="1572768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Grafika dhe</a:t>
            </a:r>
            <a:endParaRPr lang="en-US" sz="3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ndërveprimi me miun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822960" y="3017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Vizatojmë forma, ngjyra dhe skena — dhe i lëmë përdoruesit t'i krijojë me miun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41248" y="3794760"/>
            <a:ext cx="6949440" cy="1239012"/>
          </a:xfrm>
          <a:prstGeom prst="roundRect">
            <a:avLst>
              <a:gd name="adj" fmla="val 6642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042416" y="397764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3" name="Shape 10"/>
          <p:cNvSpPr/>
          <p:nvPr/>
        </p:nvSpPr>
        <p:spPr>
          <a:xfrm>
            <a:off x="1243584" y="397764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4" name="Shape 11"/>
          <p:cNvSpPr/>
          <p:nvPr/>
        </p:nvSpPr>
        <p:spPr>
          <a:xfrm>
            <a:off x="1444752" y="397764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5" name="Text 12"/>
          <p:cNvSpPr/>
          <p:nvPr/>
        </p:nvSpPr>
        <p:spPr>
          <a:xfrm>
            <a:off x="1097280" y="4251960"/>
            <a:ext cx="6492240" cy="690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setColor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WHITE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fillOval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trupi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fillOval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135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130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barku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41248" y="5120640"/>
            <a:ext cx="6949440" cy="0"/>
          </a:xfrm>
          <a:prstGeom prst="line">
            <a:avLst/>
          </a:prstGeom>
          <a:noFill/>
          <a:ln w="19050">
            <a:solidFill>
              <a:srgbClr val="E8730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Ligjëratë 70 minuta</a:t>
            </a:r>
            <a:pPr indent="0" marL="0">
              <a:buNone/>
            </a:pPr>
            <a:r>
              <a:rPr lang="en-US" sz="1300" dirty="0">
                <a:solidFill>
                  <a:srgbClr val="E8730C"/>
                </a:solidFill>
              </a:rPr>
              <a:t>     •     </a:t>
            </a:r>
            <a:pPr indent="0" marL="0">
              <a:buNone/>
            </a:pPr>
            <a:r>
              <a:rPr lang="en-US" sz="130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Nivel: Mesatar</a:t>
            </a:r>
            <a:pPr indent="0" marL="0">
              <a:buNone/>
            </a:pPr>
            <a:r>
              <a:rPr lang="en-US" sz="1300" dirty="0">
                <a:solidFill>
                  <a:srgbClr val="E8730C"/>
                </a:solidFill>
              </a:rPr>
              <a:t>     •     </a:t>
            </a:r>
            <a:pPr indent="0" marL="0">
              <a:buNone/>
            </a:pPr>
            <a:r>
              <a:rPr lang="en-US" sz="130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Informatikë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AGJENDA · 70 MINUTA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 i leksionit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360273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56232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1984248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099816" y="183794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06'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804672" y="2587752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Kanavaca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04672" y="3081528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paintComponent &amp; Graphics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370832" y="1600200"/>
            <a:ext cx="360273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626864" y="1856232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984248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22008" y="183794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14'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4626864" y="2587752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bazë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4626864" y="3081528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Drejtkëndësha, rrathë, vija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193024" y="1600200"/>
            <a:ext cx="360273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449056" y="1856232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7072" y="1984248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744200" y="183794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08'</a:t>
            </a:r>
            <a:endParaRPr lang="en-US" sz="2400" dirty="0"/>
          </a:p>
        </p:txBody>
      </p:sp>
      <p:sp>
        <p:nvSpPr>
          <p:cNvPr id="22" name="Text 16"/>
          <p:cNvSpPr/>
          <p:nvPr/>
        </p:nvSpPr>
        <p:spPr>
          <a:xfrm>
            <a:off x="8449056" y="2587752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Koordinatat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449056" y="3081528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(0,0) lart-majtas, y rritet poshtë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48640" y="3941064"/>
            <a:ext cx="360273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04672" y="419709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4325112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099816" y="41788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2400" dirty="0"/>
          </a:p>
        </p:txBody>
      </p:sp>
      <p:sp>
        <p:nvSpPr>
          <p:cNvPr id="28" name="Text 21"/>
          <p:cNvSpPr/>
          <p:nvPr/>
        </p:nvSpPr>
        <p:spPr>
          <a:xfrm>
            <a:off x="804672" y="4928616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Skena e plotë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804672" y="5422392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Kombinojmë format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4370832" y="3941064"/>
            <a:ext cx="360273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626864" y="419709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4325112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922008" y="41788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16'</a:t>
            </a:r>
            <a:endParaRPr lang="en-US" sz="2400" dirty="0"/>
          </a:p>
        </p:txBody>
      </p:sp>
      <p:sp>
        <p:nvSpPr>
          <p:cNvPr id="34" name="Text 26"/>
          <p:cNvSpPr/>
          <p:nvPr/>
        </p:nvSpPr>
        <p:spPr>
          <a:xfrm>
            <a:off x="4626864" y="4928616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Ndërveprimi</a:t>
            </a:r>
            <a:endParaRPr lang="en-US" sz="1500" dirty="0"/>
          </a:p>
        </p:txBody>
      </p:sp>
      <p:sp>
        <p:nvSpPr>
          <p:cNvPr id="35" name="Text 27"/>
          <p:cNvSpPr/>
          <p:nvPr/>
        </p:nvSpPr>
        <p:spPr>
          <a:xfrm>
            <a:off x="4626864" y="5422392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Klikimi &amp; tërheqja me miun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8193024" y="3941064"/>
            <a:ext cx="360273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8449056" y="419709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7072" y="4325112"/>
            <a:ext cx="347472" cy="347472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0744200" y="41788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16'</a:t>
            </a:r>
            <a:endParaRPr lang="en-US" sz="2400" dirty="0"/>
          </a:p>
        </p:txBody>
      </p:sp>
      <p:sp>
        <p:nvSpPr>
          <p:cNvPr id="40" name="Text 31"/>
          <p:cNvSpPr/>
          <p:nvPr/>
        </p:nvSpPr>
        <p:spPr>
          <a:xfrm>
            <a:off x="8449056" y="4928616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Kapstoni + quiz</a:t>
            </a:r>
            <a:endParaRPr lang="en-US" sz="1500" dirty="0"/>
          </a:p>
        </p:txBody>
      </p:sp>
      <p:sp>
        <p:nvSpPr>
          <p:cNvPr id="41" name="Text 32"/>
          <p:cNvSpPr/>
          <p:nvPr/>
        </p:nvSpPr>
        <p:spPr>
          <a:xfrm>
            <a:off x="8449056" y="5422392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Aplikacioni i vizatimit</a:t>
            </a:r>
            <a:endParaRPr lang="en-US" sz="1200" dirty="0"/>
          </a:p>
        </p:txBody>
      </p:sp>
      <p:sp>
        <p:nvSpPr>
          <p:cNvPr id="42" name="Text 33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43" name="Text 34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13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 VIZATOJMË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Kanavaca: paintComponent dhe Graphics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94360" y="1737360"/>
            <a:ext cx="6492240" cy="2802636"/>
          </a:xfrm>
          <a:prstGeom prst="roundRect">
            <a:avLst>
              <a:gd name="adj" fmla="val 2936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95528" y="192024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996696" y="192024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197864" y="192024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" y="2194560"/>
            <a:ext cx="6035040" cy="2253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JPanel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@Override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protected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paintComponent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Graphics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paintComponent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KETU vizatojme - g eshte "furca"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setColor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BLUE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fillRect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360920" y="1783080"/>
            <a:ext cx="4206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2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Zgjerojmë JPanel</a:t>
            </a:r>
            <a:endParaRPr lang="en-US" sz="125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Krijojmë panelin tonë që di të vizatojë.</a:t>
            </a:r>
            <a:endParaRPr lang="en-US" sz="125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2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paintComponent(Graphics g)</a:t>
            </a:r>
            <a:endParaRPr lang="en-US" sz="125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e thërret VETË kur duhet vizatuar dritarja.</a:t>
            </a:r>
            <a:endParaRPr lang="en-US" sz="125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2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Objekti g = 'furça'</a:t>
            </a:r>
            <a:endParaRPr lang="en-US" sz="125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të vizatojmë gjithçka: forma, ngjyra, tekst.</a:t>
            </a:r>
            <a:endParaRPr lang="en-US" sz="125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2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super.paintComponent(g)</a:t>
            </a:r>
            <a:endParaRPr lang="en-US" sz="125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Gjithmonë rreshti i parë — pastron sfondin.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94360" y="5074920"/>
            <a:ext cx="6492240" cy="868680"/>
          </a:xfrm>
          <a:prstGeom prst="roundRect">
            <a:avLst>
              <a:gd name="adj" fmla="val 8421"/>
            </a:avLst>
          </a:prstGeom>
          <a:solidFill>
            <a:srgbClr val="FBEDD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5367528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98448" y="5138928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Nuk e thërrasim NE paintComponent!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e bën vetë. Ne vetëm përshkruajmë ÇFARË të vizatohet.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13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0292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MBUSHUR VS VETËM KONTURI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Drejtkëndëshat: fillRect dhe drawRect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914400" y="1783080"/>
            <a:ext cx="6126480" cy="1760220"/>
          </a:xfrm>
          <a:prstGeom prst="roundRect">
            <a:avLst>
              <a:gd name="adj" fmla="val 4675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15568" y="196596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1316736" y="196596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517904" y="196596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1170432" y="2240280"/>
            <a:ext cx="566928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setColor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fillRect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 MBUSHUR</a:t>
            </a:r>
            <a:endParaRPr lang="en-US" sz="14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setColor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BLUE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drawRect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210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vetem KONTURI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315200" y="1874520"/>
            <a:ext cx="4251960" cy="3238420"/>
          </a:xfrm>
          <a:prstGeom prst="rect">
            <a:avLst/>
          </a:prstGeom>
          <a:solidFill>
            <a:srgbClr val="6B748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315200" y="1874520"/>
            <a:ext cx="4251960" cy="292608"/>
          </a:xfrm>
          <a:prstGeom prst="rect">
            <a:avLst/>
          </a:prstGeom>
          <a:solidFill>
            <a:srgbClr val="0A2A4A"/>
          </a:solidFill>
          <a:ln/>
        </p:spPr>
      </p:sp>
      <p:sp>
        <p:nvSpPr>
          <p:cNvPr id="13" name="Text 10"/>
          <p:cNvSpPr/>
          <p:nvPr/>
        </p:nvSpPr>
        <p:spPr>
          <a:xfrm>
            <a:off x="7424928" y="187452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fillRect vs drawRect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3488" y="2167128"/>
            <a:ext cx="4215384" cy="2909236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5202936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626096" y="5184648"/>
            <a:ext cx="3941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1F7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Renderim REAL (i ekzekutuar)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914400" y="3840480"/>
            <a:ext cx="6126480" cy="1965960"/>
          </a:xfrm>
          <a:prstGeom prst="roundRect">
            <a:avLst>
              <a:gd name="adj" fmla="val 4186"/>
            </a:avLst>
          </a:prstGeom>
          <a:solidFill>
            <a:srgbClr val="1E3050"/>
          </a:solidFill>
          <a:ln/>
        </p:spPr>
      </p:sp>
      <p:sp>
        <p:nvSpPr>
          <p:cNvPr id="18" name="Text 13"/>
          <p:cNvSpPr/>
          <p:nvPr/>
        </p:nvSpPr>
        <p:spPr>
          <a:xfrm>
            <a:off x="1188720" y="402336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Katër numrat: (x, y, gjerësia, lartësia)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188720" y="443484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x, y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këndi lart-majtas i drejtkëndëshit
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gjerësia, lartësia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sa i gjerë dhe sa i lartë
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9FE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e mbush;  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9FE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vetëm vija e jashtme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BRENDA NJË 'KUTIE'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Rrathë dhe elipsa: fillOval, drawOval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94360" y="1783080"/>
            <a:ext cx="6035040" cy="1760220"/>
          </a:xfrm>
          <a:prstGeom prst="roundRect">
            <a:avLst>
              <a:gd name="adj" fmla="val 4675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95528" y="196596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996696" y="196596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197864" y="196596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" y="2240280"/>
            <a:ext cx="557784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setColor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GREEN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fillOval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rreth</a:t>
            </a:r>
            <a:endParaRPr lang="en-US" sz="14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setColor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MAGENTA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drawOval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190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elips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903720" y="1874520"/>
            <a:ext cx="4663440" cy="3519959"/>
          </a:xfrm>
          <a:prstGeom prst="rect">
            <a:avLst/>
          </a:prstGeom>
          <a:solidFill>
            <a:srgbClr val="6B748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903720" y="1874520"/>
            <a:ext cx="4663440" cy="292608"/>
          </a:xfrm>
          <a:prstGeom prst="rect">
            <a:avLst/>
          </a:prstGeom>
          <a:solidFill>
            <a:srgbClr val="0A2A4A"/>
          </a:solidFill>
          <a:ln/>
        </p:spPr>
      </p:sp>
      <p:sp>
        <p:nvSpPr>
          <p:cNvPr id="13" name="Text 10"/>
          <p:cNvSpPr/>
          <p:nvPr/>
        </p:nvSpPr>
        <p:spPr>
          <a:xfrm>
            <a:off x="7013448" y="18745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Rrathë dhe elipsa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2008" y="2167128"/>
            <a:ext cx="4626864" cy="3190775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5486400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214616" y="5468112"/>
            <a:ext cx="4352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1F7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Renderim REAL (i ekzekutuar)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94360" y="3840480"/>
            <a:ext cx="6035040" cy="2103120"/>
          </a:xfrm>
          <a:prstGeom prst="roundRect">
            <a:avLst>
              <a:gd name="adj" fmla="val 3913"/>
            </a:avLst>
          </a:prstGeom>
          <a:solidFill>
            <a:srgbClr val="FBEDDD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406908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80160" y="402336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Çuditshëm por e vërtetë: 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fillOval përdor TË NJËJTAT katër numra si drejtkëndëshi! Rrethi vizatohet BRENDA një kutie të padukshme (x, y, gjerësi, lartësi).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914400" y="516636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Gjerësi = lartësi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rreth i përsosur.     </a:t>
            </a:r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Të ndryshme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elips i shtrirë.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13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0292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NGA PIKA TE PIKA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Vija dhe ngjyra: drawLine, setColor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914400" y="1737360"/>
            <a:ext cx="6035040" cy="2802636"/>
          </a:xfrm>
          <a:prstGeom prst="roundRect">
            <a:avLst>
              <a:gd name="adj" fmla="val 2936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15568" y="192024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1316736" y="192024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517904" y="192024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1170432" y="2194560"/>
            <a:ext cx="5577840" cy="2253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setColor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BLACK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drawLine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320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ngjyre e vet me RGB (0-255)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setColor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230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115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drawLine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110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320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170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setColor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BLUE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drawLine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220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320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110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223760" y="1828800"/>
            <a:ext cx="4343400" cy="3300984"/>
          </a:xfrm>
          <a:prstGeom prst="rect">
            <a:avLst/>
          </a:prstGeom>
          <a:solidFill>
            <a:srgbClr val="6B748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223760" y="1828800"/>
            <a:ext cx="4343400" cy="292608"/>
          </a:xfrm>
          <a:prstGeom prst="rect">
            <a:avLst/>
          </a:prstGeom>
          <a:solidFill>
            <a:srgbClr val="0A2A4A"/>
          </a:solidFill>
          <a:ln/>
        </p:spPr>
      </p:sp>
      <p:sp>
        <p:nvSpPr>
          <p:cNvPr id="13" name="Text 10"/>
          <p:cNvSpPr/>
          <p:nvPr/>
        </p:nvSpPr>
        <p:spPr>
          <a:xfrm>
            <a:off x="7333488" y="182880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Vija dhe ngjyra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2048" y="2121408"/>
            <a:ext cx="4306824" cy="2971800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5221224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534656" y="5202936"/>
            <a:ext cx="4032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1F7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Renderim REAL (i ekzekutuar)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914400" y="5029200"/>
            <a:ext cx="6035040" cy="914400"/>
          </a:xfrm>
          <a:prstGeom prst="roundRect">
            <a:avLst>
              <a:gd name="adj" fmla="val 8000"/>
            </a:avLst>
          </a:prstGeom>
          <a:solidFill>
            <a:srgbClr val="1E3050"/>
          </a:solidFill>
          <a:ln/>
        </p:spPr>
      </p:sp>
      <p:sp>
        <p:nvSpPr>
          <p:cNvPr id="18" name="Text 13"/>
          <p:cNvSpPr/>
          <p:nvPr/>
        </p:nvSpPr>
        <p:spPr>
          <a:xfrm>
            <a:off x="1188720" y="5102352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drawLine(x1, y1, x2, y2)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lidh dy pika. Ngjyrat: emra gati (Color.RED) OSE tuajat me RGB — new Color(kuq, gjelbër, blu), secili 0–255.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(0,0) ËSHTË LART-MAJTAS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Sistemi i koordinatave — ndryshe nga matematika!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94360" y="1783080"/>
            <a:ext cx="4937760" cy="3895344"/>
          </a:xfrm>
          <a:prstGeom prst="rect">
            <a:avLst/>
          </a:prstGeom>
          <a:solidFill>
            <a:srgbClr val="6B748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4360" y="1783080"/>
            <a:ext cx="4937760" cy="292608"/>
          </a:xfrm>
          <a:prstGeom prst="rect">
            <a:avLst/>
          </a:prstGeom>
          <a:solidFill>
            <a:srgbClr val="0A2A4A"/>
          </a:solidFill>
          <a:ln/>
        </p:spPr>
      </p:sp>
      <p:sp>
        <p:nvSpPr>
          <p:cNvPr id="8" name="Text 5"/>
          <p:cNvSpPr/>
          <p:nvPr/>
        </p:nvSpPr>
        <p:spPr>
          <a:xfrm>
            <a:off x="704088" y="178308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Koordinatat e ekranit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075688"/>
            <a:ext cx="4901184" cy="3566160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5769864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05256" y="5751576"/>
            <a:ext cx="4626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1F7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Renderim REAL (i ekzekutuar)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5943600" y="1828800"/>
            <a:ext cx="56235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(0,0) = këndi LART-MAJTAS</a:t>
            </a:r>
            <a:endParaRPr lang="en-US" sz="135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 qendra, si te grafiku i matematikës.</a:t>
            </a:r>
            <a:endParaRPr lang="en-US" sz="135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rritet djathtas →</a:t>
            </a:r>
            <a:endParaRPr lang="en-US" sz="135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zakonisht.</a:t>
            </a:r>
            <a:endParaRPr lang="en-US" sz="135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rritet POSHTË ↓</a:t>
            </a:r>
            <a:endParaRPr lang="en-US" sz="135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kundërta e matematikës! y=200 është më poshtë se y=50.</a:t>
            </a:r>
            <a:endParaRPr lang="en-US" sz="135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Njësia = piksel</a:t>
            </a:r>
            <a:endParaRPr lang="en-US" sz="135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Çdo numër është një piksel në ekran.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5943600" y="5074920"/>
            <a:ext cx="5623560" cy="868680"/>
          </a:xfrm>
          <a:prstGeom prst="roundRect">
            <a:avLst>
              <a:gd name="adj" fmla="val 8421"/>
            </a:avLst>
          </a:prstGeom>
          <a:solidFill>
            <a:srgbClr val="FBEAE7"/>
          </a:solidFill>
          <a:ln w="12700">
            <a:solidFill>
              <a:srgbClr val="E8A99E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0488" y="5367528"/>
            <a:ext cx="347472" cy="34747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647688" y="5138928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B2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Gabimi më i shpeshtë: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A3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të harrosh që y shkon POSHTË. Vizatimet dalin 'përmbys' kur mendon si te matematika.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13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0292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NJERIU I BORËS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Skena e plotë: kombinojmë format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914400" y="1783080"/>
            <a:ext cx="6400800" cy="3845052"/>
          </a:xfrm>
          <a:prstGeom prst="roundRect">
            <a:avLst>
              <a:gd name="adj" fmla="val 2140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15568" y="196596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1316736" y="196596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517904" y="196596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1170432" y="2240280"/>
            <a:ext cx="5943600" cy="3296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setColor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135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206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235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qielli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fillRect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getWidth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(),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getHeight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());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setColor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WHITE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tri rrathe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fillOval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fillOval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135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130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fillOval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setColor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BLACK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syte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fillOval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168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fillOval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188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setColor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ORANGE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hunda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fillOval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176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112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001000" y="1783080"/>
            <a:ext cx="3566160" cy="3895344"/>
          </a:xfrm>
          <a:prstGeom prst="rect">
            <a:avLst/>
          </a:prstGeom>
          <a:solidFill>
            <a:srgbClr val="6B748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001000" y="1783080"/>
            <a:ext cx="3566160" cy="292608"/>
          </a:xfrm>
          <a:prstGeom prst="rect">
            <a:avLst/>
          </a:prstGeom>
          <a:solidFill>
            <a:srgbClr val="0A2A4A"/>
          </a:solidFill>
          <a:ln/>
        </p:spPr>
      </p:sp>
      <p:sp>
        <p:nvSpPr>
          <p:cNvPr id="13" name="Text 10"/>
          <p:cNvSpPr/>
          <p:nvPr/>
        </p:nvSpPr>
        <p:spPr>
          <a:xfrm>
            <a:off x="8110728" y="17830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Njeriu i borës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9288" y="2075688"/>
            <a:ext cx="3529584" cy="3566160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5751576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11896" y="5733288"/>
            <a:ext cx="3255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1F7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Renderim REAL (i ekzekutuar)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MOUSELISTENER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Ndërveprimi: klikimi i miut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94360" y="1691640"/>
            <a:ext cx="6400800" cy="4105656"/>
          </a:xfrm>
          <a:prstGeom prst="roundRect">
            <a:avLst>
              <a:gd name="adj" fmla="val 2004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95528" y="187452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996696" y="187452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197864" y="187452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" y="2148840"/>
            <a:ext cx="5943600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addMouseListener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MouseAdapter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@Override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mouseClicked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MouseEvent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getX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ku klikoi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getY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repaint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ri-vizato!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ne paintComponent: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setColor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fillOval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315200" y="1828800"/>
            <a:ext cx="4251960" cy="3238420"/>
          </a:xfrm>
          <a:prstGeom prst="rect">
            <a:avLst/>
          </a:prstGeom>
          <a:solidFill>
            <a:srgbClr val="6B748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315200" y="1828800"/>
            <a:ext cx="4251960" cy="292608"/>
          </a:xfrm>
          <a:prstGeom prst="rect">
            <a:avLst/>
          </a:prstGeom>
          <a:solidFill>
            <a:srgbClr val="0A2A4A"/>
          </a:solidFill>
          <a:ln/>
        </p:spPr>
      </p:sp>
      <p:sp>
        <p:nvSpPr>
          <p:cNvPr id="13" name="Text 10"/>
          <p:cNvSpPr/>
          <p:nvPr/>
        </p:nvSpPr>
        <p:spPr>
          <a:xfrm>
            <a:off x="7424928" y="182880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Kliko për të vizatuar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3488" y="2121408"/>
            <a:ext cx="4215384" cy="2909236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5138928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626096" y="5120640"/>
            <a:ext cx="3941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1F7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Rezultati pas një klikimi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7315200" y="5468112"/>
            <a:ext cx="4251960" cy="658368"/>
          </a:xfrm>
          <a:prstGeom prst="roundRect">
            <a:avLst>
              <a:gd name="adj" fmla="val 11111"/>
            </a:avLst>
          </a:prstGeom>
          <a:solidFill>
            <a:srgbClr val="FBEDDD"/>
          </a:solidFill>
          <a:ln/>
        </p:spPr>
      </p:sp>
      <p:sp>
        <p:nvSpPr>
          <p:cNvPr id="18" name="Text 13"/>
          <p:cNvSpPr/>
          <p:nvPr/>
        </p:nvSpPr>
        <p:spPr>
          <a:xfrm>
            <a:off x="7562088" y="5522976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E873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repaint()  </a:t>
            </a:r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është çelësi: i thotë Java-s 'thirr sërish paintComponent'. Pa të, ndryshimi s'shihet!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13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0292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ARRAYLIST&lt;POINT&gt;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Shumë klikime: ruajmë të gjitha pikat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914400" y="1691640"/>
            <a:ext cx="6400800" cy="3584448"/>
          </a:xfrm>
          <a:prstGeom prst="roundRect">
            <a:avLst>
              <a:gd name="adj" fmla="val 2296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15568" y="187452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1316736" y="187452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517904" y="187452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1170432" y="2148840"/>
            <a:ext cx="5943600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pikat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&lt;&gt;();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ne mouseClicked: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pikat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getX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(),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getY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()));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repaint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ne paintComponent: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setColor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BLUE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pikat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++)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pikat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fillOval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315200" y="1828800"/>
            <a:ext cx="4251960" cy="3238420"/>
          </a:xfrm>
          <a:prstGeom prst="rect">
            <a:avLst/>
          </a:prstGeom>
          <a:solidFill>
            <a:srgbClr val="6B748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315200" y="1828800"/>
            <a:ext cx="4251960" cy="292608"/>
          </a:xfrm>
          <a:prstGeom prst="rect">
            <a:avLst/>
          </a:prstGeom>
          <a:solidFill>
            <a:srgbClr val="0A2A4A"/>
          </a:solidFill>
          <a:ln/>
        </p:spPr>
      </p:sp>
      <p:sp>
        <p:nvSpPr>
          <p:cNvPr id="13" name="Text 10"/>
          <p:cNvSpPr/>
          <p:nvPr/>
        </p:nvSpPr>
        <p:spPr>
          <a:xfrm>
            <a:off x="7424928" y="182880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Kliko shumë herë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3488" y="2121408"/>
            <a:ext cx="4215384" cy="2909236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5138928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626096" y="5120640"/>
            <a:ext cx="3941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1F7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5 klikimeve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914400" y="5212080"/>
            <a:ext cx="6400800" cy="731520"/>
          </a:xfrm>
          <a:prstGeom prst="roundRect">
            <a:avLst>
              <a:gd name="adj" fmla="val 10000"/>
            </a:avLst>
          </a:prstGeom>
          <a:solidFill>
            <a:srgbClr val="1E3050"/>
          </a:solidFill>
          <a:ln/>
        </p:spPr>
      </p:sp>
      <p:sp>
        <p:nvSpPr>
          <p:cNvPr id="18" name="Text 13"/>
          <p:cNvSpPr/>
          <p:nvPr/>
        </p:nvSpPr>
        <p:spPr>
          <a:xfrm>
            <a:off x="1188720" y="5276088"/>
            <a:ext cx="5943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Kujtoni ArrayList (L9)!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Ruajmë ÇDO klikim në listë; paintComponent i rivizaton të GJITHA. Point mban një çift (x, y).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MOUSEMOTIONLISTENER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Tërheqja: vizatim i lirë me miun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94360" y="1645920"/>
            <a:ext cx="6492240" cy="4626864"/>
          </a:xfrm>
          <a:prstGeom prst="roundRect">
            <a:avLst>
              <a:gd name="adj" fmla="val 1779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95528" y="182880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996696" y="182880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197864" y="182880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" y="2103120"/>
            <a:ext cx="6035040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vija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&lt;&gt;();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addMouseMotionListener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MouseAdapter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@Override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mouseDragged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MouseEvent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vija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getX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(),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getY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()));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repaint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ne paintComponent: lidh pikat me vija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vija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++)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vija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vija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drawLine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60920" y="1828800"/>
            <a:ext cx="4206240" cy="3207138"/>
          </a:xfrm>
          <a:prstGeom prst="rect">
            <a:avLst/>
          </a:prstGeom>
          <a:solidFill>
            <a:srgbClr val="6B748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360920" y="1828800"/>
            <a:ext cx="4206240" cy="292608"/>
          </a:xfrm>
          <a:prstGeom prst="rect">
            <a:avLst/>
          </a:prstGeom>
          <a:solidFill>
            <a:srgbClr val="0A2A4A"/>
          </a:solidFill>
          <a:ln/>
        </p:spPr>
      </p:sp>
      <p:sp>
        <p:nvSpPr>
          <p:cNvPr id="13" name="Text 10"/>
          <p:cNvSpPr/>
          <p:nvPr/>
        </p:nvSpPr>
        <p:spPr>
          <a:xfrm>
            <a:off x="7470648" y="18288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Vizato me miun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208" y="2121408"/>
            <a:ext cx="4169664" cy="2877954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5111496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671816" y="5093208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1F7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Rezultati i tërheqjes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7360920" y="5440680"/>
            <a:ext cx="4206240" cy="548640"/>
          </a:xfrm>
          <a:prstGeom prst="roundRect">
            <a:avLst>
              <a:gd name="adj" fmla="val 13333"/>
            </a:avLst>
          </a:prstGeom>
          <a:solidFill>
            <a:srgbClr val="FBEDDD"/>
          </a:solidFill>
          <a:ln/>
        </p:spPr>
      </p:sp>
      <p:sp>
        <p:nvSpPr>
          <p:cNvPr id="18" name="Text 13"/>
          <p:cNvSpPr/>
          <p:nvPr/>
        </p:nvSpPr>
        <p:spPr>
          <a:xfrm>
            <a:off x="7607808" y="547725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873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mouseDragged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thirret vazhdimisht kur tërhiqet miu i shtypur. Lidhja e pikave me vija jep vizatim të lirë.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13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0292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BUTONA NGJYRASH + KANAVACA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Kapstoni: aplikacioni i vizatimit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914400" y="1645920"/>
            <a:ext cx="6400800" cy="4626864"/>
          </a:xfrm>
          <a:prstGeom prst="roundRect">
            <a:avLst>
              <a:gd name="adj" fmla="val 1779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15568" y="182880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1316736" y="182880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517904" y="182880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1170432" y="2103120"/>
            <a:ext cx="5943600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ngjyraAktuale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butonat ndryshojne ngjyren aktuale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kuq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addActionListener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ngjyraAktuale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addActionListener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ngjyraAktuale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BLUE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ne mousePressed: ruaj piken DHE ngjyren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pikat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getX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(),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getY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()));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ngjyrat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ngjyraAktuale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ne paintComponent: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pikat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++)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setColor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ngjyrat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pikat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fillOval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680960" y="1783080"/>
            <a:ext cx="3886200" cy="3291840"/>
          </a:xfrm>
          <a:prstGeom prst="rect">
            <a:avLst/>
          </a:prstGeom>
          <a:solidFill>
            <a:srgbClr val="6B748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680960" y="1783080"/>
            <a:ext cx="3886200" cy="292608"/>
          </a:xfrm>
          <a:prstGeom prst="rect">
            <a:avLst/>
          </a:prstGeom>
          <a:solidFill>
            <a:srgbClr val="0A2A4A"/>
          </a:solidFill>
          <a:ln/>
        </p:spPr>
      </p:sp>
      <p:sp>
        <p:nvSpPr>
          <p:cNvPr id="13" name="Text 10"/>
          <p:cNvSpPr/>
          <p:nvPr/>
        </p:nvSpPr>
        <p:spPr>
          <a:xfrm>
            <a:off x="7790688" y="178308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Aplikacioni i vizatimit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680960" y="2075688"/>
            <a:ext cx="3886200" cy="457200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15" name="Shape 12"/>
          <p:cNvSpPr/>
          <p:nvPr/>
        </p:nvSpPr>
        <p:spPr>
          <a:xfrm>
            <a:off x="7863840" y="2167128"/>
            <a:ext cx="1097280" cy="274320"/>
          </a:xfrm>
          <a:prstGeom prst="roundRect">
            <a:avLst>
              <a:gd name="adj" fmla="val 10000"/>
            </a:avLst>
          </a:prstGeom>
          <a:solidFill>
            <a:srgbClr val="E0E0E0"/>
          </a:solidFill>
          <a:ln w="12700">
            <a:solidFill>
              <a:srgbClr val="9AA0A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63840" y="21671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Kuq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9070848" y="2167128"/>
            <a:ext cx="1097280" cy="274320"/>
          </a:xfrm>
          <a:prstGeom prst="roundRect">
            <a:avLst>
              <a:gd name="adj" fmla="val 10000"/>
            </a:avLst>
          </a:prstGeom>
          <a:solidFill>
            <a:srgbClr val="E0E0E0"/>
          </a:solidFill>
          <a:ln w="12700">
            <a:solidFill>
              <a:srgbClr val="9AA0A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070848" y="21671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10277856" y="2167128"/>
            <a:ext cx="1097280" cy="274320"/>
          </a:xfrm>
          <a:prstGeom prst="roundRect">
            <a:avLst>
              <a:gd name="adj" fmla="val 10000"/>
            </a:avLst>
          </a:prstGeom>
          <a:solidFill>
            <a:srgbClr val="E0E0E0"/>
          </a:solidFill>
          <a:ln w="12700">
            <a:solidFill>
              <a:srgbClr val="9AA0A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277856" y="21671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Gjelbër</a:t>
            </a:r>
            <a:endParaRPr lang="en-US" sz="95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248" y="2551176"/>
            <a:ext cx="3849624" cy="2566416"/>
          </a:xfrm>
          <a:prstGeom prst="rect">
            <a:avLst/>
          </a:prstGeom>
        </p:spPr>
      </p:pic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5230368"/>
            <a:ext cx="256032" cy="25603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991856" y="5212080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1F7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Kanavaca: renderim real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FOTOGRAFOJENI KËTË SLAJD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Fletë referimi — grafika dhe miu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45920"/>
          <a:ext cx="1101852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644652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Metoda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Çfarë vizaton / bën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20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g.setColor(Color.RED)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Cakton ngjyrën për vizatimet e mëtejshme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20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g.fillRect(x, y, gj, l)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Drejtkëndësh i mbushur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20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g.drawRect(x, y, gj, l)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Vetëm konturi i drejtkëndëshit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20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g.fillOval(x, y, gj, l)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Rreth/elips i mbushur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20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g.drawLine(x1, y1, x2, y2)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Vijë mes dy pikave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20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g.drawString("tekst", x, y)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Shkruan tekst në pozicion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20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new Color(r, g, b)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Ngjyrë e vet me RGB (0–255)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20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e.getX() / e.getY()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Koordinatat ku ndodhi ngjarja e miut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20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repaint()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Kërkon ri-vizatimin (thërret paintComponent)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9436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 i çdo vizatimi interaktiv: ngjarja e miut ruan të dhëna → repaint() → paintComponent i rivizaton të gjitha.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5486400" cy="5486400"/>
          </a:xfrm>
          <a:prstGeom prst="ellipse">
            <a:avLst/>
          </a:prstGeom>
          <a:solidFill>
            <a:srgbClr val="E8730C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3657600"/>
            <a:ext cx="4572000" cy="4572000"/>
          </a:xfrm>
          <a:prstGeom prst="ellipse">
            <a:avLst/>
          </a:prstGeom>
          <a:solidFill>
            <a:srgbClr val="1E3050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67528" y="1371600"/>
            <a:ext cx="1463040" cy="1463040"/>
          </a:xfrm>
          <a:prstGeom prst="roundRect">
            <a:avLst>
              <a:gd name="adj" fmla="val 15625"/>
            </a:avLst>
          </a:prstGeom>
          <a:solidFill>
            <a:srgbClr val="E8730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7568" y="16916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3108960"/>
            <a:ext cx="9445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KOHA E QUIZ-it!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371600" y="393192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pyetje · 8 minuta · punoni vetë në letër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645920" y="4572000"/>
            <a:ext cx="8897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Kujtoni: (0,0) është lart-majtas, y rritet poshtë — dhe repaint() e ri-vizaton çdo gjë.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· FORMAT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Pyetjet 1 dhe 2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94360" y="1691640"/>
            <a:ext cx="502920" cy="502920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234440" y="1719072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Çfarë vizaton g.fillOval(50, 50, 80, 80)?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34440" y="246888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Një rreth të mbushur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Vetëm konturin e një rrethi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pPr indent="0" marL="0"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Një drejtkëndësh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0" y="1691640"/>
            <a:ext cx="502920" cy="502920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040880" y="1719072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 shfaqet pika (10, 200) në dritare?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040880" y="246888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Lart, afër majtas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Poshtë, afër majtas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pPr indent="0" marL="0"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Në qendër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94360" y="4617720"/>
            <a:ext cx="11018520" cy="1188720"/>
          </a:xfrm>
          <a:prstGeom prst="roundRect">
            <a:avLst>
              <a:gd name="adj" fmla="val 6923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914400" y="470916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Ndihmë: 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 pyetjen 1, kujtoni parashtesat fill/draw. Për pyetjen 2, kujtoni që y=200 është një vlerë e madhe — dhe y rritet POSHTË.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13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· NDËRVEPRIMI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Pyetjet 3 dhe 4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94360" y="1691640"/>
            <a:ext cx="502920" cy="502920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234440" y="1719072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Klikimi ndryshon të dhënat, por ekrani s'përditësohet. Çfarë harrove?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234440" y="251460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super.paintComponent(g)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repaint()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pPr indent="0" marL="0">
              <a:buNone/>
            </a:pPr>
            <a:r>
              <a:rPr lang="en-US" sz="135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setColor(...)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0" y="1691640"/>
            <a:ext cx="502920" cy="502920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040880" y="1719072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Cila metodë kap TËRHEQJEN e miut (drag)?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040880" y="251460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mouseClicked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mouseDragged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pPr indent="0" marL="0">
              <a:buNone/>
            </a:pPr>
            <a:r>
              <a:rPr lang="en-US" sz="135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paintComponent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94360" y="4617720"/>
            <a:ext cx="11018520" cy="1188720"/>
          </a:xfrm>
          <a:prstGeom prst="roundRect">
            <a:avLst>
              <a:gd name="adj" fmla="val 6923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470916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(me gojë): 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 na duhet një ArrayList për të mbajtur pikat, e jo vetëm dy variabla x dhe y? Diskutoni.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13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· ZGJIDHJA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Përgjigjet dhe shpjegimet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94360" y="1645920"/>
            <a:ext cx="1101852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1856232"/>
            <a:ext cx="512064" cy="512064"/>
          </a:xfrm>
          <a:prstGeom prst="ellipse">
            <a:avLst/>
          </a:prstGeom>
          <a:solidFill>
            <a:srgbClr val="2FA84F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8562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645920" y="1810512"/>
            <a:ext cx="3794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a)  Rreth i mbushur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623560" y="1810512"/>
            <a:ext cx="5806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fill- do të thotë i mbushur; oval me gjerësi = lartësi (80=80) jep rreth.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94360" y="2724912"/>
            <a:ext cx="1101852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68680" y="2935224"/>
            <a:ext cx="512064" cy="512064"/>
          </a:xfrm>
          <a:prstGeom prst="ellipse">
            <a:avLst/>
          </a:prstGeom>
          <a:solidFill>
            <a:srgbClr val="2FA84F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29352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645920" y="2889504"/>
            <a:ext cx="3794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b)  Poshtë, afër majtas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623560" y="2889504"/>
            <a:ext cx="5806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x=10 është afër majtas; y=200 është poshtë, sepse y rritet POSHTË.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94360" y="3803904"/>
            <a:ext cx="1101852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68680" y="4014216"/>
            <a:ext cx="512064" cy="512064"/>
          </a:xfrm>
          <a:prstGeom prst="ellipse">
            <a:avLst/>
          </a:prstGeom>
          <a:solidFill>
            <a:srgbClr val="2FA84F"/>
          </a:solidFill>
          <a:ln/>
        </p:spPr>
      </p:sp>
      <p:sp>
        <p:nvSpPr>
          <p:cNvPr id="18" name="Text 15"/>
          <p:cNvSpPr/>
          <p:nvPr/>
        </p:nvSpPr>
        <p:spPr>
          <a:xfrm>
            <a:off x="868680" y="40142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645920" y="3968496"/>
            <a:ext cx="3794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b)  repaint()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623560" y="3968496"/>
            <a:ext cx="5806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repaint(), Java s'e di se duhet të thërrasë sërish paintComponent.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94360" y="4882896"/>
            <a:ext cx="1101852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68680" y="5093208"/>
            <a:ext cx="512064" cy="512064"/>
          </a:xfrm>
          <a:prstGeom prst="ellipse">
            <a:avLst/>
          </a:prstGeom>
          <a:solidFill>
            <a:srgbClr val="2FA84F"/>
          </a:solidFill>
          <a:ln/>
        </p:spPr>
      </p:sp>
      <p:sp>
        <p:nvSpPr>
          <p:cNvPr id="23" name="Text 20"/>
          <p:cNvSpPr/>
          <p:nvPr/>
        </p:nvSpPr>
        <p:spPr>
          <a:xfrm>
            <a:off x="868680" y="50932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1645920" y="5047488"/>
            <a:ext cx="3794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b)  mouseDragged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623560" y="5047488"/>
            <a:ext cx="5806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Kapet nga MouseMotionListener — thirret ndërsa miu i shtypur lëviz.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9436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saktë: gati për grafikë interaktive! · 2 saktë: rishikoni slajdet 7 dhe 9 · 0–1: konsultime.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13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E8730C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54864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94944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PËRMBLEDHJE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508760" y="79552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Çfarë mësuam sot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685800" y="178308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60120" y="2075688"/>
            <a:ext cx="640080" cy="64008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" y="2221992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37360" y="20574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Kanavaca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960120" y="2807208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paintComponent(Graphics g)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389120" y="178308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663440" y="2075688"/>
            <a:ext cx="640080" cy="64008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744" y="2221992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440680" y="20574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4663440" y="2807208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fillRect, fillOval, drawLine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8092440" y="178308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366760" y="2075688"/>
            <a:ext cx="640080" cy="64008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3064" y="2221992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144000" y="20574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Koordinatat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8366760" y="2807208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(0,0) lart-majtas, y poshtë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685800" y="374904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960120" y="4041648"/>
            <a:ext cx="640080" cy="64008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424" y="4187952"/>
            <a:ext cx="347472" cy="34747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737360" y="40233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Miu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960120" y="4773168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MouseListener → getX/getY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4389120" y="374904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4663440" y="4041648"/>
            <a:ext cx="640080" cy="64008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9744" y="4187952"/>
            <a:ext cx="347472" cy="34747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440680" y="40233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Tërheqja</a:t>
            </a:r>
            <a:endParaRPr lang="en-US" sz="1350" dirty="0"/>
          </a:p>
        </p:txBody>
      </p:sp>
      <p:sp>
        <p:nvSpPr>
          <p:cNvPr id="31" name="Text 23"/>
          <p:cNvSpPr/>
          <p:nvPr/>
        </p:nvSpPr>
        <p:spPr>
          <a:xfrm>
            <a:off x="4663440" y="4773168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mouseDragged për vizatim të lirë</a:t>
            </a:r>
            <a:endParaRPr lang="en-US" sz="1100" dirty="0"/>
          </a:p>
        </p:txBody>
      </p:sp>
      <p:sp>
        <p:nvSpPr>
          <p:cNvPr id="32" name="Shape 24"/>
          <p:cNvSpPr/>
          <p:nvPr/>
        </p:nvSpPr>
        <p:spPr>
          <a:xfrm>
            <a:off x="8092440" y="374904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8366760" y="4041648"/>
            <a:ext cx="640080" cy="64008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3064" y="4187952"/>
            <a:ext cx="347472" cy="347472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9144000" y="40233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Kapstoni</a:t>
            </a:r>
            <a:endParaRPr lang="en-US" sz="1350" dirty="0"/>
          </a:p>
        </p:txBody>
      </p:sp>
      <p:sp>
        <p:nvSpPr>
          <p:cNvPr id="36" name="Text 27"/>
          <p:cNvSpPr/>
          <p:nvPr/>
        </p:nvSpPr>
        <p:spPr>
          <a:xfrm>
            <a:off x="8366760" y="4773168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Aplikacion i vërtetë vizatimi</a:t>
            </a:r>
            <a:endParaRPr lang="en-US" sz="1100" dirty="0"/>
          </a:p>
        </p:txBody>
      </p:sp>
      <p:sp>
        <p:nvSpPr>
          <p:cNvPr id="37" name="Text 28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PRAKTIKA E JAVËS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Detyra për shtëpi — dorëzim me Git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94360" y="1536192"/>
            <a:ext cx="11018520" cy="841248"/>
          </a:xfrm>
          <a:prstGeom prst="roundRect">
            <a:avLst>
              <a:gd name="adj" fmla="val 9783"/>
            </a:avLst>
          </a:prstGeom>
          <a:solidFill>
            <a:srgbClr val="F8FAFC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700784"/>
            <a:ext cx="512064" cy="512064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7007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600200" y="1645920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Skena jote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800600" y="1645920"/>
            <a:ext cx="6629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Vizato një skenë me të paktën 5 forma: një shtëpi (drejtkëndësh + trekëndësh çati me drawLine), diell, pemë. Përdor ngjyra RGB.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94360" y="2496312"/>
            <a:ext cx="11018520" cy="841248"/>
          </a:xfrm>
          <a:prstGeom prst="roundRect">
            <a:avLst>
              <a:gd name="adj" fmla="val 9783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68680" y="2660904"/>
            <a:ext cx="512064" cy="512064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26609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600200" y="2606040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Semafori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800600" y="2606040"/>
            <a:ext cx="6629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rrathë në një drejtkëndësh (kuq, verdhë, gjelbër). Shto tre butona që 'ndezin' dritën përkatëse (ndrysho ngjyrën + repaint).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94360" y="3456432"/>
            <a:ext cx="11018520" cy="841248"/>
          </a:xfrm>
          <a:prstGeom prst="roundRect">
            <a:avLst>
              <a:gd name="adj" fmla="val 9783"/>
            </a:avLst>
          </a:prstGeom>
          <a:solidFill>
            <a:srgbClr val="F8FAFC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8680" y="3621024"/>
            <a:ext cx="512064" cy="512064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18" name="Text 15"/>
          <p:cNvSpPr/>
          <p:nvPr/>
        </p:nvSpPr>
        <p:spPr>
          <a:xfrm>
            <a:off x="868680" y="36210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600200" y="3566160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Vulë me klikim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800600" y="3566160"/>
            <a:ext cx="6629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Kliko kudo për të vendosur një yll ose zemër (formë me disa vija/rrathë). Ruaj të gjitha në ArrayList dhe rivizatoji.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94360" y="4416552"/>
            <a:ext cx="11018520" cy="841248"/>
          </a:xfrm>
          <a:prstGeom prst="roundRect">
            <a:avLst>
              <a:gd name="adj" fmla="val 9783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68680" y="4581144"/>
            <a:ext cx="512064" cy="512064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23" name="Text 20"/>
          <p:cNvSpPr/>
          <p:nvPr/>
        </p:nvSpPr>
        <p:spPr>
          <a:xfrm>
            <a:off x="868680" y="45811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1600200" y="4526280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Sfidë: vizato + ruaj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800600" y="4526280"/>
            <a:ext cx="6629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Zgjero aplikacionin e vizatimit: shto një buton 'Ruaj' që shkruan pikat në një skedar (L12), dhe 'Hap' që i lexon prapa.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94360" y="5596128"/>
            <a:ext cx="11018520" cy="548640"/>
          </a:xfrm>
          <a:prstGeom prst="roundRect">
            <a:avLst>
              <a:gd name="adj" fmla="val 13333"/>
            </a:avLst>
          </a:prstGeom>
          <a:solidFill>
            <a:srgbClr val="142033"/>
          </a:solidFill>
          <a:ln/>
        </p:spPr>
      </p:sp>
      <p:sp>
        <p:nvSpPr>
          <p:cNvPr id="27" name="Text 24"/>
          <p:cNvSpPr/>
          <p:nvPr/>
        </p:nvSpPr>
        <p:spPr>
          <a:xfrm>
            <a:off x="914400" y="55961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Dorëzimi: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me 4 commit-e + link + një pamje (screenshot) e vizatimit tuaj. Detyra 4 bashkon grafikën me skedarët!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— Leksioni 13: Grafika dhe ndërveprimi me miun</dc:title>
  <dc:subject>PptxGenJS Presentation</dc:subject>
  <dc:creator>Kreni</dc:creator>
  <cp:lastModifiedBy>Kreni</cp:lastModifiedBy>
  <cp:revision>1</cp:revision>
  <dcterms:created xsi:type="dcterms:W3CDTF">2026-09-09T13:24:29Z</dcterms:created>
  <dcterms:modified xsi:type="dcterms:W3CDTF">2026-09-09T13:24:29Z</dcterms:modified>
</cp:coreProperties>
</file>