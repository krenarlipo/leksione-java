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Qëllimi: ta vendosim mjedisin e punës dhe të shkruajmë programet e para në C++.
Shpjegoni se C++ është gjuhë e kompajluar: kodi duhet përkthyer nga kompajleri para se të ekzekutohet.
Kjo ligjëratë është praktike: studentët duhet ta përsërisin instalimin në kompjuterët e tyre.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Përdoreni këtë slide për të vendosur ritmin e orës.
Theksoni se pjesa e instalimit merr kohë sepse gabimet në Windows janë të zakonshme.
Në fund, studentët duhet të dinë të kompilojnë dhe ekzekutojnë me g++ brenda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Shpjegoni ndryshimin midis kodit burimor dhe programit të kompiluar.
Jepni shembuj realë: lojëra, aplikacione me performancë të lartë, algoritme dhe sisteme.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Kjo është pika më e rëndësishme praktike e instalimit.
Shumë fillestarë mendojnë se VS Code vetë kompilion; sqaroni se VS Code është ambient pune, ndërsa g++ bën përkthimin.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Kërkojuni studentëve të shënojnë opsionin Add to PATH.
Nuk ka nevojë të instalojmë Visual Studio të plotë në këtë leksion; përdorim VS Code plus MinGW-w64.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MSYS2 është një mënyrë praktike për të marrë MinGW-w64 në Windows.
Theksoni se komanda mund të zgjasë disa minuta dhe mund të kërkojë konfirmim me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Demonstroni live ndryshimin e PATH në Windows.
Shpjegoni se PATH është lista e folderëve ku Windows kërkon komandat.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Hapni panelin Extensions dhe tregoni se si instalohet C/C++ nga Microsoft.
Theksoni që folderi i projektit ndihmon VS Code të ruajë konfigurimet.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Kërkojini klasës të krijojë folderin dhe file-in main.cpp.
Ky është momenti i parë praktik ku studentët duhet të ndjekin çdo hap.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është testi real i mjedisit.
Mos u futni akoma shumë thellë te #include dhe namespace; thoni se do t’i zbërthejmë në slide-in tjetër.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Kaloni rresht pas rreshti në kod dhe kërkojuni studentëve të lexojnë me zë rolin e secilit rresht.
Theksoni se kllapat { } tregojnë bllokun e kodit.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Demonstroni që programi.exe krijohet si file në folder.
Pyesni klasën: çfarë ndodh nëse ndryshojmë tekstin por nuk e kompajlojmë përsëri?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Shpjegoni se kompajleri zakonisht tregon rreshtin dhe llojin e gabimit.
Bëni një gabim qëllimisht duke hequr pikëpresjen dhe tregoni mesazhin.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Përdorni metaforën e kutisë: emri është etiketa, tipi është lloji i gjërave që kutia pranon, vlera është çfarë ka brenda.
Jepni shembuj nga jeta: mosha, nota, çmimi, status aktiv.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Ndalo pak te string: për string duhet #include &lt;string&gt; në disa raste.
Bëni pyetje të shpejta: çfarë tipi do të kishte mosha? emri? paga? kaloiProvimin?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program është i mirë për praktikë sepse kombinon string, int, cout dhe cin.
Shpjegoni operatorët &gt;&gt; dhe &lt;&lt; me drejtimin e rrjedhës së informacionit.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Shpjegoni dallimin midis assignment dhe comparison.
Jepni shembull: mosha = 18 kundrejt mosha ==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Përdorni shembullin e moshës: nëse mosha &gt;= 18, përdoruesi është i rritur.
Theksoni se vetëm njëra degë ekzekutohet.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Kompiloni këtë program live.
Ndryshoni inputin nga 20 në 16 dhe tregoni se ndryshon dega e ekzekutimit.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Tregoni se i quhet shpesh counter/numërues.
Vizatojeni në tabelë: fillim, kontroll kushti, ekzekutim, rritje, kontroll kushti përsëri.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Shpjegoni “sentinel value”: vlera 0 përdoret si sinjal ndalimi.
Krahasoni for dhe while: for kur numri i herëve dihet, while kur varet nga kushti.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Kjo slide është për sintetizim, jo për detaje të avancuara.
Kërkojuni studentëve të japin një shembull ku do të përdornin for dhe një shembull ku do të përdornin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Jepni 8–10 minuta praktikë dhe kontrolloni ekranet e studentëve.
Mos jepni zgjidhjen menjëherë; ndihmoni me gabimet e instalimit dhe sintaksës.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Mbylleni me tre pyetje orale.
Nëse koha lejon, kërkoni nga një student të shpjegojë procesin: write -&gt; compile -&gt;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1371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700"/>
                </a:solidFill>
              </a:rPr>
              <a:t>L E K S I O N I  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6384" y="19202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Hyrje në C++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</a:rPr>
              <a:t>Instalimi në Windows · Visual Studio Code · g++ compiler · bazat e para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6217920" cy="1234440"/>
          </a:xfrm>
          <a:prstGeom prst="roundRect">
            <a:avLst>
              <a:gd name="adj" fmla="val 8889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364845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364845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364845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931920"/>
            <a:ext cx="57058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#include &lt;iostream&gt;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using namespace std;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main() { cout &lt;&lt; "Hello World"; 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41080" y="685800"/>
            <a:ext cx="2697480" cy="2697480"/>
          </a:xfrm>
          <a:prstGeom prst="ellipse">
            <a:avLst/>
          </a:prstGeom>
          <a:solidFill>
            <a:srgbClr val="503A2F">
              <a:alpha val="92000"/>
            </a:srgbClr>
          </a:solidFill>
          <a:ln w="12700">
            <a:solidFill>
              <a:srgbClr val="503A2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2600" y="3429000"/>
            <a:ext cx="2240280" cy="2240280"/>
          </a:xfrm>
          <a:prstGeom prst="ellipse">
            <a:avLst/>
          </a:prstGeom>
          <a:solidFill>
            <a:srgbClr val="1D3658">
              <a:alpha val="92000"/>
            </a:srgbClr>
          </a:solidFill>
          <a:ln w="12700">
            <a:solidFill>
              <a:srgbClr val="1D365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1554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868680" y="5285232"/>
            <a:ext cx="6720840" cy="0"/>
          </a:xfrm>
          <a:prstGeom prst="line">
            <a:avLst/>
          </a:prstGeom>
          <a:noFill/>
          <a:ln w="19050">
            <a:solidFill>
              <a:srgbClr val="F47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6509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DE"/>
                </a:solidFill>
              </a:rPr>
              <a:t>Ligjëratë 65 minuta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33472" y="56418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700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07792" y="5650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DE"/>
                </a:solidFill>
              </a:rPr>
              <a:t>Nivel: Fillestar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70832" y="56418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700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45152" y="5650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DE"/>
                </a:solidFill>
              </a:rPr>
              <a:t>Informatikë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 J E N D A   ·   6 5   M I N U T A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 i leksionit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31546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9202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751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90088" y="1892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7700"/>
                </a:solidFill>
              </a:rPr>
              <a:t>08'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578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235"/>
                </a:solidFill>
              </a:rPr>
              <a:t>Çfarë është C++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871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87684"/>
                </a:solidFill>
              </a:rPr>
              <a:t>gjuhë e kompajluar, IDE, compiler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069080" y="1645920"/>
            <a:ext cx="31546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19202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9751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1892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7700"/>
                </a:solidFill>
              </a:rPr>
              <a:t>10'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25112" y="2578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235"/>
                </a:solidFill>
              </a:rPr>
              <a:t>Instalimi në Windows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25112" y="2871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87684"/>
                </a:solidFill>
              </a:rPr>
              <a:t>VS Code + MSYS2/MinGW-w64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571232" y="1645920"/>
            <a:ext cx="31546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27264" y="19202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19751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{}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94392" y="1892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7700"/>
                </a:solidFill>
              </a:rPr>
              <a:t>10'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27264" y="2578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235"/>
                </a:solidFill>
              </a:rPr>
              <a:t>Konfigurimi i VS Code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27264" y="2871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87684"/>
                </a:solidFill>
              </a:rPr>
              <a:t>extensions, PATH, terminal, build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566928" y="3657600"/>
            <a:ext cx="31546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39319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867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990088" y="3904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7700"/>
                </a:solidFill>
              </a:rPr>
              <a:t>10'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4590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235"/>
                </a:solidFill>
              </a:rPr>
              <a:t>Hello World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4882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87684"/>
                </a:solidFill>
              </a:rPr>
              <a:t>programi i parë dhe struktura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4069080" y="3657600"/>
            <a:ext cx="31546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25112" y="39319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25112" y="39867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x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92240" y="3904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7700"/>
                </a:solidFill>
              </a:rPr>
              <a:t>12'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325112" y="4590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235"/>
                </a:solidFill>
              </a:rPr>
              <a:t>Variablat &amp; input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25112" y="4882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87684"/>
                </a:solidFill>
              </a:rPr>
              <a:t>tipet bazë, cout, cin, operatorët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571232" y="3657600"/>
            <a:ext cx="315468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827264" y="39319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7264" y="39867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?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994392" y="3904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7700"/>
                </a:solidFill>
              </a:rPr>
              <a:t>10'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827264" y="4590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235"/>
                </a:solidFill>
              </a:rPr>
              <a:t>if-else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27264" y="4882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87684"/>
                </a:solidFill>
              </a:rPr>
              <a:t>vendime me kushte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566928" y="5623560"/>
            <a:ext cx="11064240" cy="475488"/>
          </a:xfrm>
          <a:prstGeom prst="roundRect">
            <a:avLst>
              <a:gd name="adj" fmla="val 25000"/>
            </a:avLst>
          </a:prstGeom>
          <a:solidFill>
            <a:srgbClr val="FFF1DE"/>
          </a:solidFill>
          <a:ln w="8890">
            <a:solidFill>
              <a:srgbClr val="F5D8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577900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35"/>
                </a:solidFill>
              </a:rPr>
              <a:t>Detyrë gjatë orës: çdo student krijon një folder CppLeksioni1 dhe ekzekuton të paktën 3 programe.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O N T E K S T I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Çfarë është C++ dhe pse e mësojmë?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5440680" cy="3520440"/>
          </a:xfrm>
          <a:prstGeom prst="roundRect">
            <a:avLst>
              <a:gd name="adj" fmla="val 337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9476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842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9344" y="1965960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C++ në një fjali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4873752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235"/>
                </a:solidFill>
              </a:rPr>
              <a:t>• gjuhë programimi e fuqishme dhe e shpejtë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235"/>
                </a:solidFill>
              </a:rPr>
              <a:t>• përdoret për sisteme, lojëra, aplikacione desktop, embedded dhe algoritme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235"/>
                </a:solidFill>
              </a:rPr>
              <a:t>• ka kontroll të fortë mbi memorien dhe performancën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3520440"/>
          </a:xfrm>
          <a:prstGeom prst="roundRect">
            <a:avLst>
              <a:gd name="adj" fmla="val 337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9672" y="19476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19842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06056" y="1965960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Si mendon kompjuteri?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74536" y="2743200"/>
            <a:ext cx="4782312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235"/>
                </a:solidFill>
              </a:rPr>
              <a:t>• programuesi shkruan kod burimor (.cpp)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235"/>
                </a:solidFill>
              </a:rPr>
              <a:t>• kompajleri e përkthen në program ekzekutues (.exe)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235"/>
                </a:solidFill>
              </a:rPr>
              <a:t>• gabimet e sintaksës kapen para ekzekutimit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C++ nuk “interpretohet” direkt si tekst: zakonisht kompajlohet në një program që Windows mund ta ekzekutojë.</a:t>
            </a:r>
            <a:endParaRPr lang="en-US" sz="14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A R T A   E   M J E D I S I T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 + compiler + terminal: tre role të ndryshme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3154680" cy="2148840"/>
          </a:xfrm>
          <a:prstGeom prst="roundRect">
            <a:avLst>
              <a:gd name="adj" fmla="val 680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39112" y="217627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22311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9848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5"/>
                </a:solidFill>
              </a:rPr>
              <a:t>VS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87684"/>
                </a:solidFill>
              </a:rPr>
              <a:t>shkruajmë dhe organizojmë kodin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154680" cy="2148840"/>
          </a:xfrm>
          <a:prstGeom prst="roundRect">
            <a:avLst>
              <a:gd name="adj" fmla="val 6809"/>
            </a:avLst>
          </a:prstGeom>
          <a:solidFill>
            <a:srgbClr val="FFF1DE"/>
          </a:solidFill>
          <a:ln w="8890">
            <a:solidFill>
              <a:srgbClr val="F1D1A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50992" y="217627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22311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81728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5"/>
                </a:solidFill>
              </a:rPr>
              <a:t>g++ compiler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87684"/>
                </a:solidFill>
              </a:rPr>
              <a:t>përkthen .cpp në .exe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154680" cy="2148840"/>
          </a:xfrm>
          <a:prstGeom prst="roundRect">
            <a:avLst>
              <a:gd name="adj" fmla="val 680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62872" y="217627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2311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93608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5"/>
                </a:solidFill>
              </a:rPr>
              <a:t>Terminal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87684"/>
                </a:solidFill>
              </a:rPr>
              <a:t>japim komandat build/run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913632" y="2862072"/>
            <a:ext cx="384048" cy="0"/>
          </a:xfrm>
          <a:prstGeom prst="line">
            <a:avLst/>
          </a:prstGeom>
          <a:noFill/>
          <a:ln w="25400">
            <a:solidFill>
              <a:srgbClr val="F4770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16368" y="2862072"/>
            <a:ext cx="384048" cy="0"/>
          </a:xfrm>
          <a:prstGeom prst="line">
            <a:avLst/>
          </a:prstGeom>
          <a:noFill/>
          <a:ln w="25400">
            <a:solidFill>
              <a:srgbClr val="F4770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VS Code nuk është kompajleri. VS Code është editori; kompajleri është g++ dhe ne e thërrasim nga terminali ose nga konfigurimi i VS Code.</a:t>
            </a:r>
            <a:endParaRPr lang="en-US" sz="1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I N D O W S   ·   H A P I   1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Instalimi i Visual Studio Code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5212080" cy="3749040"/>
          </a:xfrm>
          <a:prstGeom prst="roundRect">
            <a:avLst>
              <a:gd name="adj" fmla="val 3171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90195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93852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00784" y="1920240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Çfarë instalojmë?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" y="2697480"/>
            <a:ext cx="464515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Shkarkoni VS Code nga faqja zyrtare e Microsoft.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Zgjidhni installer-in për Windows: User Installer x64.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Gjatë instalimit aktivizoni opsionin “Add to PATH”.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Aktivizoni “Open with Code” nëse dëshironi ta hapni folderin me right-click.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5257800" cy="3749040"/>
          </a:xfrm>
          <a:prstGeom prst="roundRect">
            <a:avLst>
              <a:gd name="adj" fmla="val 3171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190195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193852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{}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14616" y="19202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Pse VS Code?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2697480"/>
            <a:ext cx="469087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është i lehtë dhe i shpejtë për fillestarë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ka terminal të integruar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punon me extensions për C/C++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nuk na mbyll brenda një IDE të rëndë; e shohim qartë procesin build/run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Pas instalimit, hapni VS Code dhe kontrolloni: Terminal → New Terminal. Në këtë terminal do të testojmë g++.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I N D O W S   ·   H A P I   2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Instalimi i compiler-it g++ me MSYS2/MinGW-w64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989320" cy="3566160"/>
          </a:xfrm>
          <a:prstGeom prst="roundRect">
            <a:avLst>
              <a:gd name="adj" fmla="val 3077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91109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91109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191109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94560"/>
            <a:ext cx="547725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Hapni MSYS2 UCRT64 terminal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pacman -Syu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mbylleni terminalin nëse kërkohet, pastaj hapeni prapë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pacman -S --needed base-devel mingw-w64-ucrt-x86_64-toolchain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4434840" cy="356616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05472" y="19476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05472" y="19842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91856" y="196596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Çfarë po shtojmë?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0336" y="2743200"/>
            <a:ext cx="3867912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g++: kompajleri i C++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gdb: debugger për gabime logjike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make dhe mjete ndihmëse për build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bibliotekat minimale për programe C++ në Windows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Për klasën: instruktori mund ta instalojë paraprakisht ose të japë këto komanda në projektor.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I N D O W S   ·   H A P I   3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PATH: si e gjen Windows kompajlerin?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257800" cy="3931920"/>
          </a:xfrm>
          <a:prstGeom prst="roundRect">
            <a:avLst>
              <a:gd name="adj" fmla="val 3023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82496" y="182880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Shtoni këtë folder në PATH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" y="2606040"/>
            <a:ext cx="469087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C:\msys64\ucrt64\bin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Windows Search → “Environment Variables”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User variables → Path → Edit → New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235"/>
                </a:solidFill>
              </a:rPr>
              <a:t>• mbyllni dhe rihapni VS Code pas ndryshimit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73368" y="177393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4536" y="177393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75704" y="177393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57400"/>
            <a:ext cx="47457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g++ --version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gdb --version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402336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403250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Rezultati i pritur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64808" y="4480560"/>
            <a:ext cx="4727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g++ (Rev...)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Copyright 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Nëse shfaq version, PATH është OK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Nëse “g++ is not recognized” shfaqet në terminal, problemi zakonisht është PATH ose terminali nuk është rihapur pas ndryshimit.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I N D O W S   ·   H A P I   4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Konfigurimi i VS Code për C++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3429000" cy="3474720"/>
          </a:xfrm>
          <a:prstGeom prst="roundRect">
            <a:avLst>
              <a:gd name="adj" fmla="val 34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92024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41832" y="195681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28216" y="193852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Extensions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696" y="2715768"/>
            <a:ext cx="286207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C/C++ nga Microsoft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C/C++ Extension Pack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Code Runner është opsional; mos u varni vetëm tek ai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4389120" y="1664208"/>
            <a:ext cx="3429000" cy="3474720"/>
          </a:xfrm>
          <a:prstGeom prst="roundRect">
            <a:avLst>
              <a:gd name="adj" fmla="val 34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92024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195681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31536" y="193852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Folder projekti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2715768"/>
            <a:ext cx="286207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File → Open Folder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krijoni: CppLeksioni1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brenda tij: main.cpp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mos punoni vetëm me file të vetëm jashtë folderit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092440" y="1664208"/>
            <a:ext cx="3429000" cy="3474720"/>
          </a:xfrm>
          <a:prstGeom prst="roundRect">
            <a:avLst>
              <a:gd name="adj" fmla="val 34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48472" y="192024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48472" y="195681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&gt;_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34856" y="193852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Terminal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03336" y="2715768"/>
            <a:ext cx="286207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Terminal → New Terminal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zgjidhni PowerShell ose Command Prompt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testoni g++ --version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235"/>
                </a:solidFill>
              </a:rPr>
              <a:t>• kompiloni manualisht herën e parë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Rregulli i klasës: çdo program ruhet, kompilohet dhe ekzekutohet nga terminali i VS Code.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O J E K T I   I   P A R Ë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Struktura minimale e punës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181965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181965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9304" y="181965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103120"/>
            <a:ext cx="488289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CppLeksioni1/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main.cpp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.vscode/       # krijohet më vonë nëse bëjmë build tasks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1600200"/>
            <a:ext cx="4983480" cy="3337560"/>
          </a:xfrm>
          <a:prstGeom prst="roundRect">
            <a:avLst>
              <a:gd name="adj" fmla="val 3562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02552" y="185623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02552" y="1892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88936" y="187452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Pse folder dhe jo file i vetëm?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57416" y="2651760"/>
            <a:ext cx="4416552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235"/>
                </a:solidFill>
              </a:rPr>
              <a:t>• më vonë do të kemi disa file .cpp dhe .h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235"/>
                </a:solidFill>
              </a:rPr>
              <a:t>• VS Code e lidh terminalin me folderin aktual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235"/>
                </a:solidFill>
              </a:rPr>
              <a:t>• konfigurimi i build/debug ruhet brenda .vscode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235"/>
                </a:solidFill>
              </a:rPr>
              <a:t>• projekti bëhet më i lehtë për t’u dërguar ose kontrolluar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Në terminalin e VS Code, përdorni komandën dir për të parë file-t dhe cd për të hyrë në folderin e projektit.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O G R A M I   I   P A R Ë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Hello World në C++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6675120" cy="3977640"/>
          </a:xfrm>
          <a:prstGeom prst="roundRect">
            <a:avLst>
              <a:gd name="adj" fmla="val 2759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81965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9576" y="181965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0744" y="181965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103120"/>
            <a:ext cx="6163056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#include &lt;iostream&gt;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using namespace std;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main()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"Hello World!" &lt;&lt; endl;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0;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8120" y="196596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219456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22037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Dalja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10728" y="26517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Hello World!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3703320"/>
            <a:ext cx="3611880" cy="1554480"/>
          </a:xfrm>
          <a:prstGeom prst="roundRect">
            <a:avLst>
              <a:gd name="adj" fmla="val 7647"/>
            </a:avLst>
          </a:prstGeom>
          <a:solidFill>
            <a:srgbClr val="223B5E"/>
          </a:solidFill>
          <a:ln w="8890">
            <a:solidFill>
              <a:srgbClr val="223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74152" y="3977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Çfarë provon?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9016" y="4480560"/>
            <a:ext cx="3044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6F0"/>
                </a:solidFill>
              </a:rPr>
              <a:t>• kompajleri punon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DE6F0"/>
                </a:solidFill>
              </a:rPr>
              <a:t>• terminali ekzekuton programin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DE6F0"/>
                </a:solidFill>
              </a:rPr>
              <a:t>• VS Code po lexon folderin saktë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 A T O M I A   E   K O D I T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Çfarë bën secili rresht?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77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#include &lt;iostream&gt;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235"/>
                </a:solidFill>
              </a:rPr>
              <a:t>sjell bibliotekën për cout/cin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58368" y="2386584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69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using namespace std;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4892040" y="256946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235"/>
                </a:solidFill>
              </a:rPr>
              <a:t>na lejon të shkruajmë cout në vend të std::cout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58368" y="3172968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55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main()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892040" y="33558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235"/>
                </a:solidFill>
              </a:rPr>
              <a:t>pika ku fillon ekzekutimi i programit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58368" y="3959352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142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cout &lt;&lt; ...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4892040" y="41422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235"/>
                </a:solidFill>
              </a:rPr>
              <a:t>shfaq tekst në ekran/terminal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658368" y="4745736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9286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return 0;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4892040" y="492861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235"/>
                </a:solidFill>
              </a:rPr>
              <a:t>sinjalizon përfundim normal të programit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main() është dera hyrëse: në një program të thjeshtë C++, ekzekutimi fillon aty.</a:t>
            </a:r>
            <a:endParaRPr lang="en-US" sz="1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&gt;_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U I L D   &amp;   R U N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Kompilimi manual nga terminali i VS Code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5669280" cy="2971800"/>
          </a:xfrm>
          <a:prstGeom prst="roundRect">
            <a:avLst>
              <a:gd name="adj" fmla="val 3692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177393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177393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9304" y="177393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57400"/>
            <a:ext cx="515721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1) Kompilo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g++ main.cpp -o programi.exe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2) Ekzekuto në Windows PowerShell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.\programi.exe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720840" y="1554480"/>
            <a:ext cx="4663440" cy="1463040"/>
          </a:xfrm>
          <a:prstGeom prst="roundRect">
            <a:avLst>
              <a:gd name="adj" fmla="val 7500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178308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17922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Dalja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13448" y="2240280"/>
            <a:ext cx="4133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Hello World!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3429000"/>
            <a:ext cx="4663440" cy="17830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76872" y="368503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76872" y="37216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63256" y="3703320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Kuptimi i komandës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31736" y="4480560"/>
            <a:ext cx="40965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g++ main.cpp: kompajlo këtë 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-o programi.exe: emri i programit final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.\programi.exe: ekzekuto programin në folderin aktual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Nëse ndryshoni kodin, duhet ta kompiloni përsëri para se të ekzekutoni versionin e ri.</a:t>
            </a:r>
            <a:endParaRPr lang="en-US" sz="14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A B I M E   T Ë   Z A K O N S H M E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Kur programi nuk nis: lexoni mesazhin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74720" cy="3840480"/>
          </a:xfrm>
          <a:prstGeom prst="roundRect">
            <a:avLst>
              <a:gd name="adj" fmla="val 3421"/>
            </a:avLst>
          </a:prstGeom>
          <a:solidFill>
            <a:srgbClr val="F9E7E5"/>
          </a:solidFill>
          <a:ln w="8890">
            <a:solidFill>
              <a:srgbClr val="E4C0B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82496" y="182880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4437"/>
                </a:solidFill>
              </a:rPr>
              <a:t>g++ not recognized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" y="2606040"/>
            <a:ext cx="2907792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PATH mungon ose është gabim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terminali nuk është rihapur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MSYS2/MinGW nuk u instalua saktë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4407408" y="1554480"/>
            <a:ext cx="3474720" cy="3840480"/>
          </a:xfrm>
          <a:prstGeom prst="roundRect">
            <a:avLst>
              <a:gd name="adj" fmla="val 3421"/>
            </a:avLst>
          </a:prstGeom>
          <a:solidFill>
            <a:srgbClr val="FFF1DE"/>
          </a:solidFill>
          <a:ln w="8890">
            <a:solidFill>
              <a:srgbClr val="E8D1B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49824" y="182880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7700"/>
                </a:solidFill>
              </a:rPr>
              <a:t>No such file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18304" y="2606040"/>
            <a:ext cx="2907792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terminali është në folder të gabuar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file quhet main.cpp.txt nga Windows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komanda u shkrua me emër tjetër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8183880" y="1554480"/>
            <a:ext cx="3474720" cy="3840480"/>
          </a:xfrm>
          <a:prstGeom prst="roundRect">
            <a:avLst>
              <a:gd name="adj" fmla="val 3421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39912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{}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26296" y="182880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Syntax error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94776" y="2606040"/>
            <a:ext cx="2907792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mungon ; në fund të rreshtit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mungon } ose 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• cout/cin pa iostream ose namespace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Në C++, gabimi nuk është “armiku”; mesazhi i kompajlerit është udhëzimi i parë për ta rregulluar kodin.</a:t>
            </a:r>
            <a:endParaRPr lang="en-US" sz="14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A Z A T   E   G J U H Ë S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Variablat: kuti me emër në memorie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20240"/>
            <a:ext cx="2926080" cy="2103120"/>
          </a:xfrm>
          <a:prstGeom prst="roundRect">
            <a:avLst>
              <a:gd name="adj" fmla="val 6957"/>
            </a:avLst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2194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mosha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2743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77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int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3246120" cy="2926080"/>
          </a:xfrm>
          <a:prstGeom prst="roundRect">
            <a:avLst>
              <a:gd name="adj" fmla="val 4063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9476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19842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94376" y="19659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Deklarim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62856" y="2743200"/>
            <a:ext cx="2679192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235"/>
                </a:solidFill>
              </a:rPr>
              <a:t>• i themi C++ çfarë tipi ka kutia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235"/>
                </a:solidFill>
              </a:rPr>
              <a:t>• i japim një emër të qartë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235"/>
                </a:solidFill>
              </a:rPr>
              <a:t>• opsionalisht i japim vlerë fillestare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818120" y="169164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19288" y="191109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0456" y="191109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1624" y="191109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2194560"/>
            <a:ext cx="309981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mosha = 20;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double paga = 750.50;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 nota = 'A';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bool aktiv = true;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Një variabël ka tri gjëra kryesore: tipin, emrin dhe vlerën.</a:t>
            </a:r>
            <a:endParaRPr lang="en-US" sz="14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I P E T   B A Z Ë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Çfarë lloj vlere mund të ruajmë?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82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43200" y="1691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numra të plotë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16824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68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-3, 0, 35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276856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double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43200" y="2459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numra me presje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24505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68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3.14, 750.50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3044952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2186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43200" y="32278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një karakter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0" y="32186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68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'A', 'x'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3813048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867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3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743200" y="3995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tekst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0" y="3986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68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"Krenar"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" y="4581144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77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bool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743200" y="47640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e vërtetë / e gabuar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0" y="47548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68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true, false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Tipi i variablës ndikon në atë që mund të ruajmë dhe në operacionet që mund të bëjmë me të.</a:t>
            </a:r>
            <a:endParaRPr lang="en-US" sz="14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 P U T   /   O U T P U T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Marrja e të dhënave me cin dhe shfaqja me cout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6537960" cy="3886200"/>
          </a:xfrm>
          <a:prstGeom prst="roundRect">
            <a:avLst>
              <a:gd name="adj" fmla="val 2824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181965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181965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9304" y="181965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103120"/>
            <a:ext cx="602589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#include &lt;iostream&gt;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using namespace std;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main()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emri;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mosha;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"Shkruaj emrin: ";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emri;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"Shkruaj moshen: ";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mosha;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emri &lt;&lt; " eshte " &lt;&lt; mosha &lt;&lt; " vjec.";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0;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3794760" cy="1645920"/>
          </a:xfrm>
          <a:prstGeom prst="roundRect">
            <a:avLst>
              <a:gd name="adj" fmla="val 6667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201168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0208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Shembull dalje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82128" y="2468880"/>
            <a:ext cx="3264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Shkruaj emrin: 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Shkruaj moshen: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Ana eshte 20 vjec.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3840480"/>
            <a:ext cx="3794760" cy="1508760"/>
          </a:xfrm>
          <a:prstGeom prst="roundRect">
            <a:avLst>
              <a:gd name="adj" fmla="val 7879"/>
            </a:avLst>
          </a:prstGeom>
          <a:solidFill>
            <a:srgbClr val="223B5E"/>
          </a:solidFill>
          <a:ln w="8890">
            <a:solidFill>
              <a:srgbClr val="223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411480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Kujdes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00416" y="4617720"/>
            <a:ext cx="32278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DE6F0"/>
                </a:solidFill>
              </a:rPr>
              <a:t>• cin me &gt;&gt; lexon deri te hapësira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DE6F0"/>
                </a:solidFill>
              </a:rPr>
              <a:t>• cout me &lt;&lt; dërgon tekst në ekran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DE6F0"/>
                </a:solidFill>
              </a:rPr>
              <a:t>• emrat e variablave duhet të jenë kuptimplotë</a:t>
            </a:r>
            <a:endParaRPr lang="en-US" sz="10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+-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 E R A C I O N E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Operatorët që na duhen për kushtet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3337560" cy="3474720"/>
          </a:xfrm>
          <a:prstGeom prst="roundRect">
            <a:avLst>
              <a:gd name="adj" fmla="val 3562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41832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28216" y="18288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Aritmetikë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696" y="2606040"/>
            <a:ext cx="277063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+ mbledhje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- zbritje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* shumëzim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/ pjesëtim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% mbetja e pjesëtimit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554480"/>
            <a:ext cx="3337560" cy="3474720"/>
          </a:xfrm>
          <a:prstGeom prst="roundRect">
            <a:avLst>
              <a:gd name="adj" fmla="val 3562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77256" y="18288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Krahasim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45736" y="2606040"/>
            <a:ext cx="277063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== barazi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!= jo e barabartë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&gt; më e madhe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&lt; më e vogël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&gt;= dhe &lt;=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83880" y="1554480"/>
            <a:ext cx="3337560" cy="3474720"/>
          </a:xfrm>
          <a:prstGeom prst="roundRect">
            <a:avLst>
              <a:gd name="adj" fmla="val 3562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18105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39912" y="1847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&amp;&amp;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26296" y="18288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Logjikë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94776" y="2606040"/>
            <a:ext cx="277063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&amp;&amp; DHE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|| OSE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! JO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235"/>
                </a:solidFill>
              </a:rPr>
              <a:t>• përdoren te if për kushte më komplekse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Gabimi klasik: = jep vlerë, ndërsa == krahason dy vlera.</a:t>
            </a:r>
            <a:endParaRPr lang="en-US" sz="14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E N D I M E T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if-else: programi zgjedh një rrugë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1645920"/>
            <a:ext cx="1920240" cy="1463040"/>
          </a:xfrm>
          <a:prstGeom prst="diamond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kushti?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3886200" cy="1005840"/>
          </a:xfrm>
          <a:prstGeom prst="roundRect">
            <a:avLst>
              <a:gd name="adj" fmla="val 11818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553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65A"/>
                </a:solidFill>
              </a:rPr>
              <a:t>TRUE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4544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35"/>
                </a:solidFill>
              </a:rPr>
              <a:t>ekzekutohet blloku if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4251960"/>
            <a:ext cx="3886200" cy="1005840"/>
          </a:xfrm>
          <a:prstGeom prst="roundRect">
            <a:avLst>
              <a:gd name="adj" fmla="val 11818"/>
            </a:avLst>
          </a:prstGeom>
          <a:solidFill>
            <a:srgbClr val="F9E7E5"/>
          </a:solidFill>
          <a:ln w="8890">
            <a:solidFill>
              <a:srgbClr val="E4C0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4553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4437"/>
                </a:solidFill>
              </a:rPr>
              <a:t>FALSE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35"/>
                </a:solidFill>
              </a:rPr>
              <a:t>ekzekutohet blloku else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A65A"/>
                </a:solidFill>
              </a:rPr>
              <a:t>↙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366760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4437"/>
                </a:solidFill>
              </a:rPr>
              <a:t>↘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Kushti duhet të japë rezultat boolean: true ose false.</a:t>
            </a:r>
            <a:endParaRPr lang="en-US" sz="14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O G R A M   I   P L O T Ë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if-else me moshën e përdoruesit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6537960" cy="4114800"/>
          </a:xfrm>
          <a:prstGeom prst="roundRect">
            <a:avLst>
              <a:gd name="adj" fmla="val 2667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172821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172821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9304" y="172821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11680"/>
            <a:ext cx="6025896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#include &lt;iostream&gt;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using namespace std;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main()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mosha;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"Shkruaj moshen: ";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mosha;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(mosha &gt;= 18)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cout &lt;&lt; "Je i rritur.";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 else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cout &lt;&lt; "Je ende nen 18.";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0;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3794760" cy="1280160"/>
          </a:xfrm>
          <a:prstGeom prst="roundRect">
            <a:avLst>
              <a:gd name="adj" fmla="val 8571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201168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0208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Dalja 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82128" y="246888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Shkruaj moshen: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Je i rritur.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3383280"/>
            <a:ext cx="3794760" cy="1280160"/>
          </a:xfrm>
          <a:prstGeom prst="roundRect">
            <a:avLst>
              <a:gd name="adj" fmla="val 8571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45552" y="361188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36210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Dalja 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82128" y="406908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Shkruaj moshen: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Je ende nen 18.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5074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DDE6F0"/>
                </a:solidFill>
              </a:rPr>
              <a:t>Vëreni: &gt;= është operator krahasimi; blloku if ka { } dhe blloku else ka { }.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Ë R S Ë R I T J E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loop: kur e dimë sa herë përsëritet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440680" cy="3337560"/>
          </a:xfrm>
          <a:prstGeom prst="roundRect">
            <a:avLst>
              <a:gd name="adj" fmla="val 3288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81965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181965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5024" y="181965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103120"/>
            <a:ext cx="492861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(int i = 1; i &lt;= 5; i++)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i &lt;&lt; endl;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583680" y="178308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E9F6EE"/>
          </a:solidFill>
          <a:ln w="8890">
            <a:solidFill>
              <a:srgbClr val="BF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2011680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2020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53C"/>
                </a:solidFill>
              </a:rPr>
              <a:t>Dalja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76288" y="2468880"/>
            <a:ext cx="1435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653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23960" y="1600200"/>
            <a:ext cx="2651760" cy="3337560"/>
          </a:xfrm>
          <a:prstGeom prst="roundRect">
            <a:avLst>
              <a:gd name="adj" fmla="val 4483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79992" y="185623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9992" y="1892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66376" y="187452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Tri pjesët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34856" y="2651760"/>
            <a:ext cx="2084832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235"/>
                </a:solidFill>
              </a:rPr>
              <a:t>• int i = 1 → fillimi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62235"/>
                </a:solidFill>
              </a:rPr>
              <a:t>• i &lt;= 5 → kushti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62235"/>
                </a:solidFill>
              </a:rPr>
              <a:t>• i++ → rritja pas çdo xhiroje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for është shumë i përshtatshëm kur e dimë paraprakisht numrin e përsëritjeve.</a:t>
            </a:r>
            <a:endParaRPr lang="en-US" sz="1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Ë R S Ë R I T J E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while loop: përsërit derisa kushti të bëhet false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852160" cy="3794760"/>
          </a:xfrm>
          <a:prstGeom prst="roundRect">
            <a:avLst>
              <a:gd name="adj" fmla="val 2892"/>
            </a:avLst>
          </a:prstGeom>
          <a:solidFill>
            <a:srgbClr val="1C2C3D"/>
          </a:solidFill>
          <a:ln w="8890">
            <a:solidFill>
              <a:srgbClr val="1C2C3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28216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1728216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5024" y="1728216"/>
            <a:ext cx="100584" cy="100584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011680"/>
            <a:ext cx="5340096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numer;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cout &lt;&lt; "Shkruaj 0 per te ndaluar: ";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cin &gt;&gt; numer;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while (numer != 0)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"Shkrove: " &lt;&lt; numer &lt;&lt; endl;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"Shkruaj 0 per te ndaluar: ";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numer;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5E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903720" y="1508760"/>
            <a:ext cx="4526280" cy="1874520"/>
          </a:xfrm>
          <a:prstGeom prst="roundRect">
            <a:avLst>
              <a:gd name="adj" fmla="val 6341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59752" y="176479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59752" y="180136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46136" y="178308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Kur përdoret while?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14616" y="2560320"/>
            <a:ext cx="39593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235"/>
                </a:solidFill>
              </a:rPr>
              <a:t>• kur nuk e dimë sa herë do të përsëritet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235"/>
                </a:solidFill>
              </a:rPr>
              <a:t>• kur presim input nga përdoruesi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235"/>
                </a:solidFill>
              </a:rPr>
              <a:t>• kur ndalesa varet nga një kusht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6903720" y="3749040"/>
            <a:ext cx="4526280" cy="1554480"/>
          </a:xfrm>
          <a:prstGeom prst="roundRect">
            <a:avLst>
              <a:gd name="adj" fmla="val 7647"/>
            </a:avLst>
          </a:prstGeom>
          <a:solidFill>
            <a:srgbClr val="F9E7E5"/>
          </a:solidFill>
          <a:ln w="8890">
            <a:solidFill>
              <a:srgbClr val="E4C0B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59752" y="40050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9752" y="40416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946136" y="402336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4437"/>
                </a:solidFill>
              </a:rPr>
              <a:t>Kujdes nga cikli i pafund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14616" y="4800600"/>
            <a:ext cx="395935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235"/>
                </a:solidFill>
              </a:rPr>
              <a:t>• brenda while duhet të ndryshojë diçka që ndikon te kushti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235"/>
                </a:solidFill>
              </a:rPr>
              <a:t>• nëse numer nuk lexohet përsëri, cikli nuk ndalet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while është ideal për “vazhdo derisa përdoruesi të shkruajë 0”.</a:t>
            </a:r>
            <a:endParaRPr lang="en-US" sz="14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&lt;&gt;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O R   K U N D R E J T   W H I L E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Cilin loop zgjedhim?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508760"/>
            <a:ext cx="10881360" cy="713232"/>
          </a:xfrm>
          <a:prstGeom prst="roundRect">
            <a:avLst>
              <a:gd name="adj" fmla="val 3846"/>
            </a:avLst>
          </a:prstGeom>
          <a:solidFill>
            <a:srgbClr val="142236"/>
          </a:solidFill>
          <a:ln w="8890">
            <a:solidFill>
              <a:srgbClr val="1422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09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</a:rPr>
              <a:t>Situata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4800600" y="1709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</a:rPr>
              <a:t>for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909560" y="1709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</a:rPr>
              <a:t>while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658368" y="2267712"/>
            <a:ext cx="1088136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Numri i përsëritjeve dihet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4800600" y="2468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zgjedhja më e qartë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909560" y="24688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mundet, por jo ideal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658368" y="3026664"/>
            <a:ext cx="10881360" cy="713232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27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Input derisa përdoruesi të ndalojë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4800600" y="3227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jo shumë praktik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909560" y="3227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zgjedhja më e qartë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658368" y="3785616"/>
            <a:ext cx="1088136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86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Counter i thjeshtë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4800600" y="39867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shumë i qartë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909560" y="3986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duhet ta menaxhojmë vetë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658368" y="4544568"/>
            <a:ext cx="10881360" cy="713232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45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Rreziku i ciklit pafund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4800600" y="47457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më i ulët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909560" y="4745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62235"/>
                </a:solidFill>
              </a:rPr>
              <a:t>më i lartë nëse harrojmë ndryshimin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Në këtë leksion mjafton të kuptojmë idenë: loop = përsëritje e kontrolluar nga një kusht.</a:t>
            </a:r>
            <a:endParaRPr lang="en-US" sz="14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5394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89888" y="5669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A K T I K Ë   N Ë   K L A S Ë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1389888" y="78638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 ushtrime të shkurtra për ta mbyllur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3429000" cy="3611880"/>
          </a:xfrm>
          <a:prstGeom prst="roundRect">
            <a:avLst>
              <a:gd name="adj" fmla="val 34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85623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41832" y="1892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28216" y="18745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Ushtrimi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696" y="2651760"/>
            <a:ext cx="286207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Krijo program që lexon emrin dhe moshën.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Shfaq: “Ana është 20 vjeç”.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Kompilo me g++ dhe ekzekuto .exe.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429000" cy="3611880"/>
          </a:xfrm>
          <a:prstGeom prst="roundRect">
            <a:avLst>
              <a:gd name="adj" fmla="val 34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85623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1892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31536" y="18745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Ushtrimi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2651760"/>
            <a:ext cx="286207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Lexo një notë nga 1 deri në 10.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Nëse nota &gt;= 5 shfaq “kalues”.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Përndryshe shfaq “jo kalues”.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1600200"/>
            <a:ext cx="3429000" cy="3611880"/>
          </a:xfrm>
          <a:prstGeom prst="roundRect">
            <a:avLst>
              <a:gd name="adj" fmla="val 3467"/>
            </a:avLst>
          </a:prstGeom>
          <a:solidFill>
            <a:srgbClr val="EEF2F7"/>
          </a:solidFill>
          <a:ln w="8890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48472" y="185623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48472" y="1892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34856" y="18745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235"/>
                </a:solidFill>
              </a:rPr>
              <a:t>Ushtrimi 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03336" y="2651760"/>
            <a:ext cx="286207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Me for: shfaq numrat 1 deri 10.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Me while: shfaq numrat 10 deri 1.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235"/>
                </a:solidFill>
              </a:rPr>
              <a:t>• Ndrysho programin që të shfaqë vetëm numrat çift.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8056"/>
            </a:avLst>
          </a:prstGeom>
          <a:solidFill>
            <a:srgbClr val="FFF1DE"/>
          </a:solidFill>
          <a:ln w="8890">
            <a:solidFill>
              <a:srgbClr val="F6DE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79592"/>
            <a:ext cx="256032" cy="256032"/>
          </a:xfrm>
          <a:prstGeom prst="ellipse">
            <a:avLst/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841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235"/>
                </a:solidFill>
              </a:rPr>
              <a:t>Kontrolli minimal: a e krijove main.cpp, a e kompajlove me g++, a e ekzekutove programi.exe?</a:t>
            </a:r>
            <a:endParaRPr lang="en-US" sz="14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700"/>
                </a:solidFill>
              </a:rPr>
              <a:t>P Ë R M B L E D H J 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" y="9875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Çfarë duhet të mbani mend?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257800" cy="3200400"/>
          </a:xfrm>
          <a:prstGeom prst="roundRect">
            <a:avLst>
              <a:gd name="adj" fmla="val 3714"/>
            </a:avLst>
          </a:prstGeom>
          <a:solidFill>
            <a:srgbClr val="223B5E"/>
          </a:solidFill>
          <a:ln w="8890">
            <a:solidFill>
              <a:srgbClr val="223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1762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22128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19656" y="219456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Nga instalimi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8136" y="2971800"/>
            <a:ext cx="46908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• VS Code është editori; g++ është kompajleri.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• PATH e bën komandën g++ të dukshme në terminal.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• programi C++ kompilohet në .exe para ekzekutimit.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74920" cy="3200400"/>
          </a:xfrm>
          <a:prstGeom prst="roundRect">
            <a:avLst>
              <a:gd name="adj" fmla="val 3714"/>
            </a:avLst>
          </a:prstGeom>
          <a:solidFill>
            <a:srgbClr val="223B5E"/>
          </a:solidFill>
          <a:ln w="8890">
            <a:solidFill>
              <a:srgbClr val="223B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1112" y="217627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7700"/>
          </a:solidFill>
          <a:ln w="12700">
            <a:solidFill>
              <a:srgbClr val="F477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2128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97496" y="219456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Nga gjuha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65976" y="2971800"/>
            <a:ext cx="450799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• Hello World teston mjedisin dhe strukturën main().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• variablat kanë tip, emër dhe vlerë.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• if-else zgjedh rrugë; for/while përsërisin kodin.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5715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B84A"/>
                </a:solidFill>
              </a:rPr>
              <a:t>Quiz oral: Çfarë bën g++? Cili është dallimi mes = dhe ==? Kur zgjedhim while në vend të for?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· Leksioni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842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· Leksioni 1</dc:title>
  <dc:subject>C++ Leksioni 1</dc:subject>
  <dc:creator>OpenAI</dc:creator>
  <cp:lastModifiedBy>OpenAI</cp:lastModifiedBy>
  <cp:revision>1</cp:revision>
  <dcterms:created xsi:type="dcterms:W3CDTF">2026-08-21T08:59:00Z</dcterms:created>
  <dcterms:modified xsi:type="dcterms:W3CDTF">2026-08-21T08:59:00Z</dcterms:modified>
</cp:coreProperties>
</file>