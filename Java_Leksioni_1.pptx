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Mirësevini në leksionin e parë të Java. Sot nisim nga zeroja: çfarë është Java, si instalohet JDK, programi i parë 'Hello World', variablat, vendimet me if-else dhe ciklet e para (for &amp; while). Ky është leksion 65-minutësh me shembuj praktikë. Inkurajoni studentët të kodojnë bashkë me ju.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Prezantoni planin. Theksoni që çdo temë ka pjesë praktike. Kohët janë udhëzuese — nëse studentët ngecin te instalimi, mund të ridistribuoni minutat. Qëllimi kryesor sot: nga asgjë te programi që merr vendime dhe përsërit kod.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daton nga 1995 dhe mbetet ndër gjuhët më të përdorura. 'Write once, run anywhere' është ideja qendrore: shkruajmë kodin një herë dhe ekzekutohet në çdo pajisje që ka JVM. Pyetni studentët ku e kanë hasur Java (Android është shembulli më i afërt).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Analogji e dobishme: JVM është motori, JRE është makina e gatshme për të udhëtuar, JDK është e gjithë ofiçina ku e ndërtojmë makinën. Ne, si zhvillues, na duhet JDK sepse dëshirojmë të SHKRUAJMË kod, jo vetëm ta ekzekutojmë.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JDK është 'çanta e veglave' e zhvilluesit. Vegla më e rëndësishme sot është javac (kompajleri) dhe java (ekzekutuesi). LTS = Long Term Support; për fillestarët rekomandoni JDK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Nëse është e mundur, bëni instalimin live në ekran. Rekomandoni Adoptium (Temurin) sepse është falas dhe pa regjistrim. Studentët që kanë probleme mund t'i ndihmoni gjatë pushimit.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është momenti 'aha': kur shohin versionin, instalimi është konfirmuar. Shpjegoni që 'java' ekzekuton dhe 'javac' kompilon. Nëse dikujt i del gabim, problem më i shpeshtë është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Rekomandoni IntelliJ IDEA Community (falas) për studentët. Shpjegoni që IDE bën ndriçimin e sintaksës, plotësimin automatik dhe ekzekutimin me një klik — gjë që i ndihmon fillestarët të mësojnë më shpejt.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është programi i detyrueshëm i çdo fillimi. Mos e shpjegoni ende çdo fjalë — vetëm ekzekutojeni që të shohin daljen 'Hello World'. Detajet i marrim në slajdin tjetër. Sigurohuni që emri i klasës (Main) përputhet me emrin e skedarit (Main.java).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Kalojeni rresht për rresht. Mos u thelloni te 'static' apo 'String[] args' — thoni vetëm që janë të domosdoshme dhe do t'i kuptojnë më vonë. Theksoni dy gabimet më të shpeshta të fillestarëve: harresa e pikëpresjes dhe mospërputhja emër-klase / emër-skedari.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Shpjegoni pse Java kalon nëpër bytecode: pikërisht kjo e bën portable. javac përkthen njëherë; JVM-ja e çdo sistemi e ekzekuton të njëjtin .class. Në IDE, të dyja komandat ndodhin me një klik mbi butonin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Përdorni analogjinë e kutisë me etiketë — funksionon shumë mirë me fillestarët. Theksoni që tipi caktohet kur e krijojmë variablën dhe se emrat duhet të jenë kuptimplotë (mosha, jo 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Fokusohuni te 5 tipet bazë. Theksoni ndryshimin: char përdor thonjëza njëshe ('A'), String përdor thonjëza dyshe ("A"). boolean mban vetëm true/false — do të na duhet menjëherë te if-else.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Ekzekutojeni live. Theksoni operatorin + për bashkimin e tekstit (konkatenim) — studentët e ngatërrojnë me mbledhjen. Ndryshoni vlerat dhe tregoni si ndryshon dalja.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Operatorët e krahasimit dhe ata logjikë janë çelësi për if-else. Theksoni ndryshimin midis = (caktim) dhe == (krahasim) — ky është gabim klasik. Jepni një shembull të shpejtë: mosha &gt;= 18 kthen true ose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Analogji jetësore: 'Nëse bie shi, marr çadrën; përndryshe, dal pa të.' Programi vlerëson kushtin dhe zgjedh një degë. Kushti gjithmonë jep një vlerë boolean (true/false).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Ndërveproni me klasën: ndryshoni moshën në 15 dhe pyesni çfarë do të printohet. Theksoni kllapat gjarpërore { } që përcaktojnë secilin bllok dhe që kushti shkon në kllapa të rrumbullakëta ( 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Theksoni renditjen: kushtet vlerësohen nga sipër poshtë dhe vetëm i pari që është true ekzekutohet. Prandaj kushti më specifik (&gt;=90) duhet të vijë para atij më të përgjithshëm (&gt;=60).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Tregoni krahasimin: e njëjta dalje, por me shumë më pak kod. Ky është momenti ku studentët e kuptojnë fuqinë e cikleve. Sot i prezantojmë vetëm — do t'i thellojmë në leksionin tjetër.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Ndani for-in në tri pjesë dhe ekzekutojeni hap pas hapi në tabelë: i=1 → printo → i=2 → ... → i=6 ndalon sepse kushti bëhet false. Ky 'dry run' i ndihmon shumë studentët.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Krahasoni for me while: japin të njëjtin rezultat. for është i përshtatshëm kur numërojmë; while kur nuk e dimë paraprakisht numrin e përsëritjeve. Theksoni fort rrezikun e ciklit të pafundëm — gabimi më i shpeshtë me 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Rikapitulloni shkurt secilën temë. Pyetni klasën një pyetje për secilën për të verifikuar të kuptuarit. Lidhni temat: variablat mbajnë të dhëna, if-else vendos mbi to, ciklet i përsërisin veprimet.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Detyrat kombinojnë gjithçka të sotmen. Detyra 3 (çift/tek me %) është më sfiduesja — jepni një udhëzim: numër % 2 == 0 do të thotë çift. Inkurajoni studentët të eksperimentojnë dhe të bëjnë gabime.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8288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Hyrje në Programimin me Java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instalimi i JDK-së deri te ciklet e para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41248" y="434340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65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65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Objektivat dhe 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Java &amp; JDK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04672" y="304495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Koncepti, JVM/JRE/JDK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 &amp; mjedisi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626864" y="304495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JDK, PATH, IDE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parë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449056" y="304495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World, kompilimi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Variablat &amp; tipet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04672" y="53858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double, String…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Vendimet: if / else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4626864" y="53858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kushtet dhe degët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Ciklet: for &amp; while</a:t>
            </a: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8449056" y="53858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përsëritja e kodit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Java?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Gjuhë programimi e nivelit të lartë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Sintaksë e qartë, afër gjuhës angleze — e lehtë për t'u lexuar.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orientuar nga objektet (OOP)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organizohet në klasa dhe objekte.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once, run anywhere"</a:t>
            </a:r>
            <a:endParaRPr lang="en-US" sz="15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njëjti program ekzekutohet kudo falë JVM-së.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537960" y="160020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0" y="1847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përdoret Java?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58000" y="2432304"/>
            <a:ext cx="457200" cy="4572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253288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2359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98080" y="2670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Aplikacione celulare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0" y="3255264"/>
            <a:ext cx="457200" cy="4572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335584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0" y="31821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Web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498080" y="34930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Serverë &amp; API të mëdha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858000" y="4078224"/>
            <a:ext cx="457200" cy="4572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417880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40050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498080" y="43159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Programe për kompjuter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58000" y="4901184"/>
            <a:ext cx="457200" cy="4572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500176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48280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 të mëdha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498080" y="51389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Banka, telekom, ndërmarrje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ARKITEKTURA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JDK, JRE, JVM — si lidhen?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85800" y="169164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BE7D2"/>
          </a:solidFill>
          <a:ln w="19050">
            <a:solidFill>
              <a:srgbClr val="E873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37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Java Development Kit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2377440"/>
            <a:ext cx="4389120" cy="3108960"/>
          </a:xfrm>
          <a:prstGeom prst="roundRect">
            <a:avLst>
              <a:gd name="adj" fmla="val 2941"/>
            </a:avLst>
          </a:prstGeom>
          <a:solidFill>
            <a:srgbClr val="DCE7F2"/>
          </a:solidFill>
          <a:ln w="19050">
            <a:solidFill>
              <a:srgbClr val="5B8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 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Runtime Environment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42033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0" y="3566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
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Virtual Machine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Ekzekuton bytecode-in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09360" y="1783080"/>
            <a:ext cx="566928" cy="566928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1764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040880" y="2148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 virtuale që ekzekuton bytecode-in Java në çdo sistem operativ.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309360" y="3154680"/>
            <a:ext cx="566928" cy="566928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918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3136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 = JVM + librari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040880" y="3520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Gjithçka që nevojitet për të EKZEKUTUAR një program Java.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09360" y="4526280"/>
            <a:ext cx="566928" cy="566928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6634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507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= JRE + vegla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040880" y="4892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Shton kompajlerin (javac) dhe veglat për të ZHVILLUAR programe.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DEVELOPMENT KIT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përmban JDK-ja?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756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730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22199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45920" y="23500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Kompajleri — kthen kodin .java në bytecode .class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691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20756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730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22199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269480" y="23500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Ekzekutuesi — nis programin përmes JVM-së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94360" y="32918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36758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730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82219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3547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Vegla &amp; librari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45920" y="39502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jar, javadoc dhe librari standarde të gatshme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17920" y="32918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36758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730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82219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9480" y="3547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Dokumentacioni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269480" y="39502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Referenca e klasave dhe metodave të Java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94360" y="507492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FBEDD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285232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25880" y="51937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Këshillë: 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Zgjidhni gjithmonë një version LTS (p.sh. JDK 17 ose JDK 21) — janë të qëndrueshëm dhe mbështeten për vite.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 i JDK — hap pas hapi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212848" cy="338328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71016" y="2103120"/>
            <a:ext cx="768096" cy="768096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8" name="Text 5"/>
          <p:cNvSpPr/>
          <p:nvPr/>
        </p:nvSpPr>
        <p:spPr>
          <a:xfrm>
            <a:off x="1271016" y="2157984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13232" y="31089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Shko te faqja zyrtare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3232" y="402336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adoptium.net  ose  oracle.com/java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324612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16352" y="1783080"/>
            <a:ext cx="2212848" cy="338328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38728" y="2103120"/>
            <a:ext cx="768096" cy="768096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14" name="Text 10"/>
          <p:cNvSpPr/>
          <p:nvPr/>
        </p:nvSpPr>
        <p:spPr>
          <a:xfrm>
            <a:off x="3538728" y="2157984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2980944" y="31089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 versionin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980944" y="402336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version LTS, p.sh. JDK 21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246120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084064" y="1783080"/>
            <a:ext cx="2212848" cy="338328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06440" y="2103120"/>
            <a:ext cx="768096" cy="768096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20" name="Text 15"/>
          <p:cNvSpPr/>
          <p:nvPr/>
        </p:nvSpPr>
        <p:spPr>
          <a:xfrm>
            <a:off x="5806440" y="2157984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5248656" y="31089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 sistemin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248656" y="402336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macOS · Linux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246120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351776" y="1783080"/>
            <a:ext cx="2212848" cy="338328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74152" y="2103120"/>
            <a:ext cx="768096" cy="768096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26" name="Text 20"/>
          <p:cNvSpPr/>
          <p:nvPr/>
        </p:nvSpPr>
        <p:spPr>
          <a:xfrm>
            <a:off x="8074152" y="2157984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7516368" y="31089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Shkarko instaluesin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516368" y="402336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Skedari .msi / .pkg / .tar.gz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3246120"/>
            <a:ext cx="201168" cy="20116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19488" y="1783080"/>
            <a:ext cx="2212848" cy="338328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341864" y="2103120"/>
            <a:ext cx="768096" cy="768096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32" name="Text 25"/>
          <p:cNvSpPr/>
          <p:nvPr/>
        </p:nvSpPr>
        <p:spPr>
          <a:xfrm>
            <a:off x="10341864" y="2157984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3" name="Text 26"/>
          <p:cNvSpPr/>
          <p:nvPr/>
        </p:nvSpPr>
        <p:spPr>
          <a:xfrm>
            <a:off x="9784080" y="31089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Ekzekuto &amp; ndiq hapat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9784080" y="402336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 'Next' deri në fund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ECF4"/>
          </a:solidFill>
          <a:ln/>
        </p:spPr>
      </p:sp>
      <p:sp>
        <p:nvSpPr>
          <p:cNvPr id="36" name="Text 29"/>
          <p:cNvSpPr/>
          <p:nvPr/>
        </p:nvSpPr>
        <p:spPr>
          <a:xfrm>
            <a:off x="82296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Shënim: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Windows, instaluesi zakonisht e konfiguron vetë PATH. Në macOS/Linux mund të kërkohet konfigurim manual.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Verifikimi i instalimit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459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 terminalin / command prompt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CMD ose PowerShell · macOS/Linux: Terminal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Shkruaj komandat e kontrollit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Nëse shfaqet versioni, JDK-ja është gati për punë.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Nëse del gabim 'command not found'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Kontrollo që PATH përmban dosjen bin të JDK-së.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46520" y="1783080"/>
            <a:ext cx="5120640" cy="1307592"/>
          </a:xfrm>
          <a:prstGeom prst="roundRect">
            <a:avLst>
              <a:gd name="adj" fmla="val 629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4768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84885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705002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702552" y="2240280"/>
            <a:ext cx="4663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46520" y="3794760"/>
            <a:ext cx="5120640" cy="2011680"/>
          </a:xfrm>
          <a:prstGeom prst="roundRect">
            <a:avLst>
              <a:gd name="adj" fmla="val 4091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0233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 i pritur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766560" y="4572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openjdk version "21.0.2"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21.0.2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VEGLAT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Mjedisi i zhvillimit (IDE)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= Integrated Development Environment — një program që bashkon editorin, kompajlerin dhe ekzekutimin në një vend.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23317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42033"/>
          </a:solidFill>
          <a:ln w="12700">
            <a:solidFill>
              <a:srgbClr val="1420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40180" y="2651760"/>
            <a:ext cx="914400" cy="9144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348" y="285292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Rekomanduar për fillestarë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31520" y="4892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 Community është falas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01568" y="23317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47388" y="2651760"/>
            <a:ext cx="914400" cy="914400"/>
          </a:xfrm>
          <a:prstGeom prst="ellipse">
            <a:avLst/>
          </a:prstGeom>
          <a:solidFill>
            <a:srgbClr val="14203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285292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38728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38728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&amp; i fuqishëm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538728" y="4892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Falas, shumë i përdorur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23317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54596" y="2651760"/>
            <a:ext cx="914400" cy="914400"/>
          </a:xfrm>
          <a:prstGeom prst="ellipse">
            <a:avLst/>
          </a:prstGeom>
          <a:solidFill>
            <a:srgbClr val="1420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64" y="285292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45936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45936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lehtë me shtojca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345936" y="4892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Kërkon konfigurim shtesë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015984" y="23317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61804" y="2651760"/>
            <a:ext cx="914400" cy="914400"/>
          </a:xfrm>
          <a:prstGeom prst="ellipse">
            <a:avLst/>
          </a:prstGeom>
          <a:solidFill>
            <a:srgbClr val="14203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972" y="2852928"/>
            <a:ext cx="512064" cy="5120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53144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NetBeans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153144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Zyrtar nga Apache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9153144" y="4892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thjeshtë për nisje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Fillestarët mund të nisin edhe me një editor të thjeshtë + terminal, por një IDE e lehtëson shumë punën.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PARË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80160" y="1828800"/>
            <a:ext cx="6675120" cy="1874520"/>
          </a:xfrm>
          <a:prstGeom prst="roundRect">
            <a:avLst>
              <a:gd name="adj" fmla="val 439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1328" y="20116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682496" y="20116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883664" y="20116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536192" y="228600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75320" y="1828800"/>
            <a:ext cx="3291840" cy="2788920"/>
          </a:xfrm>
          <a:prstGeom prst="roundRect">
            <a:avLst>
              <a:gd name="adj" fmla="val 3279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program Java: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49640" y="25146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7E0EC"/>
                </a:solidFill>
              </a:rPr>
              <a:t>nis brenda një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klase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7E0EC"/>
                </a:solidFill>
              </a:rPr>
              <a:t>ekzekutimi fillon te metoda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7E0EC"/>
                </a:solidFill>
              </a:rPr>
              <a:t>shkruan në ekran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8016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Provoje: ndrysho tekstin brenda thonjëzave me emrin tënd dhe ekzekuto sërish.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KUPTOJMË ÇDO PJESË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e "Hello World"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17922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0392" y="21945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Deklaron një klasë me emrin Main. Skedari duhet të quhet Main.java.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3952" y="17922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main(...)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73952" y="21945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kryesore — pika nga ku nis ekzekutimi i programit.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31638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System.out.println(...)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50392" y="35661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Shkruan tekstin në ekran dhe kalon në rreshtin tjetër.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30175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3952" y="31638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  thonjëzat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73952" y="35661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Gjithçka brenda thonjëzave është tekst (String).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4360" y="43891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" y="45354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pikëpresja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50392" y="4937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urdhër (statement) përfundon me pikëpresje.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17920" y="438912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3952" y="45354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  kllapat gjarpërore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473952" y="4937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Përcaktojnë fillimin dhe fundin e një blloku kodi.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KODI TE REZULTATI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Kompilimi dhe ekzekutimi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33856" y="2468880"/>
            <a:ext cx="914400" cy="914400"/>
          </a:xfrm>
          <a:prstGeom prst="ellipse">
            <a:avLst/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267004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5204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burim që shkruajmë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3200400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92608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511296" y="2468880"/>
            <a:ext cx="914400" cy="9144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670048"/>
            <a:ext cx="512064" cy="5120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017520" y="35204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3017520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Kompajleri e përkthen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4" y="3200400"/>
            <a:ext cx="237744" cy="23774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30352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888736" y="2468880"/>
            <a:ext cx="914400" cy="914400"/>
          </a:xfrm>
          <a:prstGeom prst="ellipse">
            <a:avLst/>
          </a:prstGeom>
          <a:solidFill>
            <a:srgbClr val="142033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2670048"/>
            <a:ext cx="512064" cy="5120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35204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Main.class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5394960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i gjeneruar</a:t>
            </a:r>
            <a:endParaRPr lang="en-US" sz="11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3200400"/>
            <a:ext cx="237744" cy="23774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68096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8266176" y="2468880"/>
            <a:ext cx="914400" cy="9144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2670048"/>
            <a:ext cx="512064" cy="51206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772400" y="35204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JVM (java)</a:t>
            </a:r>
            <a:endParaRPr lang="en-US" sz="1450" dirty="0"/>
          </a:p>
        </p:txBody>
      </p:sp>
      <p:sp>
        <p:nvSpPr>
          <p:cNvPr id="28" name="Text 18"/>
          <p:cNvSpPr/>
          <p:nvPr/>
        </p:nvSpPr>
        <p:spPr>
          <a:xfrm>
            <a:off x="7772400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Ekzekuton programin</a:t>
            </a:r>
            <a:endParaRPr lang="en-US" sz="11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3224" y="3200400"/>
            <a:ext cx="237744" cy="23774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10058400" y="21488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643616" y="2468880"/>
            <a:ext cx="914400" cy="914400"/>
          </a:xfrm>
          <a:prstGeom prst="ellipse">
            <a:avLst/>
          </a:prstGeom>
          <a:solidFill>
            <a:srgbClr val="2FA84F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4784" y="2670048"/>
            <a:ext cx="512064" cy="51206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0149840" y="35204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</a:t>
            </a:r>
            <a:endParaRPr lang="en-US" sz="1450" dirty="0"/>
          </a:p>
        </p:txBody>
      </p:sp>
      <p:sp>
        <p:nvSpPr>
          <p:cNvPr id="34" name="Text 22"/>
          <p:cNvSpPr/>
          <p:nvPr/>
        </p:nvSpPr>
        <p:spPr>
          <a:xfrm>
            <a:off x="10149840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në ekran</a:t>
            </a:r>
            <a:endParaRPr lang="en-US" sz="1150" dirty="0"/>
          </a:p>
        </p:txBody>
      </p:sp>
      <p:sp>
        <p:nvSpPr>
          <p:cNvPr id="35" name="Shape 23"/>
          <p:cNvSpPr/>
          <p:nvPr/>
        </p:nvSpPr>
        <p:spPr>
          <a:xfrm>
            <a:off x="2148840" y="4892040"/>
            <a:ext cx="7863840" cy="978408"/>
          </a:xfrm>
          <a:prstGeom prst="roundRect">
            <a:avLst>
              <a:gd name="adj" fmla="val 8411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2350008" y="50749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7" name="Shape 25"/>
          <p:cNvSpPr/>
          <p:nvPr/>
        </p:nvSpPr>
        <p:spPr>
          <a:xfrm>
            <a:off x="2551176" y="50749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8" name="Shape 26"/>
          <p:cNvSpPr/>
          <p:nvPr/>
        </p:nvSpPr>
        <p:spPr>
          <a:xfrm>
            <a:off x="2752344" y="50749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9" name="Text 27"/>
          <p:cNvSpPr/>
          <p:nvPr/>
        </p:nvSpPr>
        <p:spPr>
          <a:xfrm>
            <a:off x="2404872" y="5349240"/>
            <a:ext cx="7406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krijon Main.class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ekzekuton programin</a:t>
            </a:r>
            <a:endParaRPr lang="en-US" sz="1400" dirty="0"/>
          </a:p>
        </p:txBody>
      </p:sp>
      <p:sp>
        <p:nvSpPr>
          <p:cNvPr id="40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1" name="Text 2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RUAJTJA E TË DHËNAVE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Variablat — koncepti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459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Variabël = kontejner në memorie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 një vlerë që mund ta përdorim dhe ndryshojmë më vonë.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tre pjesë: tip, emër, vlerë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 tregon çfarë lloji të dhënash mban.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Analogji: kuti me etiketë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Etiketa = emri, çfarë ka brenda = vlera.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92240" y="173736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Sintaksa e përgjithshme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66560" y="2377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2200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mosha</a:t>
            </a:r>
            <a:pPr indent="0" marL="0">
              <a:buNone/>
            </a:pPr>
            <a:r>
              <a:rPr lang="en-US" sz="2200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2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220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9037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emri</a:t>
            </a:r>
            <a:pPr indent="0" marL="0">
              <a:buNone/>
            </a:pPr>
            <a:r>
              <a:rPr lang="en-US" sz="1200" b="1" dirty="0">
                <a:solidFill>
                  <a:srgbClr val="D9A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vlera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379476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4203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0" y="425196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4480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858000" y="5468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0" y="4434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0EC"/>
                </a:solidFill>
              </a:rPr>
              <a:t>Emri i variablës është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6A63B"/>
                </a:solidFill>
              </a:rPr>
              <a:t>"etiketa"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0EC"/>
                </a:solidFill>
              </a:rPr>
              <a:t>Vlera 20 është çfarë ruhet brenda.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MUND TË RUAJMË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Tipet kryesore të të dhënave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18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0690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Tipi</a:t>
                      </a:r>
                      <a:endParaRPr lang="en-US" sz="1500" dirty="0"/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Çfarë ruan</a:t>
                      </a:r>
                      <a:endParaRPr lang="en-US" sz="1500" dirty="0"/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Shembull</a:t>
                      </a:r>
                      <a:endParaRPr lang="en-US" sz="1500" dirty="0"/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Numra të plotë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 -5, 2025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Numra me presje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3.14, 9.99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vërtetë / e gabuar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true, false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Një karakter i vetëm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'A', '?'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 (varg karakteresh)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"Java", "Ana"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94360" y="5532120"/>
            <a:ext cx="11018520" cy="685800"/>
          </a:xfrm>
          <a:prstGeom prst="roundRect">
            <a:avLst>
              <a:gd name="adj" fmla="val 10667"/>
            </a:avLst>
          </a:prstGeom>
          <a:solidFill>
            <a:srgbClr val="FBEDD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705856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98448" y="561441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Kujtoni: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double, boolean dhe char janë tipe primitive. String fillon me shkronjë të madhe dhe përdor thonjëza të dyfishta.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9224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VARIABLAT NË PRAKTIKË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Shembuj variablash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80160" y="1783080"/>
            <a:ext cx="6766560" cy="2441448"/>
          </a:xfrm>
          <a:prstGeom prst="roundRect">
            <a:avLst>
              <a:gd name="adj" fmla="val 3371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132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68249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88366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536192" y="2240280"/>
            <a:ext cx="630936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cmimi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9.99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eshteStudent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ka "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vjet"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366760" y="1783080"/>
            <a:ext cx="3200400" cy="3931920"/>
          </a:xfrm>
          <a:prstGeom prst="roundRect">
            <a:avLst>
              <a:gd name="adj" fmla="val 2857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6410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41080" y="24231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variabël ka tipin e vet.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përdor ' ', String përdor " ".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Shenja + bashkon tekst me vlera.</a:t>
            </a:r>
            <a:endParaRPr lang="en-US" sz="13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00" i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Dalja: Ana ka 20 vjet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 DREJT IF-ELSE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Operatorët — na duhen për vendime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73736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14203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Aritmetikë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60604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mbledhje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zbritje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shumëzim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pjesëtim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mbetja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25112" y="173736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173736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E8730C"/>
          </a:solidFill>
          <a:ln/>
        </p:spPr>
      </p:sp>
      <p:sp>
        <p:nvSpPr>
          <p:cNvPr id="12" name="Text 9"/>
          <p:cNvSpPr/>
          <p:nvPr/>
        </p:nvSpPr>
        <p:spPr>
          <a:xfrm>
            <a:off x="4553712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Krahasim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45152" y="260604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e barabartë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  e ndryshme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më e madhe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më e vogël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 &lt;=  të barabarta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55864" y="173736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55864" y="173736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2E6E8E"/>
          </a:solidFill>
          <a:ln/>
        </p:spPr>
      </p:sp>
      <p:sp>
        <p:nvSpPr>
          <p:cNvPr id="16" name="Text 13"/>
          <p:cNvSpPr/>
          <p:nvPr/>
        </p:nvSpPr>
        <p:spPr>
          <a:xfrm>
            <a:off x="8284464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Logjikë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75904" y="260604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DHE (and)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  OSE (or)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  JO (not)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 I RRJEDHËS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Marrja e vendimeve: if / else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4592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Programet duhet të vendosin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varësi të një kushti, ekzekutojnë kod të ndryshëm.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— nëse kushti është true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Blloku brenda if-it ekzekutohet vetëm nëse kushti plotësohet.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— përndryshe</a:t>
            </a:r>
            <a:endParaRPr lang="en-US" sz="15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Ekzekutohet kur kushti është false.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543800" y="17830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42033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4380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 &gt;= 18 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38160" y="2606040"/>
            <a:ext cx="-1005840" cy="685800"/>
          </a:xfrm>
          <a:prstGeom prst="line">
            <a:avLst/>
          </a:prstGeom>
          <a:noFill/>
          <a:ln w="19050">
            <a:solidFill>
              <a:srgbClr val="6A788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18320" y="2606040"/>
            <a:ext cx="1005840" cy="685800"/>
          </a:xfrm>
          <a:prstGeom prst="line">
            <a:avLst/>
          </a:prstGeom>
          <a:noFill/>
          <a:ln w="19050">
            <a:solidFill>
              <a:srgbClr val="6A788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96696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52160" y="32918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E9F4EC"/>
          </a:solidFill>
          <a:ln w="19050">
            <a:solidFill>
              <a:srgbClr val="8CC79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rritur"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235440" y="32918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BEAE7"/>
          </a:solidFill>
          <a:ln w="19050">
            <a:solidFill>
              <a:srgbClr val="E8A9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3544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mitur"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4434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Rruga e programit varet nga rezultati i kushtit.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if / else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80160" y="1783080"/>
            <a:ext cx="6400800" cy="2441448"/>
          </a:xfrm>
          <a:prstGeom prst="roundRect">
            <a:avLst>
              <a:gd name="adj" fmla="val 3371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132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68249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88366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536192" y="2240280"/>
            <a:ext cx="594360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mosha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rritur"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mitur"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01000" y="178308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27532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lexohet: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75320" y="24688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kontrollohet kushti në kllapa ( 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nëse true → ekzekuton bllokun e if-it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nëse false → ekzekuton bllokun e else-it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Dalja: </a:t>
            </a:r>
            <a:pPr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rritur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MË SHUMË SE DY ZGJEDHJE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 degë: if — else if — else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400800" cy="3008376"/>
          </a:xfrm>
          <a:prstGeom prst="roundRect">
            <a:avLst>
              <a:gd name="adj" fmla="val 27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594360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"Shkelqyeshem"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"Kaluar"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"Mbetur"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0" y="1783080"/>
            <a:ext cx="4297680" cy="1115568"/>
          </a:xfrm>
          <a:prstGeom prst="roundRect">
            <a:avLst>
              <a:gd name="adj" fmla="val 7377"/>
            </a:avLst>
          </a:prstGeom>
          <a:solidFill>
            <a:srgbClr val="E9F4EC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&gt;= 90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89520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A84F"/>
                </a:solidFill>
              </a:rPr>
              <a:t>→  </a:t>
            </a:r>
            <a:pPr indent="0" marL="0">
              <a:buNone/>
            </a:pPr>
            <a:r>
              <a:rPr lang="en-US" sz="1500" b="1" dirty="0">
                <a:solidFill>
                  <a:srgbClr val="2FA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"Shkelqyeshem"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0" y="3081528"/>
            <a:ext cx="4297680" cy="1115568"/>
          </a:xfrm>
          <a:prstGeom prst="roundRect">
            <a:avLst>
              <a:gd name="adj" fmla="val 7377"/>
            </a:avLst>
          </a:prstGeom>
          <a:solidFill>
            <a:srgbClr val="FBEDDD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3264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&gt;= 60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89520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30C"/>
                </a:solidFill>
              </a:rPr>
              <a:t>→  </a:t>
            </a:r>
            <a:pPr indent="0" marL="0">
              <a:buNone/>
            </a:pPr>
            <a:r>
              <a:rPr lang="en-US" sz="15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"Kaluar"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315200" y="4379976"/>
            <a:ext cx="4297680" cy="1115568"/>
          </a:xfrm>
          <a:prstGeom prst="roundRect">
            <a:avLst>
              <a:gd name="adj" fmla="val 7377"/>
            </a:avLst>
          </a:prstGeom>
          <a:solidFill>
            <a:srgbClr val="FBEAE7"/>
          </a:solidFill>
          <a:ln/>
        </p:spPr>
      </p:sp>
      <p:sp>
        <p:nvSpPr>
          <p:cNvPr id="18" name="Text 15"/>
          <p:cNvSpPr/>
          <p:nvPr/>
        </p:nvSpPr>
        <p:spPr>
          <a:xfrm>
            <a:off x="7589520" y="4562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përndryshe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589520" y="49469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→  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"Mbetur"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0" y="5669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kontrollon kushtet nga lart-poshtë dhe ndalon te i pari që plotësohet.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PËRSËRITJA E KODIT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Ciklet (loops) — pse na duhen?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4592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Përsëritim kod pa e shkruar shumë herë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vend të 5 rreshtave të njëjtë, shkruajmë një cikël.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llojet kryesore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— kur e dimë sa herë përsëritet.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kur përsëritim sa kohë një kusht është true.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53796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CIKËL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0" y="1965960"/>
            <a:ext cx="507492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39128" y="21488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6940296" y="21488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7141464" y="21488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6793992" y="2423160"/>
            <a:ext cx="46177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3796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CIKËL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37960" y="4251960"/>
            <a:ext cx="507492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39128" y="44348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940296" y="44348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7141464" y="44348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93992" y="4709160"/>
            <a:ext cx="461772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I PARË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for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280160" y="1828800"/>
            <a:ext cx="6675120" cy="1307592"/>
          </a:xfrm>
          <a:prstGeom prst="roundRect">
            <a:avLst>
              <a:gd name="adj" fmla="val 629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1328" y="20116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682496" y="20116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883664" y="20116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536192" y="2286000"/>
            <a:ext cx="6217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"Numri: "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75320" y="182880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pjesët e for-it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49640" y="25146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549640" y="28437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Inicimi — pika e nisjes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49640" y="34290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549640" y="37581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Kushti — sa kohë të vazhdojë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43434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549640" y="46725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Hapi — rrit i-në me 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80160" y="42976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Dalja:  </a:t>
            </a:r>
            <a:pPr indent="0" marL="0">
              <a:buNone/>
            </a:pPr>
            <a:r>
              <a:rPr lang="en-US" sz="1300" b="1" i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Numri: 1 … Numri: 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 SA KOHË KUSHTI ËSHTË TRUE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while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400800" cy="2157984"/>
          </a:xfrm>
          <a:prstGeom prst="roundRect">
            <a:avLst>
              <a:gd name="adj" fmla="val 381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59436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"Numri: "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5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0" y="178308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 sa kohë kushti është true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Kushti kontrollohet para çdo përsëritjeje.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Duhet ta ndryshojmë kushtin brenda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Rreshti i++ e afron ciklin drejt përfundimit.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0" y="3977640"/>
            <a:ext cx="4297680" cy="1691640"/>
          </a:xfrm>
          <a:prstGeom prst="roundRect">
            <a:avLst>
              <a:gd name="adj" fmla="val 4865"/>
            </a:avLst>
          </a:prstGeom>
          <a:solidFill>
            <a:srgbClr val="FBEAE7"/>
          </a:solidFill>
          <a:ln w="12700">
            <a:solidFill>
              <a:srgbClr val="E8A99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4206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0" y="4187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Kujdes: cikli i pafundëm!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71232" y="4663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Nëse harrojmë i++, kushti mbetet gjithmonë true dhe programi nuk ndalet kurrë.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112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&amp; JDK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Koncepti dhe roli i JVM/JRE/JDK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112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JDK, verifikimi dhe zgjedhja e një IDE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112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e programit dhe println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78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Variablat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double, boolean, char, String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78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Vendimet dhe kushtet logjike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78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&amp; while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Përsëritja e kodit me cikle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Instalo JDK + IDE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09360" y="16459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Verifiko me java -version dhe krijo projektin e parë.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me emrin tënd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09360" y="260604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Ndrysho tekstin që programi të përshëndesë me emrin tënd.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apo tek?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356616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 if-else dhe operatorin % për të kontrolluar një numër.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Numëro 1 deri 10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09360" y="45262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Printo numrat një herë me for dhe një herë me while.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tjetër: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thellohemi te ciklet, vargjet (arrays) dhe metodat.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Hyrje në Programimin me Java — Leksioni 1</dc:title>
  <dc:subject>PptxGenJS Presentation</dc:subject>
  <dc:creator>Kreni</dc:creator>
  <cp:lastModifiedBy>Kreni</cp:lastModifiedBy>
  <cp:revision>1</cp:revision>
  <dcterms:created xsi:type="dcterms:W3CDTF">2026-07-01T14:51:33Z</dcterms:created>
  <dcterms:modified xsi:type="dcterms:W3CDTF">2026-07-01T14:51:33Z</dcterms:modified>
</cp:coreProperties>
</file>