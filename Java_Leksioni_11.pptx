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Ndryshim i madh: deri tani gjithçka ka qenë në terminal (System.out.println). Sot krijojmë DRITARE të vërteta me butona që klikohen. Përdorim Swing — pjesë e JDK-së, s'kërkon instalime. Shënim praktik: çdo shembull kompilohet dhe logjika testohet; dritaret duhen provuar në kompjuterin tuaj (ilustrimet në slajde tregojnë pamjen). 70 minuta.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Arku i ditës: dritare bosh → widget-e → ngjarje → tre mini-aplikacione reale. Kodi është kompiluar; logjika e makinës e konvertuesit është ekzekutuar dhe jep numra të saktë. Dritaret ilustrohen; jepuni studentëve kodin që t'i provojnë.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Kontrast vizual: i njëjti program (mosha) në të dyja botët. Terminali: sekuencial, tekst. GUI: ndërveprues, vizual. Theksoni fjalinë e fundit: logjika që kanë mësuar (Scanner, if, klasa) mbetet — GUI-ja është vetëm 'lëkura' e re. Ilustrimi djathtas tregon pamjen; s'është foto.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Katër rreshtat që do t'i shkruajnë gjithmonë: (1) new JFrame(titulli); (2) setSize; (3) setDefaultCloseOperation(EXIT_ON_CLOSE) — PA këtë, mbyllja e dritares s'e ndal programin, gabim klasik; (4) setVisible(true) — pa të, dritarja ekziston por s'shihet. Kodi u kompilua me sukses. Dritarja provohet në kompjuterin tuaj — ilustrimi tregon rezultatin.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Fletë referimi për JFrame. Rreshti i tretë (setDefaultCloseOperation) është ai që harrojnë më shpesh: pa të, X-i fsheh dritaren por procesi Java mbetet gjallë në sfond. Këshilla e setVisible-it në fund është praktikë e mirë profesionale.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 widget-et e para: JLabel (tekst i palëvizshëm) dhe JButton (buton i klikueshëm). Modeli i përhershëm: krijo → shto në dritare. FlowLayout i vendos njëri pas tjetrit, majtas-djathtas. import javax.swing.* merr të gjitha me një rresht. Kodi u kompilua; dritarja provohet lokalisht.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Layout-i vendos POZICIONIN e widget-eve. Tri më të përdorurit: FlowLayout (rresht), GridLayout (rrjetë — perfekt për makinën llogaritëse që vjen), BorderLayout (pesë zona). Diagramet janë skematike. Nga këto, makina do të përdorë GridLayout për butonat dhe BorderLayout për ekran+butona.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JTextField = kutia ku shkruan përdoruesi; getText() lexon përmbajtjen — paralel i drejtpërdrejtë me Scanner. setText() ndryshon një etiketë. Modeli: kliko buton → lexo fushë → përpuno → shfaq rezultat. Kodi u kompilua. Ky model çon te konvertuesi më vonë.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Koncepti më i ri i ditës: programi s'rrjedh nga lart-poshtë si deri tani — ai PRET ngjarje. addActionListener regjistron kod që 'fle' derisa përdoruesi klikon. Lambda e -&gt; {...} është thjesht mënyra e shkurtër për të dhënë atë kod. Mos u zhytni në teorinë e lambda-ve; mjafton 'kod që ekzekutohet kur klikohet'.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Shembulli minimal i ngjarjes: etiketa ndryshon nga 'Ende pa klikuar' në 'Butoni u klikua'. Ilustrimet para/pas tregojnë efektin. Kodi u kompilua. Ky është 'Hello World' i ngjarjeve — çdo aplikacion tjetër ndërton mbi këtë.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Mini-app i parë. Koncepti i ri: GJENDJA që ruhet mes ngjarjeve. numeruesi jeton jashtë main si static, ndryshe s'do të kujtonte vlerën. Logjika e rritjes u ekzekutua headless: 3 klikime → 3. Lidheni me kontrata: e njëjta ide si fusha e një objekti që ruan vlerën.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Makina, pjesa 1: struktura. BorderLayout — ekrani lart (NORTH), butonat në qendër (CENTER). Butonat gjenerohen me cikël nga një varg tekstesh — s'shkruajmë 16 herë new JButton. GridLayout(4,4) i rreshton në rrjetë 4x4. Çdo buton merr të njëjtin listener që thërret kliko(teksti). Kodi u kompilua.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Logjika e makinës. Katër rastet: C (pastro), operator (ruaj numrin e parë + shenjën), = (llogarit), shifër (shto në ekran). E gjithë sekuenca u ekzekutua headless dhe jep vlera të sakta: 7*6=42, C pastron, 9+10=19, 7/2=3.5, 7/0=Infinity (pjesetim double me zero, jo NaN). E njëjta ruajtje gjendjeje si numeruesi — vetëm më e pasur. switch nga leksionet e hershme.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Aplikacioni kulmues: bashkon GJITHÇKA. Dy fusha, një buton, llogaritje, DHE try-catch nga L10 për hyrje jonumerike — nëse përdoruesi shkruan tekst, kap NumberFormatException dhe tregon 'shkruaj numra'. Logjika u ekzekutua: 1000/100=10 euro, 2500/100=25 euro. Ky slajd tregon se GUI ndërton MBI gjithçka që mësuan, s'zëvendëson asgjë.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 pyetje JFrame/widget, dy pyetje ngjarje. Kodi i pyetjeve u kompilua/ekzekutua.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b — setVisible(true); setSize cakton madhësinë por s'e shfaq. Q2: c — JTextField me getText(); JLabel vetëm tregon, JButton klikohet.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Q3: b — kodi i listener-it 'fle' derisa klikohet. Q4: b — printon 5! println ekzekutohet menjëherë pas setVisible, PARA se kushdo të klikojë butonin; x rritet vetëm NËSE dikush klikon, çka s'ka ndodhur ende. Kjo pyetje teston pikërisht keqkuptimin e Q3. E verifikuar headless: printon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dhe Q4 janë çift: Q3 pyet konceptin, Q4 e teston me kod real. Nëse dikush tha 15 te Q4, e ka humbur pikërisht atë që tha te Q3. Ky është mësimi më i rëndësishëm i ngjarjeve: kodi PRET, s'rrjedh menjëherë.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Fjalia për t'u marrë me vete: 'GUI-ja s'zëvendëson Java-n që dini — i jep një fytyrë të re'. Makina dhe konvertuesi përdorën switch, try-catch, parsim, gjendje: gjithçka nga leksionet e mëparshme. Java tjetër: mund të vazhdojmë me GUI më të thellë ose të kalojmë te HashMap — sipas planit.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Detyra praktike, nga dritarja bosh te një konvertues i plotë. Detyra 4 kombinon gjithçka: fusha, ngjarje, formulë, try-catch. Kërkojuni edhe një screenshot të dritares së tyre — sepse ndryshe nga programet e terminalit, GUI-t duhen parë. Kontrolloni git log-un si gjithmonë.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029200" cy="5029200"/>
          </a:xfrm>
          <a:prstGeom prst="ellipse">
            <a:avLst/>
          </a:prstGeom>
          <a:solidFill>
            <a:srgbClr val="E8730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1E3050">
              <a:alpha val="7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23444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LEKSIONI 11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6384" y="1645920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Ndërfaqet grafike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Swing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1272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terminali te dritarja: JFrame · butona · ngjarje · mini-aplikacione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41248" y="3703320"/>
            <a:ext cx="6766560" cy="1239012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42416" y="38862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1243584" y="38862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444752" y="38862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4160520"/>
            <a:ext cx="630936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JFrame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JFrame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"Dritarja ime"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butoni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"Kliko me"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butoni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" y="5074920"/>
            <a:ext cx="6949440" cy="0"/>
          </a:xfrm>
          <a:prstGeom prst="line">
            <a:avLst/>
          </a:prstGeom>
          <a:noFill/>
          <a:ln w="19050">
            <a:solidFill>
              <a:srgbClr val="E8730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Ligjëratë 70 minuta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Fillestar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Informatikë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AGJENDA · 70 MINUTA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 i leksionit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842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99816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06'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04672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terminali te GUI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4672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Ç'është një ndërfaqe grafike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70832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26864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98424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22008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626864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Dritarja e parë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626864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JFrame — kuadri bazë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93024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49056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9842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744200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8449056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Widget-et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449056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JLabel, JButton, JTextField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251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99816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14'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804672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Ngjarjet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804672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addActionListener, klikimet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370832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26864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32511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22008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16'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4626864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Mini-aplikacionet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4626864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Numeruesi, makina, konvertuesi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8193024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449056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325112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744200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400" dirty="0"/>
          </a:p>
        </p:txBody>
      </p:sp>
      <p:sp>
        <p:nvSpPr>
          <p:cNvPr id="40" name="Text 31"/>
          <p:cNvSpPr/>
          <p:nvPr/>
        </p:nvSpPr>
        <p:spPr>
          <a:xfrm>
            <a:off x="8449056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përmbledhje</a:t>
            </a:r>
            <a:endParaRPr lang="en-US" sz="1500" dirty="0"/>
          </a:p>
        </p:txBody>
      </p:sp>
      <p:sp>
        <p:nvSpPr>
          <p:cNvPr id="41" name="Text 32"/>
          <p:cNvSpPr/>
          <p:nvPr/>
        </p:nvSpPr>
        <p:spPr>
          <a:xfrm>
            <a:off x="8449056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për vetëkontroll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GUI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terminali te ndërfaqja grafike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78308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1417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 tani — terminali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205740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Jep moshen: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 u pranua: 20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1783080"/>
            <a:ext cx="5120640" cy="2286000"/>
          </a:xfrm>
          <a:prstGeom prst="roundRect">
            <a:avLst>
              <a:gd name="adj" fmla="val 2000"/>
            </a:avLst>
          </a:prstGeom>
          <a:solidFill>
            <a:srgbClr val="ECEFF3"/>
          </a:solidFill>
          <a:ln w="15875">
            <a:solidFill>
              <a:srgbClr val="AAB4C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783080"/>
            <a:ext cx="5120640" cy="329184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1783080"/>
            <a:ext cx="5120640" cy="329184"/>
          </a:xfrm>
          <a:prstGeom prst="roundRect">
            <a:avLst>
              <a:gd name="adj" fmla="val 13889"/>
            </a:avLst>
          </a:prstGeom>
          <a:solidFill>
            <a:srgbClr val="2E3B4E"/>
          </a:solidFill>
          <a:ln/>
        </p:spPr>
      </p:sp>
      <p:sp>
        <p:nvSpPr>
          <p:cNvPr id="12" name="Shape 9"/>
          <p:cNvSpPr/>
          <p:nvPr/>
        </p:nvSpPr>
        <p:spPr>
          <a:xfrm>
            <a:off x="6492240" y="1947672"/>
            <a:ext cx="5120640" cy="164592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3" name="Text 10"/>
          <p:cNvSpPr/>
          <p:nvPr/>
        </p:nvSpPr>
        <p:spPr>
          <a:xfrm>
            <a:off x="6638544" y="18105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Aplikacioni im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1009376" y="189280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15" name="Shape 12"/>
          <p:cNvSpPr/>
          <p:nvPr/>
        </p:nvSpPr>
        <p:spPr>
          <a:xfrm>
            <a:off x="11192256" y="189280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16" name="Shape 13"/>
          <p:cNvSpPr/>
          <p:nvPr/>
        </p:nvSpPr>
        <p:spPr>
          <a:xfrm>
            <a:off x="11375136" y="1892808"/>
            <a:ext cx="109728" cy="109728"/>
          </a:xfrm>
          <a:prstGeom prst="ellipse">
            <a:avLst/>
          </a:prstGeom>
          <a:solidFill>
            <a:srgbClr val="FF6B60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 moshën: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0" y="2359152"/>
            <a:ext cx="2651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02752" y="235915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58000" y="2880360"/>
            <a:ext cx="1554480" cy="384048"/>
          </a:xfrm>
          <a:prstGeom prst="roundRect">
            <a:avLst>
              <a:gd name="adj" fmla="val 9524"/>
            </a:avLst>
          </a:prstGeom>
          <a:solidFill>
            <a:srgbClr val="D8E4F0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0" y="28803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Pranoj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85800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Mosha u pranua: 20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92240" y="41148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Ilustrim i dritares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94360" y="4617720"/>
            <a:ext cx="11018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Terminali: një rresht hyrje, një rresht dalje</a:t>
            </a:r>
            <a:endParaRPr lang="en-US" sz="13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GUI: butona, fusha, klikime — përdoruesi zgjedh ku të veprojë</a:t>
            </a:r>
            <a:endParaRPr lang="en-US" sz="13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njëjta logjikë Java punon prapa — ndryshon vetëm mënyra e komunikimit me përdoruesin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KUADRI BAZË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Dritarja e parë: JFrame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45920"/>
            <a:ext cx="6400800" cy="3323844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288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288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288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03120"/>
            <a:ext cx="5943600" cy="2775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javax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swing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JFrame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JFrame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JFrame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"Dritarja ime e pare"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setSize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setDefaultCloseOperation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JFrame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EXIT_ON_CLOSE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setVisible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0" y="1965960"/>
            <a:ext cx="3840480" cy="2468880"/>
          </a:xfrm>
          <a:prstGeom prst="roundRect">
            <a:avLst>
              <a:gd name="adj" fmla="val 1852"/>
            </a:avLst>
          </a:prstGeom>
          <a:solidFill>
            <a:srgbClr val="ECEFF3"/>
          </a:solidFill>
          <a:ln w="15875">
            <a:solidFill>
              <a:srgbClr val="AAB4C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0" y="1965960"/>
            <a:ext cx="3840480" cy="329184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0" y="1965960"/>
            <a:ext cx="3840480" cy="329184"/>
          </a:xfrm>
          <a:prstGeom prst="roundRect">
            <a:avLst>
              <a:gd name="adj" fmla="val 13889"/>
            </a:avLst>
          </a:prstGeom>
          <a:solidFill>
            <a:srgbClr val="2E3B4E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0" y="2130552"/>
            <a:ext cx="3840480" cy="164592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5" name="Text 12"/>
          <p:cNvSpPr/>
          <p:nvPr/>
        </p:nvSpPr>
        <p:spPr>
          <a:xfrm>
            <a:off x="7918704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Dritarja ime e pare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1009376" y="207568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17" name="Shape 14"/>
          <p:cNvSpPr/>
          <p:nvPr/>
        </p:nvSpPr>
        <p:spPr>
          <a:xfrm>
            <a:off x="11192256" y="207568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18" name="Shape 15"/>
          <p:cNvSpPr/>
          <p:nvPr/>
        </p:nvSpPr>
        <p:spPr>
          <a:xfrm>
            <a:off x="11375136" y="2075688"/>
            <a:ext cx="109728" cy="109728"/>
          </a:xfrm>
          <a:prstGeom prst="ellipse">
            <a:avLst/>
          </a:prstGeom>
          <a:solidFill>
            <a:srgbClr val="FF6B60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0" y="44805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Ilustrim i dritares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772400" y="4892040"/>
            <a:ext cx="3840480" cy="1234440"/>
          </a:xfrm>
          <a:prstGeom prst="roundRect">
            <a:avLst>
              <a:gd name="adj" fmla="val 7407"/>
            </a:avLst>
          </a:prstGeom>
          <a:solidFill>
            <a:srgbClr val="1E3050"/>
          </a:solidFill>
          <a:ln/>
        </p:spPr>
      </p:sp>
      <p:sp>
        <p:nvSpPr>
          <p:cNvPr id="21" name="Text 18"/>
          <p:cNvSpPr/>
          <p:nvPr/>
        </p:nvSpPr>
        <p:spPr>
          <a:xfrm>
            <a:off x="8028432" y="5029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Katër rreshtat magjikë:
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titulli → madhësia → mbyllja → dukshmëria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E JFRAME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Katër rreshtat që s'duhen harruar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737360"/>
            <a:ext cx="1101852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11096"/>
            <a:ext cx="3383280" cy="475488"/>
          </a:xfrm>
          <a:prstGeom prst="roundRect">
            <a:avLst>
              <a:gd name="adj" fmla="val 9615"/>
            </a:avLst>
          </a:prstGeom>
          <a:solidFill>
            <a:srgbClr val="1B2736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1911096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JFrame("...")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434840" y="184708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Krijon dritaren me titull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0" y="184708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titull mbetet shirit bosh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" y="2670048"/>
            <a:ext cx="1101852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843784"/>
            <a:ext cx="3383280" cy="475488"/>
          </a:xfrm>
          <a:prstGeom prst="roundRect">
            <a:avLst>
              <a:gd name="adj" fmla="val 9615"/>
            </a:avLst>
          </a:prstGeom>
          <a:solidFill>
            <a:srgbClr val="1B2736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284378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setSize(gjer, lart)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434840" y="277977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Cakton përmasat në piksel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0" y="277977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të, dritarja del e vockël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4360" y="3602736"/>
            <a:ext cx="1101852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3776472"/>
            <a:ext cx="3383280" cy="475488"/>
          </a:xfrm>
          <a:prstGeom prst="roundRect">
            <a:avLst>
              <a:gd name="adj" fmla="val 9615"/>
            </a:avLst>
          </a:prstGeom>
          <a:solidFill>
            <a:srgbClr val="1B273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77647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setDefaultCloseOperation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434840" y="371246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Mbyllja e X-it ndal programin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0" y="371246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2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GABIMI më i shpeshtë nëse harrohet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94360" y="4535424"/>
            <a:ext cx="1101852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4709160"/>
            <a:ext cx="3383280" cy="475488"/>
          </a:xfrm>
          <a:prstGeom prst="roundRect">
            <a:avLst>
              <a:gd name="adj" fmla="val 9615"/>
            </a:avLst>
          </a:prstGeom>
          <a:solidFill>
            <a:srgbClr val="1B2736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470916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setVisible(true)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434840" y="464515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bën dritaren të dukshme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0" y="464515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të, s'shihet asgjë!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94360" y="5532120"/>
            <a:ext cx="11018520" cy="566928"/>
          </a:xfrm>
          <a:prstGeom prst="roundRect">
            <a:avLst>
              <a:gd name="adj" fmla="val 12903"/>
            </a:avLst>
          </a:prstGeom>
          <a:solidFill>
            <a:srgbClr val="FBEDDD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5660136"/>
            <a:ext cx="310896" cy="31089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261872" y="5568696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Renditja s'ka rëndësi, por setVisible(true) lihet PËR FUND — </a:t>
            </a:r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që dritarja të shfaqet e plotë, jo bosh e pastaj të mbushet para syve.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 + JBUTTON + FLOWLAYOUT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Widget-et: etiketa dhe butoni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6858000" cy="4887468"/>
          </a:xfrm>
          <a:prstGeom prst="roundRect">
            <a:avLst>
              <a:gd name="adj" fmla="val 1684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17373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042416" y="17373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243584" y="17373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96112" y="2011680"/>
            <a:ext cx="6400800" cy="433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javax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swing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.*;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FlowLayout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JFrame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JFrame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"Pershendetje Swing"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setSize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setDefaultCloseOperation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JFrame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EXIT_ON_CLOSE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setLayout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FlowLayout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etiketa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"Kliko butonin:"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butoni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"Kliko me"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etiketa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shto ne dritare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butoni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setVisible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18120" y="1965960"/>
            <a:ext cx="3794760" cy="1737360"/>
          </a:xfrm>
          <a:prstGeom prst="roundRect">
            <a:avLst>
              <a:gd name="adj" fmla="val 2632"/>
            </a:avLst>
          </a:prstGeom>
          <a:solidFill>
            <a:srgbClr val="ECEFF3"/>
          </a:solidFill>
          <a:ln w="15875">
            <a:solidFill>
              <a:srgbClr val="AAB4C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18120" y="1965960"/>
            <a:ext cx="3794760" cy="329184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3" name="Shape 10"/>
          <p:cNvSpPr/>
          <p:nvPr/>
        </p:nvSpPr>
        <p:spPr>
          <a:xfrm>
            <a:off x="7818120" y="1965960"/>
            <a:ext cx="3794760" cy="329184"/>
          </a:xfrm>
          <a:prstGeom prst="roundRect">
            <a:avLst>
              <a:gd name="adj" fmla="val 13889"/>
            </a:avLst>
          </a:prstGeom>
          <a:solidFill>
            <a:srgbClr val="2E3B4E"/>
          </a:solidFill>
          <a:ln/>
        </p:spPr>
      </p:sp>
      <p:sp>
        <p:nvSpPr>
          <p:cNvPr id="14" name="Shape 11"/>
          <p:cNvSpPr/>
          <p:nvPr/>
        </p:nvSpPr>
        <p:spPr>
          <a:xfrm>
            <a:off x="7818120" y="2130552"/>
            <a:ext cx="3794760" cy="164592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5" name="Text 12"/>
          <p:cNvSpPr/>
          <p:nvPr/>
        </p:nvSpPr>
        <p:spPr>
          <a:xfrm>
            <a:off x="7964424" y="19933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Pershendetje Swing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1009376" y="207568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17" name="Shape 14"/>
          <p:cNvSpPr/>
          <p:nvPr/>
        </p:nvSpPr>
        <p:spPr>
          <a:xfrm>
            <a:off x="11192256" y="207568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18" name="Shape 15"/>
          <p:cNvSpPr/>
          <p:nvPr/>
        </p:nvSpPr>
        <p:spPr>
          <a:xfrm>
            <a:off x="11375136" y="2075688"/>
            <a:ext cx="109728" cy="109728"/>
          </a:xfrm>
          <a:prstGeom prst="ellipse">
            <a:avLst/>
          </a:prstGeom>
          <a:solidFill>
            <a:srgbClr val="FF6B60"/>
          </a:solidFill>
          <a:ln/>
        </p:spPr>
      </p:sp>
      <p:sp>
        <p:nvSpPr>
          <p:cNvPr id="19" name="Text 16"/>
          <p:cNvSpPr/>
          <p:nvPr/>
        </p:nvSpPr>
        <p:spPr>
          <a:xfrm>
            <a:off x="809244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Kliko butonin më poshtë: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052560" y="2971800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D8E4F0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52560" y="29718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Kliko më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818120" y="37673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Ilustrim i dritares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818120" y="4206240"/>
            <a:ext cx="3794760" cy="1874520"/>
          </a:xfrm>
          <a:prstGeom prst="roundRect">
            <a:avLst>
              <a:gd name="adj" fmla="val 4878"/>
            </a:avLst>
          </a:prstGeom>
          <a:solidFill>
            <a:srgbClr val="1E3050"/>
          </a:solidFill>
          <a:ln/>
        </p:spPr>
      </p:sp>
      <p:sp>
        <p:nvSpPr>
          <p:cNvPr id="24" name="Text 21"/>
          <p:cNvSpPr/>
          <p:nvPr/>
        </p:nvSpPr>
        <p:spPr>
          <a:xfrm>
            <a:off x="8065008" y="43434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hapat për çdo widget:
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Krijo:  new JLabel(...)
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Shto:   dritarja.add(...)
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Layout vendos renditjen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TË ZAKONSHMET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rregullohen widget-et: Layout-et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737360"/>
            <a:ext cx="3602736" cy="3566160"/>
          </a:xfrm>
          <a:prstGeom prst="roundRect">
            <a:avLst>
              <a:gd name="adj" fmla="val 2308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" y="1737360"/>
            <a:ext cx="3584448" cy="566928"/>
          </a:xfrm>
          <a:prstGeom prst="rect">
            <a:avLst/>
          </a:prstGeom>
          <a:solidFill>
            <a:srgbClr val="142033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37360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FlowLayout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05840" y="2606040"/>
            <a:ext cx="277977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B4C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8720" y="29260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F6A63B"/>
          </a:solidFill>
          <a:ln/>
        </p:spPr>
      </p:sp>
      <p:sp>
        <p:nvSpPr>
          <p:cNvPr id="11" name="Shape 8"/>
          <p:cNvSpPr/>
          <p:nvPr/>
        </p:nvSpPr>
        <p:spPr>
          <a:xfrm>
            <a:off x="2011680" y="29260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F6A63B"/>
          </a:solidFill>
          <a:ln/>
        </p:spPr>
      </p:sp>
      <p:sp>
        <p:nvSpPr>
          <p:cNvPr id="12" name="Shape 9"/>
          <p:cNvSpPr/>
          <p:nvPr/>
        </p:nvSpPr>
        <p:spPr>
          <a:xfrm>
            <a:off x="2834640" y="29260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F6A63B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526280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Njëri pas tjetrit, si fjalët në rresms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416552" y="1737360"/>
            <a:ext cx="3602736" cy="3566160"/>
          </a:xfrm>
          <a:prstGeom prst="roundRect">
            <a:avLst>
              <a:gd name="adj" fmla="val 2308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25696" y="1737360"/>
            <a:ext cx="3584448" cy="566928"/>
          </a:xfrm>
          <a:prstGeom prst="rect">
            <a:avLst/>
          </a:prstGeom>
          <a:solidFill>
            <a:srgbClr val="142033"/>
          </a:solidFill>
          <a:ln/>
        </p:spPr>
      </p:sp>
      <p:sp>
        <p:nvSpPr>
          <p:cNvPr id="16" name="Text 13"/>
          <p:cNvSpPr/>
          <p:nvPr/>
        </p:nvSpPr>
        <p:spPr>
          <a:xfrm>
            <a:off x="4599432" y="1737360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828032" y="2606040"/>
            <a:ext cx="277977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B4C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65192" y="2743200"/>
            <a:ext cx="2505456" cy="365760"/>
          </a:xfrm>
          <a:prstGeom prst="rect">
            <a:avLst/>
          </a:prstGeom>
          <a:solidFill>
            <a:srgbClr val="F6A63B"/>
          </a:solidFill>
          <a:ln/>
        </p:spPr>
      </p:sp>
      <p:sp>
        <p:nvSpPr>
          <p:cNvPr id="19" name="Shape 16"/>
          <p:cNvSpPr/>
          <p:nvPr/>
        </p:nvSpPr>
        <p:spPr>
          <a:xfrm>
            <a:off x="4965192" y="3840480"/>
            <a:ext cx="2505456" cy="365760"/>
          </a:xfrm>
          <a:prstGeom prst="rect">
            <a:avLst/>
          </a:prstGeom>
          <a:solidFill>
            <a:srgbClr val="F6A63B"/>
          </a:solidFill>
          <a:ln/>
        </p:spPr>
      </p:sp>
      <p:sp>
        <p:nvSpPr>
          <p:cNvPr id="20" name="Shape 17"/>
          <p:cNvSpPr/>
          <p:nvPr/>
        </p:nvSpPr>
        <p:spPr>
          <a:xfrm>
            <a:off x="4965192" y="3154680"/>
            <a:ext cx="548640" cy="640080"/>
          </a:xfrm>
          <a:prstGeom prst="rect">
            <a:avLst/>
          </a:prstGeom>
          <a:solidFill>
            <a:srgbClr val="F6C88B"/>
          </a:solidFill>
          <a:ln/>
        </p:spPr>
      </p:sp>
      <p:sp>
        <p:nvSpPr>
          <p:cNvPr id="21" name="Shape 18"/>
          <p:cNvSpPr/>
          <p:nvPr/>
        </p:nvSpPr>
        <p:spPr>
          <a:xfrm>
            <a:off x="6922008" y="3154680"/>
            <a:ext cx="548640" cy="640080"/>
          </a:xfrm>
          <a:prstGeom prst="rect">
            <a:avLst/>
          </a:prstGeom>
          <a:solidFill>
            <a:srgbClr val="F6C88B"/>
          </a:solidFill>
          <a:ln/>
        </p:spPr>
      </p:sp>
      <p:sp>
        <p:nvSpPr>
          <p:cNvPr id="22" name="Shape 19"/>
          <p:cNvSpPr/>
          <p:nvPr/>
        </p:nvSpPr>
        <p:spPr>
          <a:xfrm>
            <a:off x="5605272" y="3154680"/>
            <a:ext cx="1225296" cy="640080"/>
          </a:xfrm>
          <a:prstGeom prst="rect">
            <a:avLst/>
          </a:prstGeom>
          <a:solidFill>
            <a:srgbClr val="E8730C"/>
          </a:solidFill>
          <a:ln/>
        </p:spPr>
      </p:sp>
      <p:sp>
        <p:nvSpPr>
          <p:cNvPr id="23" name="Text 20"/>
          <p:cNvSpPr/>
          <p:nvPr/>
        </p:nvSpPr>
        <p:spPr>
          <a:xfrm>
            <a:off x="4645152" y="4526280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Veri, jug, lindje, perëndim, qendër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238744" y="1737360"/>
            <a:ext cx="3602736" cy="3566160"/>
          </a:xfrm>
          <a:prstGeom prst="roundRect">
            <a:avLst>
              <a:gd name="adj" fmla="val 2308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247888" y="1737360"/>
            <a:ext cx="3584448" cy="566928"/>
          </a:xfrm>
          <a:prstGeom prst="rect">
            <a:avLst/>
          </a:prstGeom>
          <a:solidFill>
            <a:srgbClr val="142033"/>
          </a:solidFill>
          <a:ln/>
        </p:spPr>
      </p:sp>
      <p:sp>
        <p:nvSpPr>
          <p:cNvPr id="26" name="Text 23"/>
          <p:cNvSpPr/>
          <p:nvPr/>
        </p:nvSpPr>
        <p:spPr>
          <a:xfrm>
            <a:off x="8421624" y="1737360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GridLayout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8650224" y="2606040"/>
            <a:ext cx="277977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B4C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823960" y="2779776"/>
            <a:ext cx="762000" cy="658368"/>
          </a:xfrm>
          <a:prstGeom prst="rect">
            <a:avLst/>
          </a:prstGeom>
          <a:solidFill>
            <a:srgbClr val="F6A63B"/>
          </a:solidFill>
          <a:ln/>
        </p:spPr>
      </p:sp>
      <p:sp>
        <p:nvSpPr>
          <p:cNvPr id="29" name="Shape 26"/>
          <p:cNvSpPr/>
          <p:nvPr/>
        </p:nvSpPr>
        <p:spPr>
          <a:xfrm>
            <a:off x="9659112" y="2779776"/>
            <a:ext cx="762000" cy="658368"/>
          </a:xfrm>
          <a:prstGeom prst="rect">
            <a:avLst/>
          </a:prstGeom>
          <a:solidFill>
            <a:srgbClr val="F6A63B"/>
          </a:solidFill>
          <a:ln/>
        </p:spPr>
      </p:sp>
      <p:sp>
        <p:nvSpPr>
          <p:cNvPr id="30" name="Shape 27"/>
          <p:cNvSpPr/>
          <p:nvPr/>
        </p:nvSpPr>
        <p:spPr>
          <a:xfrm>
            <a:off x="10494264" y="2779776"/>
            <a:ext cx="762000" cy="658368"/>
          </a:xfrm>
          <a:prstGeom prst="rect">
            <a:avLst/>
          </a:prstGeom>
          <a:solidFill>
            <a:srgbClr val="F6A63B"/>
          </a:solidFill>
          <a:ln/>
        </p:spPr>
      </p:sp>
      <p:sp>
        <p:nvSpPr>
          <p:cNvPr id="31" name="Shape 28"/>
          <p:cNvSpPr/>
          <p:nvPr/>
        </p:nvSpPr>
        <p:spPr>
          <a:xfrm>
            <a:off x="8823960" y="3511296"/>
            <a:ext cx="762000" cy="658368"/>
          </a:xfrm>
          <a:prstGeom prst="rect">
            <a:avLst/>
          </a:prstGeom>
          <a:solidFill>
            <a:srgbClr val="F6A63B"/>
          </a:solidFill>
          <a:ln/>
        </p:spPr>
      </p:sp>
      <p:sp>
        <p:nvSpPr>
          <p:cNvPr id="32" name="Shape 29"/>
          <p:cNvSpPr/>
          <p:nvPr/>
        </p:nvSpPr>
        <p:spPr>
          <a:xfrm>
            <a:off x="9659112" y="3511296"/>
            <a:ext cx="762000" cy="658368"/>
          </a:xfrm>
          <a:prstGeom prst="rect">
            <a:avLst/>
          </a:prstGeom>
          <a:solidFill>
            <a:srgbClr val="F6A63B"/>
          </a:solidFill>
          <a:ln/>
        </p:spPr>
      </p:sp>
      <p:sp>
        <p:nvSpPr>
          <p:cNvPr id="33" name="Shape 30"/>
          <p:cNvSpPr/>
          <p:nvPr/>
        </p:nvSpPr>
        <p:spPr>
          <a:xfrm>
            <a:off x="10494264" y="3511296"/>
            <a:ext cx="762000" cy="658368"/>
          </a:xfrm>
          <a:prstGeom prst="rect">
            <a:avLst/>
          </a:prstGeom>
          <a:solidFill>
            <a:srgbClr val="F6A63B"/>
          </a:solidFill>
          <a:ln/>
        </p:spPr>
      </p:sp>
      <p:sp>
        <p:nvSpPr>
          <p:cNvPr id="34" name="Text 31"/>
          <p:cNvSpPr/>
          <p:nvPr/>
        </p:nvSpPr>
        <p:spPr>
          <a:xfrm>
            <a:off x="8467344" y="4526280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Rrjetë me rreshta × kolona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94360" y="5440680"/>
            <a:ext cx="11018520" cy="658368"/>
          </a:xfrm>
          <a:prstGeom prst="roundRect">
            <a:avLst>
              <a:gd name="adj" fmla="val 11111"/>
            </a:avLst>
          </a:prstGeom>
          <a:solidFill>
            <a:srgbClr val="FBEDDD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605272"/>
            <a:ext cx="329184" cy="329184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371600" y="5477256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Rregull i thjeshtë:  </a:t>
            </a:r>
            <a:pPr indent="0" marL="0"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FlowLayout për fillim të shpejtë, GridLayout për butona në rrjetë (makina llogaritëse!), BorderLayout për strukturë ekrani.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GETTEXT() — SI SCANNER I GUI-T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Leximi i hyrjes: JTextField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583680" cy="2802636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6126480" cy="225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etiketa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"Shkruaj emrin:"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JTextField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JTextField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butoni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"Pershendet"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rezultati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butoni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getText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lexo fushen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rezultati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"Pershendetje, 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772400" y="1965960"/>
            <a:ext cx="3840480" cy="2286000"/>
          </a:xfrm>
          <a:prstGeom prst="roundRect">
            <a:avLst>
              <a:gd name="adj" fmla="val 2000"/>
            </a:avLst>
          </a:prstGeom>
          <a:solidFill>
            <a:srgbClr val="ECEFF3"/>
          </a:solidFill>
          <a:ln w="15875">
            <a:solidFill>
              <a:srgbClr val="AAB4C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0" y="1965960"/>
            <a:ext cx="3840480" cy="329184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0" y="1965960"/>
            <a:ext cx="3840480" cy="329184"/>
          </a:xfrm>
          <a:prstGeom prst="roundRect">
            <a:avLst>
              <a:gd name="adj" fmla="val 13889"/>
            </a:avLst>
          </a:prstGeom>
          <a:solidFill>
            <a:srgbClr val="2E3B4E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0" y="2130552"/>
            <a:ext cx="3840480" cy="164592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5" name="Text 12"/>
          <p:cNvSpPr/>
          <p:nvPr/>
        </p:nvSpPr>
        <p:spPr>
          <a:xfrm>
            <a:off x="7918704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Pershendetje me emer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1009376" y="207568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17" name="Shape 14"/>
          <p:cNvSpPr/>
          <p:nvPr/>
        </p:nvSpPr>
        <p:spPr>
          <a:xfrm>
            <a:off x="11192256" y="207568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18" name="Shape 15"/>
          <p:cNvSpPr/>
          <p:nvPr/>
        </p:nvSpPr>
        <p:spPr>
          <a:xfrm>
            <a:off x="11375136" y="2075688"/>
            <a:ext cx="109728" cy="109728"/>
          </a:xfrm>
          <a:prstGeom prst="ellipse">
            <a:avLst/>
          </a:prstGeom>
          <a:solidFill>
            <a:srgbClr val="FF6B60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0" y="2468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Shkruaj emrin: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46720" y="2816352"/>
            <a:ext cx="3291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19872" y="2816352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46720" y="3246120"/>
            <a:ext cx="1554480" cy="365760"/>
          </a:xfrm>
          <a:prstGeom prst="roundRect">
            <a:avLst>
              <a:gd name="adj" fmla="val 10000"/>
            </a:avLst>
          </a:prstGeom>
          <a:solidFill>
            <a:srgbClr val="D8E4F0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4672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Përshëndet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46720" y="3703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Përshëndetje, Ana!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772400" y="43159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Ilustrim i dritares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14400" y="5212080"/>
            <a:ext cx="6583680" cy="822960"/>
          </a:xfrm>
          <a:prstGeom prst="roundRect">
            <a:avLst>
              <a:gd name="adj" fmla="val 8889"/>
            </a:avLst>
          </a:prstGeom>
          <a:solidFill>
            <a:srgbClr val="1E3050"/>
          </a:solidFill>
          <a:ln/>
        </p:spPr>
      </p:sp>
      <p:sp>
        <p:nvSpPr>
          <p:cNvPr id="27" name="Text 24"/>
          <p:cNvSpPr/>
          <p:nvPr/>
        </p:nvSpPr>
        <p:spPr>
          <a:xfrm>
            <a:off x="1188720" y="5285232"/>
            <a:ext cx="6080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fusha.getText()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është si sc.nextLine() i Scanner-it — merr çka shkroi përdoruesi, por nga një fushë grafike, jo nga terminali.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ADDACTIONLISTENER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Ngjarjet: si 'dëgjon' programi klikimet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1051560" y="182880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14203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52" y="2084832"/>
            <a:ext cx="585216" cy="5852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Përdoruesi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klikon butonin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114800" y="2423160"/>
            <a:ext cx="548640" cy="365760"/>
          </a:xfrm>
          <a:prstGeom prst="rtTriangle">
            <a:avLst/>
          </a:prstGeom>
          <a:solidFill>
            <a:srgbClr val="E8730C"/>
          </a:solidFill>
          <a:ln/>
        </p:spPr>
      </p:sp>
      <p:sp>
        <p:nvSpPr>
          <p:cNvPr id="10" name="Shape 6"/>
          <p:cNvSpPr/>
          <p:nvPr/>
        </p:nvSpPr>
        <p:spPr>
          <a:xfrm>
            <a:off x="5029200" y="182880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E873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2084832"/>
            <a:ext cx="585216" cy="585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2064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thërret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ActionListener-in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092440" y="2423160"/>
            <a:ext cx="548640" cy="365760"/>
          </a:xfrm>
          <a:prstGeom prst="rtTriangle">
            <a:avLst/>
          </a:prstGeom>
          <a:solidFill>
            <a:srgbClr val="E8730C"/>
          </a:solidFill>
          <a:ln/>
        </p:spPr>
      </p:sp>
      <p:sp>
        <p:nvSpPr>
          <p:cNvPr id="14" name="Shape 9"/>
          <p:cNvSpPr/>
          <p:nvPr/>
        </p:nvSpPr>
        <p:spPr>
          <a:xfrm>
            <a:off x="9006840" y="182880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2E6E8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5832" y="2084832"/>
            <a:ext cx="585216" cy="5852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9828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Kodi yt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ekzekutohet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1051560" y="3794760"/>
            <a:ext cx="10058400" cy="1499616"/>
          </a:xfrm>
          <a:prstGeom prst="roundRect">
            <a:avLst>
              <a:gd name="adj" fmla="val 5488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1252728" y="39776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3"/>
          <p:cNvSpPr/>
          <p:nvPr/>
        </p:nvSpPr>
        <p:spPr>
          <a:xfrm>
            <a:off x="1453896" y="39776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4"/>
          <p:cNvSpPr/>
          <p:nvPr/>
        </p:nvSpPr>
        <p:spPr>
          <a:xfrm>
            <a:off x="1655064" y="39776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5"/>
          <p:cNvSpPr/>
          <p:nvPr/>
        </p:nvSpPr>
        <p:spPr>
          <a:xfrm>
            <a:off x="1307592" y="4251960"/>
            <a:ext cx="9601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butoni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ky kod ekzekutohet KUR klikohet butoni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etiketa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"Butoni u klikua!"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1051560" y="5349240"/>
            <a:ext cx="10058400" cy="749808"/>
          </a:xfrm>
          <a:prstGeom prst="roundRect">
            <a:avLst>
              <a:gd name="adj" fmla="val 9756"/>
            </a:avLst>
          </a:prstGeom>
          <a:solidFill>
            <a:srgbClr val="FBEDDD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5550408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783080" y="5385816"/>
            <a:ext cx="9144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-&gt; { ... }  </a:t>
            </a:r>
            <a:pPr indent="0" marL="0"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është një 'lambda' — një copë kod që i jepet butonit dhe ruhet për t'u ekzekutuar VETËM kur ndodh klikimi, jo menjëherë.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KLIKIMI NDRYSHON ETIKETËN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Shembulli i parë me ngjarje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400800" cy="2802636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5943600" cy="225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etiketa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"Ende pa klikuar."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butoni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"Kliko me"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butoni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etiketa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"Butoni u klikua!"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etiketa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butoni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635240" y="1828800"/>
            <a:ext cx="3931920" cy="1371600"/>
          </a:xfrm>
          <a:prstGeom prst="roundRect">
            <a:avLst>
              <a:gd name="adj" fmla="val 3333"/>
            </a:avLst>
          </a:prstGeom>
          <a:solidFill>
            <a:srgbClr val="ECEFF3"/>
          </a:solidFill>
          <a:ln w="15875">
            <a:solidFill>
              <a:srgbClr val="AAB4C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35240" y="1828800"/>
            <a:ext cx="3931920" cy="329184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3" name="Shape 10"/>
          <p:cNvSpPr/>
          <p:nvPr/>
        </p:nvSpPr>
        <p:spPr>
          <a:xfrm>
            <a:off x="7635240" y="1828800"/>
            <a:ext cx="3931920" cy="329184"/>
          </a:xfrm>
          <a:prstGeom prst="roundRect">
            <a:avLst>
              <a:gd name="adj" fmla="val 13889"/>
            </a:avLst>
          </a:prstGeom>
          <a:solidFill>
            <a:srgbClr val="2E3B4E"/>
          </a:solidFill>
          <a:ln/>
        </p:spPr>
      </p:sp>
      <p:sp>
        <p:nvSpPr>
          <p:cNvPr id="14" name="Shape 11"/>
          <p:cNvSpPr/>
          <p:nvPr/>
        </p:nvSpPr>
        <p:spPr>
          <a:xfrm>
            <a:off x="7635240" y="1993392"/>
            <a:ext cx="3931920" cy="164592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5" name="Text 12"/>
          <p:cNvSpPr/>
          <p:nvPr/>
        </p:nvSpPr>
        <p:spPr>
          <a:xfrm>
            <a:off x="7781544" y="1856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klikimit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963656" y="193852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17" name="Shape 14"/>
          <p:cNvSpPr/>
          <p:nvPr/>
        </p:nvSpPr>
        <p:spPr>
          <a:xfrm>
            <a:off x="11146536" y="193852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18" name="Shape 15"/>
          <p:cNvSpPr/>
          <p:nvPr/>
        </p:nvSpPr>
        <p:spPr>
          <a:xfrm>
            <a:off x="11329416" y="1938528"/>
            <a:ext cx="109728" cy="109728"/>
          </a:xfrm>
          <a:prstGeom prst="ellipse">
            <a:avLst/>
          </a:prstGeom>
          <a:solidFill>
            <a:srgbClr val="FF6B60"/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 pa klikuar.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58400" y="2286000"/>
            <a:ext cx="1280160" cy="347472"/>
          </a:xfrm>
          <a:prstGeom prst="roundRect">
            <a:avLst>
              <a:gd name="adj" fmla="val 10526"/>
            </a:avLst>
          </a:prstGeom>
          <a:solidFill>
            <a:srgbClr val="D8E4F0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0" y="2286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Kliko më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635240" y="3429000"/>
            <a:ext cx="3931920" cy="1371600"/>
          </a:xfrm>
          <a:prstGeom prst="roundRect">
            <a:avLst>
              <a:gd name="adj" fmla="val 3333"/>
            </a:avLst>
          </a:prstGeom>
          <a:solidFill>
            <a:srgbClr val="ECEFF3"/>
          </a:solidFill>
          <a:ln w="15875">
            <a:solidFill>
              <a:srgbClr val="AAB4C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635240" y="3429000"/>
            <a:ext cx="3931920" cy="329184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24" name="Shape 21"/>
          <p:cNvSpPr/>
          <p:nvPr/>
        </p:nvSpPr>
        <p:spPr>
          <a:xfrm>
            <a:off x="7635240" y="3429000"/>
            <a:ext cx="3931920" cy="329184"/>
          </a:xfrm>
          <a:prstGeom prst="roundRect">
            <a:avLst>
              <a:gd name="adj" fmla="val 13889"/>
            </a:avLst>
          </a:prstGeom>
          <a:solidFill>
            <a:srgbClr val="2E3B4E"/>
          </a:solidFill>
          <a:ln/>
        </p:spPr>
      </p:sp>
      <p:sp>
        <p:nvSpPr>
          <p:cNvPr id="25" name="Shape 22"/>
          <p:cNvSpPr/>
          <p:nvPr/>
        </p:nvSpPr>
        <p:spPr>
          <a:xfrm>
            <a:off x="7635240" y="3593592"/>
            <a:ext cx="3931920" cy="164592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26" name="Text 23"/>
          <p:cNvSpPr/>
          <p:nvPr/>
        </p:nvSpPr>
        <p:spPr>
          <a:xfrm>
            <a:off x="7781544" y="3456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klikimit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0963656" y="353872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28" name="Shape 25"/>
          <p:cNvSpPr/>
          <p:nvPr/>
        </p:nvSpPr>
        <p:spPr>
          <a:xfrm>
            <a:off x="11146536" y="353872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29" name="Shape 26"/>
          <p:cNvSpPr/>
          <p:nvPr/>
        </p:nvSpPr>
        <p:spPr>
          <a:xfrm>
            <a:off x="11329416" y="3538728"/>
            <a:ext cx="109728" cy="109728"/>
          </a:xfrm>
          <a:prstGeom prst="ellipse">
            <a:avLst/>
          </a:prstGeom>
          <a:solidFill>
            <a:srgbClr val="FF6B60"/>
          </a:solidFill>
          <a:ln/>
        </p:spPr>
      </p:sp>
      <p:sp>
        <p:nvSpPr>
          <p:cNvPr id="30" name="Text 27"/>
          <p:cNvSpPr/>
          <p:nvPr/>
        </p:nvSpPr>
        <p:spPr>
          <a:xfrm>
            <a:off x="786384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Butoni u klikua!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0058400" y="3886200"/>
            <a:ext cx="1280160" cy="347472"/>
          </a:xfrm>
          <a:prstGeom prst="roundRect">
            <a:avLst>
              <a:gd name="adj" fmla="val 10526"/>
            </a:avLst>
          </a:prstGeom>
          <a:solidFill>
            <a:srgbClr val="D8E4F0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058400" y="38862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Kliko më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635240" y="48463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Ilustrim i dritares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914400" y="5212080"/>
            <a:ext cx="6400800" cy="822960"/>
          </a:xfrm>
          <a:prstGeom prst="roundRect">
            <a:avLst>
              <a:gd name="adj" fmla="val 8889"/>
            </a:avLst>
          </a:prstGeom>
          <a:solidFill>
            <a:srgbClr val="1E3050"/>
          </a:solidFill>
          <a:ln/>
        </p:spPr>
      </p:sp>
      <p:sp>
        <p:nvSpPr>
          <p:cNvPr id="35" name="Text 32"/>
          <p:cNvSpPr/>
          <p:nvPr/>
        </p:nvSpPr>
        <p:spPr>
          <a:xfrm>
            <a:off x="1188720" y="5285232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setText()  </a:t>
            </a:r>
            <a:pPr indent="0" marL="0"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ndryshon tekstin e etiketës në çast. Pa klikim, dritarja rri e qetë — ngjarja e 'zgjon'.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+ NGJARJE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Mini-app 1: Numëruesi — ruajmë gjendje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6400800" cy="3063240"/>
          </a:xfrm>
          <a:prstGeom prst="roundRect">
            <a:avLst>
              <a:gd name="adj" fmla="val 268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48840"/>
            <a:ext cx="5943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numeruesi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gjendja jashte main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brenda main: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etiketa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"Klikime: 0"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butoni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"+1"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butoni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numeruesi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numeruesi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etiketa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"Klikime: 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numeruesi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15200" y="1920240"/>
            <a:ext cx="3200400" cy="1417320"/>
          </a:xfrm>
          <a:prstGeom prst="roundRect">
            <a:avLst>
              <a:gd name="adj" fmla="val 3226"/>
            </a:avLst>
          </a:prstGeom>
          <a:solidFill>
            <a:srgbClr val="ECEFF3"/>
          </a:solidFill>
          <a:ln w="15875">
            <a:solidFill>
              <a:srgbClr val="AAB4C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0" y="1920240"/>
            <a:ext cx="3200400" cy="329184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0" y="1920240"/>
            <a:ext cx="3200400" cy="329184"/>
          </a:xfrm>
          <a:prstGeom prst="roundRect">
            <a:avLst>
              <a:gd name="adj" fmla="val 13889"/>
            </a:avLst>
          </a:prstGeom>
          <a:solidFill>
            <a:srgbClr val="2E3B4E"/>
          </a:solidFill>
          <a:ln/>
        </p:spPr>
      </p:sp>
      <p:sp>
        <p:nvSpPr>
          <p:cNvPr id="14" name="Shape 11"/>
          <p:cNvSpPr/>
          <p:nvPr/>
        </p:nvSpPr>
        <p:spPr>
          <a:xfrm>
            <a:off x="7315200" y="2084832"/>
            <a:ext cx="3200400" cy="164592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5" name="Text 12"/>
          <p:cNvSpPr/>
          <p:nvPr/>
        </p:nvSpPr>
        <p:spPr>
          <a:xfrm>
            <a:off x="7461504" y="1947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Numeruesi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912096" y="202996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17" name="Shape 14"/>
          <p:cNvSpPr/>
          <p:nvPr/>
        </p:nvSpPr>
        <p:spPr>
          <a:xfrm>
            <a:off x="10094976" y="202996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18" name="Shape 15"/>
          <p:cNvSpPr/>
          <p:nvPr/>
        </p:nvSpPr>
        <p:spPr>
          <a:xfrm>
            <a:off x="10277856" y="2029968"/>
            <a:ext cx="109728" cy="109728"/>
          </a:xfrm>
          <a:prstGeom prst="ellipse">
            <a:avLst/>
          </a:prstGeom>
          <a:solidFill>
            <a:srgbClr val="FF6B60"/>
          </a:solidFill>
          <a:ln/>
        </p:spPr>
      </p:sp>
      <p:sp>
        <p:nvSpPr>
          <p:cNvPr id="19" name="Text 16"/>
          <p:cNvSpPr/>
          <p:nvPr/>
        </p:nvSpPr>
        <p:spPr>
          <a:xfrm>
            <a:off x="754380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Klikime: 3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281160" y="23774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D8E4F0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81160" y="23774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315200" y="34015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Ilustrim i dritares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315200" y="3886200"/>
            <a:ext cx="4160520" cy="1051560"/>
          </a:xfrm>
          <a:prstGeom prst="roundRect">
            <a:avLst>
              <a:gd name="adj" fmla="val 7826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4041648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882128" y="40325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Logjika e testuar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7571232" y="4398264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 3 klikimesh -&gt; Klikime: 3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94360" y="5212080"/>
            <a:ext cx="11018520" cy="868680"/>
          </a:xfrm>
          <a:prstGeom prst="roundRect">
            <a:avLst>
              <a:gd name="adj" fmla="val 9474"/>
            </a:avLst>
          </a:prstGeom>
          <a:solidFill>
            <a:srgbClr val="FBEDDD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513832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325880" y="5285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numeruesi është jashtë main (static)?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Sepse duhet të 'mbijetojë' mes klikimeve — çdo klikim e rrit vlerën e mëparshme. Nëse do të ishte brenda lambda-s, do të rikrijohej çdo herë.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NDËRTIMI I RRJETËS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Mini-app 2: Makina llogaritëse (1/2)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1554480"/>
            <a:ext cx="6858000" cy="4110228"/>
          </a:xfrm>
          <a:prstGeom prst="roundRect">
            <a:avLst>
              <a:gd name="adj" fmla="val 200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7373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7373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7373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011680"/>
            <a:ext cx="6400800" cy="3561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setLayout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ekrani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JTextField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ekrani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setLayout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GridLayout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butonat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"7"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"8"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"9"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"/"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"4"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"6"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"1"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"2"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"3"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"-"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"0"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"="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teksti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butonat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teksti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kliko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teksti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001000" y="1828800"/>
            <a:ext cx="3200400" cy="3931920"/>
          </a:xfrm>
          <a:prstGeom prst="roundRect">
            <a:avLst>
              <a:gd name="adj" fmla="val 1429"/>
            </a:avLst>
          </a:prstGeom>
          <a:solidFill>
            <a:srgbClr val="ECEFF3"/>
          </a:solidFill>
          <a:ln w="15875">
            <a:solidFill>
              <a:srgbClr val="AAB4C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01000" y="1828800"/>
            <a:ext cx="3200400" cy="329184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3" name="Shape 10"/>
          <p:cNvSpPr/>
          <p:nvPr/>
        </p:nvSpPr>
        <p:spPr>
          <a:xfrm>
            <a:off x="8001000" y="1828800"/>
            <a:ext cx="3200400" cy="329184"/>
          </a:xfrm>
          <a:prstGeom prst="roundRect">
            <a:avLst>
              <a:gd name="adj" fmla="val 13889"/>
            </a:avLst>
          </a:prstGeom>
          <a:solidFill>
            <a:srgbClr val="2E3B4E"/>
          </a:solidFill>
          <a:ln/>
        </p:spPr>
      </p:sp>
      <p:sp>
        <p:nvSpPr>
          <p:cNvPr id="14" name="Shape 11"/>
          <p:cNvSpPr/>
          <p:nvPr/>
        </p:nvSpPr>
        <p:spPr>
          <a:xfrm>
            <a:off x="8001000" y="1993392"/>
            <a:ext cx="3200400" cy="164592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5" name="Text 12"/>
          <p:cNvSpPr/>
          <p:nvPr/>
        </p:nvSpPr>
        <p:spPr>
          <a:xfrm>
            <a:off x="8147304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Makina llogaritese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597896" y="193852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17" name="Shape 14"/>
          <p:cNvSpPr/>
          <p:nvPr/>
        </p:nvSpPr>
        <p:spPr>
          <a:xfrm>
            <a:off x="10780776" y="193852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18" name="Shape 15"/>
          <p:cNvSpPr/>
          <p:nvPr/>
        </p:nvSpPr>
        <p:spPr>
          <a:xfrm>
            <a:off x="10963656" y="1938528"/>
            <a:ext cx="109728" cy="109728"/>
          </a:xfrm>
          <a:prstGeom prst="ellipse">
            <a:avLst/>
          </a:prstGeom>
          <a:solidFill>
            <a:srgbClr val="FF6B6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83880" y="2286000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57032" y="228600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42.0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211312" y="2816352"/>
            <a:ext cx="653796" cy="603504"/>
          </a:xfrm>
          <a:prstGeom prst="roundRect">
            <a:avLst>
              <a:gd name="adj" fmla="val 6061"/>
            </a:avLst>
          </a:prstGeom>
          <a:solidFill>
            <a:srgbClr val="E8ECF1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11312" y="2816352"/>
            <a:ext cx="65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919972" y="2816352"/>
            <a:ext cx="653796" cy="603504"/>
          </a:xfrm>
          <a:prstGeom prst="roundRect">
            <a:avLst>
              <a:gd name="adj" fmla="val 6061"/>
            </a:avLst>
          </a:prstGeom>
          <a:solidFill>
            <a:srgbClr val="E8ECF1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919972" y="2816352"/>
            <a:ext cx="65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628632" y="2816352"/>
            <a:ext cx="653796" cy="603504"/>
          </a:xfrm>
          <a:prstGeom prst="roundRect">
            <a:avLst>
              <a:gd name="adj" fmla="val 6061"/>
            </a:avLst>
          </a:prstGeom>
          <a:solidFill>
            <a:srgbClr val="E8ECF1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28632" y="2816352"/>
            <a:ext cx="65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10337292" y="2816352"/>
            <a:ext cx="653796" cy="603504"/>
          </a:xfrm>
          <a:prstGeom prst="roundRect">
            <a:avLst>
              <a:gd name="adj" fmla="val 6061"/>
            </a:avLst>
          </a:prstGeom>
          <a:solidFill>
            <a:srgbClr val="F6C88B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337292" y="2816352"/>
            <a:ext cx="65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8211312" y="3474720"/>
            <a:ext cx="653796" cy="603504"/>
          </a:xfrm>
          <a:prstGeom prst="roundRect">
            <a:avLst>
              <a:gd name="adj" fmla="val 6061"/>
            </a:avLst>
          </a:prstGeom>
          <a:solidFill>
            <a:srgbClr val="E8ECF1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11312" y="3474720"/>
            <a:ext cx="65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8919972" y="3474720"/>
            <a:ext cx="653796" cy="603504"/>
          </a:xfrm>
          <a:prstGeom prst="roundRect">
            <a:avLst>
              <a:gd name="adj" fmla="val 6061"/>
            </a:avLst>
          </a:prstGeom>
          <a:solidFill>
            <a:srgbClr val="E8ECF1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919972" y="3474720"/>
            <a:ext cx="65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9628632" y="3474720"/>
            <a:ext cx="653796" cy="603504"/>
          </a:xfrm>
          <a:prstGeom prst="roundRect">
            <a:avLst>
              <a:gd name="adj" fmla="val 6061"/>
            </a:avLst>
          </a:prstGeom>
          <a:solidFill>
            <a:srgbClr val="E8ECF1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628632" y="3474720"/>
            <a:ext cx="65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10337292" y="3474720"/>
            <a:ext cx="653796" cy="603504"/>
          </a:xfrm>
          <a:prstGeom prst="roundRect">
            <a:avLst>
              <a:gd name="adj" fmla="val 6061"/>
            </a:avLst>
          </a:prstGeom>
          <a:solidFill>
            <a:srgbClr val="F6C88B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337292" y="3474720"/>
            <a:ext cx="65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8211312" y="4133088"/>
            <a:ext cx="653796" cy="603504"/>
          </a:xfrm>
          <a:prstGeom prst="roundRect">
            <a:avLst>
              <a:gd name="adj" fmla="val 6061"/>
            </a:avLst>
          </a:prstGeom>
          <a:solidFill>
            <a:srgbClr val="E8ECF1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11312" y="4133088"/>
            <a:ext cx="65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8919972" y="4133088"/>
            <a:ext cx="653796" cy="603504"/>
          </a:xfrm>
          <a:prstGeom prst="roundRect">
            <a:avLst>
              <a:gd name="adj" fmla="val 6061"/>
            </a:avLst>
          </a:prstGeom>
          <a:solidFill>
            <a:srgbClr val="E8ECF1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919972" y="4133088"/>
            <a:ext cx="65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9628632" y="4133088"/>
            <a:ext cx="653796" cy="603504"/>
          </a:xfrm>
          <a:prstGeom prst="roundRect">
            <a:avLst>
              <a:gd name="adj" fmla="val 6061"/>
            </a:avLst>
          </a:prstGeom>
          <a:solidFill>
            <a:srgbClr val="E8ECF1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28632" y="4133088"/>
            <a:ext cx="65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10337292" y="4133088"/>
            <a:ext cx="653796" cy="603504"/>
          </a:xfrm>
          <a:prstGeom prst="roundRect">
            <a:avLst>
              <a:gd name="adj" fmla="val 6061"/>
            </a:avLst>
          </a:prstGeom>
          <a:solidFill>
            <a:srgbClr val="F6C88B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337292" y="4133088"/>
            <a:ext cx="65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8211312" y="4791456"/>
            <a:ext cx="653796" cy="603504"/>
          </a:xfrm>
          <a:prstGeom prst="roundRect">
            <a:avLst>
              <a:gd name="adj" fmla="val 6061"/>
            </a:avLst>
          </a:prstGeom>
          <a:solidFill>
            <a:srgbClr val="E8ECF1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211312" y="4791456"/>
            <a:ext cx="65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8919972" y="4791456"/>
            <a:ext cx="653796" cy="603504"/>
          </a:xfrm>
          <a:prstGeom prst="roundRect">
            <a:avLst>
              <a:gd name="adj" fmla="val 6061"/>
            </a:avLst>
          </a:prstGeom>
          <a:solidFill>
            <a:srgbClr val="E8ECF1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919972" y="4791456"/>
            <a:ext cx="65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9628632" y="4791456"/>
            <a:ext cx="653796" cy="603504"/>
          </a:xfrm>
          <a:prstGeom prst="roundRect">
            <a:avLst>
              <a:gd name="adj" fmla="val 6061"/>
            </a:avLst>
          </a:prstGeom>
          <a:solidFill>
            <a:srgbClr val="F6C88B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628632" y="4791456"/>
            <a:ext cx="65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10337292" y="4791456"/>
            <a:ext cx="653796" cy="603504"/>
          </a:xfrm>
          <a:prstGeom prst="roundRect">
            <a:avLst>
              <a:gd name="adj" fmla="val 6061"/>
            </a:avLst>
          </a:prstGeom>
          <a:solidFill>
            <a:srgbClr val="F6C88B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337292" y="4791456"/>
            <a:ext cx="653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50" dirty="0"/>
          </a:p>
        </p:txBody>
      </p:sp>
      <p:sp>
        <p:nvSpPr>
          <p:cNvPr id="53" name="Text 50"/>
          <p:cNvSpPr/>
          <p:nvPr/>
        </p:nvSpPr>
        <p:spPr>
          <a:xfrm>
            <a:off x="8001000" y="58064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Ilustrim i dritares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KLIKO()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Makina llogaritëse (2/2): logjika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1517904"/>
            <a:ext cx="7223760" cy="4969764"/>
          </a:xfrm>
          <a:prstGeom prst="roundRect">
            <a:avLst>
              <a:gd name="adj" fmla="val 165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7007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7007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7007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1975104"/>
            <a:ext cx="6766560" cy="442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kliko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teksti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teksti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ekrani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numri1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teksti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teksti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"-"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teksti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teksti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"/"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numri1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parseDouble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ekrani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getText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teksti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ekrani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teksti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"="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numri2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parseDouble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ekrani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getText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numri1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numri2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"-"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numri1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numri2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numri1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numri2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"/"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numri1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numri2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ekrani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ekrani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ekrani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getText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teksti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138160" y="1783080"/>
            <a:ext cx="3474720" cy="2286000"/>
          </a:xfrm>
          <a:prstGeom prst="roundRect">
            <a:avLst>
              <a:gd name="adj" fmla="val 3600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19385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705088" y="192938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Sekuenca e testuar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394192" y="2295144"/>
            <a:ext cx="30175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* 6 =  -&gt;  42.0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 C   -&gt;  ''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+ 10 = -&gt;  19.0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 =  -&gt;  3.5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0 =  -&gt;  Infinity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425196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1E3050"/>
          </a:solidFill>
          <a:ln/>
        </p:spPr>
      </p:sp>
      <p:sp>
        <p:nvSpPr>
          <p:cNvPr id="16" name="Text 12"/>
          <p:cNvSpPr/>
          <p:nvPr/>
        </p:nvSpPr>
        <p:spPr>
          <a:xfrm>
            <a:off x="8394192" y="438912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kyçe:
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numri1 dhe operacioni ruhen si gjendje mes klikimeve — pikërisht si numeruesi. Kur vjen '=', bashkohen me numri2.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GJITHA BASHKË + TRY-CATCH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Mini-app 3: Konvertues Lekë → Euro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6583680" cy="3063240"/>
          </a:xfrm>
          <a:prstGeom prst="roundRect">
            <a:avLst>
              <a:gd name="adj" fmla="val 268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288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288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288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03120"/>
            <a:ext cx="6126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butoni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leke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parseDouble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fushaLeke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getText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kursi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parseDouble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fushaKursi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getText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euro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leke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kursi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rezultati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"Rezultati: 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euro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euro"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NumberFormatException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rezultati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setText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"Gabim: shkruaj numra!"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98080" y="1920240"/>
            <a:ext cx="4114800" cy="2606040"/>
          </a:xfrm>
          <a:prstGeom prst="roundRect">
            <a:avLst>
              <a:gd name="adj" fmla="val 1754"/>
            </a:avLst>
          </a:prstGeom>
          <a:solidFill>
            <a:srgbClr val="ECEFF3"/>
          </a:solidFill>
          <a:ln w="15875">
            <a:solidFill>
              <a:srgbClr val="AAB4C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0" y="1920240"/>
            <a:ext cx="4114800" cy="329184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3" name="Shape 10"/>
          <p:cNvSpPr/>
          <p:nvPr/>
        </p:nvSpPr>
        <p:spPr>
          <a:xfrm>
            <a:off x="7498080" y="1920240"/>
            <a:ext cx="4114800" cy="329184"/>
          </a:xfrm>
          <a:prstGeom prst="roundRect">
            <a:avLst>
              <a:gd name="adj" fmla="val 13889"/>
            </a:avLst>
          </a:prstGeom>
          <a:solidFill>
            <a:srgbClr val="2E3B4E"/>
          </a:solidFill>
          <a:ln/>
        </p:spPr>
      </p:sp>
      <p:sp>
        <p:nvSpPr>
          <p:cNvPr id="14" name="Shape 11"/>
          <p:cNvSpPr/>
          <p:nvPr/>
        </p:nvSpPr>
        <p:spPr>
          <a:xfrm>
            <a:off x="7498080" y="2084832"/>
            <a:ext cx="4114800" cy="164592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5" name="Text 12"/>
          <p:cNvSpPr/>
          <p:nvPr/>
        </p:nvSpPr>
        <p:spPr>
          <a:xfrm>
            <a:off x="7644384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 -&gt; Euro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1009376" y="202996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17" name="Shape 14"/>
          <p:cNvSpPr/>
          <p:nvPr/>
        </p:nvSpPr>
        <p:spPr>
          <a:xfrm>
            <a:off x="11192256" y="2029968"/>
            <a:ext cx="109728" cy="109728"/>
          </a:xfrm>
          <a:prstGeom prst="ellipse">
            <a:avLst/>
          </a:prstGeom>
          <a:solidFill>
            <a:srgbClr val="E0E4EA"/>
          </a:solidFill>
          <a:ln/>
        </p:spPr>
      </p:sp>
      <p:sp>
        <p:nvSpPr>
          <p:cNvPr id="18" name="Shape 15"/>
          <p:cNvSpPr/>
          <p:nvPr/>
        </p:nvSpPr>
        <p:spPr>
          <a:xfrm>
            <a:off x="11375136" y="2029968"/>
            <a:ext cx="109728" cy="109728"/>
          </a:xfrm>
          <a:prstGeom prst="ellipse">
            <a:avLst/>
          </a:prstGeom>
          <a:solidFill>
            <a:srgbClr val="FF6B60"/>
          </a:solidFill>
          <a:ln/>
        </p:spPr>
      </p:sp>
      <p:sp>
        <p:nvSpPr>
          <p:cNvPr id="19" name="Text 16"/>
          <p:cNvSpPr/>
          <p:nvPr/>
        </p:nvSpPr>
        <p:spPr>
          <a:xfrm>
            <a:off x="772668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Shuma në lekë: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464040" y="2377440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37192" y="237744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72668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Kursi: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464040" y="2770632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37192" y="277063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726680" y="3200400"/>
            <a:ext cx="1737360" cy="384048"/>
          </a:xfrm>
          <a:prstGeom prst="roundRect">
            <a:avLst>
              <a:gd name="adj" fmla="val 9524"/>
            </a:avLst>
          </a:prstGeom>
          <a:solidFill>
            <a:srgbClr val="D8E4F0"/>
          </a:solidFill>
          <a:ln w="12700">
            <a:solidFill>
              <a:srgbClr val="9BA6B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26680" y="3200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Konverto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726680" y="3703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Rezultati: 10.0 euro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7498080" y="45262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Ilustrim i dritares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498080" y="4892040"/>
            <a:ext cx="4114800" cy="1188720"/>
          </a:xfrm>
          <a:prstGeom prst="roundRect">
            <a:avLst>
              <a:gd name="adj" fmla="val 6923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5047488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065008" y="503834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Logjika e testuar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7754112" y="540410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 leke / 100 = 10.0 euro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2500 leke / 100 = 25.0 euro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594360" y="5394960"/>
            <a:ext cx="6583680" cy="685800"/>
          </a:xfrm>
          <a:prstGeom prst="roundRect">
            <a:avLst>
              <a:gd name="adj" fmla="val 10667"/>
            </a:avLst>
          </a:prstGeom>
          <a:solidFill>
            <a:srgbClr val="FBEDDD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559552"/>
            <a:ext cx="329184" cy="32918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234440" y="5449824"/>
            <a:ext cx="5852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Gjithçka bashkë: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fusha (L8) + ngjarje (L9) + try-catch (L10) + llogaritje. GUI-ja s'zëvendëson asgjë — i bashkon të gjitha.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657600"/>
            <a:ext cx="4572000" cy="4572000"/>
          </a:xfrm>
          <a:prstGeom prst="ellipse">
            <a:avLst/>
          </a:prstGeom>
          <a:solidFill>
            <a:srgbClr val="1E3050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371600"/>
            <a:ext cx="1463040" cy="1463040"/>
          </a:xfrm>
          <a:prstGeom prst="roundRect">
            <a:avLst>
              <a:gd name="adj" fmla="val 15625"/>
            </a:avLst>
          </a:prstGeom>
          <a:solidFill>
            <a:srgbClr val="E873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691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1089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 E QUIZ-it!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9319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· 8 minuta · punoni vetë në letër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5920" y="4572000"/>
            <a:ext cx="8897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Kujtoni: krijo → shto → trego; dhe kodi i listener-it ekzekutohet vetëm kur klikohet.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DRITARJA DHE WIDGET-ET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1 dhe 2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37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 rresht e bën dritaren të DUKSHME?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34440" y="23774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dritarja.setSize(400, 300);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dritarja.setVisible(true);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dritarja.add(butoni);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040880" y="1737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 widget lexon tekstin që shkruan përdoruesi?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40880" y="23774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JTextField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NGJARJET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3 dhe 4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37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Kodi brenda addActionListener ekzekutohet: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23774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menjëherë kur nis programi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vetëm kur klikohet butoni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 herë në sekondë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04088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printon programi në terminal?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00800" y="2286000"/>
            <a:ext cx="5166360" cy="1760220"/>
          </a:xfrm>
          <a:prstGeom prst="roundRect">
            <a:avLst>
              <a:gd name="adj" fmla="val 467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2"/>
          <p:cNvSpPr/>
          <p:nvPr/>
        </p:nvSpPr>
        <p:spPr>
          <a:xfrm>
            <a:off x="680313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3"/>
          <p:cNvSpPr/>
          <p:nvPr/>
        </p:nvSpPr>
        <p:spPr>
          <a:xfrm>
            <a:off x="700430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4"/>
          <p:cNvSpPr/>
          <p:nvPr/>
        </p:nvSpPr>
        <p:spPr>
          <a:xfrm>
            <a:off x="6656832" y="2743200"/>
            <a:ext cx="47091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ne main: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setVisible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92240" y="5074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gabim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ZGJIDHJA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Përgjigjet dhe shpjegimet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56232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181051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setVisible(true)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20640" y="181051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setSize cakton përmasat, add fut widget-et — por vetëm setVisible e shfaq dritaren.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2724912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935224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645920" y="288950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c)  JTextField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20640" y="288950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getText() lexon hyrjen; JLabel vetëm tregon tekst, JButton vetëm klikohet.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" y="3803904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4014216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014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645920" y="396849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vetëm kur klikohet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120640" y="3968496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Listener-i ruan kodin dhe e 'fle' derisa ndodh ngjarja — s'ekzekutohet në nisje.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4360" y="4882896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68680" y="5093208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093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645920" y="504748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20640" y="5047488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println vjen menjëherë pas setVisible, para çdo klikimi; x mbetet 5 derisa dikush klikon.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është kurthi: kodi i ngjarjes s'ekzekutohet derisa dikush klikon — println vjen para kësaj.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486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9494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PËRMBLEDHJE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08760" y="7955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mësuam sot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22199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JFrame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60120" y="280720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Dritarja — titull, madhësi, mbyllje, dukshmëri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8912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22199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Widget-et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663440" y="280720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JLabel, JButton, JTextField — krijo &amp; shto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9244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22199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Layout-et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366760" y="280720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FlowLayout, GridLayout, BorderLayout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8580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6012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418795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73736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Ngjarjet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960120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addActionListener — kod që pret klikimin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38912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6344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4187952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4068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Gjendja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663440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që mban vlerën mes klikimeve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809244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6676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4187952"/>
            <a:ext cx="347472" cy="34747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4400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Mini-apps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8366760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Numërues, makinë, konvertues — gjithçka bashkë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 E JAVËS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Detyra për shtëpi — dorëzim me Git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53619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70078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00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164592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Dritarja jote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1645920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Krijo një JFrame me titullin tënd, një JLabel që të përshëndet dhe një JButton. Provoje që hapet e mbyllet si duhet.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" y="249631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266090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660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00200" y="260604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Numëruesi i dyfishtë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37760" y="2606040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Zgjero numëruesin: shto një buton '-1' që e ZVOGËLON, dhe një buton 'Reset' që e kthen në 0.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" y="345643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62102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356616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Makina jote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937760" y="3566160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Merr makinën llogaritëse dhe shto butonin '.' për numra dhjetorë, ose ngjyrosje të ndryshme për operatorët.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4360" y="441655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458114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600200" y="452628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Sfidë: konvertues temperature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937760" y="4526280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Ndërto një GUI që kthen Celsius → Fahrenheit (F = C * 9/5 + 32), me try-catch për hyrje jonumerike.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94360" y="5596128"/>
            <a:ext cx="11018520" cy="548640"/>
          </a:xfrm>
          <a:prstGeom prst="roundRect">
            <a:avLst>
              <a:gd name="adj" fmla="val 13333"/>
            </a:avLst>
          </a:prstGeom>
          <a:solidFill>
            <a:srgbClr val="142033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5596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Dorëzimi: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me commit-e + link + një pamje (screenshot) e dritares suaj që punon!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— Leksioni 11: Ndërfaqet grafike me Swing</dc:title>
  <dc:subject>PptxGenJS Presentation</dc:subject>
  <dc:creator>Kreni</dc:creator>
  <cp:lastModifiedBy>Kreni</cp:lastModifiedBy>
  <cp:revision>1</cp:revision>
  <dcterms:created xsi:type="dcterms:W3CDTF">2026-09-02T14:19:51Z</dcterms:created>
  <dcterms:modified xsi:type="dcterms:W3CDTF">2026-09-02T14:19:51Z</dcterms:modified>
</cp:coreProperties>
</file>