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Strukturë e re e fuqishme: HashMap — çift çelës→vlerë me kërkim të menjëhershëm. Përgatitje e drejtpërdrejtë për të dhënat e mëdha dhe bazat e të dhënave: aty ku ArrayList do të kalonte një nga një, HashMap gjen menjëherë. TË GJITHA daljet sot janë REALE — kodi u ekzekutua. Do të tregojmë edhe një krahasim shpejtësie të vërtetë. 70 minuta.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Gjysma e parë: mekanika e HashMap (put/get/remove/iterim). Gjysma e dytë: rastet reale — numëruesi i fjalëve (modeli klasik i të dhënave të mëdha), objektet si vlera (si rreshtat e DB), dhe krahasimi i shpejtësisë me ArrayList. Çdo dalje e ekzekutuar.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Analogjia e fjalorit është e përsosur: fjalori s'lexohet nga fillimi për të gjetur një fjalë — shkon drejt e te fjala. HashMap bën të njëjtën gjë me çelësin. Çelës→vlerë: emri→mosha, id→student, fjalë→numërim. Lidhja me DB: kërkimi me id duhet të jetë i shpejtë — HashMap është themeli.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Dy veprimet themelore. put vendos, get merr — dhe të dyja janë të menjëhershme. Dalja djathtas është reale (e ekzekutuar). Tipat: &lt;String, Integer&gt; — çelësi tekst, vlera numër. Integer jo int sepse koleksionet punojnë me objekte (autoboxing e bën vetë). Ky është ndryshimi kryesor nga ArrayList: aksesojmë me ÇELËS, jo me indeks.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Rasti kritik: çelësi që s'ekziston. get kthen null — dalja reale djathtas e tregon (null, true, false). Rreziku: null + operacion = NullPointerException (lidhje me L10 dhe L6). Zgjidhja: containsKey para përdorimit, ose getOrDefault (slajdi i numëruesit). Ky është gabimi #1 me HashMap.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Dy koncepte: (1) mbishkrimi — put me çelës ekzistues ndryshon vlerën, s'shton rresht; madhësia mbetet 1 (dalja reale e provon). Kjo sepse çelësat janë unikë. (2) remove(çelës) fshin çiftin; containsKey pastaj kthen false. size() jep numrin e çifteve. Të dyja daljet janë të ekzekutuara.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Iterimi me entrySet. Pika KRITIKE: dalja reale tregon Beni→Ana→Vera, jo radhën e futjes! HashMap s'garanton renditje — kjo i habit të gjithë fillestarët. Është kompromis: sakrifikon radhën për shpejtësi. Map.Entry mban një çift; getKey/getValue e ndajnë. Për radhë, LinkedHashMap (përmendeni vetëm).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Modeli më i rëndësishëm praktik: numërimi. getOrDefault e bën elegant — merr vlerën ose 0, shto 1. Dalja reale: {kod=1, bar=2, mije=3}. Ky është themeli i analizës së të dhënave: numëro sa herë shfaqet çdo gjë. Google numëron fjalët, dyqanet numërojnë shitjet — të gjitha me këtë model. Vëreni sërish renditjen e paparashikueshme.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Lidhja e drejtpërdrejtë me DB: çelës=id, vlera=objekti i plotë (si një rresht). baza.get(102) = SELECT WHERE id=102, por në RAM dhe i menjëhershëm. Dalja reale e provon. Ky është koncepti që lidh HashMap-in me bazat e të dhënave: të dyja bëjnë kërkim të shpejtë me çelës. HashMap = 'baza në kujtesë'.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PROVA e vërtetë — e ekzekutova në këtë makinë. Kërkimi i elementit të fundit në 1 milion: ArrayList 17,227 µs (kalon secilin), HashMap 36 µs (drejtpërdrejt). ~477 herë më i shpejtë! Kjo është ARSYEJA e gjithë leksionit dhe lidhja me të dhënat e mëdha: sa më shumë të dhëna, aq më i madh diferenca. Bazat e të dhënave përdorin indekse hash pikërisht për këtë.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Fletë referimi për fotografim. Tri rregullat e arta poshtë: çelësat unikë, renditja e pagarantuar, null për çelës që s'ekziston. getOrDefault është 'ari' për numërim. Këto veprime mbulojnë 95% të përdorimit të përditshëm.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Dy pyetje mbi sjelljen (madhësia, null), dy mbi konceptet. Të gjitha kodet u ekzekutuan.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Q1: put('a',...) dy herë s'shton çift të ri — mbishkruan; kanë mbetur a dhe b, pra size=2; përgjigja b. Q2: çelësi 'y' s'ekziston → get kthen null; përgjigja b. Të dyja testojnë sjelljet kryesore (mbishkrim, null). Të verifikuara me ekzekutim.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Q3: HashMap gjen drejtpërdrejt me çelës, s'kalon një nga një; përgjigja b (provuar me 477x). Q4: getOrDefault kthen parazgjedhjen 0, jo null; përgjigja a. Bonusi: çelës=id, vlera=objekti Studenti — pikërisht slajdi 9. Lidh me DB.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 dhe Q3 janë konceptet kryesore: unikaliteti i çelësave dhe shpejtësia. Nëse dikush gaboi Q1, kujtojini se çelësi ekzistues mbishkruhet, s'shtohet.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Fjalia për t'u marrë me vete: 'ArrayList e gjen duke kaluar; HashMap e gjen duke ditur — dhe kjo bën gjithë ndryshimin te të dhënat e mëdha'. Lidhja me DB: bazat përdorin pikërisht indekse hash për kërkim të shpejtë. Java tjetër: mund të kthehemi te DB me SELECT dhe indeksim, ose te struktura të tjera (Set, TreeMap).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Detyra 1-2 janë modelet bazë (fjalor, numërim). Detyra 3 lidh me DB (id→objekt). Detyra 4 është klasiku 'fjala më e shpeshtë' — kombinon numërimin me gjetjen e maksimumit (L4). Kërkoni daljet si provë. Java tjetër: lidhja me SELECT dhe indeksimin. Git për dorëzim.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5029200" cy="5029200"/>
          </a:xfrm>
          <a:prstGeom prst="ellipse">
            <a:avLst/>
          </a:prstGeom>
          <a:solidFill>
            <a:srgbClr val="E8730C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291840"/>
            <a:ext cx="3840480" cy="3840480"/>
          </a:xfrm>
          <a:prstGeom prst="ellipse">
            <a:avLst/>
          </a:prstGeom>
          <a:solidFill>
            <a:srgbClr val="1E3050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182880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14203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0" y="1828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1938528"/>
            <a:ext cx="237744" cy="2377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424160" y="1828800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E8730C"/>
          </a:solidFill>
          <a:ln/>
        </p:spPr>
      </p:sp>
      <p:sp>
        <p:nvSpPr>
          <p:cNvPr id="8" name="Text 5"/>
          <p:cNvSpPr/>
          <p:nvPr/>
        </p:nvSpPr>
        <p:spPr>
          <a:xfrm>
            <a:off x="10424160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686800" y="2395728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142033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0" y="23957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"Beni"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2505456"/>
            <a:ext cx="237744" cy="2377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0424160" y="2395728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E8730C"/>
          </a:solidFill>
          <a:ln/>
        </p:spPr>
      </p:sp>
      <p:sp>
        <p:nvSpPr>
          <p:cNvPr id="13" name="Text 9"/>
          <p:cNvSpPr/>
          <p:nvPr/>
        </p:nvSpPr>
        <p:spPr>
          <a:xfrm>
            <a:off x="10424160" y="23957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686800" y="2962656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142033"/>
          </a:solidFill>
          <a:ln/>
        </p:spPr>
      </p:sp>
      <p:sp>
        <p:nvSpPr>
          <p:cNvPr id="15" name="Text 11"/>
          <p:cNvSpPr/>
          <p:nvPr/>
        </p:nvSpPr>
        <p:spPr>
          <a:xfrm>
            <a:off x="8686800" y="29626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"Vera"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3072384"/>
            <a:ext cx="237744" cy="237744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0424160" y="2962656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E8730C"/>
          </a:solidFill>
          <a:ln/>
        </p:spPr>
      </p:sp>
      <p:sp>
        <p:nvSpPr>
          <p:cNvPr id="18" name="Text 13"/>
          <p:cNvSpPr/>
          <p:nvPr/>
        </p:nvSpPr>
        <p:spPr>
          <a:xfrm>
            <a:off x="10424160" y="296265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2296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LEKSIONI 16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786384" y="16459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 dhe</a:t>
            </a:r>
            <a:endParaRPr lang="en-US" sz="3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tabelat hash</a:t>
            </a:r>
            <a:endParaRPr lang="en-US" sz="3800" dirty="0"/>
          </a:p>
        </p:txBody>
      </p:sp>
      <p:sp>
        <p:nvSpPr>
          <p:cNvPr id="21" name="Text 16"/>
          <p:cNvSpPr/>
          <p:nvPr/>
        </p:nvSpPr>
        <p:spPr>
          <a:xfrm>
            <a:off x="822960" y="30632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Çelës → vlerë: kërkim i menjëhershëm, edhe në miliona të dhëna</a:t>
            </a:r>
            <a:endParaRPr lang="en-US" sz="1700" dirty="0"/>
          </a:p>
        </p:txBody>
      </p:sp>
      <p:sp>
        <p:nvSpPr>
          <p:cNvPr id="22" name="Shape 17"/>
          <p:cNvSpPr/>
          <p:nvPr/>
        </p:nvSpPr>
        <p:spPr>
          <a:xfrm>
            <a:off x="841248" y="3657600"/>
            <a:ext cx="7040880" cy="1239012"/>
          </a:xfrm>
          <a:prstGeom prst="roundRect">
            <a:avLst>
              <a:gd name="adj" fmla="val 6642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42416" y="38404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4" name="Shape 19"/>
          <p:cNvSpPr/>
          <p:nvPr/>
        </p:nvSpPr>
        <p:spPr>
          <a:xfrm>
            <a:off x="1243584" y="38404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5" name="Shape 20"/>
          <p:cNvSpPr/>
          <p:nvPr/>
        </p:nvSpPr>
        <p:spPr>
          <a:xfrm>
            <a:off x="1444752" y="38404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6" name="Text 21"/>
          <p:cNvSpPr/>
          <p:nvPr/>
        </p:nvSpPr>
        <p:spPr>
          <a:xfrm>
            <a:off x="1097280" y="4114800"/>
            <a:ext cx="6583680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HashMap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HashMap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&lt;&gt;();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-&gt; 20, menjehere!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841248" y="5029200"/>
            <a:ext cx="6949440" cy="0"/>
          </a:xfrm>
          <a:prstGeom prst="line">
            <a:avLst/>
          </a:prstGeom>
          <a:noFill/>
          <a:ln w="19050">
            <a:solidFill>
              <a:srgbClr val="E8730C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22960" y="5212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Ligjëratë 70 minuta</a:t>
            </a:r>
            <a:pPr indent="0" marL="0">
              <a:buNone/>
            </a:pPr>
            <a:r>
              <a:rPr lang="en-US" sz="1300" dirty="0">
                <a:solidFill>
                  <a:srgbClr val="E8730C"/>
                </a:solidFill>
              </a:rPr>
              <a:t>     •     </a:t>
            </a:r>
            <a:pPr indent="0" marL="0">
              <a:buNone/>
            </a:pPr>
            <a:r>
              <a:rPr lang="en-US" sz="13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Nivel: Mesatar</a:t>
            </a:r>
            <a:pPr indent="0" marL="0">
              <a:buNone/>
            </a:pPr>
            <a:r>
              <a:rPr lang="en-US" sz="1300" dirty="0">
                <a:solidFill>
                  <a:srgbClr val="E8730C"/>
                </a:solidFill>
              </a:rPr>
              <a:t>     •     </a:t>
            </a:r>
            <a:pPr indent="0" marL="0">
              <a:buNone/>
            </a:pPr>
            <a:r>
              <a:rPr lang="en-US" sz="13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Informatikë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AGJENDA · 70 MINUTA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 i leksionit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56232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984248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099816" y="183794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07'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804672" y="2587752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Çka është HashMap?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04672" y="3081528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Çelës → vlerë, si fjalori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370832" y="1600200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26864" y="1856232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984248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22008" y="183794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13'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4626864" y="2587752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Veprimet bazë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626864" y="3081528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put, get, containsKey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193024" y="1600200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449056" y="1856232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072" y="1984248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744200" y="183794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2400" dirty="0"/>
          </a:p>
        </p:txBody>
      </p:sp>
      <p:sp>
        <p:nvSpPr>
          <p:cNvPr id="22" name="Text 16"/>
          <p:cNvSpPr/>
          <p:nvPr/>
        </p:nvSpPr>
        <p:spPr>
          <a:xfrm>
            <a:off x="8449056" y="2587752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Mbishkrim &amp; fshirje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449056" y="3081528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 njëjtë, remove, size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3941064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04672" y="419709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325112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099816" y="41788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2400" dirty="0"/>
          </a:p>
        </p:txBody>
      </p:sp>
      <p:sp>
        <p:nvSpPr>
          <p:cNvPr id="28" name="Text 21"/>
          <p:cNvSpPr/>
          <p:nvPr/>
        </p:nvSpPr>
        <p:spPr>
          <a:xfrm>
            <a:off x="804672" y="4928616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Kalimi (iterim)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804672" y="5422392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entrySet, printim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4370832" y="3941064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626864" y="419709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4325112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922008" y="41788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15'</a:t>
            </a:r>
            <a:endParaRPr lang="en-US" sz="2400" dirty="0"/>
          </a:p>
        </p:txBody>
      </p:sp>
      <p:sp>
        <p:nvSpPr>
          <p:cNvPr id="34" name="Text 26"/>
          <p:cNvSpPr/>
          <p:nvPr/>
        </p:nvSpPr>
        <p:spPr>
          <a:xfrm>
            <a:off x="4626864" y="4928616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Rasti real</a:t>
            </a:r>
            <a:endParaRPr lang="en-US" sz="1500" dirty="0"/>
          </a:p>
        </p:txBody>
      </p:sp>
      <p:sp>
        <p:nvSpPr>
          <p:cNvPr id="35" name="Text 27"/>
          <p:cNvSpPr/>
          <p:nvPr/>
        </p:nvSpPr>
        <p:spPr>
          <a:xfrm>
            <a:off x="4626864" y="5422392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Numëruesi + objekte + shpejtësia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8193024" y="3941064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8449056" y="419709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7072" y="4325112"/>
            <a:ext cx="347472" cy="34747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0744200" y="41788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15'</a:t>
            </a:r>
            <a:endParaRPr lang="en-US" sz="2400" dirty="0"/>
          </a:p>
        </p:txBody>
      </p:sp>
      <p:sp>
        <p:nvSpPr>
          <p:cNvPr id="40" name="Text 31"/>
          <p:cNvSpPr/>
          <p:nvPr/>
        </p:nvSpPr>
        <p:spPr>
          <a:xfrm>
            <a:off x="8449056" y="4928616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+ përmbledhje</a:t>
            </a:r>
            <a:endParaRPr lang="en-US" sz="1500" dirty="0"/>
          </a:p>
        </p:txBody>
      </p:sp>
      <p:sp>
        <p:nvSpPr>
          <p:cNvPr id="41" name="Text 32"/>
          <p:cNvSpPr/>
          <p:nvPr/>
        </p:nvSpPr>
        <p:spPr>
          <a:xfrm>
            <a:off x="8449056" y="5422392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pyetje për vetëkontroll</a:t>
            </a:r>
            <a:endParaRPr lang="en-US" sz="1200" dirty="0"/>
          </a:p>
        </p:txBody>
      </p:sp>
      <p:sp>
        <p:nvSpPr>
          <p:cNvPr id="42" name="Text 33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43" name="Text 34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ÇELËS → VLERË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Çka është HashMap? Si një fjalor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94360" y="1828800"/>
            <a:ext cx="5760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Fjalori i jetës reale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Kërkon një fjalë (çelësin) → gjen kuptimin (vlerën). S'lexon gjithë librin!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HashMap&lt;Çelës, Vlerë&gt;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Çdo çelës unik lidhet me një vlerë. Çelësi: emri; vlera: mosha.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Kërkim i menjëhershëm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get(çelës) gjen vlerën drejtpërdrejt — pa kaluar një nga një si te ArrayList.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675120" y="1783080"/>
            <a:ext cx="4937760" cy="3200400"/>
          </a:xfrm>
          <a:prstGeom prst="roundRect">
            <a:avLst>
              <a:gd name="adj" fmla="val 2857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67512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HashMap&lt;String, Integer&gt;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75120" y="2377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çelës            vlerë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635240" y="269748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142033"/>
          </a:solidFill>
          <a:ln/>
        </p:spPr>
      </p:sp>
      <p:sp>
        <p:nvSpPr>
          <p:cNvPr id="11" name="Text 8"/>
          <p:cNvSpPr/>
          <p:nvPr/>
        </p:nvSpPr>
        <p:spPr>
          <a:xfrm>
            <a:off x="7635240" y="2697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endParaRPr lang="en-US" sz="13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807208"/>
            <a:ext cx="237744" cy="23774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9372600" y="2697480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E8730C"/>
          </a:solidFill>
          <a:ln/>
        </p:spPr>
      </p:sp>
      <p:sp>
        <p:nvSpPr>
          <p:cNvPr id="14" name="Text 10"/>
          <p:cNvSpPr/>
          <p:nvPr/>
        </p:nvSpPr>
        <p:spPr>
          <a:xfrm>
            <a:off x="9372600" y="2697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635240" y="3264408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142033"/>
          </a:solidFill>
          <a:ln/>
        </p:spPr>
      </p:sp>
      <p:sp>
        <p:nvSpPr>
          <p:cNvPr id="16" name="Text 12"/>
          <p:cNvSpPr/>
          <p:nvPr/>
        </p:nvSpPr>
        <p:spPr>
          <a:xfrm>
            <a:off x="7635240" y="32644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"Beni"</a:t>
            </a:r>
            <a:endParaRPr lang="en-US" sz="13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3374136"/>
            <a:ext cx="237744" cy="237744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9372600" y="3264408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E8730C"/>
          </a:solidFill>
          <a:ln/>
        </p:spPr>
      </p:sp>
      <p:sp>
        <p:nvSpPr>
          <p:cNvPr id="19" name="Text 14"/>
          <p:cNvSpPr/>
          <p:nvPr/>
        </p:nvSpPr>
        <p:spPr>
          <a:xfrm>
            <a:off x="9372600" y="32644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7635240" y="3831336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142033"/>
          </a:solidFill>
          <a:ln/>
        </p:spPr>
      </p:sp>
      <p:sp>
        <p:nvSpPr>
          <p:cNvPr id="21" name="Text 16"/>
          <p:cNvSpPr/>
          <p:nvPr/>
        </p:nvSpPr>
        <p:spPr>
          <a:xfrm>
            <a:off x="7635240" y="38313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"Vera"</a:t>
            </a:r>
            <a:endParaRPr lang="en-US" sz="13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3941064"/>
            <a:ext cx="237744" cy="237744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9372600" y="3831336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E8730C"/>
          </a:solidFill>
          <a:ln/>
        </p:spPr>
      </p:sp>
      <p:sp>
        <p:nvSpPr>
          <p:cNvPr id="24" name="Text 18"/>
          <p:cNvSpPr/>
          <p:nvPr/>
        </p:nvSpPr>
        <p:spPr>
          <a:xfrm>
            <a:off x="9372600" y="38313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594360" y="5120640"/>
            <a:ext cx="11018520" cy="822960"/>
          </a:xfrm>
          <a:prstGeom prst="roundRect">
            <a:avLst>
              <a:gd name="adj" fmla="val 8889"/>
            </a:avLst>
          </a:prstGeom>
          <a:solidFill>
            <a:srgbClr val="FBEDD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5394960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98448" y="5193792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 na duhet për të dhëna të mëdha?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Në një bazë me miliona rreshta, kërkimi me çelës (id) duhet të jetë i menjëhershëm. HashMap është mënyra si e bëjnë këtë.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KODI I EKZEKUTUAR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Veprimet e para: put dhe get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914400" y="1737360"/>
            <a:ext cx="6858000" cy="2281428"/>
          </a:xfrm>
          <a:prstGeom prst="roundRect">
            <a:avLst>
              <a:gd name="adj" fmla="val 3607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5568" y="192024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316736" y="192024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517904" y="192024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2194560"/>
            <a:ext cx="6400800" cy="1732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HashMap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HashMap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&lt;&gt;();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"Beni"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"Vera"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"Mosha e Ana-s: "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"Mosha e Beni-t: "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"Beni"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092440" y="2011680"/>
            <a:ext cx="3474720" cy="1371600"/>
          </a:xfrm>
          <a:prstGeom prst="roundRect">
            <a:avLst>
              <a:gd name="adj" fmla="val 6000"/>
            </a:avLst>
          </a:prstGeom>
          <a:solidFill>
            <a:srgbClr val="E9F4EC"/>
          </a:solidFill>
          <a:ln w="12700">
            <a:solidFill>
              <a:srgbClr val="BFE0C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17627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714232" y="216712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Dalja reale (e testuar)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8366760" y="256032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 e Ana-s: 20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 e Beni-t: 22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914400" y="4251960"/>
            <a:ext cx="6858000" cy="1691640"/>
          </a:xfrm>
          <a:prstGeom prst="roundRect">
            <a:avLst>
              <a:gd name="adj" fmla="val 4865"/>
            </a:avLst>
          </a:prstGeom>
          <a:solidFill>
            <a:srgbClr val="1E3050"/>
          </a:solidFill>
          <a:ln/>
        </p:spPr>
      </p:sp>
      <p:sp>
        <p:nvSpPr>
          <p:cNvPr id="16" name="Text 12"/>
          <p:cNvSpPr/>
          <p:nvPr/>
        </p:nvSpPr>
        <p:spPr>
          <a:xfrm>
            <a:off x="1188720" y="438912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put(çelës, vlerë)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vendos një çift në hartë.
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get(çelës)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merr vlerën për atë çelës, MENJËHERË.
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9FE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&lt;String, Integer&gt;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çelësi është tekst, vlera është numër.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092440" y="3611880"/>
            <a:ext cx="3474720" cy="2331720"/>
          </a:xfrm>
          <a:prstGeom prst="roundRect">
            <a:avLst>
              <a:gd name="adj" fmla="val 3922"/>
            </a:avLst>
          </a:prstGeom>
          <a:solidFill>
            <a:srgbClr val="1E3050"/>
          </a:solidFill>
          <a:ln/>
        </p:spPr>
      </p:sp>
      <p:sp>
        <p:nvSpPr>
          <p:cNvPr id="18" name="Text 14"/>
          <p:cNvSpPr/>
          <p:nvPr/>
        </p:nvSpPr>
        <p:spPr>
          <a:xfrm>
            <a:off x="8339328" y="379476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Vëreni tipat: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8339328" y="4160520"/>
            <a:ext cx="3017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HashMap&lt;K, V&gt; kërkon dy tipe në kllapa këndore.
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(jo int) sepse HashMap punon me objekte — Java e kthen vetë.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KONTROLLI I SIGURT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 çelësi s'ekziston: null dhe containsKey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94360" y="1737360"/>
            <a:ext cx="6400800" cy="2020824"/>
          </a:xfrm>
          <a:prstGeom prst="roundRect">
            <a:avLst>
              <a:gd name="adj" fmla="val 4072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5528" y="192024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92024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97864" y="192024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" y="2194560"/>
            <a:ext cx="594360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HashMap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HashMap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&lt;&gt;();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"Xhoni"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containsKey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containsKey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"Xhoni"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5200" y="1920240"/>
            <a:ext cx="4251960" cy="1691640"/>
          </a:xfrm>
          <a:prstGeom prst="roundRect">
            <a:avLst>
              <a:gd name="adj" fmla="val 4865"/>
            </a:avLst>
          </a:prstGeom>
          <a:solidFill>
            <a:srgbClr val="E9F4EC"/>
          </a:solidFill>
          <a:ln w="12700">
            <a:solidFill>
              <a:srgbClr val="BFE0C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08483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936992" y="207568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Dalja reale (e testuar)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7589520" y="2468880"/>
            <a:ext cx="37490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94360" y="3657600"/>
            <a:ext cx="6400800" cy="2286000"/>
          </a:xfrm>
          <a:prstGeom prst="roundRect">
            <a:avLst>
              <a:gd name="adj" fmla="val 3600"/>
            </a:avLst>
          </a:prstGeom>
          <a:solidFill>
            <a:srgbClr val="FBEAE7"/>
          </a:solidFill>
          <a:ln w="12700">
            <a:solidFill>
              <a:srgbClr val="E8A99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88620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38862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Kujdes me null!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280160" y="429768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A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get(çelës) kthen 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B23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A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nëse çelësi s'ekziston. Nëse pastaj përpiqesh të bësh diçka me të (p.sh. + 1), merr 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B23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NullPointerException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A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(kujtoni L10!). Prandaj kontrollo me containsKey PARA.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7315200" y="3794760"/>
            <a:ext cx="4251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get(çelës i panjohur)</a:t>
            </a:r>
            <a:endParaRPr lang="en-US" sz="12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null (jo gabim, por kujdes).</a:t>
            </a:r>
            <a:endParaRPr lang="en-US" sz="12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containsKey(çelës)</a:t>
            </a:r>
            <a:endParaRPr lang="en-US" sz="12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true/false: a ekziston ky çelës?</a:t>
            </a:r>
            <a:endParaRPr lang="en-US" sz="12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Praktikë e mirë</a:t>
            </a:r>
            <a:endParaRPr lang="en-US" sz="12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Kontrollo, ose përdor getOrDefault (së shpejti).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 NJËJTË · REMOVE · SIZE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Mbishkrimi dhe fshirja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914400" y="1691640"/>
            <a:ext cx="6400800" cy="2020824"/>
          </a:xfrm>
          <a:prstGeom prst="roundRect">
            <a:avLst>
              <a:gd name="adj" fmla="val 4072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5568" y="1874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316736" y="1874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517904" y="1874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2148840"/>
            <a:ext cx="594360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"Para: "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 njejti celes -&gt; MBISHKRUAN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"Pas: "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"Madhesia: "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589520" y="1783080"/>
            <a:ext cx="3977640" cy="1691640"/>
          </a:xfrm>
          <a:prstGeom prst="roundRect">
            <a:avLst>
              <a:gd name="adj" fmla="val 4865"/>
            </a:avLst>
          </a:prstGeom>
          <a:solidFill>
            <a:srgbClr val="E9F4EC"/>
          </a:solidFill>
          <a:ln w="12700">
            <a:solidFill>
              <a:srgbClr val="BFE0C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94767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211312" y="193852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Dalja reale — mbishkrimi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7863840" y="2331720"/>
            <a:ext cx="347472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Para: 20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Pas: 21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Madhesia: 1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914400" y="3703320"/>
            <a:ext cx="6400800" cy="978408"/>
          </a:xfrm>
          <a:prstGeom prst="roundRect">
            <a:avLst>
              <a:gd name="adj" fmla="val 8411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115568" y="388620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7" name="Shape 13"/>
          <p:cNvSpPr/>
          <p:nvPr/>
        </p:nvSpPr>
        <p:spPr>
          <a:xfrm>
            <a:off x="1316736" y="388620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8" name="Shape 14"/>
          <p:cNvSpPr/>
          <p:nvPr/>
        </p:nvSpPr>
        <p:spPr>
          <a:xfrm>
            <a:off x="1517904" y="388620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9" name="Text 15"/>
          <p:cNvSpPr/>
          <p:nvPr/>
        </p:nvSpPr>
        <p:spPr>
          <a:xfrm>
            <a:off x="1170432" y="4160520"/>
            <a:ext cx="5943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"Beni"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containsKey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"Beni"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7589520" y="3794760"/>
            <a:ext cx="3977640" cy="1188720"/>
          </a:xfrm>
          <a:prstGeom prst="roundRect">
            <a:avLst>
              <a:gd name="adj" fmla="val 6923"/>
            </a:avLst>
          </a:prstGeom>
          <a:solidFill>
            <a:srgbClr val="E9F4EC"/>
          </a:solidFill>
          <a:ln w="12700">
            <a:solidFill>
              <a:srgbClr val="BFE0C8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3959352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211312" y="395020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Dalja reale — fshirja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7863840" y="434340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914400" y="4892040"/>
            <a:ext cx="6400800" cy="1051560"/>
          </a:xfrm>
          <a:prstGeom prst="roundRect">
            <a:avLst>
              <a:gd name="adj" fmla="val 6957"/>
            </a:avLst>
          </a:prstGeom>
          <a:solidFill>
            <a:srgbClr val="1E3050"/>
          </a:solidFill>
          <a:ln/>
        </p:spPr>
      </p:sp>
      <p:sp>
        <p:nvSpPr>
          <p:cNvPr id="25" name="Text 20"/>
          <p:cNvSpPr/>
          <p:nvPr/>
        </p:nvSpPr>
        <p:spPr>
          <a:xfrm>
            <a:off x="1188720" y="4965192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Çelësi është UNIK: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me një çelës që ekziston s'shton rresht të ri — e MBISHKRUAN vlerën e vjetër. Prandaj madhësia mbetet 1.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ÇELËS DHE VLERË NJËHERËSH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Kalimi nëpër të gjitha: entrySet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94360" y="1737360"/>
            <a:ext cx="6858000" cy="2542032"/>
          </a:xfrm>
          <a:prstGeom prst="roundRect">
            <a:avLst>
              <a:gd name="adj" fmla="val 3237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5528" y="192024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92024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97864" y="192024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" y="2194560"/>
            <a:ext cx="640080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HashMap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HashMap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&lt;&gt;();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"Beni"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"Vera"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hyrje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entrySet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hyrje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getKey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-&gt; "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hyrje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getValue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772400" y="1828800"/>
            <a:ext cx="3794760" cy="1874520"/>
          </a:xfrm>
          <a:prstGeom prst="roundRect">
            <a:avLst>
              <a:gd name="adj" fmla="val 4390"/>
            </a:avLst>
          </a:prstGeom>
          <a:solidFill>
            <a:srgbClr val="E9F4EC"/>
          </a:solidFill>
          <a:ln w="12700">
            <a:solidFill>
              <a:srgbClr val="BFE0C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99339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394192" y="19842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Dalja reale (e testuar)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8046720" y="2377440"/>
            <a:ext cx="329184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Beni -&gt; 22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 -&gt; 20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Vera -&gt; 19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94360" y="4114800"/>
            <a:ext cx="6858000" cy="1828800"/>
          </a:xfrm>
          <a:prstGeom prst="roundRect">
            <a:avLst>
              <a:gd name="adj" fmla="val 4500"/>
            </a:avLst>
          </a:prstGeom>
          <a:solidFill>
            <a:srgbClr val="FBEAE7"/>
          </a:solidFill>
          <a:ln w="12700">
            <a:solidFill>
              <a:srgbClr val="E8A99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34340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43434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Renditja NUK garantohet!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280160" y="475488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A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Vëreni daljen: Beni → Ana → Vera, JO sipas radhës që i shtuam. HashMap s'e ruan renditjen — organizohet për SHPEJTËSI, jo për radhë. Nëse ju duhet radha, ka struktura të tjera (LinkedHashMap, TreeMap) — për javët e ardhshme.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7772400" y="3977640"/>
            <a:ext cx="3794760" cy="1965960"/>
          </a:xfrm>
          <a:prstGeom prst="roundRect">
            <a:avLst>
              <a:gd name="adj" fmla="val 4186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019288" y="4114800"/>
            <a:ext cx="3337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E873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Map.Entry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një çift çelës-vlerë. entrySet() jep të gjitha çiftet. getKey() dhe getValue() marrin secilën pjesë.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 I TË DHËNAVE TË MËDHA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Rasti real: numëruesi i fjalëve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914400" y="1691640"/>
            <a:ext cx="6858000" cy="2802636"/>
          </a:xfrm>
          <a:prstGeom prst="roundRect">
            <a:avLst>
              <a:gd name="adj" fmla="val 2936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5568" y="1874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316736" y="1874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517904" y="1874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2148840"/>
            <a:ext cx="6400800" cy="2253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fjalet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"mije"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"mije"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"mije"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"bar"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"bar"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"kod"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HashMap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numeruesi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HashMap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&lt;&gt;();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fjala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fjalet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nese s'ekziston, merr 0; pastaj shto 1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numeruesi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fjala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numeruesi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getOrDefault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fjala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numeruesi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092440" y="1828800"/>
            <a:ext cx="3474720" cy="1371600"/>
          </a:xfrm>
          <a:prstGeom prst="roundRect">
            <a:avLst>
              <a:gd name="adj" fmla="val 6000"/>
            </a:avLst>
          </a:prstGeom>
          <a:solidFill>
            <a:srgbClr val="E9F4EC"/>
          </a:solidFill>
          <a:ln w="12700">
            <a:solidFill>
              <a:srgbClr val="BFE0C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99339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714232" y="198424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Dalja reale (e testuar)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8366760" y="237744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{kod=1, bar=2,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mije=3}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914400" y="4343400"/>
            <a:ext cx="6858000" cy="1600200"/>
          </a:xfrm>
          <a:prstGeom prst="roundRect">
            <a:avLst>
              <a:gd name="adj" fmla="val 5143"/>
            </a:avLst>
          </a:prstGeom>
          <a:solidFill>
            <a:srgbClr val="1E3050"/>
          </a:solidFill>
          <a:ln/>
        </p:spPr>
      </p:sp>
      <p:sp>
        <p:nvSpPr>
          <p:cNvPr id="16" name="Text 12"/>
          <p:cNvSpPr/>
          <p:nvPr/>
        </p:nvSpPr>
        <p:spPr>
          <a:xfrm>
            <a:off x="1188720" y="448056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getOrDefault(çelës, 0)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nëse çelësi ekziston, merr vlerën; ndryshe merr 0. Kështu shmangim null-in dhe containsKey-n. Ky është modeli KLASIK i numërimit — përdoret kudo në analizën e të dhënave.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092440" y="356616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FBEDD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3794760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39328" y="416052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 i madh?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Numërimi i fjalëve, klikimeve, produkteve më të shitura, votave... i gjithë 'big data' fillon me këtë model: çelës → sa herë.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→ STUDENTI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Objekte si vlera: si rreshtat e një baze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94360" y="1737360"/>
            <a:ext cx="6766560" cy="2542032"/>
          </a:xfrm>
          <a:prstGeom prst="roundRect">
            <a:avLst>
              <a:gd name="adj" fmla="val 3237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5528" y="192024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92024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97864" y="192024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" y="2194560"/>
            <a:ext cx="630936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HashMap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baza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HashMap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&lt;&gt;();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baza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 Kola"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baza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"Beni Doda"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baza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103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"Vera Hoxha"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kerkim i menjehershem me id - pa cikel!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gjetur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baza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gjetur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"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gjetur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635240" y="1920240"/>
            <a:ext cx="3931920" cy="1371600"/>
          </a:xfrm>
          <a:prstGeom prst="roundRect">
            <a:avLst>
              <a:gd name="adj" fmla="val 6000"/>
            </a:avLst>
          </a:prstGeom>
          <a:solidFill>
            <a:srgbClr val="E9F4EC"/>
          </a:solidFill>
          <a:ln w="12700">
            <a:solidFill>
              <a:srgbClr val="BFE0C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08483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257032" y="207568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Dalja reale (e testuar)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7909560" y="246888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Beni Doda, 22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 studente: 3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94360" y="4160520"/>
            <a:ext cx="6766560" cy="1783080"/>
          </a:xfrm>
          <a:prstGeom prst="roundRect">
            <a:avLst>
              <a:gd name="adj" fmla="val 4615"/>
            </a:avLst>
          </a:prstGeom>
          <a:solidFill>
            <a:srgbClr val="FBEDD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38912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98448" y="4315968"/>
            <a:ext cx="5943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Kjo është pikërisht si një bazë të dhënash!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Çelësi = id (identifikuesi), vlera = i gjithë 'rreshti' (objekti Studenti). baza.get(102) gjen studentin MENJËHERË me id — pikërisht si SELECT ... WHERE id = 102, por në kujtesë.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635240" y="3520440"/>
            <a:ext cx="3931920" cy="2423160"/>
          </a:xfrm>
          <a:prstGeom prst="roundRect">
            <a:avLst>
              <a:gd name="adj" fmla="val 3774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7882128" y="3657600"/>
            <a:ext cx="3429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Vlera mund të jetë ÇDO gjë:
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numër, tekst, ose një objekt i tërë me shumë fusha. Këtu çdo id lidhet me një Studenti të plotë (emri + mosha).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MILION ELEMENTE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 HashMap? Prova e shpejtësisë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914400" y="1691640"/>
            <a:ext cx="6675120" cy="2020824"/>
          </a:xfrm>
          <a:prstGeom prst="roundRect">
            <a:avLst>
              <a:gd name="adj" fmla="val 4072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5568" y="1874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316736" y="1874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517904" y="1874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2148840"/>
            <a:ext cx="621792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kerko elementin e fundit ne 1,000,000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0..999999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HashMap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harta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contains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999999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kalon NJE nga NJE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harta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containsKey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999999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gjen DREJTPERDREJT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863840" y="1783080"/>
            <a:ext cx="3703320" cy="1097280"/>
          </a:xfrm>
          <a:prstGeom prst="roundRect">
            <a:avLst>
              <a:gd name="adj" fmla="val 8333"/>
            </a:avLst>
          </a:prstGeom>
          <a:solidFill>
            <a:srgbClr val="3A2430"/>
          </a:solidFill>
          <a:ln w="12700">
            <a:solidFill>
              <a:srgbClr val="C065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92440" y="19202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ArrayList.contains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092440" y="2286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17,227 mikrosekonda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7863840" y="3063240"/>
            <a:ext cx="3703320" cy="1097280"/>
          </a:xfrm>
          <a:prstGeom prst="roundRect">
            <a:avLst>
              <a:gd name="adj" fmla="val 8333"/>
            </a:avLst>
          </a:prstGeom>
          <a:solidFill>
            <a:srgbClr val="17331F"/>
          </a:solidFill>
          <a:ln w="12700">
            <a:solidFill>
              <a:srgbClr val="3FA85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92440" y="32004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E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HashMap.containsKey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092440" y="3566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mikrosekonda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7863840" y="4343400"/>
            <a:ext cx="3703320" cy="777240"/>
          </a:xfrm>
          <a:prstGeom prst="roundRect">
            <a:avLst>
              <a:gd name="adj" fmla="val 11765"/>
            </a:avLst>
          </a:prstGeom>
          <a:solidFill>
            <a:srgbClr val="E8730C"/>
          </a:solidFill>
          <a:ln/>
        </p:spPr>
      </p:sp>
      <p:sp>
        <p:nvSpPr>
          <p:cNvPr id="18" name="Text 15"/>
          <p:cNvSpPr/>
          <p:nvPr/>
        </p:nvSpPr>
        <p:spPr>
          <a:xfrm>
            <a:off x="7863840" y="434340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~477 herë më i shpejtë!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914400" y="4617720"/>
            <a:ext cx="6675120" cy="1325880"/>
          </a:xfrm>
          <a:prstGeom prst="roundRect">
            <a:avLst>
              <a:gd name="adj" fmla="val 6207"/>
            </a:avLst>
          </a:prstGeom>
          <a:solidFill>
            <a:srgbClr val="E9F4EC"/>
          </a:solidFill>
          <a:ln w="12700">
            <a:solidFill>
              <a:srgbClr val="BFE0C8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4782312"/>
            <a:ext cx="310896" cy="31089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536192" y="4773168"/>
            <a:ext cx="5806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Dalja reale (e ekzekutuar në këtë makinë)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1188720" y="5166360"/>
            <a:ext cx="6172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ArrayList.contains: 17227 mikrosekonda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HashMap.containsKey: 36 mikrosekonda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FOTOGRAFOJENI KËTË SLAJD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Fletë referimi — HashMap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45920"/>
          <a:ext cx="1101852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699516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Veprimi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Krijo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new HashMap&lt;String, Integer&gt;()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Shto / ndrysho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map.put(çelës, vlerë)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Merr vlerën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map.get(çelës)   (null nëse s'ka)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Merr ose parazgjedhje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map.getOrDefault(çelës, 0)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ekziston çelësi?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map.containsKey(çelës)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Fshi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map.remove(çelës)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 çifte?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map.size()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Kalo të gjitha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 (Map.Entry&lt;..&gt; h : map.entrySet())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Merr pjesët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h.getKey() / h.getValue()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9436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Kujto: çelësat janë UNIKË (put mbishkruan); renditja NUK garantohet; get kthen null nëse s'ka çelës.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5486400" cy="5486400"/>
          </a:xfrm>
          <a:prstGeom prst="ellipse">
            <a:avLst/>
          </a:prstGeom>
          <a:solidFill>
            <a:srgbClr val="E8730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3657600"/>
            <a:ext cx="4572000" cy="4572000"/>
          </a:xfrm>
          <a:prstGeom prst="ellipse">
            <a:avLst/>
          </a:prstGeom>
          <a:solidFill>
            <a:srgbClr val="1E3050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67528" y="1371600"/>
            <a:ext cx="1463040" cy="1463040"/>
          </a:xfrm>
          <a:prstGeom prst="roundRect">
            <a:avLst>
              <a:gd name="adj" fmla="val 15625"/>
            </a:avLst>
          </a:prstGeom>
          <a:solidFill>
            <a:srgbClr val="E8730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7568" y="16916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3108960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KOHA E QUIZ-it!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371600" y="393192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pyetje · 8 minuta · punoni vetë në letër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45920" y="4572000"/>
            <a:ext cx="8897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Kujtoni: çelësat janë unikë; get kthen null nëse s'ka; renditja s'garantohet.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· SJELLJA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Pyetjet 1 dhe 2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502920" cy="50292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234440" y="175564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printon size()?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94360" y="2286000"/>
            <a:ext cx="5394960" cy="1760220"/>
          </a:xfrm>
          <a:prstGeom prst="roundRect">
            <a:avLst>
              <a:gd name="adj" fmla="val 4675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95528" y="24688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996696" y="24688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1197864" y="24688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850392" y="2743200"/>
            <a:ext cx="4937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HashMap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HashMap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&lt;&gt;();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"b"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85800" y="50292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   </a:t>
            </a:r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   </a:t>
            </a:r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0" y="1691640"/>
            <a:ext cx="502920" cy="50292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040880" y="17556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printon get("y")?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400800" y="2286000"/>
            <a:ext cx="5166360" cy="1239012"/>
          </a:xfrm>
          <a:prstGeom prst="roundRect">
            <a:avLst>
              <a:gd name="adj" fmla="val 6642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601968" y="24688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7"/>
          <p:cNvSpPr/>
          <p:nvPr/>
        </p:nvSpPr>
        <p:spPr>
          <a:xfrm>
            <a:off x="6803136" y="24688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8"/>
          <p:cNvSpPr/>
          <p:nvPr/>
        </p:nvSpPr>
        <p:spPr>
          <a:xfrm>
            <a:off x="7004304" y="24688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19"/>
          <p:cNvSpPr/>
          <p:nvPr/>
        </p:nvSpPr>
        <p:spPr>
          <a:xfrm>
            <a:off x="6656832" y="2743200"/>
            <a:ext cx="4709160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HashMap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HashMap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&lt;&gt;();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"x"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"y"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492240" y="42062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    </a:t>
            </a:r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      </a:t>
            </a:r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gabim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· KONCEPTET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Pyetjet 3 dhe 4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502920" cy="50292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234440" y="1719072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 HashMap është më i shpejtë se ArrayList për kërkim me çelës?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34440" y="246888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Sepse ka më pak të dhëna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Gjen drejtpërdrejt, s'kalon një nga një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Sepse është i renditur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0" y="1691640"/>
            <a:ext cx="502920" cy="50292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040880" y="1719072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kthen getOrDefault("z", 0) nëse "z" s'ekziston?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040880" y="251460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35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gabim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94360" y="4617720"/>
            <a:ext cx="11018520" cy="1188720"/>
          </a:xfrm>
          <a:prstGeom prst="roundRect">
            <a:avLst>
              <a:gd name="adj" fmla="val 6923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470916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(me gojë): 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do ta ndërtonit një 'regjistër studentësh' me kërkim të shpejtë me id? Çfarë do të ishte çelësi dhe çfarë vlera?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· ZGJIDHJA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Përgjigjet dhe shpjegimet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94360" y="1645920"/>
            <a:ext cx="110185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1856232"/>
            <a:ext cx="512064" cy="512064"/>
          </a:xfrm>
          <a:prstGeom prst="ellipse">
            <a:avLst/>
          </a:prstGeom>
          <a:solidFill>
            <a:srgbClr val="2FA84F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8562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645920" y="1810512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b)  2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120640" y="1810512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put('a',...) dy herë mbishkruan — mbeten vetëm 'a' dhe 'b'. Çelësat janë unikë.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4360" y="2724912"/>
            <a:ext cx="110185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68680" y="2935224"/>
            <a:ext cx="512064" cy="512064"/>
          </a:xfrm>
          <a:prstGeom prst="ellipse">
            <a:avLst/>
          </a:prstGeom>
          <a:solidFill>
            <a:srgbClr val="2FA84F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29352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645920" y="2889504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b)  null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120640" y="2889504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Çelësi 'y' s'ekziston; get kthen null (jo 0, jo gabim).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94360" y="3803904"/>
            <a:ext cx="110185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68680" y="4014216"/>
            <a:ext cx="512064" cy="512064"/>
          </a:xfrm>
          <a:prstGeom prst="ellipse">
            <a:avLst/>
          </a:prstGeom>
          <a:solidFill>
            <a:srgbClr val="2FA84F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40142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645920" y="3968496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b)  Gjen drejtpërdrejt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120640" y="3968496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Kërkimi me çelës është i menjëhershëm — s'kalon elementet një nga një.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94360" y="4882896"/>
            <a:ext cx="110185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68680" y="5093208"/>
            <a:ext cx="512064" cy="512064"/>
          </a:xfrm>
          <a:prstGeom prst="ellipse">
            <a:avLst/>
          </a:prstGeom>
          <a:solidFill>
            <a:srgbClr val="2FA84F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" y="5093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1645920" y="5047488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a)  0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5120640" y="5047488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getOrDefault kthen parazgjedhjen (0) kur çelësi s'ekziston — shmang null-in.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9436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saktë: gati për të dhëna të mëdha! · 2 saktë: rishikoni slajdet 6 dhe 8 · 0–1: konsultime.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E8730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54864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94944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PËRMBLEDHJE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508760" y="79552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mësuam sot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85800" y="178308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60120" y="207568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" y="2221992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3736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960120" y="280720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Çift çelës → vlerë, si fjalori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389120" y="178308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63440" y="207568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44" y="2221992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4068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 get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663440" y="280720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Vendos dhe merr — menjëherë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8092440" y="178308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66760" y="207568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064" y="2221992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4400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&amp; containsKey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8366760" y="280720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Çelës që s'ka → null; kontrollo para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85800" y="374904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960120" y="404164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424" y="4187952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737360" y="4023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getOrDefault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960120" y="477316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 i numërimit të fjalëve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4389120" y="374904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663440" y="404164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9744" y="4187952"/>
            <a:ext cx="347472" cy="34747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440680" y="4023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Objekte si vlera</a:t>
            </a:r>
            <a:endParaRPr lang="en-US" sz="1350" dirty="0"/>
          </a:p>
        </p:txBody>
      </p:sp>
      <p:sp>
        <p:nvSpPr>
          <p:cNvPr id="31" name="Text 23"/>
          <p:cNvSpPr/>
          <p:nvPr/>
        </p:nvSpPr>
        <p:spPr>
          <a:xfrm>
            <a:off x="4663440" y="477316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→ objekt, si rreshtat e DB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8092440" y="374904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8366760" y="404164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3064" y="4187952"/>
            <a:ext cx="347472" cy="34747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9144000" y="4023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Shpejtësia</a:t>
            </a:r>
            <a:endParaRPr lang="en-US" sz="1350" dirty="0"/>
          </a:p>
        </p:txBody>
      </p:sp>
      <p:sp>
        <p:nvSpPr>
          <p:cNvPr id="36" name="Text 27"/>
          <p:cNvSpPr/>
          <p:nvPr/>
        </p:nvSpPr>
        <p:spPr>
          <a:xfrm>
            <a:off x="8366760" y="477316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~477× më i shpejtë se ArrayList</a:t>
            </a:r>
            <a:endParaRPr lang="en-US" sz="1100" dirty="0"/>
          </a:p>
        </p:txBody>
      </p:sp>
      <p:sp>
        <p:nvSpPr>
          <p:cNvPr id="37" name="Text 28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PRAKTIKA E JAVËS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Detyra për shtëpi — dorëzim me Git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94360" y="1536192"/>
            <a:ext cx="11018520" cy="841248"/>
          </a:xfrm>
          <a:prstGeom prst="roundRect">
            <a:avLst>
              <a:gd name="adj" fmla="val 9783"/>
            </a:avLst>
          </a:prstGeom>
          <a:solidFill>
            <a:srgbClr val="F8FAFC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700784"/>
            <a:ext cx="512064" cy="512064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007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00200" y="164592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Fjalori im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800600" y="1645920"/>
            <a:ext cx="6629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Krijo një HashMap që lidh 5 fjalë anglisht me përkthimin shqip. Printo përkthimin e një fjale që e kërkon përdoruesi (Scanner).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4360" y="2496312"/>
            <a:ext cx="11018520" cy="841248"/>
          </a:xfrm>
          <a:prstGeom prst="roundRect">
            <a:avLst>
              <a:gd name="adj" fmla="val 9783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" y="2660904"/>
            <a:ext cx="512064" cy="512064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26609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600200" y="260604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Numëruesi i shkronjave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800600" y="2606040"/>
            <a:ext cx="6629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Merr një fjalë nga tastiera dhe numëro sa herë shfaqet çdo shkronjë, me getOrDefault. Printo rezultatin.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94360" y="3456432"/>
            <a:ext cx="11018520" cy="841248"/>
          </a:xfrm>
          <a:prstGeom prst="roundRect">
            <a:avLst>
              <a:gd name="adj" fmla="val 9783"/>
            </a:avLst>
          </a:prstGeom>
          <a:solidFill>
            <a:srgbClr val="F8FAFC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8680" y="3621024"/>
            <a:ext cx="512064" cy="512064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36210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600200" y="356616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Regjistri me id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800600" y="3566160"/>
            <a:ext cx="6629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HashMap&lt;Integer, Studenti&gt;: shto 3 studentë me id. Lexo një id nga tastiera dhe printo studentin ose 'nuk u gjet'.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94360" y="4416552"/>
            <a:ext cx="11018520" cy="841248"/>
          </a:xfrm>
          <a:prstGeom prst="roundRect">
            <a:avLst>
              <a:gd name="adj" fmla="val 9783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68680" y="4581144"/>
            <a:ext cx="512064" cy="512064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" y="45811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600200" y="452628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Sfidë: fjala më e shpeshtë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800600" y="4526280"/>
            <a:ext cx="6629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 një fjali, gjej fjalën që përsëritet më shumë. Numëroji të gjitha me HashMap, pastaj gjej maksimumin.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94360" y="5596128"/>
            <a:ext cx="11018520" cy="548640"/>
          </a:xfrm>
          <a:prstGeom prst="roundRect">
            <a:avLst>
              <a:gd name="adj" fmla="val 13333"/>
            </a:avLst>
          </a:prstGeom>
          <a:solidFill>
            <a:srgbClr val="142033"/>
          </a:solidFill>
          <a:ln/>
        </p:spPr>
      </p:sp>
      <p:sp>
        <p:nvSpPr>
          <p:cNvPr id="27" name="Text 24"/>
          <p:cNvSpPr/>
          <p:nvPr/>
        </p:nvSpPr>
        <p:spPr>
          <a:xfrm>
            <a:off x="914400" y="55961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Dorëzimi: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me 4 commit-e + link + daljet.  Java tjetër: kthehemi te baza e të dhënave me SELECT dhe kërkimi i shpejtë.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— Leksioni 16: HashMap dhe tabelat hash</dc:title>
  <dc:subject>PptxGenJS Presentation</dc:subject>
  <dc:creator>Kreni</dc:creator>
  <cp:lastModifiedBy>Kreni</cp:lastModifiedBy>
  <cp:revision>1</cp:revision>
  <dcterms:created xsi:type="dcterms:W3CDTF">2026-09-23T08:21:43Z</dcterms:created>
  <dcterms:modified xsi:type="dcterms:W3CDTF">2026-09-23T08:21:43Z</dcterms:modified>
</cp:coreProperties>
</file>