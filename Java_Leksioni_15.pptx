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97FAE9-2FFD-4E97-A8C1-00707D3A79E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18BE7E-F005-442C-862C-D3226E6CF8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01C6D7-69F2-497F-A77D-D90302F44C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4943B-2952-4325-8E87-7092AE93BE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243F08-14B9-4905-B83C-BFC1C2343A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C3B973-A052-4722-B5E4-84C59D0828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56D1CC-8F49-4A31-B66A-3224B27113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E01C96-413B-4972-953D-AF37EFC909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BB3449-96FA-4F73-8659-E7ED6E7AB9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F26655-F426-4A87-8F65-BDE62B6A49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AFF555-9E0E-4AAF-A931-20F252C5BD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A646B8-2FC2-4A04-961F-F0DE463BA8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9E1C32-D370-44B2-B386-9B1EC0712C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CF6606-CFFE-46CD-9330-27BE722160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9F0FE4-FEF8-401C-B311-7027FA61B6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EF04DF-D626-4A81-85B4-E43CC148B4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DE37E6-9601-4F84-B8C2-2C58359376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80A29D-FCA8-48C5-B97C-6731549CA1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5CF43E-91C0-408B-A2A7-0E73018884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9A196F-19FB-4CD2-858C-27D4F2CB2E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5F9C83-E087-42C9-98DD-4AE3871CA1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3FE51C-26A0-434A-A7C0-B61B975595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GH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60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Java · Oracle DB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6400800"/>
            <a:ext cx="11064240" cy="360"/>
          </a:xfrm>
          <a:prstGeom prst="line">
            <a:avLst/>
          </a:prstGeom>
          <a:ln w="8890">
            <a:solidFill>
              <a:srgbClr val="E5EA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CB49E45-AAB5-42B4-9F8E-21ACF5673205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548640" y="6510600"/>
            <a:ext cx="2194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Java · Oracle </a:t>
            </a:r>
            <a:r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DB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2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E87992A-1A77-404C-A82D-E16066FCF795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8915400" y="-548640"/>
            <a:ext cx="3840120" cy="3840120"/>
          </a:xfrm>
          <a:prstGeom prst="ellipse">
            <a:avLst/>
          </a:prstGeom>
          <a:solidFill>
            <a:srgbClr val="4B352B">
              <a:alpha val="92000"/>
            </a:srgbClr>
          </a:solidFill>
          <a:ln w="12700">
            <a:solidFill>
              <a:srgbClr val="4B352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9966960" y="3703320"/>
            <a:ext cx="2925720" cy="2925720"/>
          </a:xfrm>
          <a:prstGeom prst="ellipse">
            <a:avLst/>
          </a:prstGeom>
          <a:solidFill>
            <a:srgbClr val="20355C">
              <a:alpha val="94000"/>
            </a:srgbClr>
          </a:solidFill>
          <a:ln w="12700">
            <a:solidFill>
              <a:srgbClr val="2035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749880" y="13168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230" strike="noStrike">
                <a:solidFill>
                  <a:srgbClr val="F6A63B"/>
                </a:solidFill>
                <a:effectLst/>
                <a:uFillTx/>
                <a:latin typeface="Calibri"/>
              </a:rPr>
              <a:t>L E K S I O N I  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749880" y="1847160"/>
            <a:ext cx="658332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Hapat e parë me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Oracle Database</a:t>
            </a:r>
            <a:endParaRPr lang="en-US" sz="3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49880" y="2907720"/>
            <a:ext cx="6674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Instalimi · JDBC · lidhja me Java · INSERT · DELETE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768240" y="3703320"/>
            <a:ext cx="6674760" cy="1142640"/>
          </a:xfrm>
          <a:prstGeom prst="roundRect">
            <a:avLst>
              <a:gd name="adj" fmla="val 4800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932760" y="384948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1134000" y="384948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1334880" y="384948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969120" y="4050720"/>
            <a:ext cx="627228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String url = "jdbc:oracle:thin:@//localhost:1521/FREEPDB1";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Connection c = DriverManager.getConnection(url, user, password);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9034200" y="1261800"/>
            <a:ext cx="2285640" cy="2285640"/>
          </a:xfrm>
          <a:prstGeom prst="roundRect">
            <a:avLst>
              <a:gd name="adj" fmla="val 32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9189720" y="1755720"/>
            <a:ext cx="196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ORACLE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9189720" y="2221920"/>
            <a:ext cx="1965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DB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767880" y="5166360"/>
            <a:ext cx="6766560" cy="360"/>
          </a:xfrm>
          <a:prstGeom prst="line">
            <a:avLst/>
          </a:prstGeom>
          <a:ln w="1778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768240" y="5468040"/>
            <a:ext cx="7497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AEBCCC"/>
                </a:solidFill>
                <a:effectLst/>
                <a:uFillTx/>
                <a:latin typeface="Calibri"/>
              </a:rPr>
              <a:t>Ligjëratë 70 minuta   •   Nivel: Fillestar–Mesatar   •   Java + Database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6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CC24490-4707-4A1F-96E4-8BEAA7F9D95E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AGJENDA · 70 MINUTA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Plani i leksionit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567000" y="1609200"/>
            <a:ext cx="340128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822960" y="1865520"/>
            <a:ext cx="639720" cy="639720"/>
          </a:xfrm>
          <a:prstGeom prst="roundRect">
            <a:avLst>
              <a:gd name="adj" fmla="val 11429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822960" y="206640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3264480" y="184716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06'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822960" y="26427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Pamja e madhe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822960" y="3127320"/>
            <a:ext cx="2788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Oracle DB, listener, JDBC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4389120" y="1609200"/>
            <a:ext cx="340128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4645080" y="1865520"/>
            <a:ext cx="639720" cy="639720"/>
          </a:xfrm>
          <a:prstGeom prst="roundRect">
            <a:avLst>
              <a:gd name="adj" fmla="val 11429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645080" y="206640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7086600" y="184716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14'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4645080" y="26427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Instalimi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4645080" y="3127320"/>
            <a:ext cx="2788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Oracle AI Database Free 26ai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8211240" y="1609200"/>
            <a:ext cx="340128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7"/>
          <p:cNvSpPr/>
          <p:nvPr/>
        </p:nvSpPr>
        <p:spPr>
          <a:xfrm>
            <a:off x="8467200" y="1865520"/>
            <a:ext cx="639720" cy="639720"/>
          </a:xfrm>
          <a:prstGeom prst="roundRect">
            <a:avLst>
              <a:gd name="adj" fmla="val 11429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8467200" y="206640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10908720" y="184716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12'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8467200" y="26427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Përgatitja SQL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8467200" y="3127320"/>
            <a:ext cx="2788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User, privilegje, tabela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2"/>
          <p:cNvSpPr/>
          <p:nvPr/>
        </p:nvSpPr>
        <p:spPr>
          <a:xfrm>
            <a:off x="567000" y="3913560"/>
            <a:ext cx="340128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3"/>
          <p:cNvSpPr/>
          <p:nvPr/>
        </p:nvSpPr>
        <p:spPr>
          <a:xfrm>
            <a:off x="822960" y="4169520"/>
            <a:ext cx="639720" cy="639720"/>
          </a:xfrm>
          <a:prstGeom prst="roundRect">
            <a:avLst>
              <a:gd name="adj" fmla="val 11429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822960" y="437076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3264480" y="415152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16'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6"/>
          <p:cNvSpPr/>
          <p:nvPr/>
        </p:nvSpPr>
        <p:spPr>
          <a:xfrm>
            <a:off x="822960" y="49467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Java + JDBC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822960" y="5431680"/>
            <a:ext cx="2788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Driver, URL, Connection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8"/>
          <p:cNvSpPr/>
          <p:nvPr/>
        </p:nvSpPr>
        <p:spPr>
          <a:xfrm>
            <a:off x="4389120" y="3913560"/>
            <a:ext cx="340128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9"/>
          <p:cNvSpPr/>
          <p:nvPr/>
        </p:nvSpPr>
        <p:spPr>
          <a:xfrm>
            <a:off x="4645080" y="4169520"/>
            <a:ext cx="639720" cy="639720"/>
          </a:xfrm>
          <a:prstGeom prst="roundRect">
            <a:avLst>
              <a:gd name="adj" fmla="val 11429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0"/>
          <p:cNvSpPr/>
          <p:nvPr/>
        </p:nvSpPr>
        <p:spPr>
          <a:xfrm>
            <a:off x="4645080" y="437076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1"/>
          <p:cNvSpPr/>
          <p:nvPr/>
        </p:nvSpPr>
        <p:spPr>
          <a:xfrm>
            <a:off x="7086600" y="415152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14'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2"/>
          <p:cNvSpPr/>
          <p:nvPr/>
        </p:nvSpPr>
        <p:spPr>
          <a:xfrm>
            <a:off x="4645080" y="49467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INSERT + DELETE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3"/>
          <p:cNvSpPr/>
          <p:nvPr/>
        </p:nvSpPr>
        <p:spPr>
          <a:xfrm>
            <a:off x="4645080" y="5431680"/>
            <a:ext cx="2788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PreparedStatement, executeUpdate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4"/>
          <p:cNvSpPr/>
          <p:nvPr/>
        </p:nvSpPr>
        <p:spPr>
          <a:xfrm>
            <a:off x="8211240" y="3913560"/>
            <a:ext cx="340128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5"/>
          <p:cNvSpPr/>
          <p:nvPr/>
        </p:nvSpPr>
        <p:spPr>
          <a:xfrm>
            <a:off x="8467200" y="4169520"/>
            <a:ext cx="639720" cy="639720"/>
          </a:xfrm>
          <a:prstGeom prst="roundRect">
            <a:avLst>
              <a:gd name="adj" fmla="val 11429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6"/>
          <p:cNvSpPr/>
          <p:nvPr/>
        </p:nvSpPr>
        <p:spPr>
          <a:xfrm>
            <a:off x="8467200" y="437076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7"/>
          <p:cNvSpPr/>
          <p:nvPr/>
        </p:nvSpPr>
        <p:spPr>
          <a:xfrm>
            <a:off x="10908720" y="4151520"/>
            <a:ext cx="456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08'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8"/>
          <p:cNvSpPr/>
          <p:nvPr/>
        </p:nvSpPr>
        <p:spPr>
          <a:xfrm>
            <a:off x="8467200" y="494676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Quiz + përmbledhje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9"/>
          <p:cNvSpPr/>
          <p:nvPr/>
        </p:nvSpPr>
        <p:spPr>
          <a:xfrm>
            <a:off x="8467200" y="5431680"/>
            <a:ext cx="2788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4 pyetje + ura për UPDATE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sldNum" idx="7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9AD1958-33E3-4668-BB5A-FEE4CDBAB89C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DB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IDEJA THEMELORE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Çfarë po lidhim sot?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658440" y="2011680"/>
            <a:ext cx="1782720" cy="105120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768240" y="22676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Programi Java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768240" y="26607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Kodi ynë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2487240" y="2322720"/>
            <a:ext cx="456840" cy="41112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3063240" y="2011680"/>
            <a:ext cx="1782720" cy="1051200"/>
          </a:xfrm>
          <a:prstGeom prst="roundRect">
            <a:avLst>
              <a:gd name="adj" fmla="val 5217"/>
            </a:avLst>
          </a:prstGeom>
          <a:solidFill>
            <a:srgbClr val="EAF5FB"/>
          </a:solidFill>
          <a:ln w="12700">
            <a:solidFill>
              <a:srgbClr val="B7D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3173040" y="22676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JDBC Thin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3173040" y="26607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ojdbc17.jar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4892040" y="2322720"/>
            <a:ext cx="456840" cy="41112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2"/>
          <p:cNvSpPr/>
          <p:nvPr/>
        </p:nvSpPr>
        <p:spPr>
          <a:xfrm>
            <a:off x="5486400" y="2011680"/>
            <a:ext cx="1782720" cy="105120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5596200" y="22676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Listener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5596200" y="26607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porta 1521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7315200" y="2322720"/>
            <a:ext cx="456840" cy="41112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6"/>
          <p:cNvSpPr/>
          <p:nvPr/>
        </p:nvSpPr>
        <p:spPr>
          <a:xfrm>
            <a:off x="8028360" y="2011680"/>
            <a:ext cx="1782720" cy="1051200"/>
          </a:xfrm>
          <a:prstGeom prst="roundRect">
            <a:avLst>
              <a:gd name="adj" fmla="val 5217"/>
            </a:avLst>
          </a:prstGeom>
          <a:solidFill>
            <a:srgbClr val="EAF5FB"/>
          </a:solidFill>
          <a:ln w="12700">
            <a:solidFill>
              <a:srgbClr val="B7D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8138160" y="22676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Oracle DB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8138160" y="266076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FREEPDB1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9857160" y="2322720"/>
            <a:ext cx="456840" cy="41112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0"/>
          <p:cNvSpPr/>
          <p:nvPr/>
        </p:nvSpPr>
        <p:spPr>
          <a:xfrm>
            <a:off x="10058400" y="2011680"/>
            <a:ext cx="1508400" cy="1051200"/>
          </a:xfrm>
          <a:prstGeom prst="roundRect">
            <a:avLst>
              <a:gd name="adj" fmla="val 5217"/>
            </a:avLst>
          </a:prstGeom>
          <a:solidFill>
            <a:srgbClr val="EEF2F7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1"/>
          <p:cNvSpPr/>
          <p:nvPr/>
        </p:nvSpPr>
        <p:spPr>
          <a:xfrm>
            <a:off x="10168200" y="226764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Tabela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10168200" y="266076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STUDENTI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658440" y="3703320"/>
            <a:ext cx="3337200" cy="155412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887040" y="394092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Oracle Database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887040" y="4361760"/>
            <a:ext cx="2880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Motori që ruan të dhënat, ekzekuton SQL dhe menaxhon transaksionet.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6"/>
          <p:cNvSpPr/>
          <p:nvPr/>
        </p:nvSpPr>
        <p:spPr>
          <a:xfrm>
            <a:off x="4425840" y="3703320"/>
            <a:ext cx="3337200" cy="155412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7"/>
          <p:cNvSpPr/>
          <p:nvPr/>
        </p:nvSpPr>
        <p:spPr>
          <a:xfrm>
            <a:off x="4654440" y="394092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Listener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8"/>
          <p:cNvSpPr/>
          <p:nvPr/>
        </p:nvSpPr>
        <p:spPr>
          <a:xfrm>
            <a:off x="4654440" y="4361760"/>
            <a:ext cx="2880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Shërbimi i rrjetit që pranon lidhjet TCP/IP. Në instalimin lokal zakonisht dëgjon në 1521.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9"/>
          <p:cNvSpPr/>
          <p:nvPr/>
        </p:nvSpPr>
        <p:spPr>
          <a:xfrm>
            <a:off x="8183880" y="3703320"/>
            <a:ext cx="3337200" cy="155412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0"/>
          <p:cNvSpPr/>
          <p:nvPr/>
        </p:nvSpPr>
        <p:spPr>
          <a:xfrm>
            <a:off x="8412480" y="394092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JDBC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1"/>
          <p:cNvSpPr/>
          <p:nvPr/>
        </p:nvSpPr>
        <p:spPr>
          <a:xfrm>
            <a:off x="8412480" y="4361760"/>
            <a:ext cx="2880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API standarde e Java-s për databaza. Driver-i Oracle “Thin” e përkthen JDBC në protokollin e Oracle.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2"/>
          <p:cNvSpPr/>
          <p:nvPr/>
        </p:nvSpPr>
        <p:spPr>
          <a:xfrm>
            <a:off x="658440" y="5632560"/>
            <a:ext cx="10881000" cy="502560"/>
          </a:xfrm>
          <a:prstGeom prst="roundRect">
            <a:avLst>
              <a:gd name="adj" fmla="val 9091"/>
            </a:avLst>
          </a:prstGeom>
          <a:solidFill>
            <a:srgbClr val="FFF1E2"/>
          </a:solidFill>
          <a:ln w="12700">
            <a:solidFill>
              <a:srgbClr val="FFF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3"/>
          <p:cNvSpPr/>
          <p:nvPr/>
        </p:nvSpPr>
        <p:spPr>
          <a:xfrm>
            <a:off x="822960" y="5760720"/>
            <a:ext cx="10551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Fjala kyçe: 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Java nuk “flet Oracle” drejtpërdrejt — driver-i JDBC është ura.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8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3575BF8-01B6-4FF1-A33C-DDA87BFAA463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↓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INSTALIMI · WINDOWS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Oracle AI Database Free 26ai — para instalimit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658440" y="1536120"/>
            <a:ext cx="3382920" cy="16455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859680" y="1737360"/>
            <a:ext cx="566640" cy="475200"/>
          </a:xfrm>
          <a:prstGeom prst="roundRect">
            <a:avLst>
              <a:gd name="adj" fmla="val 11538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859680" y="18471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1600200" y="1774080"/>
            <a:ext cx="2212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Windows x64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887040" y="228600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Windows 10/11 Pro, Enterprise ose Education. Kërkohet llogari me privilegje Administrator.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4389120" y="1536120"/>
            <a:ext cx="3382920" cy="16455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4590360" y="1737360"/>
            <a:ext cx="566640" cy="475200"/>
          </a:xfrm>
          <a:prstGeom prst="roundRect">
            <a:avLst>
              <a:gd name="adj" fmla="val 11538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4590360" y="18471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5257800" y="177408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Burimet minimale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4617720" y="228600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Rreth 8.5 GB hapësirë për software + hapësirë temporare; minimumi 2 GB RAM.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8119800" y="1536120"/>
            <a:ext cx="3382920" cy="16455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8321040" y="1737360"/>
            <a:ext cx="566640" cy="475200"/>
          </a:xfrm>
          <a:prstGeom prst="roundRect">
            <a:avLst>
              <a:gd name="adj" fmla="val 11538"/>
            </a:avLst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8321040" y="1847160"/>
            <a:ext cx="566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9144000" y="1774080"/>
            <a:ext cx="213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Emrat standard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8348400" y="228600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Instaluesi krijon SID = FREE. PDB që përdorim në JDBC: FREEPDB1.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658440" y="3547800"/>
            <a:ext cx="10844280" cy="731160"/>
          </a:xfrm>
          <a:prstGeom prst="roundRect">
            <a:avLst>
              <a:gd name="adj" fmla="val 6250"/>
            </a:avLst>
          </a:prstGeom>
          <a:solidFill>
            <a:srgbClr val="FFF1E2"/>
          </a:solidFill>
          <a:ln w="12700">
            <a:solidFill>
              <a:srgbClr val="FFF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822960" y="3675960"/>
            <a:ext cx="10515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Kontroll para startit: 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Nëse ekziston një XE/Free i vjetër me SID XE ose FREE, çinstaloje para instalimit të 26ai Free.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658440" y="464508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Rrjedha e instalimit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2"/>
          <p:cNvSpPr/>
          <p:nvPr/>
        </p:nvSpPr>
        <p:spPr>
          <a:xfrm>
            <a:off x="658440" y="5074920"/>
            <a:ext cx="1901520" cy="731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768240" y="527616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1. Shkarko paketën Windows x64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4"/>
          <p:cNvSpPr/>
          <p:nvPr/>
        </p:nvSpPr>
        <p:spPr>
          <a:xfrm>
            <a:off x="2615040" y="5276160"/>
            <a:ext cx="164160" cy="31068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2825640" y="5074920"/>
            <a:ext cx="1901520" cy="731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2935080" y="527616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2. Extract ZIP në një folder temporar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7"/>
          <p:cNvSpPr/>
          <p:nvPr/>
        </p:nvSpPr>
        <p:spPr>
          <a:xfrm>
            <a:off x="4782240" y="5276160"/>
            <a:ext cx="164160" cy="31068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8"/>
          <p:cNvSpPr/>
          <p:nvPr/>
        </p:nvSpPr>
        <p:spPr>
          <a:xfrm>
            <a:off x="4992480" y="5074920"/>
            <a:ext cx="1901520" cy="731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5102280" y="527616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3. Run setup.exe si Administrator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0"/>
          <p:cNvSpPr/>
          <p:nvPr/>
        </p:nvSpPr>
        <p:spPr>
          <a:xfrm>
            <a:off x="6949440" y="5276160"/>
            <a:ext cx="164160" cy="31068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1"/>
          <p:cNvSpPr/>
          <p:nvPr/>
        </p:nvSpPr>
        <p:spPr>
          <a:xfrm>
            <a:off x="7159680" y="5074920"/>
            <a:ext cx="1901520" cy="731160"/>
          </a:xfrm>
          <a:prstGeom prst="roundRect">
            <a:avLst>
              <a:gd name="adj" fmla="val 5000"/>
            </a:avLst>
          </a:prstGeom>
          <a:solidFill>
            <a:srgbClr val="FFF1E2"/>
          </a:solidFill>
          <a:ln w="12700">
            <a:solidFill>
              <a:srgbClr val="F1C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7269480" y="527616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4. Vendos password-in e databazës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3"/>
          <p:cNvSpPr/>
          <p:nvPr/>
        </p:nvSpPr>
        <p:spPr>
          <a:xfrm>
            <a:off x="9116640" y="5276160"/>
            <a:ext cx="164160" cy="310680"/>
          </a:xfrm>
          <a:prstGeom prst="chevron">
            <a:avLst>
              <a:gd name="adj" fmla="val 50000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4"/>
          <p:cNvSpPr/>
          <p:nvPr/>
        </p:nvSpPr>
        <p:spPr>
          <a:xfrm>
            <a:off x="9326880" y="5074920"/>
            <a:ext cx="1901520" cy="731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5"/>
          <p:cNvSpPr/>
          <p:nvPr/>
        </p:nvSpPr>
        <p:spPr>
          <a:xfrm>
            <a:off x="9436680" y="5276160"/>
            <a:ext cx="168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5. Përfundo wizard-in dhe ruaj endpoint-et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6"/>
          <p:cNvSpPr/>
          <p:nvPr/>
        </p:nvSpPr>
        <p:spPr>
          <a:xfrm>
            <a:off x="658440" y="5998320"/>
            <a:ext cx="8686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7B8A99"/>
                </a:solidFill>
                <a:effectLst/>
                <a:uFillTx/>
                <a:latin typeface="Calibri"/>
              </a:rPr>
              <a:t>Burim teknik: Oracle AI Database Free 26ai — Installation Guide for Microsoft Windows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sldNum" idx="9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5703A97-B508-4DAE-B4E2-594A5E4D0CC2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INSTALIMI · PRAKTIKË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Wizard-i: çfarë duhet të mbani mend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658440" y="1508760"/>
            <a:ext cx="5440320" cy="3245760"/>
          </a:xfrm>
          <a:prstGeom prst="roundRect">
            <a:avLst>
              <a:gd name="adj" fmla="val 1690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822960" y="165492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1024200" y="165492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1225440" y="165492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859680" y="1856160"/>
            <a:ext cx="5037840" cy="27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INSTA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Editi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on: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Oracl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 AI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Datab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ase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Free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26ai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SID: 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FREE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PDB: 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FREEP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DB1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Liste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ner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port: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1521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Passw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ord: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[zgji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dhet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gjatë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setup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-it]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Tip: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ruani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passw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ord-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dhe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mos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përdo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rni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hapës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ira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në </a:t>
            </a:r>
            <a:r>
              <a:rPr lang="en-US" sz="14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path.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6510600" y="1508760"/>
            <a:ext cx="4983120" cy="1325520"/>
          </a:xfrm>
          <a:prstGeom prst="roundRect">
            <a:avLst>
              <a:gd name="adj" fmla="val 4138"/>
            </a:avLst>
          </a:prstGeom>
          <a:solidFill>
            <a:srgbClr val="EAF6ED"/>
          </a:solidFill>
          <a:ln w="8890">
            <a:solidFill>
              <a:srgbClr val="B7DC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6729840" y="1719000"/>
            <a:ext cx="255600" cy="25560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6729840" y="1755720"/>
            <a:ext cx="255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7077600" y="1710000"/>
            <a:ext cx="4233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A44F"/>
                </a:solidFill>
                <a:effectLst/>
                <a:uFillTx/>
                <a:latin typeface="Calibri"/>
              </a:rPr>
              <a:t>Pas instalimit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6748200" y="2112120"/>
            <a:ext cx="45075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Database + Listener duhet të jenë RUNNING.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6510600" y="2971800"/>
            <a:ext cx="4983120" cy="2057400"/>
          </a:xfrm>
          <a:prstGeom prst="roundRect">
            <a:avLst>
              <a:gd name="adj" fmla="val 2893"/>
            </a:avLst>
          </a:prstGeom>
          <a:solidFill>
            <a:srgbClr val="20324A"/>
          </a:solidFill>
          <a:ln w="10160">
            <a:solidFill>
              <a:srgbClr val="334A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6739200" y="3346560"/>
            <a:ext cx="452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Dy emra që ngatërrohen shpesh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6739200" y="3767400"/>
            <a:ext cx="45259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FREE =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Containe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r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Databas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e (CDB /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SID)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FREEPDB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1 =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Pluggabl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e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Databas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e (PDB /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service)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Për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programi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n Java të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këtij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leksioni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lidhemi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me 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FREEPDB</a:t>
            </a:r>
            <a:r>
              <a:rPr lang="en-US" sz="12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1.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658440" y="5139000"/>
            <a:ext cx="10835280" cy="639720"/>
          </a:xfrm>
          <a:prstGeom prst="roundRect">
            <a:avLst>
              <a:gd name="adj" fmla="val 7143"/>
            </a:avLst>
          </a:prstGeom>
          <a:solidFill>
            <a:srgbClr val="2A3B52"/>
          </a:solidFill>
          <a:ln w="12700">
            <a:solidFill>
              <a:srgbClr val="2A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822960" y="5266800"/>
            <a:ext cx="10506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Për studentët:  </a:t>
            </a:r>
            <a:r>
              <a:rPr lang="en-US" sz="1150" b="0" u="none" strike="noStrike">
                <a:solidFill>
                  <a:srgbClr val="EEEEEE"/>
                </a:solidFill>
                <a:effectLst/>
                <a:uFillTx/>
                <a:latin typeface="Calibri"/>
              </a:rPr>
              <a:t>mos u shqetësoni për CDB/PDB në thellësi sot. Mjafton të dini service name që hyn në URL-në JDBC.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Num" idx="10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FCAB767-308A-4302-B2B1-AE3965A92199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5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PAS INSTALIMIT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Verifikimi: listener + hyrja në databazë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"/>
          <p:cNvSpPr/>
          <p:nvPr/>
        </p:nvSpPr>
        <p:spPr>
          <a:xfrm>
            <a:off x="658440" y="1572840"/>
            <a:ext cx="5394600" cy="2148480"/>
          </a:xfrm>
          <a:prstGeom prst="roundRect">
            <a:avLst>
              <a:gd name="adj" fmla="val 2553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822960" y="171900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6"/>
          <p:cNvSpPr/>
          <p:nvPr/>
        </p:nvSpPr>
        <p:spPr>
          <a:xfrm>
            <a:off x="1024200" y="171900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1225440" y="171900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859680" y="1920240"/>
            <a:ext cx="4992120" cy="16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# Command Prompt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lsnrctl status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# Test me SQL*Plus si SYSTEM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sqlplus system@localhost:1521/FREEPDB1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# pastaj jep password-in e vendosur në setup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6419160" y="1572840"/>
            <a:ext cx="5074560" cy="1572480"/>
          </a:xfrm>
          <a:prstGeom prst="roundRect">
            <a:avLst>
              <a:gd name="adj" fmla="val 3488"/>
            </a:avLst>
          </a:prstGeom>
          <a:solidFill>
            <a:srgbClr val="EAF6ED"/>
          </a:solidFill>
          <a:ln w="8890">
            <a:solidFill>
              <a:srgbClr val="B7DC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0"/>
          <p:cNvSpPr/>
          <p:nvPr/>
        </p:nvSpPr>
        <p:spPr>
          <a:xfrm>
            <a:off x="6638400" y="1783080"/>
            <a:ext cx="255600" cy="25560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1"/>
          <p:cNvSpPr/>
          <p:nvPr/>
        </p:nvSpPr>
        <p:spPr>
          <a:xfrm>
            <a:off x="6638400" y="1819800"/>
            <a:ext cx="255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6986160" y="1774080"/>
            <a:ext cx="4324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A44F"/>
                </a:solidFill>
                <a:effectLst/>
                <a:uFillTx/>
                <a:latin typeface="Calibri"/>
              </a:rPr>
              <a:t>Çfarë presim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3"/>
          <p:cNvSpPr/>
          <p:nvPr/>
        </p:nvSpPr>
        <p:spPr>
          <a:xfrm>
            <a:off x="6656760" y="2176200"/>
            <a:ext cx="4599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Listener aktiv në TCP 1521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Service: FREEPDB1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4"/>
          <p:cNvSpPr/>
          <p:nvPr/>
        </p:nvSpPr>
        <p:spPr>
          <a:xfrm>
            <a:off x="6419160" y="3401640"/>
            <a:ext cx="5074560" cy="17827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5"/>
          <p:cNvSpPr/>
          <p:nvPr/>
        </p:nvSpPr>
        <p:spPr>
          <a:xfrm>
            <a:off x="6647760" y="3639240"/>
            <a:ext cx="4617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Nëse SQL*Plus nuk gjendet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6"/>
          <p:cNvSpPr/>
          <p:nvPr/>
        </p:nvSpPr>
        <p:spPr>
          <a:xfrm>
            <a:off x="6647760" y="4060080"/>
            <a:ext cx="461736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Mund të përdorni SQLcl ose Oracle SQL Developer për të ekzekutuar të njëjtat komanda SQL. Për Java-n nuk është e domosdoshme të përdorni SQL*Plus.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7"/>
          <p:cNvSpPr/>
          <p:nvPr/>
        </p:nvSpPr>
        <p:spPr>
          <a:xfrm>
            <a:off x="658440" y="4160520"/>
            <a:ext cx="5394600" cy="1032840"/>
          </a:xfrm>
          <a:prstGeom prst="roundRect">
            <a:avLst>
              <a:gd name="adj" fmla="val 4425"/>
            </a:avLst>
          </a:prstGeom>
          <a:solidFill>
            <a:srgbClr val="FFF1E2"/>
          </a:solidFill>
          <a:ln w="12700">
            <a:solidFill>
              <a:srgbClr val="FFF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8"/>
          <p:cNvSpPr/>
          <p:nvPr/>
        </p:nvSpPr>
        <p:spPr>
          <a:xfrm>
            <a:off x="822960" y="4288680"/>
            <a:ext cx="5065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Mos e ngatërroni: 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instalimi i databazës dhe lidhja Java janë dy hapa të ndryshëm. Fillimisht vërtetojmë që DB punon vetë.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sldNum" idx="11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DA6B2CB-8F3B-430B-952C-DFDD8D90769C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SQL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PËRGATITJA SQL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Krijojmë user-in e leksionit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658440" y="1444680"/>
            <a:ext cx="6949080" cy="4251600"/>
          </a:xfrm>
          <a:prstGeom prst="roundRect">
            <a:avLst>
              <a:gd name="adj" fmla="val 1290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822960" y="159120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1024200" y="159120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1225440" y="159120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859680" y="1792080"/>
            <a:ext cx="6546600" cy="373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-- Hyni si SYSTEM te FREEPDB1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CREATE USER kurs_java IDENTIFIED BY Student2026;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GRANT CREATE SESSION, CREATE TABLE TO kurs_java;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ALTER USER kurs_java QUOTA UNLIMITED ON USERS;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-- test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SELECT username FROM all_users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WHERE username = 'KURS_JAVA';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7973640" y="1444680"/>
            <a:ext cx="352008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8202240" y="168264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CREATE SESSION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8202240" y="2103120"/>
            <a:ext cx="30628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Lejon user-in të lidhet me databazën.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7973640" y="3054240"/>
            <a:ext cx="352008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8202240" y="329184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CREATE TABLE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8202240" y="3712320"/>
            <a:ext cx="30628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Lejon krijimin e tabelave në schema-n e tij.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7973640" y="4663440"/>
            <a:ext cx="3520080" cy="1032840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8202240" y="490104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QUOTA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8202240" y="5321880"/>
            <a:ext cx="30628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Lejon përdorimin e tablespace USERS për objektet e kursit.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sldNum" idx="12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FCA4018-7525-4E00-B2C2-0B81B1F8E692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7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▦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MODELI YNË MINIMAL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Krijojmë tabelën STUDENTI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658440" y="1444680"/>
            <a:ext cx="6903360" cy="4297320"/>
          </a:xfrm>
          <a:prstGeom prst="roundRect">
            <a:avLst>
              <a:gd name="adj" fmla="val 1277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822960" y="159120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1024200" y="159120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>
            <a:off x="1225440" y="159120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859680" y="1792080"/>
            <a:ext cx="6500880" cy="37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-- Hyni si KURS_JAVA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CREATE TABLE studenti (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id    NUMBER GENERATED BY DEFAULT AS IDENTITY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PRIMARY KEY,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emri  VARCHAR2(50)  NOT NULL,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email VARCHAR2(100) UNIQUE,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mosha NUMBER(3)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DESC studenti;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7955280" y="1600200"/>
            <a:ext cx="3611520" cy="511560"/>
          </a:xfrm>
          <a:prstGeom prst="rect">
            <a:avLst/>
          </a:prstGeom>
          <a:solidFill>
            <a:srgbClr val="142033"/>
          </a:solidFill>
          <a:ln w="12700">
            <a:solidFill>
              <a:srgbClr val="1420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8065080" y="1764720"/>
            <a:ext cx="107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Kolona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9208080" y="1764720"/>
            <a:ext cx="107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10351080" y="1764720"/>
            <a:ext cx="107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Roli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7955280" y="2112120"/>
            <a:ext cx="3611520" cy="658080"/>
          </a:xfrm>
          <a:prstGeom prst="rect">
            <a:avLst/>
          </a:prstGeom>
          <a:solidFill>
            <a:srgbClr val="F1F4F8"/>
          </a:solidFill>
          <a:ln w="635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8065080" y="233172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id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9208080" y="233172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NUMBER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10351080" y="233172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Identity + PK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7955280" y="2770560"/>
            <a:ext cx="3611520" cy="658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8065080" y="299016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emri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9208080" y="299016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VARCHAR2(50)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10351080" y="299016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I detyrueshëm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7955280" y="3429000"/>
            <a:ext cx="3611520" cy="658080"/>
          </a:xfrm>
          <a:prstGeom prst="rect">
            <a:avLst/>
          </a:prstGeom>
          <a:solidFill>
            <a:srgbClr val="F1F4F8"/>
          </a:solidFill>
          <a:ln w="635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8065080" y="364860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email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9208080" y="364860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VARCHAR2(100)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10351080" y="364860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Unik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7955280" y="4087440"/>
            <a:ext cx="3611520" cy="658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8065080" y="430668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26313F"/>
                </a:solidFill>
                <a:effectLst/>
                <a:uFillTx/>
                <a:latin typeface="Courier New"/>
                <a:ea typeface="Courier New"/>
              </a:rPr>
              <a:t>mosha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9208080" y="430668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NUMBER(3)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10351080" y="430668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6313F"/>
                </a:solidFill>
                <a:effectLst/>
                <a:uFillTx/>
                <a:latin typeface="Calibri"/>
                <a:ea typeface="Calibri"/>
              </a:rPr>
              <a:t>Opsional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9"/>
          <p:cNvSpPr/>
          <p:nvPr/>
        </p:nvSpPr>
        <p:spPr>
          <a:xfrm>
            <a:off x="7955280" y="5047560"/>
            <a:ext cx="3611520" cy="658080"/>
          </a:xfrm>
          <a:prstGeom prst="roundRect">
            <a:avLst>
              <a:gd name="adj" fmla="val 6944"/>
            </a:avLst>
          </a:prstGeom>
          <a:solidFill>
            <a:srgbClr val="FFF1E2"/>
          </a:solidFill>
          <a:ln w="12700">
            <a:solidFill>
              <a:srgbClr val="FFF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8119800" y="5175360"/>
            <a:ext cx="3282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Sot: 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INSERT dhe DELETE. UPDATE e lëmë për leksionin tjetër.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sldNum" idx="13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702B58E-5395-40A5-B7C0-303D44F9CF5B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JAVA + ORACLE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Shtojmë driver-in JDBC me Maven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658440" y="1389960"/>
            <a:ext cx="6903360" cy="4480200"/>
          </a:xfrm>
          <a:prstGeom prst="roundRect">
            <a:avLst>
              <a:gd name="adj" fmla="val 1224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822960" y="153612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1024200" y="153612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"/>
          <p:cNvSpPr/>
          <p:nvPr/>
        </p:nvSpPr>
        <p:spPr>
          <a:xfrm>
            <a:off x="1225440" y="153612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859680" y="1737360"/>
            <a:ext cx="6500880" cy="39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&lt;project xmlns="http://maven.apache.org/POM/4.0.0"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xmlns:xsi="http://www.w3.org/2001/XMLSchema-instance"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xsi:schemaLocation="http://maven.apache.org/POM/4.0.0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https://maven.apache.org/xsd/maven-4.0.0.xsd"&gt;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&lt;modelVersion&gt;4.0.0&lt;/modelVersion&gt;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&lt;groupId&gt;al.edu&lt;/groupId&gt;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&lt;artifactId&gt;oracle-demo&lt;/artifactId&gt;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&lt;version&gt;1.0&lt;/version&gt;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&lt;properties&gt;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&lt;maven.compiler.release&gt;17&lt;/maven.compiler.release&gt;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&lt;/properties&gt;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&lt;dependencies&gt;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&lt;dependency&gt;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&lt;groupId&gt;com.oracle.database.jdbc&lt;/groupId&gt;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&lt;artifactId&gt;ojdbc17&lt;/artifactId&gt;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&lt;version&gt;23.26.3.0.0&lt;/version&gt;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&lt;/dependency&gt;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&lt;/dependencies&gt;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&lt;/project&gt;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7973640" y="1444680"/>
            <a:ext cx="352008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8202240" y="168264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Pse ojdbc17?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8202240" y="2103120"/>
            <a:ext cx="30628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Driver Oracle për JDK 17/19/21. Për këtë leksion standardizojmë JDK 17.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7973640" y="3090600"/>
            <a:ext cx="3520080" cy="141696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3"/>
          <p:cNvSpPr/>
          <p:nvPr/>
        </p:nvSpPr>
        <p:spPr>
          <a:xfrm>
            <a:off x="8202240" y="3328560"/>
            <a:ext cx="3062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Driver Thin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8202240" y="3749040"/>
            <a:ext cx="30628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100% Java; nuk kërkon Oracle Client shtesë në kompjuterin ku ekzekutohet programi.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5"/>
          <p:cNvSpPr/>
          <p:nvPr/>
        </p:nvSpPr>
        <p:spPr>
          <a:xfrm>
            <a:off x="7973640" y="4782240"/>
            <a:ext cx="3520080" cy="959760"/>
          </a:xfrm>
          <a:prstGeom prst="roundRect">
            <a:avLst>
              <a:gd name="adj" fmla="val 4762"/>
            </a:avLst>
          </a:prstGeom>
          <a:solidFill>
            <a:srgbClr val="FFF1E2"/>
          </a:solidFill>
          <a:ln w="12700">
            <a:solidFill>
              <a:srgbClr val="FFF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6"/>
          <p:cNvSpPr/>
          <p:nvPr/>
        </p:nvSpPr>
        <p:spPr>
          <a:xfrm>
            <a:off x="8138160" y="4910400"/>
            <a:ext cx="31910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Pas ndryshimit të pom.xml: 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Maven shkarkon driver-in dhe e vendos në classpath.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14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1F8AD0C-E31E-4916-8723-7E24CBA8E001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9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JDBC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Katër objekte që duhet të njihni sot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658440" y="1572840"/>
            <a:ext cx="5257440" cy="1691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914400" y="1828800"/>
            <a:ext cx="205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730C"/>
                </a:solidFill>
                <a:effectLst/>
                <a:uFillTx/>
                <a:latin typeface="Courier New"/>
                <a:ea typeface="Courier New"/>
              </a:rPr>
              <a:t>Connection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914400" y="2286000"/>
            <a:ext cx="466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Lidhja aktive me DB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7"/>
          <p:cNvSpPr/>
          <p:nvPr/>
        </p:nvSpPr>
        <p:spPr>
          <a:xfrm>
            <a:off x="914400" y="2642760"/>
            <a:ext cx="4617360" cy="347040"/>
          </a:xfrm>
          <a:prstGeom prst="roundRect">
            <a:avLst>
              <a:gd name="adj" fmla="val 7895"/>
            </a:avLst>
          </a:prstGeom>
          <a:solidFill>
            <a:srgbClr val="1E2C40"/>
          </a:solidFill>
          <a:ln w="12700">
            <a:solidFill>
              <a:srgbClr val="1E2C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1042560" y="2752200"/>
            <a:ext cx="4352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DriverManager.getConnection(...)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9"/>
          <p:cNvSpPr/>
          <p:nvPr/>
        </p:nvSpPr>
        <p:spPr>
          <a:xfrm>
            <a:off x="6217920" y="1572840"/>
            <a:ext cx="5257440" cy="1691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0"/>
          <p:cNvSpPr/>
          <p:nvPr/>
        </p:nvSpPr>
        <p:spPr>
          <a:xfrm>
            <a:off x="6473880" y="1828800"/>
            <a:ext cx="205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730C"/>
                </a:solidFill>
                <a:effectLst/>
                <a:uFillTx/>
                <a:latin typeface="Courier New"/>
                <a:ea typeface="Courier New"/>
              </a:rPr>
              <a:t>PreparedStatement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6473880" y="2286000"/>
            <a:ext cx="466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SQL me parametra të sigurt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2"/>
          <p:cNvSpPr/>
          <p:nvPr/>
        </p:nvSpPr>
        <p:spPr>
          <a:xfrm>
            <a:off x="6473880" y="2642760"/>
            <a:ext cx="4617360" cy="347040"/>
          </a:xfrm>
          <a:prstGeom prst="roundRect">
            <a:avLst>
              <a:gd name="adj" fmla="val 7895"/>
            </a:avLst>
          </a:prstGeom>
          <a:solidFill>
            <a:srgbClr val="1E2C40"/>
          </a:solidFill>
          <a:ln w="12700">
            <a:solidFill>
              <a:srgbClr val="1E2C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3"/>
          <p:cNvSpPr/>
          <p:nvPr/>
        </p:nvSpPr>
        <p:spPr>
          <a:xfrm>
            <a:off x="6602040" y="2752200"/>
            <a:ext cx="4352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conn.prepareStatement(sql)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4"/>
          <p:cNvSpPr/>
          <p:nvPr/>
        </p:nvSpPr>
        <p:spPr>
          <a:xfrm>
            <a:off x="658440" y="3703320"/>
            <a:ext cx="5257440" cy="1691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914400" y="3959280"/>
            <a:ext cx="205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730C"/>
                </a:solidFill>
                <a:effectLst/>
                <a:uFillTx/>
                <a:latin typeface="Courier New"/>
                <a:ea typeface="Courier New"/>
              </a:rPr>
              <a:t>executeUpdate()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6"/>
          <p:cNvSpPr/>
          <p:nvPr/>
        </p:nvSpPr>
        <p:spPr>
          <a:xfrm>
            <a:off x="914400" y="4416480"/>
            <a:ext cx="466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INSERT / DELETE / UPDATE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7"/>
          <p:cNvSpPr/>
          <p:nvPr/>
        </p:nvSpPr>
        <p:spPr>
          <a:xfrm>
            <a:off x="914400" y="4773240"/>
            <a:ext cx="4617360" cy="347040"/>
          </a:xfrm>
          <a:prstGeom prst="roundRect">
            <a:avLst>
              <a:gd name="adj" fmla="val 7895"/>
            </a:avLst>
          </a:prstGeom>
          <a:solidFill>
            <a:srgbClr val="1E2C40"/>
          </a:solidFill>
          <a:ln w="12700">
            <a:solidFill>
              <a:srgbClr val="1E2C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1042560" y="4883040"/>
            <a:ext cx="4352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kthe numrin e rreshtave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6217920" y="3703320"/>
            <a:ext cx="5257440" cy="1691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6473880" y="3959280"/>
            <a:ext cx="2057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8730C"/>
                </a:solidFill>
                <a:effectLst/>
                <a:uFillTx/>
                <a:latin typeface="Courier New"/>
                <a:ea typeface="Courier New"/>
              </a:rPr>
              <a:t>SQLException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6473880" y="4416480"/>
            <a:ext cx="466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Gabimet e databazës / rrjetit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2"/>
          <p:cNvSpPr/>
          <p:nvPr/>
        </p:nvSpPr>
        <p:spPr>
          <a:xfrm>
            <a:off x="6473880" y="4773240"/>
            <a:ext cx="4617360" cy="347040"/>
          </a:xfrm>
          <a:prstGeom prst="roundRect">
            <a:avLst>
              <a:gd name="adj" fmla="val 7895"/>
            </a:avLst>
          </a:prstGeom>
          <a:solidFill>
            <a:srgbClr val="1E2C40"/>
          </a:solidFill>
          <a:ln w="12700">
            <a:solidFill>
              <a:srgbClr val="1E2C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6602040" y="4883040"/>
            <a:ext cx="43520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8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/</a:t>
            </a:r>
            <a:r>
              <a:rPr lang="en-US" sz="8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cat</a:t>
            </a:r>
            <a:r>
              <a:rPr lang="en-US" sz="8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ch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sldNum" idx="15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D0E7BAB-310B-4BA1-8F2C-1777BF2FC064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10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URL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JDBC URL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Lexojeni URL-në pjesë-pjesë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"/>
          <p:cNvSpPr/>
          <p:nvPr/>
        </p:nvSpPr>
        <p:spPr>
          <a:xfrm>
            <a:off x="658440" y="1591200"/>
            <a:ext cx="10844280" cy="1142640"/>
          </a:xfrm>
          <a:prstGeom prst="roundRect">
            <a:avLst>
              <a:gd name="adj" fmla="val 4800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822960" y="173736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1024200" y="173736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1225440" y="173736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8"/>
          <p:cNvSpPr/>
          <p:nvPr/>
        </p:nvSpPr>
        <p:spPr>
          <a:xfrm>
            <a:off x="859680" y="1938600"/>
            <a:ext cx="1044216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jdbc:oracle:thin:@//localhost:1521/FREEPDB1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658440" y="3163680"/>
            <a:ext cx="1572480" cy="1234080"/>
          </a:xfrm>
          <a:prstGeom prst="roundRect">
            <a:avLst>
              <a:gd name="adj" fmla="val 3704"/>
            </a:avLst>
          </a:prstGeom>
          <a:solidFill>
            <a:srgbClr val="263A54"/>
          </a:solidFill>
          <a:ln w="12700">
            <a:solidFill>
              <a:srgbClr val="3850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768240" y="344736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jdbc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768240" y="388620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API standarde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2"/>
          <p:cNvSpPr/>
          <p:nvPr/>
        </p:nvSpPr>
        <p:spPr>
          <a:xfrm>
            <a:off x="2477880" y="3163680"/>
            <a:ext cx="1572480" cy="1234080"/>
          </a:xfrm>
          <a:prstGeom prst="roundRect">
            <a:avLst>
              <a:gd name="adj" fmla="val 3704"/>
            </a:avLst>
          </a:prstGeom>
          <a:solidFill>
            <a:srgbClr val="20324A"/>
          </a:solidFill>
          <a:ln w="12700">
            <a:solidFill>
              <a:srgbClr val="3850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2587680" y="344736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oracle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4"/>
          <p:cNvSpPr/>
          <p:nvPr/>
        </p:nvSpPr>
        <p:spPr>
          <a:xfrm>
            <a:off x="2587680" y="388620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vendor / driver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5"/>
          <p:cNvSpPr/>
          <p:nvPr/>
        </p:nvSpPr>
        <p:spPr>
          <a:xfrm>
            <a:off x="4297680" y="3163680"/>
            <a:ext cx="1572480" cy="1234080"/>
          </a:xfrm>
          <a:prstGeom prst="roundRect">
            <a:avLst>
              <a:gd name="adj" fmla="val 3704"/>
            </a:avLst>
          </a:prstGeom>
          <a:solidFill>
            <a:srgbClr val="263A54"/>
          </a:solidFill>
          <a:ln w="12700">
            <a:solidFill>
              <a:srgbClr val="3850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4407480" y="344736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thin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7"/>
          <p:cNvSpPr/>
          <p:nvPr/>
        </p:nvSpPr>
        <p:spPr>
          <a:xfrm>
            <a:off x="4407480" y="388620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driver i pastër Java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8"/>
          <p:cNvSpPr/>
          <p:nvPr/>
        </p:nvSpPr>
        <p:spPr>
          <a:xfrm>
            <a:off x="6117480" y="3163680"/>
            <a:ext cx="1572480" cy="1234080"/>
          </a:xfrm>
          <a:prstGeom prst="roundRect">
            <a:avLst>
              <a:gd name="adj" fmla="val 3704"/>
            </a:avLst>
          </a:prstGeom>
          <a:solidFill>
            <a:srgbClr val="20324A"/>
          </a:solidFill>
          <a:ln w="12700">
            <a:solidFill>
              <a:srgbClr val="3850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6226920" y="344736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localhost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0"/>
          <p:cNvSpPr/>
          <p:nvPr/>
        </p:nvSpPr>
        <p:spPr>
          <a:xfrm>
            <a:off x="6226920" y="388620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serveri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7936920" y="3163680"/>
            <a:ext cx="1572480" cy="1234080"/>
          </a:xfrm>
          <a:prstGeom prst="roundRect">
            <a:avLst>
              <a:gd name="adj" fmla="val 3704"/>
            </a:avLst>
          </a:prstGeom>
          <a:solidFill>
            <a:srgbClr val="263A54"/>
          </a:solidFill>
          <a:ln w="12700">
            <a:solidFill>
              <a:srgbClr val="3850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8046720" y="344736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1521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3"/>
          <p:cNvSpPr/>
          <p:nvPr/>
        </p:nvSpPr>
        <p:spPr>
          <a:xfrm>
            <a:off x="8046720" y="388620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listener port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4"/>
          <p:cNvSpPr/>
          <p:nvPr/>
        </p:nvSpPr>
        <p:spPr>
          <a:xfrm>
            <a:off x="9756720" y="3163680"/>
            <a:ext cx="1572480" cy="1234080"/>
          </a:xfrm>
          <a:prstGeom prst="roundRect">
            <a:avLst>
              <a:gd name="adj" fmla="val 3704"/>
            </a:avLst>
          </a:prstGeom>
          <a:solidFill>
            <a:srgbClr val="20324A"/>
          </a:solidFill>
          <a:ln w="12700">
            <a:solidFill>
              <a:srgbClr val="3850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5"/>
          <p:cNvSpPr/>
          <p:nvPr/>
        </p:nvSpPr>
        <p:spPr>
          <a:xfrm>
            <a:off x="9866520" y="3447360"/>
            <a:ext cx="1352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6A63B"/>
                </a:solidFill>
                <a:effectLst/>
                <a:uFillTx/>
                <a:latin typeface="Courier New"/>
                <a:ea typeface="Courier New"/>
              </a:rPr>
              <a:t>FREEPDB1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6"/>
          <p:cNvSpPr/>
          <p:nvPr/>
        </p:nvSpPr>
        <p:spPr>
          <a:xfrm>
            <a:off x="9866520" y="388620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service name</a:t>
            </a:r>
            <a:endParaRPr lang="en-US" sz="9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7"/>
          <p:cNvSpPr/>
          <p:nvPr/>
        </p:nvSpPr>
        <p:spPr>
          <a:xfrm>
            <a:off x="658440" y="4892040"/>
            <a:ext cx="10844280" cy="658080"/>
          </a:xfrm>
          <a:prstGeom prst="roundRect">
            <a:avLst>
              <a:gd name="adj" fmla="val 6944"/>
            </a:avLst>
          </a:prstGeom>
          <a:solidFill>
            <a:srgbClr val="2A3B52"/>
          </a:solidFill>
          <a:ln w="12700">
            <a:solidFill>
              <a:srgbClr val="2A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8"/>
          <p:cNvSpPr/>
          <p:nvPr/>
        </p:nvSpPr>
        <p:spPr>
          <a:xfrm>
            <a:off x="822960" y="5020200"/>
            <a:ext cx="10515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Rregull praktik:  </a:t>
            </a:r>
            <a:r>
              <a:rPr lang="en-US" sz="1150" b="0" u="none" strike="noStrike">
                <a:solidFill>
                  <a:srgbClr val="EEEEEE"/>
                </a:solidFill>
                <a:effectLst/>
                <a:uFillTx/>
                <a:latin typeface="Calibri"/>
              </a:rPr>
              <a:t>nëse host, port ose service name janë gabim, programi Java nuk arrin as te SQL-i.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Num" idx="16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E29299C-0997-4A13-9AC5-3D2A12271EDB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11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PROGRAMI I PLOTË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Testi i parë: ConnectionTest.java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4"/>
          <p:cNvSpPr/>
          <p:nvPr/>
        </p:nvSpPr>
        <p:spPr>
          <a:xfrm>
            <a:off x="658440" y="1353240"/>
            <a:ext cx="7589160" cy="4937400"/>
          </a:xfrm>
          <a:prstGeom prst="roundRect">
            <a:avLst>
              <a:gd name="adj" fmla="val 1111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5"/>
          <p:cNvSpPr/>
          <p:nvPr/>
        </p:nvSpPr>
        <p:spPr>
          <a:xfrm>
            <a:off x="822960" y="149976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6"/>
          <p:cNvSpPr/>
          <p:nvPr/>
        </p:nvSpPr>
        <p:spPr>
          <a:xfrm>
            <a:off x="1024200" y="149976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7"/>
          <p:cNvSpPr/>
          <p:nvPr/>
        </p:nvSpPr>
        <p:spPr>
          <a:xfrm>
            <a:off x="1225440" y="149976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8"/>
          <p:cNvSpPr/>
          <p:nvPr/>
        </p:nvSpPr>
        <p:spPr>
          <a:xfrm>
            <a:off x="859680" y="1700640"/>
            <a:ext cx="7186680" cy="44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import java.sql.Connection;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import java.sql.DriverManager;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import java.sql.SQLException;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public class ConnectionTest {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private static final String URL =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"jdbc:oracle:thin:@//localhost:1521/FREEPDB1";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private static final String USER = "kurs_java";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private static final String PASSWORD = "Student2026";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public static void main(String[] args) {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try (Connection conn =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    DriverManager.getConnection(URL, USER, PASSWORD)) {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System.out.println("Lidhja me Oracle u realizua!");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System.out.println("AutoCommit: " + conn.getAutoCommit());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} catch (SQLException e) {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System.out.println("Gabim gjatë lidhjes:");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System.out.println(e.getMessage());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}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9"/>
          <p:cNvSpPr/>
          <p:nvPr/>
        </p:nvSpPr>
        <p:spPr>
          <a:xfrm>
            <a:off x="8577000" y="1408320"/>
            <a:ext cx="2907360" cy="1599840"/>
          </a:xfrm>
          <a:prstGeom prst="roundRect">
            <a:avLst>
              <a:gd name="adj" fmla="val 3429"/>
            </a:avLst>
          </a:prstGeom>
          <a:solidFill>
            <a:srgbClr val="EAF6ED"/>
          </a:solidFill>
          <a:ln w="8890">
            <a:solidFill>
              <a:srgbClr val="B7DC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0"/>
          <p:cNvSpPr/>
          <p:nvPr/>
        </p:nvSpPr>
        <p:spPr>
          <a:xfrm>
            <a:off x="8796600" y="1618560"/>
            <a:ext cx="255600" cy="25560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1"/>
          <p:cNvSpPr/>
          <p:nvPr/>
        </p:nvSpPr>
        <p:spPr>
          <a:xfrm>
            <a:off x="8796600" y="1654920"/>
            <a:ext cx="255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2"/>
          <p:cNvSpPr/>
          <p:nvPr/>
        </p:nvSpPr>
        <p:spPr>
          <a:xfrm>
            <a:off x="9144000" y="1609200"/>
            <a:ext cx="2157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A44F"/>
                </a:solidFill>
                <a:effectLst/>
                <a:uFillTx/>
                <a:latin typeface="Calibri"/>
              </a:rPr>
              <a:t>Dalja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3"/>
          <p:cNvSpPr/>
          <p:nvPr/>
        </p:nvSpPr>
        <p:spPr>
          <a:xfrm>
            <a:off x="8814960" y="2011680"/>
            <a:ext cx="24318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Lidhja me Oracle u realizua!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AutoCommit: true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4"/>
          <p:cNvSpPr/>
          <p:nvPr/>
        </p:nvSpPr>
        <p:spPr>
          <a:xfrm>
            <a:off x="8577000" y="3310200"/>
            <a:ext cx="2907360" cy="2175840"/>
          </a:xfrm>
          <a:prstGeom prst="roundRect">
            <a:avLst>
              <a:gd name="adj" fmla="val 2941"/>
            </a:avLst>
          </a:prstGeom>
          <a:solidFill>
            <a:srgbClr val="20324A"/>
          </a:solidFill>
          <a:ln w="10160">
            <a:solidFill>
              <a:srgbClr val="334A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5"/>
          <p:cNvSpPr/>
          <p:nvPr/>
        </p:nvSpPr>
        <p:spPr>
          <a:xfrm>
            <a:off x="8805600" y="354780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Çfarë ndodh?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6"/>
          <p:cNvSpPr/>
          <p:nvPr/>
        </p:nvSpPr>
        <p:spPr>
          <a:xfrm>
            <a:off x="8805600" y="3968640"/>
            <a:ext cx="2450160" cy="13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1. Maven ka sjellë driver-in.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2. DriverManager zgjedh Oracle JDBC.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3. Listener pranon lidhjen.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4. Krijohet Connection.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5. try-with-resources e mbyll vetë.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Num" idx="17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C9F738F-8A74-42D4-B075-DABFE73C6608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12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INSERT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Pse PreparedStatement dhe jo string concatenation?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658440" y="1517760"/>
            <a:ext cx="5166000" cy="1874160"/>
          </a:xfrm>
          <a:prstGeom prst="roundRect">
            <a:avLst>
              <a:gd name="adj" fmla="val 2927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822960" y="166428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6"/>
          <p:cNvSpPr/>
          <p:nvPr/>
        </p:nvSpPr>
        <p:spPr>
          <a:xfrm>
            <a:off x="1024200" y="166428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7"/>
          <p:cNvSpPr/>
          <p:nvPr/>
        </p:nvSpPr>
        <p:spPr>
          <a:xfrm>
            <a:off x="1225440" y="166428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8"/>
          <p:cNvSpPr/>
          <p:nvPr/>
        </p:nvSpPr>
        <p:spPr>
          <a:xfrm>
            <a:off x="859680" y="1865520"/>
            <a:ext cx="4763520" cy="13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// MOS e bëni kështu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String sql = "INSERT INTO studenti ... "+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"VALUES ('" + emri + "', ...)";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9"/>
          <p:cNvSpPr/>
          <p:nvPr/>
        </p:nvSpPr>
        <p:spPr>
          <a:xfrm>
            <a:off x="6236280" y="1517760"/>
            <a:ext cx="5257440" cy="1874160"/>
          </a:xfrm>
          <a:prstGeom prst="roundRect">
            <a:avLst>
              <a:gd name="adj" fmla="val 2927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0"/>
          <p:cNvSpPr/>
          <p:nvPr/>
        </p:nvSpPr>
        <p:spPr>
          <a:xfrm>
            <a:off x="6400800" y="166428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6602040" y="166428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6803280" y="166428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6437520" y="1865520"/>
            <a:ext cx="4854960" cy="13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// Bëjeni kështu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String sql = "INSERT INTO studenti " +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"(emri,email,mosha) VALUES (?,?,?)";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PreparedStatement ps = conn.prepareStatement(sql);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658440" y="3703320"/>
            <a:ext cx="3291480" cy="1481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887040" y="394092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Parametra 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887040" y="436176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Vlerat nuk bashkohen me SQL-in. Ato dërgohen veçmas me setString / setInt.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4270320" y="3703320"/>
            <a:ext cx="3291480" cy="1481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4498920" y="394092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Më pak gabime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9"/>
          <p:cNvSpPr/>
          <p:nvPr/>
        </p:nvSpPr>
        <p:spPr>
          <a:xfrm>
            <a:off x="4498920" y="436176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Nuk keni nevojë të menaxhoni vetë thonjëzat e tekstit apo formatet.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7882200" y="3703320"/>
            <a:ext cx="3611520" cy="14810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1"/>
          <p:cNvSpPr/>
          <p:nvPr/>
        </p:nvSpPr>
        <p:spPr>
          <a:xfrm>
            <a:off x="8110800" y="394092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Më i sigurt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8110800" y="4361760"/>
            <a:ext cx="3154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PreparedStatement ndihmon në shmangien e SQL injection kur vlerat vijnë nga përdoruesi.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sldNum" idx="18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6C069AF-0D78-4784-B16D-65ABD7D4C734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PROGRAMI I PLOTË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INSERT: shtojmë një student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658440" y="1307520"/>
            <a:ext cx="7817760" cy="5028840"/>
          </a:xfrm>
          <a:prstGeom prst="roundRect">
            <a:avLst>
              <a:gd name="adj" fmla="val 1091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5"/>
          <p:cNvSpPr/>
          <p:nvPr/>
        </p:nvSpPr>
        <p:spPr>
          <a:xfrm>
            <a:off x="822960" y="145404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6"/>
          <p:cNvSpPr/>
          <p:nvPr/>
        </p:nvSpPr>
        <p:spPr>
          <a:xfrm>
            <a:off x="1024200" y="145404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1225440" y="145404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859680" y="1654920"/>
            <a:ext cx="7415280" cy="45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rt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java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.sql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.Con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nect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ion;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rt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java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.sql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.Dri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verM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anag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er;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rt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java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.sql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.Pre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pare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dSta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teme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nt;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rt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java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.sql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.SQL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Exce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ptio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publ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ic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clas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Inse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rtSt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uden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 {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priv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ate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ic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fina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ng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URL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=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"jdb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c:or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acle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:thi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n:@/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/loc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alho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st:1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521/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FREE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PDB1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priv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ate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ic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fina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ng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USER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=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"kur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s_ja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va";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priv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ate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ic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fina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ng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PASS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WORD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=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"Stu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dent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2026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publ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ic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ic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void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main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(Str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ing[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]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args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) {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ng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sql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=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"INS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ERT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INTO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stud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enti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(emr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emai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mosh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a) "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+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"VAL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UES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(?,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?, ?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)";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try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(Con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nect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ion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conn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=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Driv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erMa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nage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r.ge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tCon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nect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ion(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URL,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USER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PASS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WORD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Prep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ared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emen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 ps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=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conn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.pre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pare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Stat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emen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t(sq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l))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ps.s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etSt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ring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(1,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"Ana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Kola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");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ps.s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etSt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ring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(2,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"ana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@exa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mple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.com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");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ps.s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etIn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t(3,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21);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int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rows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=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ps.e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xecu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teUp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date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Syst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em.o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ut.p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rint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ln("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Rres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hta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të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shtu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ar: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" +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rows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}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catc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h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(SQL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Exce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ptio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n e)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Syst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em.o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ut.p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rint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ln(e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.get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Mess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age(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));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}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8732520" y="1371600"/>
            <a:ext cx="2761200" cy="1389600"/>
          </a:xfrm>
          <a:prstGeom prst="roundRect">
            <a:avLst>
              <a:gd name="adj" fmla="val 3947"/>
            </a:avLst>
          </a:prstGeom>
          <a:solidFill>
            <a:srgbClr val="EAF6ED"/>
          </a:solidFill>
          <a:ln w="8890">
            <a:solidFill>
              <a:srgbClr val="B7DC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8952120" y="1581840"/>
            <a:ext cx="255600" cy="25560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1"/>
          <p:cNvSpPr/>
          <p:nvPr/>
        </p:nvSpPr>
        <p:spPr>
          <a:xfrm>
            <a:off x="8952120" y="1618560"/>
            <a:ext cx="255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2"/>
          <p:cNvSpPr/>
          <p:nvPr/>
        </p:nvSpPr>
        <p:spPr>
          <a:xfrm>
            <a:off x="9299520" y="15728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A44F"/>
                </a:solidFill>
                <a:effectLst/>
                <a:uFillTx/>
                <a:latin typeface="Calibri"/>
              </a:rPr>
              <a:t>Dalja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3"/>
          <p:cNvSpPr/>
          <p:nvPr/>
        </p:nvSpPr>
        <p:spPr>
          <a:xfrm>
            <a:off x="8970120" y="1974960"/>
            <a:ext cx="2285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Rreshta të shtuar: 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4"/>
          <p:cNvSpPr/>
          <p:nvPr/>
        </p:nvSpPr>
        <p:spPr>
          <a:xfrm>
            <a:off x="8732520" y="3026520"/>
            <a:ext cx="2761200" cy="2304000"/>
          </a:xfrm>
          <a:prstGeom prst="roundRect">
            <a:avLst>
              <a:gd name="adj" fmla="val 2778"/>
            </a:avLst>
          </a:prstGeom>
          <a:solidFill>
            <a:srgbClr val="20324A"/>
          </a:solidFill>
          <a:ln w="10160">
            <a:solidFill>
              <a:srgbClr val="334A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5"/>
          <p:cNvSpPr/>
          <p:nvPr/>
        </p:nvSpPr>
        <p:spPr>
          <a:xfrm>
            <a:off x="8961120" y="3264480"/>
            <a:ext cx="230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Leximi i kodit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6"/>
          <p:cNvSpPr/>
          <p:nvPr/>
        </p:nvSpPr>
        <p:spPr>
          <a:xfrm>
            <a:off x="8961120" y="368496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setString(1, ...) → ? i parë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setString(2, ...) → ? i dytë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setInt(3, ...) → ? i tretë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executeUpdate() → sa rreshta u prekën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sldNum" idx="19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CC90C13-6EBC-4967-B0DF-31A4B9B98599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14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KONTROLLI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E verifikojmë INSERT-in në databazë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4"/>
          <p:cNvSpPr/>
          <p:nvPr/>
        </p:nvSpPr>
        <p:spPr>
          <a:xfrm>
            <a:off x="658440" y="1481400"/>
            <a:ext cx="6034680" cy="2011320"/>
          </a:xfrm>
          <a:prstGeom prst="roundRect">
            <a:avLst>
              <a:gd name="adj" fmla="val 2727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5"/>
          <p:cNvSpPr/>
          <p:nvPr/>
        </p:nvSpPr>
        <p:spPr>
          <a:xfrm>
            <a:off x="822960" y="162756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6"/>
          <p:cNvSpPr/>
          <p:nvPr/>
        </p:nvSpPr>
        <p:spPr>
          <a:xfrm>
            <a:off x="1024200" y="162756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"/>
          <p:cNvSpPr/>
          <p:nvPr/>
        </p:nvSpPr>
        <p:spPr>
          <a:xfrm>
            <a:off x="1225440" y="162756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8"/>
          <p:cNvSpPr/>
          <p:nvPr/>
        </p:nvSpPr>
        <p:spPr>
          <a:xfrm>
            <a:off x="859680" y="1828800"/>
            <a:ext cx="5632200" cy="14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SELECT id, emri, email, mosha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FROM studenti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ORDER BY id;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9"/>
          <p:cNvSpPr/>
          <p:nvPr/>
        </p:nvSpPr>
        <p:spPr>
          <a:xfrm>
            <a:off x="7040880" y="1481400"/>
            <a:ext cx="4452840" cy="2011320"/>
          </a:xfrm>
          <a:prstGeom prst="roundRect">
            <a:avLst>
              <a:gd name="adj" fmla="val 2727"/>
            </a:avLst>
          </a:prstGeom>
          <a:solidFill>
            <a:srgbClr val="EAF6ED"/>
          </a:solidFill>
          <a:ln w="8890">
            <a:solidFill>
              <a:srgbClr val="B7DC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0"/>
          <p:cNvSpPr/>
          <p:nvPr/>
        </p:nvSpPr>
        <p:spPr>
          <a:xfrm>
            <a:off x="7260480" y="1691640"/>
            <a:ext cx="255600" cy="25560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1"/>
          <p:cNvSpPr/>
          <p:nvPr/>
        </p:nvSpPr>
        <p:spPr>
          <a:xfrm>
            <a:off x="7260480" y="1728360"/>
            <a:ext cx="255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2"/>
          <p:cNvSpPr/>
          <p:nvPr/>
        </p:nvSpPr>
        <p:spPr>
          <a:xfrm>
            <a:off x="7607880" y="1682640"/>
            <a:ext cx="370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A44F"/>
                </a:solidFill>
                <a:effectLst/>
                <a:uFillTx/>
                <a:latin typeface="Calibri"/>
              </a:rPr>
              <a:t>Shembull rezultati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3"/>
          <p:cNvSpPr/>
          <p:nvPr/>
        </p:nvSpPr>
        <p:spPr>
          <a:xfrm>
            <a:off x="7278480" y="2084760"/>
            <a:ext cx="397728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ID  EMRI      EMAIL             MOSHA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1   Ana Kola  ana@example.com   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4"/>
          <p:cNvSpPr/>
          <p:nvPr/>
        </p:nvSpPr>
        <p:spPr>
          <a:xfrm>
            <a:off x="658440" y="3840480"/>
            <a:ext cx="5257440" cy="157248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887040" y="407808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Pse funksionoi pa COMMIT?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6"/>
          <p:cNvSpPr/>
          <p:nvPr/>
        </p:nvSpPr>
        <p:spPr>
          <a:xfrm>
            <a:off x="887040" y="4498920"/>
            <a:ext cx="480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Connecti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on nga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JDBC ka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autoCom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mit=true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si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parazgjed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hje;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INSERT-i u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konfirmu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automati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kisht pas 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executeU</a:t>
            </a: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pdate().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7"/>
          <p:cNvSpPr/>
          <p:nvPr/>
        </p:nvSpPr>
        <p:spPr>
          <a:xfrm>
            <a:off x="6236280" y="3840480"/>
            <a:ext cx="5257440" cy="1572480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8"/>
          <p:cNvSpPr/>
          <p:nvPr/>
        </p:nvSpPr>
        <p:spPr>
          <a:xfrm>
            <a:off x="6464880" y="4078080"/>
            <a:ext cx="4800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Çfarë </a:t>
            </a: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mësoj</a:t>
            </a: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më </a:t>
            </a: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më </a:t>
            </a: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vonë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9"/>
          <p:cNvSpPr/>
          <p:nvPr/>
        </p:nvSpPr>
        <p:spPr>
          <a:xfrm>
            <a:off x="6464880" y="4498920"/>
            <a:ext cx="4800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Në leksione të ardhshme do të kontrollojmë transaksionet me setAutoCommit(false), commit() dhe rollback().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1"/>
          <p:cNvSpPr>
            <a:spLocks noGrp="1"/>
          </p:cNvSpPr>
          <p:nvPr>
            <p:ph type="sldNum" idx="20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CD0CCB5-E75C-4C48-9475-250F787CE321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−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DELETE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Fshijmë sipas një kushti — jo “gjithçka”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4"/>
          <p:cNvSpPr/>
          <p:nvPr/>
        </p:nvSpPr>
        <p:spPr>
          <a:xfrm>
            <a:off x="658440" y="1481400"/>
            <a:ext cx="5668920" cy="1874160"/>
          </a:xfrm>
          <a:prstGeom prst="roundRect">
            <a:avLst>
              <a:gd name="adj" fmla="val 2927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5"/>
          <p:cNvSpPr/>
          <p:nvPr/>
        </p:nvSpPr>
        <p:spPr>
          <a:xfrm>
            <a:off x="822960" y="162756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6"/>
          <p:cNvSpPr/>
          <p:nvPr/>
        </p:nvSpPr>
        <p:spPr>
          <a:xfrm>
            <a:off x="1024200" y="162756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7"/>
          <p:cNvSpPr/>
          <p:nvPr/>
        </p:nvSpPr>
        <p:spPr>
          <a:xfrm>
            <a:off x="1225440" y="162756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8"/>
          <p:cNvSpPr/>
          <p:nvPr/>
        </p:nvSpPr>
        <p:spPr>
          <a:xfrm>
            <a:off x="859680" y="1828800"/>
            <a:ext cx="5266440" cy="13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String sql =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"DELETE FROM studenti WHERE email = ?";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PreparedStatement ps = conn.prepareStatement(sql);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ps.setString(1, "ana@example.com");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9"/>
          <p:cNvSpPr/>
          <p:nvPr/>
        </p:nvSpPr>
        <p:spPr>
          <a:xfrm>
            <a:off x="6702480" y="1481400"/>
            <a:ext cx="4791240" cy="1425960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 w="1016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0"/>
          <p:cNvSpPr/>
          <p:nvPr/>
        </p:nvSpPr>
        <p:spPr>
          <a:xfrm>
            <a:off x="6931080" y="1719000"/>
            <a:ext cx="433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WHERE është mbrojtja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1"/>
          <p:cNvSpPr/>
          <p:nvPr/>
        </p:nvSpPr>
        <p:spPr>
          <a:xfrm>
            <a:off x="6931080" y="2139840"/>
            <a:ext cx="4334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Pa WHERE, komanda DELETE prek çdo rresht të tabelës. Në këtë leksion gjithmonë përdorim një kusht të qartë.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2"/>
          <p:cNvSpPr/>
          <p:nvPr/>
        </p:nvSpPr>
        <p:spPr>
          <a:xfrm>
            <a:off x="6702480" y="3182040"/>
            <a:ext cx="4791240" cy="1352880"/>
          </a:xfrm>
          <a:prstGeom prst="roundRect">
            <a:avLst>
              <a:gd name="adj" fmla="val 4054"/>
            </a:avLst>
          </a:prstGeom>
          <a:solidFill>
            <a:srgbClr val="EAF6ED"/>
          </a:solidFill>
          <a:ln w="8890">
            <a:solidFill>
              <a:srgbClr val="B7DC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3"/>
          <p:cNvSpPr/>
          <p:nvPr/>
        </p:nvSpPr>
        <p:spPr>
          <a:xfrm>
            <a:off x="6922080" y="3392280"/>
            <a:ext cx="255600" cy="25560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4"/>
          <p:cNvSpPr/>
          <p:nvPr/>
        </p:nvSpPr>
        <p:spPr>
          <a:xfrm>
            <a:off x="6922080" y="3429000"/>
            <a:ext cx="255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5"/>
          <p:cNvSpPr/>
          <p:nvPr/>
        </p:nvSpPr>
        <p:spPr>
          <a:xfrm>
            <a:off x="7269480" y="3383280"/>
            <a:ext cx="4041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A44F"/>
                </a:solidFill>
                <a:effectLst/>
                <a:uFillTx/>
                <a:latin typeface="Calibri"/>
              </a:rPr>
              <a:t>Rregulli i klasës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6"/>
          <p:cNvSpPr/>
          <p:nvPr/>
        </p:nvSpPr>
        <p:spPr>
          <a:xfrm>
            <a:off x="6940440" y="3785760"/>
            <a:ext cx="431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DELETE + WHERE + parametër me PreparedStatement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7"/>
          <p:cNvSpPr/>
          <p:nvPr/>
        </p:nvSpPr>
        <p:spPr>
          <a:xfrm>
            <a:off x="658440" y="3840480"/>
            <a:ext cx="5668920" cy="959760"/>
          </a:xfrm>
          <a:prstGeom prst="roundRect">
            <a:avLst>
              <a:gd name="adj" fmla="val 4762"/>
            </a:avLst>
          </a:prstGeom>
          <a:solidFill>
            <a:srgbClr val="FFF1E2"/>
          </a:solidFill>
          <a:ln w="12700">
            <a:solidFill>
              <a:srgbClr val="FFF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8"/>
          <p:cNvSpPr/>
          <p:nvPr/>
        </p:nvSpPr>
        <p:spPr>
          <a:xfrm>
            <a:off x="822960" y="3968640"/>
            <a:ext cx="53398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Kujdes: 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executeUpdate() nuk do të thotë vetëm UPDATE. Emri i metodës përdoret edhe për INSERT dhe DELETE.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sldNum" idx="21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38B72FD-F191-4E1B-8369-D2D6988A0C8A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−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F6A63B"/>
                </a:solidFill>
                <a:effectLst/>
                <a:uFillTx/>
                <a:latin typeface="Calibri"/>
                <a:ea typeface="Calibri"/>
              </a:rPr>
              <a:t>PROGRAMI I PLOTË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DELETE: fshijmë studentin sipas email-it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4"/>
          <p:cNvSpPr/>
          <p:nvPr/>
        </p:nvSpPr>
        <p:spPr>
          <a:xfrm>
            <a:off x="658440" y="1307520"/>
            <a:ext cx="7817760" cy="5028840"/>
          </a:xfrm>
          <a:prstGeom prst="roundRect">
            <a:avLst>
              <a:gd name="adj" fmla="val 1091"/>
            </a:avLst>
          </a:prstGeom>
          <a:solidFill>
            <a:srgbClr val="1E2C40"/>
          </a:solidFill>
          <a:ln w="7620">
            <a:solidFill>
              <a:srgbClr val="1E2C40"/>
            </a:solidFill>
            <a:round/>
          </a:ln>
          <a:effectLst>
            <a:outerShdw algn="bl" blurRad="25560" dir="2700000" dist="50402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5"/>
          <p:cNvSpPr/>
          <p:nvPr/>
        </p:nvSpPr>
        <p:spPr>
          <a:xfrm>
            <a:off x="822960" y="1454040"/>
            <a:ext cx="91080" cy="910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6"/>
          <p:cNvSpPr/>
          <p:nvPr/>
        </p:nvSpPr>
        <p:spPr>
          <a:xfrm>
            <a:off x="1024200" y="1454040"/>
            <a:ext cx="91080" cy="910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7"/>
          <p:cNvSpPr/>
          <p:nvPr/>
        </p:nvSpPr>
        <p:spPr>
          <a:xfrm>
            <a:off x="1225440" y="1454040"/>
            <a:ext cx="91080" cy="910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440" rIns="90000" bIns="19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8"/>
          <p:cNvSpPr/>
          <p:nvPr/>
        </p:nvSpPr>
        <p:spPr>
          <a:xfrm>
            <a:off x="859680" y="1654920"/>
            <a:ext cx="7415280" cy="45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import java.sql.Connection;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import java.sql.DriverManager;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import java.sql.PreparedStatement;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import java.sql.SQLException;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public class DeleteStudent {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private static final String URL =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"jdbc:oracle:thin:@//localhost:1521/FREEPDB1";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private static final String USER = "kurs_java";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private static final String PASSWORD = "Student2026";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public static void main(String[] args) {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String sql = "DELETE FROM studenti WHERE email = ?";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try (Connection conn = DriverManager.getConnection(URL, USER, PASSWORD);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 PreparedStatement ps = conn.prepareStatement(sql)) {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ps.setString(1, "ana@example.com");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int rows = ps.executeUpdate();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System.out.println("Rreshta të fshirë: " + rows);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} catch (SQLException e) {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    System.out.println(e.getMessage());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    }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E8EEF4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98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9"/>
          <p:cNvSpPr/>
          <p:nvPr/>
        </p:nvSpPr>
        <p:spPr>
          <a:xfrm>
            <a:off x="8732520" y="1371600"/>
            <a:ext cx="2761200" cy="1389600"/>
          </a:xfrm>
          <a:prstGeom prst="roundRect">
            <a:avLst>
              <a:gd name="adj" fmla="val 3947"/>
            </a:avLst>
          </a:prstGeom>
          <a:solidFill>
            <a:srgbClr val="EAF6ED"/>
          </a:solidFill>
          <a:ln w="8890">
            <a:solidFill>
              <a:srgbClr val="B7DC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0"/>
          <p:cNvSpPr/>
          <p:nvPr/>
        </p:nvSpPr>
        <p:spPr>
          <a:xfrm>
            <a:off x="8952120" y="1581840"/>
            <a:ext cx="255600" cy="25560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1"/>
          <p:cNvSpPr/>
          <p:nvPr/>
        </p:nvSpPr>
        <p:spPr>
          <a:xfrm>
            <a:off x="8952120" y="1618560"/>
            <a:ext cx="2556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2"/>
          <p:cNvSpPr/>
          <p:nvPr/>
        </p:nvSpPr>
        <p:spPr>
          <a:xfrm>
            <a:off x="9299520" y="1572840"/>
            <a:ext cx="2011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A44F"/>
                </a:solidFill>
                <a:effectLst/>
                <a:uFillTx/>
                <a:latin typeface="Calibri"/>
              </a:rPr>
              <a:t>Dalja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3"/>
          <p:cNvSpPr/>
          <p:nvPr/>
        </p:nvSpPr>
        <p:spPr>
          <a:xfrm>
            <a:off x="8970120" y="1974960"/>
            <a:ext cx="22856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16B33"/>
                </a:solidFill>
                <a:effectLst/>
                <a:uFillTx/>
                <a:latin typeface="Courier New"/>
                <a:ea typeface="Courier New"/>
              </a:rPr>
              <a:t>Rreshta të fshirë: 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4"/>
          <p:cNvSpPr/>
          <p:nvPr/>
        </p:nvSpPr>
        <p:spPr>
          <a:xfrm>
            <a:off x="8732520" y="3026520"/>
            <a:ext cx="2761200" cy="2304000"/>
          </a:xfrm>
          <a:prstGeom prst="roundRect">
            <a:avLst>
              <a:gd name="adj" fmla="val 2778"/>
            </a:avLst>
          </a:prstGeom>
          <a:solidFill>
            <a:srgbClr val="20324A"/>
          </a:solidFill>
          <a:ln w="10160">
            <a:solidFill>
              <a:srgbClr val="334A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5"/>
          <p:cNvSpPr/>
          <p:nvPr/>
        </p:nvSpPr>
        <p:spPr>
          <a:xfrm>
            <a:off x="8961120" y="3264480"/>
            <a:ext cx="2304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Interpretimi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6"/>
          <p:cNvSpPr/>
          <p:nvPr/>
        </p:nvSpPr>
        <p:spPr>
          <a:xfrm>
            <a:off x="8961120" y="3684960"/>
            <a:ext cx="2304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1 → u gjet dhe u fshi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0 → nuk ekzistonte ai email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&gt;1 → kushti ishte më i gjerë se sa mendonim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Prandaj lexojmë vlerën e kthyer.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sldNum" idx="22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D3946FB-6B9B-4C0E-9D43-5DA11A5CB7DB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17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DEBUGGING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Gabimet që do të shihni më shpesh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658440" y="1517760"/>
            <a:ext cx="525744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5"/>
          <p:cNvSpPr/>
          <p:nvPr/>
        </p:nvSpPr>
        <p:spPr>
          <a:xfrm>
            <a:off x="887040" y="175572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7443E"/>
                </a:solidFill>
                <a:effectLst/>
                <a:uFillTx/>
                <a:latin typeface="Courier New"/>
                <a:ea typeface="Courier New"/>
              </a:rPr>
              <a:t>ORA-12541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6"/>
          <p:cNvSpPr/>
          <p:nvPr/>
        </p:nvSpPr>
        <p:spPr>
          <a:xfrm>
            <a:off x="2322720" y="177408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No listener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7"/>
          <p:cNvSpPr/>
          <p:nvPr/>
        </p:nvSpPr>
        <p:spPr>
          <a:xfrm>
            <a:off x="887040" y="2304360"/>
            <a:ext cx="4663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Listener-i nuk po punon ose porta është gabim. Provo </a:t>
            </a:r>
            <a:r>
              <a:rPr lang="en-US" sz="107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lsnrctl status.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8"/>
          <p:cNvSpPr/>
          <p:nvPr/>
        </p:nvSpPr>
        <p:spPr>
          <a:xfrm>
            <a:off x="6236280" y="1517760"/>
            <a:ext cx="525744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9"/>
          <p:cNvSpPr/>
          <p:nvPr/>
        </p:nvSpPr>
        <p:spPr>
          <a:xfrm>
            <a:off x="6464880" y="175572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7443E"/>
                </a:solidFill>
                <a:effectLst/>
                <a:uFillTx/>
                <a:latin typeface="Courier New"/>
                <a:ea typeface="Courier New"/>
              </a:rPr>
              <a:t>ORA-12514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0"/>
          <p:cNvSpPr/>
          <p:nvPr/>
        </p:nvSpPr>
        <p:spPr>
          <a:xfrm>
            <a:off x="7900560" y="177408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Service unknown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1"/>
          <p:cNvSpPr/>
          <p:nvPr/>
        </p:nvSpPr>
        <p:spPr>
          <a:xfrm>
            <a:off x="6464880" y="2304360"/>
            <a:ext cx="4663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FREEPDB1 / service name nuk përputhet me listener-in.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2"/>
          <p:cNvSpPr/>
          <p:nvPr/>
        </p:nvSpPr>
        <p:spPr>
          <a:xfrm>
            <a:off x="658440" y="3822120"/>
            <a:ext cx="525744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3"/>
          <p:cNvSpPr/>
          <p:nvPr/>
        </p:nvSpPr>
        <p:spPr>
          <a:xfrm>
            <a:off x="887040" y="406008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7443E"/>
                </a:solidFill>
                <a:effectLst/>
                <a:uFillTx/>
                <a:latin typeface="Courier New"/>
                <a:ea typeface="Courier New"/>
              </a:rPr>
              <a:t>ORA-01017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4"/>
          <p:cNvSpPr/>
          <p:nvPr/>
        </p:nvSpPr>
        <p:spPr>
          <a:xfrm>
            <a:off x="2322720" y="407808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Invalid username/password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5"/>
          <p:cNvSpPr/>
          <p:nvPr/>
        </p:nvSpPr>
        <p:spPr>
          <a:xfrm>
            <a:off x="887040" y="4608720"/>
            <a:ext cx="4663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User-i ose password-i është gabim; verifiko edhe PDB-në ku u krijua user-i.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6"/>
          <p:cNvSpPr/>
          <p:nvPr/>
        </p:nvSpPr>
        <p:spPr>
          <a:xfrm>
            <a:off x="6236280" y="3822120"/>
            <a:ext cx="5257440" cy="1755360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7"/>
          <p:cNvSpPr/>
          <p:nvPr/>
        </p:nvSpPr>
        <p:spPr>
          <a:xfrm>
            <a:off x="6464880" y="4060080"/>
            <a:ext cx="141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7443E"/>
                </a:solidFill>
                <a:effectLst/>
                <a:uFillTx/>
                <a:latin typeface="Courier New"/>
                <a:ea typeface="Courier New"/>
              </a:rPr>
              <a:t>No suitable driver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8"/>
          <p:cNvSpPr/>
          <p:nvPr/>
        </p:nvSpPr>
        <p:spPr>
          <a:xfrm>
            <a:off x="7900560" y="407808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JDBC driver mungon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9"/>
          <p:cNvSpPr/>
          <p:nvPr/>
        </p:nvSpPr>
        <p:spPr>
          <a:xfrm>
            <a:off x="6464880" y="4608720"/>
            <a:ext cx="4663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Kontrollo pom.xml dhe Maven reload / dependency download.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sldNum" idx="23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ECE736-9837-486D-9897-EF767C537243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18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 0"/>
          <p:cNvSpPr/>
          <p:nvPr/>
        </p:nvSpPr>
        <p:spPr>
          <a:xfrm>
            <a:off x="914400" y="192024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KOHA E QUIZ-it!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"/>
          <p:cNvSpPr/>
          <p:nvPr/>
        </p:nvSpPr>
        <p:spPr>
          <a:xfrm>
            <a:off x="914400" y="2788920"/>
            <a:ext cx="10332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3CBD6"/>
                </a:solidFill>
                <a:effectLst/>
                <a:uFillTx/>
                <a:latin typeface="Calibri"/>
              </a:rPr>
              <a:t>4 pyetje · 8 minuta · punoni vetë në letër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"/>
          <p:cNvSpPr/>
          <p:nvPr/>
        </p:nvSpPr>
        <p:spPr>
          <a:xfrm>
            <a:off x="1234440" y="3703320"/>
            <a:ext cx="9692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6A63B"/>
                </a:solidFill>
                <a:effectLst/>
                <a:uFillTx/>
                <a:latin typeface="Calibri"/>
              </a:rPr>
              <a:t>Mos u fokusoni te sintaksa përmendësh — fokusohuni te rrjedha: DB → JDBC → SQL.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1"/>
          <p:cNvSpPr>
            <a:spLocks noGrp="1"/>
          </p:cNvSpPr>
          <p:nvPr>
            <p:ph type="sldNum" idx="24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D9BCA43-AF52-4A3A-B8CE-81EBF0D6A2E5}" type="slidenum">
              <a:rPr lang="en-US" sz="850" b="0" u="none" strike="noStrike">
                <a:solidFill>
                  <a:srgbClr val="7B8A99"/>
                </a:solidFill>
                <a:effectLst/>
                <a:uFillTx/>
                <a:latin typeface="Calibri"/>
                <a:ea typeface="Calibri"/>
              </a:rPr>
              <a:t>18</a:t>
            </a:fld>
            <a:endParaRPr lang="en-US" sz="8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QUIZ · ORACLE + JDBC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4 pyetje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4"/>
          <p:cNvSpPr/>
          <p:nvPr/>
        </p:nvSpPr>
        <p:spPr>
          <a:xfrm>
            <a:off x="658440" y="1508760"/>
            <a:ext cx="5257440" cy="17827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5"/>
          <p:cNvSpPr/>
          <p:nvPr/>
        </p:nvSpPr>
        <p:spPr>
          <a:xfrm>
            <a:off x="877680" y="1728360"/>
            <a:ext cx="438480" cy="438480"/>
          </a:xfrm>
          <a:prstGeom prst="ellipse">
            <a:avLst/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877680" y="1837800"/>
            <a:ext cx="4384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7"/>
          <p:cNvSpPr/>
          <p:nvPr/>
        </p:nvSpPr>
        <p:spPr>
          <a:xfrm>
            <a:off x="1463040" y="1710000"/>
            <a:ext cx="4160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Cili service name përdorim në URL-në e këtij leksioni?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8"/>
          <p:cNvSpPr/>
          <p:nvPr/>
        </p:nvSpPr>
        <p:spPr>
          <a:xfrm>
            <a:off x="1463040" y="2468880"/>
            <a:ext cx="4160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a) XE     b) FREEPDB1     c) ORCL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9"/>
          <p:cNvSpPr/>
          <p:nvPr/>
        </p:nvSpPr>
        <p:spPr>
          <a:xfrm>
            <a:off x="6236280" y="1508760"/>
            <a:ext cx="5257440" cy="17827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0"/>
          <p:cNvSpPr/>
          <p:nvPr/>
        </p:nvSpPr>
        <p:spPr>
          <a:xfrm>
            <a:off x="6455520" y="1728360"/>
            <a:ext cx="438480" cy="438480"/>
          </a:xfrm>
          <a:prstGeom prst="ellipse">
            <a:avLst/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1"/>
          <p:cNvSpPr/>
          <p:nvPr/>
        </p:nvSpPr>
        <p:spPr>
          <a:xfrm>
            <a:off x="6455520" y="1837800"/>
            <a:ext cx="4384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2"/>
          <p:cNvSpPr/>
          <p:nvPr/>
        </p:nvSpPr>
        <p:spPr>
          <a:xfrm>
            <a:off x="7040880" y="1710000"/>
            <a:ext cx="4160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Çfarë bën PreparedStatement?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3"/>
          <p:cNvSpPr/>
          <p:nvPr/>
        </p:nvSpPr>
        <p:spPr>
          <a:xfrm>
            <a:off x="7040880" y="2468880"/>
            <a:ext cx="4160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a) Mban parametra veç SQL-it   b) instalon Oracle   c) krijon listener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4"/>
          <p:cNvSpPr/>
          <p:nvPr/>
        </p:nvSpPr>
        <p:spPr>
          <a:xfrm>
            <a:off x="658440" y="3822120"/>
            <a:ext cx="5257440" cy="17827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5"/>
          <p:cNvSpPr/>
          <p:nvPr/>
        </p:nvSpPr>
        <p:spPr>
          <a:xfrm>
            <a:off x="877680" y="4041720"/>
            <a:ext cx="438480" cy="438480"/>
          </a:xfrm>
          <a:prstGeom prst="ellipse">
            <a:avLst/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6"/>
          <p:cNvSpPr/>
          <p:nvPr/>
        </p:nvSpPr>
        <p:spPr>
          <a:xfrm>
            <a:off x="877680" y="4151520"/>
            <a:ext cx="4384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7"/>
          <p:cNvSpPr/>
          <p:nvPr/>
        </p:nvSpPr>
        <p:spPr>
          <a:xfrm>
            <a:off x="1463040" y="4023360"/>
            <a:ext cx="4160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Cila metodë përdorim për INSERT dhe DELETE?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8"/>
          <p:cNvSpPr/>
          <p:nvPr/>
        </p:nvSpPr>
        <p:spPr>
          <a:xfrm>
            <a:off x="1463040" y="4782240"/>
            <a:ext cx="4160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a) executeQuery()   b) executeUpdate()   c) next()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9"/>
          <p:cNvSpPr/>
          <p:nvPr/>
        </p:nvSpPr>
        <p:spPr>
          <a:xfrm>
            <a:off x="6236280" y="3822120"/>
            <a:ext cx="5257440" cy="17827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  <a:effectLst>
            <a:outerShdw algn="bl" blurRad="25560" dir="2700000" dist="50402" kx="0" ky="0" rotWithShape="0" sx="100000" sy="100000">
              <a:srgbClr val="AAB4C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0"/>
          <p:cNvSpPr/>
          <p:nvPr/>
        </p:nvSpPr>
        <p:spPr>
          <a:xfrm>
            <a:off x="6455520" y="4041720"/>
            <a:ext cx="438480" cy="438480"/>
          </a:xfrm>
          <a:prstGeom prst="ellipse">
            <a:avLst/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1"/>
          <p:cNvSpPr/>
          <p:nvPr/>
        </p:nvSpPr>
        <p:spPr>
          <a:xfrm>
            <a:off x="6455520" y="4151520"/>
            <a:ext cx="4384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2"/>
          <p:cNvSpPr/>
          <p:nvPr/>
        </p:nvSpPr>
        <p:spPr>
          <a:xfrm>
            <a:off x="7040880" y="4023360"/>
            <a:ext cx="41601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Pse është i rrezikshëm DELETE pa WHERE?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3"/>
          <p:cNvSpPr/>
          <p:nvPr/>
        </p:nvSpPr>
        <p:spPr>
          <a:xfrm>
            <a:off x="7040880" y="4782240"/>
            <a:ext cx="4160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a) Fshin çdo rresht   b) mbyll DB-në   c) ndryshon portën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1"/>
          <p:cNvSpPr>
            <a:spLocks noGrp="1"/>
          </p:cNvSpPr>
          <p:nvPr>
            <p:ph type="sldNum" idx="25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13D5BD6-558D-4D06-AA39-DE3E310449B1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20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548640" y="438840"/>
            <a:ext cx="658080" cy="658080"/>
          </a:xfrm>
          <a:prstGeom prst="roundRect">
            <a:avLst>
              <a:gd name="adj" fmla="val 11111"/>
            </a:avLst>
          </a:prstGeom>
          <a:solidFill>
            <a:srgbClr val="E8730C"/>
          </a:solidFill>
          <a:ln w="12700">
            <a:solidFill>
              <a:srgbClr val="E873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585360" y="576000"/>
            <a:ext cx="585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"/>
          <p:cNvSpPr/>
          <p:nvPr/>
        </p:nvSpPr>
        <p:spPr>
          <a:xfrm>
            <a:off x="1353240" y="42048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210" strike="noStrike">
                <a:solidFill>
                  <a:srgbClr val="D96C0B"/>
                </a:solidFill>
                <a:effectLst/>
                <a:uFillTx/>
                <a:latin typeface="Calibri"/>
                <a:ea typeface="Calibri"/>
              </a:rPr>
              <a:t>QUIZ · ZGJIDHJA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3"/>
          <p:cNvSpPr/>
          <p:nvPr/>
        </p:nvSpPr>
        <p:spPr>
          <a:xfrm>
            <a:off x="1353240" y="658440"/>
            <a:ext cx="9966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42033"/>
                </a:solidFill>
                <a:effectLst/>
                <a:uFillTx/>
                <a:latin typeface="Calibri"/>
                <a:ea typeface="Calibri"/>
              </a:rPr>
              <a:t>Përgjigjet + përmbledhja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4"/>
          <p:cNvSpPr/>
          <p:nvPr/>
        </p:nvSpPr>
        <p:spPr>
          <a:xfrm>
            <a:off x="658440" y="1444680"/>
            <a:ext cx="5074560" cy="1142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5"/>
          <p:cNvSpPr/>
          <p:nvPr/>
        </p:nvSpPr>
        <p:spPr>
          <a:xfrm>
            <a:off x="859680" y="1700640"/>
            <a:ext cx="347040" cy="34704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6"/>
          <p:cNvSpPr/>
          <p:nvPr/>
        </p:nvSpPr>
        <p:spPr>
          <a:xfrm>
            <a:off x="859680" y="1792080"/>
            <a:ext cx="3470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7"/>
          <p:cNvSpPr/>
          <p:nvPr/>
        </p:nvSpPr>
        <p:spPr>
          <a:xfrm>
            <a:off x="1371600" y="164592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b) FREEPDB1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8"/>
          <p:cNvSpPr/>
          <p:nvPr/>
        </p:nvSpPr>
        <p:spPr>
          <a:xfrm>
            <a:off x="1371600" y="2066400"/>
            <a:ext cx="406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Është service name i PDB-së ku krijuam user-in.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9"/>
          <p:cNvSpPr/>
          <p:nvPr/>
        </p:nvSpPr>
        <p:spPr>
          <a:xfrm>
            <a:off x="6126480" y="1444680"/>
            <a:ext cx="5074560" cy="1142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0"/>
          <p:cNvSpPr/>
          <p:nvPr/>
        </p:nvSpPr>
        <p:spPr>
          <a:xfrm>
            <a:off x="6327720" y="1700640"/>
            <a:ext cx="347040" cy="34704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1"/>
          <p:cNvSpPr/>
          <p:nvPr/>
        </p:nvSpPr>
        <p:spPr>
          <a:xfrm>
            <a:off x="6327720" y="1792080"/>
            <a:ext cx="3470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2"/>
          <p:cNvSpPr/>
          <p:nvPr/>
        </p:nvSpPr>
        <p:spPr>
          <a:xfrm>
            <a:off x="6839640" y="164592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a) Parametra veç SQL-it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3"/>
          <p:cNvSpPr/>
          <p:nvPr/>
        </p:nvSpPr>
        <p:spPr>
          <a:xfrm>
            <a:off x="6839640" y="2066400"/>
            <a:ext cx="406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Vlerat vendosen me setString/setInt në ?-të.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4"/>
          <p:cNvSpPr/>
          <p:nvPr/>
        </p:nvSpPr>
        <p:spPr>
          <a:xfrm>
            <a:off x="658440" y="2862000"/>
            <a:ext cx="5074560" cy="1142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5"/>
          <p:cNvSpPr/>
          <p:nvPr/>
        </p:nvSpPr>
        <p:spPr>
          <a:xfrm>
            <a:off x="859680" y="3117960"/>
            <a:ext cx="347040" cy="34704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6"/>
          <p:cNvSpPr/>
          <p:nvPr/>
        </p:nvSpPr>
        <p:spPr>
          <a:xfrm>
            <a:off x="859680" y="3209400"/>
            <a:ext cx="3470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7"/>
          <p:cNvSpPr/>
          <p:nvPr/>
        </p:nvSpPr>
        <p:spPr>
          <a:xfrm>
            <a:off x="1371600" y="306324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b) executeUpdate()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8"/>
          <p:cNvSpPr/>
          <p:nvPr/>
        </p:nvSpPr>
        <p:spPr>
          <a:xfrm>
            <a:off x="1371600" y="3483720"/>
            <a:ext cx="406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Kthen numrin e rreshtave të prekur.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9"/>
          <p:cNvSpPr/>
          <p:nvPr/>
        </p:nvSpPr>
        <p:spPr>
          <a:xfrm>
            <a:off x="6126480" y="2862000"/>
            <a:ext cx="5074560" cy="1142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20"/>
          <p:cNvSpPr/>
          <p:nvPr/>
        </p:nvSpPr>
        <p:spPr>
          <a:xfrm>
            <a:off x="6327720" y="3117960"/>
            <a:ext cx="347040" cy="347040"/>
          </a:xfrm>
          <a:prstGeom prst="ellipse">
            <a:avLst/>
          </a:prstGeom>
          <a:solidFill>
            <a:srgbClr val="2EA44F"/>
          </a:solidFill>
          <a:ln w="12700">
            <a:solidFill>
              <a:srgbClr val="2EA4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1"/>
          <p:cNvSpPr/>
          <p:nvPr/>
        </p:nvSpPr>
        <p:spPr>
          <a:xfrm>
            <a:off x="6327720" y="3209400"/>
            <a:ext cx="34704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22"/>
          <p:cNvSpPr/>
          <p:nvPr/>
        </p:nvSpPr>
        <p:spPr>
          <a:xfrm>
            <a:off x="6839640" y="3063240"/>
            <a:ext cx="406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a) Fshin çdo rresht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3"/>
          <p:cNvSpPr/>
          <p:nvPr/>
        </p:nvSpPr>
        <p:spPr>
          <a:xfrm>
            <a:off x="6839640" y="3483720"/>
            <a:ext cx="406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A7889"/>
                </a:solidFill>
                <a:effectLst/>
                <a:uFillTx/>
                <a:latin typeface="Calibri"/>
              </a:rPr>
              <a:t>Pa WHERE, DELETE nuk ka filtër.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4"/>
          <p:cNvSpPr/>
          <p:nvPr/>
        </p:nvSpPr>
        <p:spPr>
          <a:xfrm>
            <a:off x="658440" y="44989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42033"/>
                </a:solidFill>
                <a:effectLst/>
                <a:uFillTx/>
                <a:latin typeface="Calibri"/>
              </a:rPr>
              <a:t>Çfarë duhet të mbetet pas 70 minutave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5"/>
          <p:cNvSpPr/>
          <p:nvPr/>
        </p:nvSpPr>
        <p:spPr>
          <a:xfrm>
            <a:off x="658440" y="4901040"/>
            <a:ext cx="69033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r>
              <a:rPr lang="en-US" sz="107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•  Instalo Oracle AI Database Free dhe identifiko FREEPDB1 / portën 1521.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•  Shto ojdbc17 me Maven dhe krijo Connection me DriverManager.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•  Përdor PreparedStatement për INSERT dhe DELETE.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•  Kontrollo int-in që kthen executeUpdate().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26"/>
          <p:cNvSpPr/>
          <p:nvPr/>
        </p:nvSpPr>
        <p:spPr>
          <a:xfrm>
            <a:off x="7882200" y="4736520"/>
            <a:ext cx="3611520" cy="1206720"/>
          </a:xfrm>
          <a:prstGeom prst="roundRect">
            <a:avLst>
              <a:gd name="adj" fmla="val 3788"/>
            </a:avLst>
          </a:prstGeom>
          <a:solidFill>
            <a:srgbClr val="FFF1E2"/>
          </a:solidFill>
          <a:ln w="12700">
            <a:solidFill>
              <a:srgbClr val="FFF1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7"/>
          <p:cNvSpPr/>
          <p:nvPr/>
        </p:nvSpPr>
        <p:spPr>
          <a:xfrm>
            <a:off x="8046720" y="4864680"/>
            <a:ext cx="328248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730C"/>
                </a:solidFill>
                <a:effectLst/>
                <a:uFillTx/>
                <a:latin typeface="Calibri"/>
              </a:rPr>
              <a:t>Leksioni tjetër: 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UPDATE, SELECT me ResultSet, transaksione dhe ndarja e kodit në klasa </a:t>
            </a:r>
            <a:r>
              <a:rPr lang="en-US" sz="1150" b="0" u="none" strike="noStrike">
                <a:solidFill>
                  <a:srgbClr val="26313F"/>
                </a:solidFill>
                <a:effectLst/>
                <a:uFillTx/>
                <a:latin typeface="Calibri"/>
              </a:rPr>
              <a:t>DAO.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1"/>
          <p:cNvSpPr>
            <a:spLocks noGrp="1"/>
          </p:cNvSpPr>
          <p:nvPr>
            <p:ph type="sldNum" idx="26"/>
          </p:nvPr>
        </p:nvSpPr>
        <p:spPr>
          <a:xfrm>
            <a:off x="1138428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C2BE9C7-5583-4A36-95CA-D8AAF1060320}" type="slidenum">
              <a:rPr lang="en-US" sz="850" b="0" u="none" strike="noStrike">
                <a:solidFill>
                  <a:srgbClr val="6A7889"/>
                </a:solidFill>
                <a:effectLst/>
                <a:uFillTx/>
                <a:latin typeface="Calibri"/>
                <a:ea typeface="Calibri"/>
              </a:rPr>
              <a:t>21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LibreOffice/26.2.2.2$Linux_X86_64 LibreOffice_project/1f77d10d6938fd34972958f64b2bcfa54f8b1ba5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2026-09-16T13:01:51Z</dcterms:created>
  <dc:creator>OpenAI</dc:creator>
  <dc:description/>
  <dc:language>en-US</dc:language>
  <cp:lastModifiedBy/>
  <dcterms:modified xsi:type="dcterms:W3CDTF">2026-09-16T15:08:28Z</dcterms:modified>
  <cp:revision>5</cp:revision>
  <dc:subject>Java + Oracle DB - Leksioni i pare</dc:subject>
  <dc:title>Java — Hapat e parë me Oracle Database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