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</p:sldIdLst>
  <p:notesMasterIdLst>
    <p:notesMasterId r:id="rId24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notesMaster" Target="notesMasters/notesMaster1.xml"/><Relationship Id="rId25" Type="http://schemas.openxmlformats.org/officeDocument/2006/relationships/presProps" Target="presProps.xml"/><Relationship Id="rId26" Type="http://schemas.openxmlformats.org/officeDocument/2006/relationships/viewProps" Target="viewProps.xml"/><Relationship Id="rId27" Type="http://schemas.openxmlformats.org/officeDocument/2006/relationships/theme" Target="theme/theme1.xml"/><Relationship Id="rId2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Ndryshim ritmi: sot s'ka Java — sot mësojmë veglën që çdo programues e përdor çdo ditë. Studentët tashmë kanë kod që ia vlen të ruhet (detyrat e 7 leksioneve). Leksioni është praktik: hapni terminalin dhe punoni bashkë me ta. 70 minuta.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Leksion praktik: sugjerohet që studentët të kenë laptopët hapur dhe të shkruajnë komandat bashkë me ju. Nëse s'ka laptopë, demonstrimi juaj në projektor mjafton — por detyrat kërkojnë praktikë.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Filloni me të qeshura — çdo student e ka këtë dosje. Pyetni: 'kush e ka një skedar me FINAL dy herë në emër?' Duart ngrihen. Dhimbja e njohur është motivimi më i mirë. Theksoni edhe rastin e punës në grup (projekti i fundvitit).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Fjala kyçe: HISTORI. Git nuk ruan vetëm skedarin e fundit — ruan çdo gjendje. Analogji: si 'Undo' i pafund që mbijeton edhe pas mbylljes së programit, edhe pas vitesh. Fakti për Torvalds i pëlqen klasës — e njëjta person që bëri Linux-in.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Ngatërrimi më i shpeshtë: studentët thonë 'e ngarkova në Git' kur duan të thonë GitHub. Analogjia e kamerës/Instagramit e zgjidh menjëherë. Theksoni: Git punon plotësisht pa internet — GitHub-i vjen vetëm kur duam të ndajmë ose të ruajmë online.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Nëse studentët kanë laptopë, bëjeni bashkë tani — kjo është pika ku shumë ngecin. Email-i s'ka nevojë të jetë real për praktikë, por për GitHub duhet i njëjti me llogarinë. Git Bash në Windows: theksojeni, sepse CMD-ja ka sjellje tjetër.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SLAJDI KYÇ. Pa këtë hartë, komandat duken arbitrare. Analogji: working = tavolina ku punoni; staging = kutia ku vendosni çfarë do të fusni në album; commit = ngjitja në album me datë e përshkrim; push = dërgimi i albumit te miqtë. Kthehuni te ky slajd sa herë prezantoni një komandë.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Gabimi i shpeshtë: git init brenda një dosjeje që tashmë është repo, ose init në Desktop (bën gjithë Desktop-in repo!). Thuajuni: hyni NË dosjen e projektit para se të bëni init. Për detyrat, clone do të jetë rruga kur t'u jepni një projekt gati.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Ky është ritmi i punës reale. Theksoni git status si 'busulla' — kur s'di ku je, shtyp status. Mesazhi i commit-it: shkruani ÇFARË dhe PSE, jo 'ndryshime' apo 'update'. Shembull i keq: 'fix'. I mirë: 'Rregullova gabimin e indeksit te cikli'.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Demonstroni log-un e një projekti real (edhe të vetin) — studentëve u bën përshtypje historia e gjatë. git log del me 'q' nëse hapet në pager — thuajuani, ndryshe ngecin! diff-i lexohet: minus = ishte, plus = është.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Për GitHub sot kërkohet token ose SSH në vend të fjalëkalimit — përgatituni ta tregoni ose shmangeni në klasë duke përdorur vetëm repo lokale. Rregulli 'pull në mëngjes' shpëton nga 90% e konflikteve.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Analogji: main është teza që dorëzoni; dega është fotokopja ku provoni një kapitull të ri. Nëse del keq — hidhet fotokopja. Në ekipe, çdo veçori e re ka degën e vet. Për studentët: dega është 'rrjeti i sigurisë' që u lejon të provojnë pa frikë.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checkout bën dy punë (kalim dhe krijim me -b) — prandaj Git-i modern e ndau në switch dhe restore. Përmendni të dyja, por praktikoni me checkout sepse e gjejnë kudo në internet. Fshirja e degës pas merge-it është higjienë.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Konfliktet i tremben të gjithë fillestarët — normalizojini: Git po ju pyet, nuk po ju qorton. Demonstroni një konflikt të vërtetë në klasë (dy degë që ndryshojnë të njëjtin rresht) — kur e shohin një herë, frika ikën.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.gitignore për Java: *.class është i domosdoshëm; shtoni out/, target/, .idea/. Për kthimin mbrapsht jepni vetëm restore dhe amend — reset --hard përmendeni si të rrezikshme, mos e mësoni si rutinë. Rregulli: 'commit shpesh' është vetë mbrojtja më e mirë.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Thuajuni ta fotografojnë — kjo fletë u mjafton për muajt e parë. Theksoni rreshtin e fundit: mos u mbingarkoni me komanda ekzotike; katër komandat bazë mbulojnë gati gjithçka.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Rutina e njohur: 8 minuta, letër, pa shënime. Pyetjet mbulojnë tri zonat, dallimin Git/GitHub, rendin e komandave dhe degët.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Q1: add → commit → push, përgjigja b (zinxhiri i tri zonave). Q2: status është busulla — përgjigja b. Ndihma poshtë është e qëllimshme: pyetjet e para duhet t'i japin besim klasës.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Q3: përgjigja c. Q4: përgjigja b — dega është pikërisht për këtë; kopja në Desktop është problemi që Git-i erdhi ta zgjidhë (slajdi 3!). Bonusi me gojë është ushtrim i shkëlqyer për cilësinë e mesazheve.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Të gjitha përgjigjet burojnë nga slajdi 7 dhe 5 — nëse dikush gabon, kthejeni te harta e tri zonave. Kjo është prova se koncepti, jo memorizimi i komandave, është thelbi.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Fjalia për t'u marrë me vete: 'Git nuk është komanda — është tri zonat; komandat janë vetëm mënyra për të lëvizur mes tyre.' Nga sot, çdo detyrë e kursit duhet të dorëzohet përmes një repo-je.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Detyra 4 kërkon llogari GitHub — paralajmërojini se sot kërkohet token (jo fjalëkalim) dhe tregojuni ku ta gjenerojnë, ose lejoni SSH. Nga java tjetër, kërkoni që detyrat të dorëzohen si link repo-je — praktika më e mirë e mundshme.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image" Target="../media/image-2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image" Target="../media/image-7-6.png"/><Relationship Id="rId7" Type="http://schemas.openxmlformats.org/officeDocument/2006/relationships/image" Target="../media/image-7-7.png"/><Relationship Id="rId8" Type="http://schemas.openxmlformats.org/officeDocument/2006/relationships/image" Target="../media/image-7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image" Target="../media/image-21-2.png"/><Relationship Id="rId3" Type="http://schemas.openxmlformats.org/officeDocument/2006/relationships/image" Target="../media/image-21-3.png"/><Relationship Id="rId4" Type="http://schemas.openxmlformats.org/officeDocument/2006/relationships/image" Target="../media/image-21-4.png"/><Relationship Id="rId5" Type="http://schemas.openxmlformats.org/officeDocument/2006/relationships/image" Target="../media/image-21-5.png"/><Relationship Id="rId6" Type="http://schemas.openxmlformats.org/officeDocument/2006/relationships/image" Target="../media/image-21-6.png"/><Relationship Id="rId7" Type="http://schemas.openxmlformats.org/officeDocument/2006/relationships/image" Target="../media/image-21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20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595360" y="-1463040"/>
            <a:ext cx="5029200" cy="5029200"/>
          </a:xfrm>
          <a:prstGeom prst="ellipse">
            <a:avLst/>
          </a:prstGeom>
          <a:solidFill>
            <a:srgbClr val="E8730C">
              <a:alpha val="2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9692640" y="3291840"/>
            <a:ext cx="3840480" cy="3840480"/>
          </a:xfrm>
          <a:prstGeom prst="ellipse">
            <a:avLst/>
          </a:prstGeom>
          <a:solidFill>
            <a:srgbClr val="1E3050">
              <a:alpha val="70000"/>
            </a:srgbClr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0" y="1737360"/>
            <a:ext cx="2011680" cy="201168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822960" y="128016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400" kern="0" dirty="0">
                <a:solidFill>
                  <a:srgbClr val="F6A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LEKSIONI 8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786384" y="1691640"/>
            <a:ext cx="7863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— kontrolli i versioneve</a:t>
            </a:r>
            <a:endParaRPr lang="en-US" sz="4200" dirty="0"/>
          </a:p>
        </p:txBody>
      </p:sp>
      <p:sp>
        <p:nvSpPr>
          <p:cNvPr id="7" name="Text 4"/>
          <p:cNvSpPr/>
          <p:nvPr/>
        </p:nvSpPr>
        <p:spPr>
          <a:xfrm>
            <a:off x="822960" y="265176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7D2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Pse na duhet · si funksionon · komandat që përdoren çdo ditë</a:t>
            </a:r>
            <a:endParaRPr lang="en-US" sz="1800" dirty="0"/>
          </a:p>
        </p:txBody>
      </p:sp>
      <p:sp>
        <p:nvSpPr>
          <p:cNvPr id="8" name="Shape 5"/>
          <p:cNvSpPr/>
          <p:nvPr/>
        </p:nvSpPr>
        <p:spPr>
          <a:xfrm>
            <a:off x="841248" y="3337560"/>
            <a:ext cx="6675120" cy="1284732"/>
          </a:xfrm>
          <a:prstGeom prst="roundRect">
            <a:avLst>
              <a:gd name="adj" fmla="val 6406"/>
            </a:avLst>
          </a:prstGeom>
          <a:solidFill>
            <a:srgbClr val="0D1520"/>
          </a:solidFill>
          <a:ln w="15875">
            <a:solidFill>
              <a:srgbClr val="2A3A50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1042416" y="3520440"/>
            <a:ext cx="100584" cy="100584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10" name="Shape 7"/>
          <p:cNvSpPr/>
          <p:nvPr/>
        </p:nvSpPr>
        <p:spPr>
          <a:xfrm>
            <a:off x="1243584" y="3520440"/>
            <a:ext cx="100584" cy="100584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11" name="Shape 8"/>
          <p:cNvSpPr/>
          <p:nvPr/>
        </p:nvSpPr>
        <p:spPr>
          <a:xfrm>
            <a:off x="1444752" y="3520440"/>
            <a:ext cx="100584" cy="100584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12" name="Text 9"/>
          <p:cNvSpPr/>
          <p:nvPr/>
        </p:nvSpPr>
        <p:spPr>
          <a:xfrm>
            <a:off x="1097280" y="3794760"/>
            <a:ext cx="6217920" cy="7178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300" b="1" dirty="0">
                <a:solidFill>
                  <a:srgbClr val="5FB3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</a:t>
            </a:r>
            <a:pPr indent="0" marL="0">
              <a:lnSpc>
                <a:spcPct val="106000"/>
              </a:lnSpc>
              <a:buNone/>
            </a:pPr>
            <a:r>
              <a:rPr lang="en-US" sz="1300" b="1" dirty="0">
                <a:solidFill>
                  <a:srgbClr val="E896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</a:t>
            </a:r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300" b="1" dirty="0">
                <a:solidFill>
                  <a:srgbClr val="F6A6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add</a:t>
            </a:r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Main.java</a:t>
            </a:r>
            <a:endParaRPr lang="en-US" sz="130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300" b="1" dirty="0">
                <a:solidFill>
                  <a:srgbClr val="5FB3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</a:t>
            </a:r>
            <a:pPr indent="0" marL="0">
              <a:lnSpc>
                <a:spcPct val="106000"/>
              </a:lnSpc>
              <a:buNone/>
            </a:pPr>
            <a:r>
              <a:rPr lang="en-US" sz="1300" b="1" dirty="0">
                <a:solidFill>
                  <a:srgbClr val="E896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</a:t>
            </a:r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300" b="1" dirty="0">
                <a:solidFill>
                  <a:srgbClr val="F6A6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commit</a:t>
            </a:r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C9A0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-m</a:t>
            </a:r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8FCB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"Shtova metoden mesatarja"</a:t>
            </a:r>
            <a:endParaRPr lang="en-US" sz="130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300" b="1" dirty="0">
                <a:solidFill>
                  <a:srgbClr val="5FB3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</a:t>
            </a:r>
            <a:pPr indent="0" marL="0">
              <a:lnSpc>
                <a:spcPct val="106000"/>
              </a:lnSpc>
              <a:buNone/>
            </a:pPr>
            <a:r>
              <a:rPr lang="en-US" sz="1300" b="1" dirty="0">
                <a:solidFill>
                  <a:srgbClr val="E896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</a:t>
            </a:r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300" b="1" dirty="0">
                <a:solidFill>
                  <a:srgbClr val="F6A6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push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841248" y="5029200"/>
            <a:ext cx="6949440" cy="0"/>
          </a:xfrm>
          <a:prstGeom prst="line">
            <a:avLst/>
          </a:prstGeom>
          <a:noFill/>
          <a:ln w="19050">
            <a:solidFill>
              <a:srgbClr val="E8730C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822960" y="52120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EB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Ligjëratë 70 minuta</a:t>
            </a:r>
            <a:pPr indent="0" marL="0">
              <a:buNone/>
            </a:pPr>
            <a:r>
              <a:rPr lang="en-US" sz="1300" dirty="0">
                <a:solidFill>
                  <a:srgbClr val="E8730C"/>
                </a:solidFill>
              </a:rPr>
              <a:t>     •     </a:t>
            </a:r>
            <a:pPr indent="0" marL="0">
              <a:buNone/>
            </a:pPr>
            <a:r>
              <a:rPr lang="en-US" sz="1300" dirty="0">
                <a:solidFill>
                  <a:srgbClr val="AEB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Nivel: Fillestar</a:t>
            </a:r>
            <a:pPr indent="0" marL="0">
              <a:buNone/>
            </a:pPr>
            <a:r>
              <a:rPr lang="en-US" sz="1300" dirty="0">
                <a:solidFill>
                  <a:srgbClr val="E8730C"/>
                </a:solidFill>
              </a:rPr>
              <a:t>     •     </a:t>
            </a:r>
            <a:pPr indent="0" marL="0">
              <a:buNone/>
            </a:pPr>
            <a:r>
              <a:rPr lang="en-US" sz="1300" dirty="0">
                <a:solidFill>
                  <a:srgbClr val="AEB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Informatikë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2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658368" cy="658368"/>
          </a:xfrm>
          <a:prstGeom prst="roundRect">
            <a:avLst>
              <a:gd name="adj" fmla="val 16667"/>
            </a:avLst>
          </a:prstGeom>
          <a:solidFill>
            <a:srgbClr val="E8730C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4944" y="603504"/>
            <a:ext cx="365760" cy="3657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71600" y="457200"/>
            <a:ext cx="9601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873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AGJENDA · 70 MINUTA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1371600" y="676656"/>
            <a:ext cx="10241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700" b="1" dirty="0">
                <a:solidFill>
                  <a:srgbClr val="14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Plani i leksionit</a:t>
            </a:r>
            <a:endParaRPr lang="en-US" sz="2700" dirty="0"/>
          </a:p>
        </p:txBody>
      </p:sp>
      <p:sp>
        <p:nvSpPr>
          <p:cNvPr id="6" name="Shape 3"/>
          <p:cNvSpPr/>
          <p:nvPr/>
        </p:nvSpPr>
        <p:spPr>
          <a:xfrm>
            <a:off x="548640" y="1600200"/>
            <a:ext cx="3602736" cy="2084832"/>
          </a:xfrm>
          <a:prstGeom prst="roundRect">
            <a:avLst>
              <a:gd name="adj" fmla="val 3509"/>
            </a:avLst>
          </a:prstGeom>
          <a:solidFill>
            <a:srgbClr val="FFFFFF"/>
          </a:solidFill>
          <a:ln w="12700">
            <a:solidFill>
              <a:srgbClr val="DBE2EA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804672" y="1856232"/>
            <a:ext cx="603504" cy="603504"/>
          </a:xfrm>
          <a:prstGeom prst="roundRect">
            <a:avLst>
              <a:gd name="adj" fmla="val 15152"/>
            </a:avLst>
          </a:prstGeom>
          <a:solidFill>
            <a:srgbClr val="142033"/>
          </a:solidFill>
          <a:ln/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2688" y="1984248"/>
            <a:ext cx="347472" cy="347472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3099816" y="1837944"/>
            <a:ext cx="868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b="1" dirty="0">
                <a:solidFill>
                  <a:srgbClr val="E873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08'</a:t>
            </a:r>
            <a:endParaRPr lang="en-US" sz="2400" dirty="0"/>
          </a:p>
        </p:txBody>
      </p:sp>
      <p:sp>
        <p:nvSpPr>
          <p:cNvPr id="10" name="Text 6"/>
          <p:cNvSpPr/>
          <p:nvPr/>
        </p:nvSpPr>
        <p:spPr>
          <a:xfrm>
            <a:off x="804672" y="2587752"/>
            <a:ext cx="314553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550" b="1" dirty="0">
                <a:solidFill>
                  <a:srgbClr val="14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Pse Git?</a:t>
            </a:r>
            <a:endParaRPr lang="en-US" sz="1550" dirty="0"/>
          </a:p>
        </p:txBody>
      </p:sp>
      <p:sp>
        <p:nvSpPr>
          <p:cNvPr id="11" name="Text 7"/>
          <p:cNvSpPr/>
          <p:nvPr/>
        </p:nvSpPr>
        <p:spPr>
          <a:xfrm>
            <a:off x="804672" y="3081528"/>
            <a:ext cx="314553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6A78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Problemi i versioneve &amp; kopjeve</a:t>
            </a:r>
            <a:endParaRPr lang="en-US" sz="1200" dirty="0"/>
          </a:p>
        </p:txBody>
      </p:sp>
      <p:sp>
        <p:nvSpPr>
          <p:cNvPr id="12" name="Shape 8"/>
          <p:cNvSpPr/>
          <p:nvPr/>
        </p:nvSpPr>
        <p:spPr>
          <a:xfrm>
            <a:off x="4370832" y="1600200"/>
            <a:ext cx="3602736" cy="2084832"/>
          </a:xfrm>
          <a:prstGeom prst="roundRect">
            <a:avLst>
              <a:gd name="adj" fmla="val 3509"/>
            </a:avLst>
          </a:prstGeom>
          <a:solidFill>
            <a:srgbClr val="FFFFFF"/>
          </a:solidFill>
          <a:ln w="12700">
            <a:solidFill>
              <a:srgbClr val="DBE2EA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13" name="Shape 9"/>
          <p:cNvSpPr/>
          <p:nvPr/>
        </p:nvSpPr>
        <p:spPr>
          <a:xfrm>
            <a:off x="4626864" y="1856232"/>
            <a:ext cx="603504" cy="603504"/>
          </a:xfrm>
          <a:prstGeom prst="roundRect">
            <a:avLst>
              <a:gd name="adj" fmla="val 15152"/>
            </a:avLst>
          </a:prstGeom>
          <a:solidFill>
            <a:srgbClr val="142033"/>
          </a:solidFill>
          <a:ln/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54880" y="1984248"/>
            <a:ext cx="347472" cy="347472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6922008" y="1837944"/>
            <a:ext cx="868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b="1" dirty="0">
                <a:solidFill>
                  <a:srgbClr val="E873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07'</a:t>
            </a:r>
            <a:endParaRPr lang="en-US" sz="2400" dirty="0"/>
          </a:p>
        </p:txBody>
      </p:sp>
      <p:sp>
        <p:nvSpPr>
          <p:cNvPr id="16" name="Text 11"/>
          <p:cNvSpPr/>
          <p:nvPr/>
        </p:nvSpPr>
        <p:spPr>
          <a:xfrm>
            <a:off x="4626864" y="2587752"/>
            <a:ext cx="314553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550" b="1" dirty="0">
                <a:solidFill>
                  <a:srgbClr val="14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vs GitHub</a:t>
            </a:r>
            <a:endParaRPr lang="en-US" sz="1550" dirty="0"/>
          </a:p>
        </p:txBody>
      </p:sp>
      <p:sp>
        <p:nvSpPr>
          <p:cNvPr id="17" name="Text 12"/>
          <p:cNvSpPr/>
          <p:nvPr/>
        </p:nvSpPr>
        <p:spPr>
          <a:xfrm>
            <a:off x="4626864" y="3081528"/>
            <a:ext cx="314553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6A78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Vegla dhe platforma</a:t>
            </a:r>
            <a:endParaRPr lang="en-US" sz="1200" dirty="0"/>
          </a:p>
        </p:txBody>
      </p:sp>
      <p:sp>
        <p:nvSpPr>
          <p:cNvPr id="18" name="Shape 13"/>
          <p:cNvSpPr/>
          <p:nvPr/>
        </p:nvSpPr>
        <p:spPr>
          <a:xfrm>
            <a:off x="8193024" y="1600200"/>
            <a:ext cx="3602736" cy="2084832"/>
          </a:xfrm>
          <a:prstGeom prst="roundRect">
            <a:avLst>
              <a:gd name="adj" fmla="val 3509"/>
            </a:avLst>
          </a:prstGeom>
          <a:solidFill>
            <a:srgbClr val="FFFFFF"/>
          </a:solidFill>
          <a:ln w="12700">
            <a:solidFill>
              <a:srgbClr val="DBE2EA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19" name="Shape 14"/>
          <p:cNvSpPr/>
          <p:nvPr/>
        </p:nvSpPr>
        <p:spPr>
          <a:xfrm>
            <a:off x="8449056" y="1856232"/>
            <a:ext cx="603504" cy="603504"/>
          </a:xfrm>
          <a:prstGeom prst="roundRect">
            <a:avLst>
              <a:gd name="adj" fmla="val 15152"/>
            </a:avLst>
          </a:prstGeom>
          <a:solidFill>
            <a:srgbClr val="142033"/>
          </a:solidFill>
          <a:ln/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77072" y="1984248"/>
            <a:ext cx="347472" cy="347472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10744200" y="1837944"/>
            <a:ext cx="868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b="1" dirty="0">
                <a:solidFill>
                  <a:srgbClr val="E873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10'</a:t>
            </a:r>
            <a:endParaRPr lang="en-US" sz="2400" dirty="0"/>
          </a:p>
        </p:txBody>
      </p:sp>
      <p:sp>
        <p:nvSpPr>
          <p:cNvPr id="22" name="Text 16"/>
          <p:cNvSpPr/>
          <p:nvPr/>
        </p:nvSpPr>
        <p:spPr>
          <a:xfrm>
            <a:off x="8449056" y="2587752"/>
            <a:ext cx="314553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550" b="1" dirty="0">
                <a:solidFill>
                  <a:srgbClr val="14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Instalimi &amp; tri zonat</a:t>
            </a:r>
            <a:endParaRPr lang="en-US" sz="1550" dirty="0"/>
          </a:p>
        </p:txBody>
      </p:sp>
      <p:sp>
        <p:nvSpPr>
          <p:cNvPr id="23" name="Text 17"/>
          <p:cNvSpPr/>
          <p:nvPr/>
        </p:nvSpPr>
        <p:spPr>
          <a:xfrm>
            <a:off x="8449056" y="3081528"/>
            <a:ext cx="314553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6A78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config, working/staging/repo</a:t>
            </a:r>
            <a:endParaRPr lang="en-US" sz="1200" dirty="0"/>
          </a:p>
        </p:txBody>
      </p:sp>
      <p:sp>
        <p:nvSpPr>
          <p:cNvPr id="24" name="Shape 18"/>
          <p:cNvSpPr/>
          <p:nvPr/>
        </p:nvSpPr>
        <p:spPr>
          <a:xfrm>
            <a:off x="548640" y="3941064"/>
            <a:ext cx="3602736" cy="2084832"/>
          </a:xfrm>
          <a:prstGeom prst="roundRect">
            <a:avLst>
              <a:gd name="adj" fmla="val 3509"/>
            </a:avLst>
          </a:prstGeom>
          <a:solidFill>
            <a:srgbClr val="FFFFFF"/>
          </a:solidFill>
          <a:ln w="12700">
            <a:solidFill>
              <a:srgbClr val="DBE2EA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804672" y="4197096"/>
            <a:ext cx="603504" cy="603504"/>
          </a:xfrm>
          <a:prstGeom prst="roundRect">
            <a:avLst>
              <a:gd name="adj" fmla="val 15152"/>
            </a:avLst>
          </a:prstGeom>
          <a:solidFill>
            <a:srgbClr val="142033"/>
          </a:solidFill>
          <a:ln/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32688" y="4325112"/>
            <a:ext cx="347472" cy="347472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3099816" y="4178808"/>
            <a:ext cx="868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b="1" dirty="0">
                <a:solidFill>
                  <a:srgbClr val="E873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15'</a:t>
            </a:r>
            <a:endParaRPr lang="en-US" sz="2400" dirty="0"/>
          </a:p>
        </p:txBody>
      </p:sp>
      <p:sp>
        <p:nvSpPr>
          <p:cNvPr id="28" name="Text 21"/>
          <p:cNvSpPr/>
          <p:nvPr/>
        </p:nvSpPr>
        <p:spPr>
          <a:xfrm>
            <a:off x="804672" y="4928616"/>
            <a:ext cx="314553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550" b="1" dirty="0">
                <a:solidFill>
                  <a:srgbClr val="14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Cikli i përditshëm</a:t>
            </a:r>
            <a:endParaRPr lang="en-US" sz="1550" dirty="0"/>
          </a:p>
        </p:txBody>
      </p:sp>
      <p:sp>
        <p:nvSpPr>
          <p:cNvPr id="29" name="Text 22"/>
          <p:cNvSpPr/>
          <p:nvPr/>
        </p:nvSpPr>
        <p:spPr>
          <a:xfrm>
            <a:off x="804672" y="5422392"/>
            <a:ext cx="314553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6A78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status, add, commit, log</a:t>
            </a:r>
            <a:endParaRPr lang="en-US" sz="1200" dirty="0"/>
          </a:p>
        </p:txBody>
      </p:sp>
      <p:sp>
        <p:nvSpPr>
          <p:cNvPr id="30" name="Shape 23"/>
          <p:cNvSpPr/>
          <p:nvPr/>
        </p:nvSpPr>
        <p:spPr>
          <a:xfrm>
            <a:off x="4370832" y="3941064"/>
            <a:ext cx="3602736" cy="2084832"/>
          </a:xfrm>
          <a:prstGeom prst="roundRect">
            <a:avLst>
              <a:gd name="adj" fmla="val 3509"/>
            </a:avLst>
          </a:prstGeom>
          <a:solidFill>
            <a:srgbClr val="FFFFFF"/>
          </a:solidFill>
          <a:ln w="12700">
            <a:solidFill>
              <a:srgbClr val="DBE2EA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31" name="Shape 24"/>
          <p:cNvSpPr/>
          <p:nvPr/>
        </p:nvSpPr>
        <p:spPr>
          <a:xfrm>
            <a:off x="4626864" y="4197096"/>
            <a:ext cx="603504" cy="603504"/>
          </a:xfrm>
          <a:prstGeom prst="roundRect">
            <a:avLst>
              <a:gd name="adj" fmla="val 15152"/>
            </a:avLst>
          </a:prstGeom>
          <a:solidFill>
            <a:srgbClr val="142033"/>
          </a:solidFill>
          <a:ln/>
        </p:spPr>
      </p:sp>
      <p:pic>
        <p:nvPicPr>
          <p:cNvPr id="32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54880" y="4325112"/>
            <a:ext cx="347472" cy="347472"/>
          </a:xfrm>
          <a:prstGeom prst="rect">
            <a:avLst/>
          </a:prstGeom>
        </p:spPr>
      </p:pic>
      <p:sp>
        <p:nvSpPr>
          <p:cNvPr id="33" name="Text 25"/>
          <p:cNvSpPr/>
          <p:nvPr/>
        </p:nvSpPr>
        <p:spPr>
          <a:xfrm>
            <a:off x="6922008" y="4178808"/>
            <a:ext cx="868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b="1" dirty="0">
                <a:solidFill>
                  <a:srgbClr val="E873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15'</a:t>
            </a:r>
            <a:endParaRPr lang="en-US" sz="2400" dirty="0"/>
          </a:p>
        </p:txBody>
      </p:sp>
      <p:sp>
        <p:nvSpPr>
          <p:cNvPr id="34" name="Text 26"/>
          <p:cNvSpPr/>
          <p:nvPr/>
        </p:nvSpPr>
        <p:spPr>
          <a:xfrm>
            <a:off x="4626864" y="4928616"/>
            <a:ext cx="314553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550" b="1" dirty="0">
                <a:solidFill>
                  <a:srgbClr val="14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Remote &amp; degët</a:t>
            </a:r>
            <a:endParaRPr lang="en-US" sz="1550" dirty="0"/>
          </a:p>
        </p:txBody>
      </p:sp>
      <p:sp>
        <p:nvSpPr>
          <p:cNvPr id="35" name="Text 27"/>
          <p:cNvSpPr/>
          <p:nvPr/>
        </p:nvSpPr>
        <p:spPr>
          <a:xfrm>
            <a:off x="4626864" y="5422392"/>
            <a:ext cx="314553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6A78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push, pull, branch, merge</a:t>
            </a:r>
            <a:endParaRPr lang="en-US" sz="1200" dirty="0"/>
          </a:p>
        </p:txBody>
      </p:sp>
      <p:sp>
        <p:nvSpPr>
          <p:cNvPr id="36" name="Shape 28"/>
          <p:cNvSpPr/>
          <p:nvPr/>
        </p:nvSpPr>
        <p:spPr>
          <a:xfrm>
            <a:off x="8193024" y="3941064"/>
            <a:ext cx="3602736" cy="2084832"/>
          </a:xfrm>
          <a:prstGeom prst="roundRect">
            <a:avLst>
              <a:gd name="adj" fmla="val 3509"/>
            </a:avLst>
          </a:prstGeom>
          <a:solidFill>
            <a:srgbClr val="FFFFFF"/>
          </a:solidFill>
          <a:ln w="12700">
            <a:solidFill>
              <a:srgbClr val="DBE2EA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37" name="Shape 29"/>
          <p:cNvSpPr/>
          <p:nvPr/>
        </p:nvSpPr>
        <p:spPr>
          <a:xfrm>
            <a:off x="8449056" y="4197096"/>
            <a:ext cx="603504" cy="603504"/>
          </a:xfrm>
          <a:prstGeom prst="roundRect">
            <a:avLst>
              <a:gd name="adj" fmla="val 15152"/>
            </a:avLst>
          </a:prstGeom>
          <a:solidFill>
            <a:srgbClr val="142033"/>
          </a:solidFill>
          <a:ln/>
        </p:spPr>
      </p:sp>
      <p:pic>
        <p:nvPicPr>
          <p:cNvPr id="38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577072" y="4325112"/>
            <a:ext cx="347472" cy="347472"/>
          </a:xfrm>
          <a:prstGeom prst="rect">
            <a:avLst/>
          </a:prstGeom>
        </p:spPr>
      </p:pic>
      <p:sp>
        <p:nvSpPr>
          <p:cNvPr id="39" name="Text 30"/>
          <p:cNvSpPr/>
          <p:nvPr/>
        </p:nvSpPr>
        <p:spPr>
          <a:xfrm>
            <a:off x="10744200" y="4178808"/>
            <a:ext cx="868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b="1" dirty="0">
                <a:solidFill>
                  <a:srgbClr val="E873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15'</a:t>
            </a:r>
            <a:endParaRPr lang="en-US" sz="2400" dirty="0"/>
          </a:p>
        </p:txBody>
      </p:sp>
      <p:sp>
        <p:nvSpPr>
          <p:cNvPr id="40" name="Text 31"/>
          <p:cNvSpPr/>
          <p:nvPr/>
        </p:nvSpPr>
        <p:spPr>
          <a:xfrm>
            <a:off x="8449056" y="4928616"/>
            <a:ext cx="314553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550" b="1" dirty="0">
                <a:solidFill>
                  <a:srgbClr val="14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Quiz + përmbledhje</a:t>
            </a:r>
            <a:endParaRPr lang="en-US" sz="1550" dirty="0"/>
          </a:p>
        </p:txBody>
      </p:sp>
      <p:sp>
        <p:nvSpPr>
          <p:cNvPr id="41" name="Text 32"/>
          <p:cNvSpPr/>
          <p:nvPr/>
        </p:nvSpPr>
        <p:spPr>
          <a:xfrm>
            <a:off x="8449056" y="5422392"/>
            <a:ext cx="314553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6A78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pyetje për vetëkontroll</a:t>
            </a:r>
            <a:endParaRPr lang="en-US" sz="1200" dirty="0"/>
          </a:p>
        </p:txBody>
      </p:sp>
      <p:sp>
        <p:nvSpPr>
          <p:cNvPr id="42" name="Text 33"/>
          <p:cNvSpPr/>
          <p:nvPr/>
        </p:nvSpPr>
        <p:spPr>
          <a:xfrm>
            <a:off x="11185855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A78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100" dirty="0"/>
          </a:p>
        </p:txBody>
      </p:sp>
      <p:sp>
        <p:nvSpPr>
          <p:cNvPr id="43" name="Text 34"/>
          <p:cNvSpPr/>
          <p:nvPr/>
        </p:nvSpPr>
        <p:spPr>
          <a:xfrm>
            <a:off x="548640" y="63550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A78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· Leksioni 8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658368" cy="658368"/>
          </a:xfrm>
          <a:prstGeom prst="roundRect">
            <a:avLst>
              <a:gd name="adj" fmla="val 16667"/>
            </a:avLst>
          </a:prstGeom>
          <a:solidFill>
            <a:srgbClr val="E8730C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4944" y="603504"/>
            <a:ext cx="365760" cy="3657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71600" y="457200"/>
            <a:ext cx="9601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873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PSE NA DUHET GIT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1371600" y="676656"/>
            <a:ext cx="10241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700" b="1" dirty="0">
                <a:solidFill>
                  <a:srgbClr val="14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Problemi: a ju duket i njohur?</a:t>
            </a:r>
            <a:endParaRPr lang="en-US" sz="2700" dirty="0"/>
          </a:p>
        </p:txBody>
      </p:sp>
      <p:sp>
        <p:nvSpPr>
          <p:cNvPr id="6" name="Shape 3"/>
          <p:cNvSpPr/>
          <p:nvPr/>
        </p:nvSpPr>
        <p:spPr>
          <a:xfrm>
            <a:off x="594360" y="1691640"/>
            <a:ext cx="5577840" cy="3200400"/>
          </a:xfrm>
          <a:prstGeom prst="roundRect">
            <a:avLst>
              <a:gd name="adj" fmla="val 2571"/>
            </a:avLst>
          </a:prstGeom>
          <a:solidFill>
            <a:srgbClr val="F2F5F9"/>
          </a:solidFill>
          <a:ln w="12700">
            <a:solidFill>
              <a:srgbClr val="DBE2EA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868680" y="187452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📁  Detyra_Java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1143000" y="2286000"/>
            <a:ext cx="4754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6313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📄  Main.java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1143000" y="2670048"/>
            <a:ext cx="4754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6313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📄  Main_v2.java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1143000" y="3054096"/>
            <a:ext cx="4754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6313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📄  Main_final.java</a:t>
            </a:r>
            <a:endParaRPr lang="en-US" sz="1250" dirty="0"/>
          </a:p>
        </p:txBody>
      </p:sp>
      <p:sp>
        <p:nvSpPr>
          <p:cNvPr id="11" name="Text 8"/>
          <p:cNvSpPr/>
          <p:nvPr/>
        </p:nvSpPr>
        <p:spPr>
          <a:xfrm>
            <a:off x="1143000" y="3438144"/>
            <a:ext cx="4754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B23A2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📄  Main_final_FINAL.java</a:t>
            </a:r>
            <a:endParaRPr lang="en-US" sz="1250" dirty="0"/>
          </a:p>
        </p:txBody>
      </p:sp>
      <p:sp>
        <p:nvSpPr>
          <p:cNvPr id="12" name="Text 9"/>
          <p:cNvSpPr/>
          <p:nvPr/>
        </p:nvSpPr>
        <p:spPr>
          <a:xfrm>
            <a:off x="1143000" y="3822192"/>
            <a:ext cx="4754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B23A2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📄  Main_final_FINAL_i_mire.java</a:t>
            </a:r>
            <a:endParaRPr lang="en-US" sz="1250" dirty="0"/>
          </a:p>
        </p:txBody>
      </p:sp>
      <p:sp>
        <p:nvSpPr>
          <p:cNvPr id="13" name="Text 10"/>
          <p:cNvSpPr/>
          <p:nvPr/>
        </p:nvSpPr>
        <p:spPr>
          <a:xfrm>
            <a:off x="1143000" y="4206240"/>
            <a:ext cx="4754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B23A2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📄  Main_kopje_e_Anes.java</a:t>
            </a:r>
            <a:endParaRPr lang="en-US" sz="1250" dirty="0"/>
          </a:p>
        </p:txBody>
      </p:sp>
      <p:sp>
        <p:nvSpPr>
          <p:cNvPr id="14" name="Text 11"/>
          <p:cNvSpPr/>
          <p:nvPr/>
        </p:nvSpPr>
        <p:spPr>
          <a:xfrm>
            <a:off x="6537960" y="1783080"/>
            <a:ext cx="507492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500"/>
              </a:spcAft>
              <a:buSzPct val="100000"/>
              <a:buChar char="•"/>
            </a:pPr>
            <a:r>
              <a:rPr lang="en-US" sz="1350" b="1" dirty="0">
                <a:solidFill>
                  <a:srgbClr val="2631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Cili është versioni i saktë?</a:t>
            </a:r>
            <a:endParaRPr lang="en-US" sz="1350" dirty="0"/>
          </a:p>
          <a:p>
            <a:pPr marL="203200" indent="-203200">
              <a:spcAft>
                <a:spcPts val="500"/>
              </a:spcAft>
              <a:buSzPct val="100000"/>
              <a:buChar char="•"/>
            </a:pPr>
            <a:r>
              <a:rPr lang="en-US" sz="1350" dirty="0">
                <a:solidFill>
                  <a:srgbClr val="2631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Askush s'e di — as ju pas dy javësh.</a:t>
            </a:r>
            <a:endParaRPr lang="en-US" sz="1350" dirty="0"/>
          </a:p>
          <a:p>
            <a:pPr marL="203200" indent="-203200">
              <a:spcAft>
                <a:spcPts val="500"/>
              </a:spcAft>
              <a:buSzPct val="100000"/>
              <a:buChar char="•"/>
            </a:pPr>
            <a:r>
              <a:rPr lang="en-US" sz="1350" b="1" dirty="0">
                <a:solidFill>
                  <a:srgbClr val="2631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Çfarë ndryshoi mes tyre?</a:t>
            </a:r>
            <a:endParaRPr lang="en-US" sz="1350" dirty="0"/>
          </a:p>
          <a:p>
            <a:pPr marL="203200" indent="-203200">
              <a:spcAft>
                <a:spcPts val="500"/>
              </a:spcAft>
              <a:buSzPct val="100000"/>
              <a:buChar char="•"/>
            </a:pPr>
            <a:r>
              <a:rPr lang="en-US" sz="1350" dirty="0">
                <a:solidFill>
                  <a:srgbClr val="2631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Duhet t'i krahasosh me sy, rresht për rresht.</a:t>
            </a:r>
            <a:endParaRPr lang="en-US" sz="1350" dirty="0"/>
          </a:p>
          <a:p>
            <a:pPr marL="203200" indent="-203200">
              <a:spcAft>
                <a:spcPts val="500"/>
              </a:spcAft>
              <a:buSzPct val="100000"/>
              <a:buChar char="•"/>
            </a:pPr>
            <a:r>
              <a:rPr lang="en-US" sz="1350" b="1" dirty="0">
                <a:solidFill>
                  <a:srgbClr val="2631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punojmë bashkë në një projekt?</a:t>
            </a:r>
            <a:endParaRPr lang="en-US" sz="1350" dirty="0"/>
          </a:p>
          <a:p>
            <a:pPr marL="203200" indent="-203200">
              <a:spcAft>
                <a:spcPts val="500"/>
              </a:spcAft>
              <a:buSzPct val="100000"/>
              <a:buChar char="•"/>
            </a:pPr>
            <a:r>
              <a:rPr lang="en-US" sz="1350" dirty="0">
                <a:solidFill>
                  <a:srgbClr val="2631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Kopje me email, dosje të përziera, punë e humbur.</a:t>
            </a:r>
            <a:endParaRPr lang="en-US" sz="1350" dirty="0"/>
          </a:p>
          <a:p>
            <a:pPr marL="203200" indent="-203200">
              <a:spcAft>
                <a:spcPts val="500"/>
              </a:spcAft>
              <a:buSzPct val="100000"/>
              <a:buChar char="•"/>
            </a:pPr>
            <a:r>
              <a:rPr lang="en-US" sz="1350" b="1" dirty="0">
                <a:solidFill>
                  <a:srgbClr val="2631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 prisha kodin — si kthehem mbrapsht?</a:t>
            </a:r>
            <a:endParaRPr lang="en-US" sz="1350" dirty="0"/>
          </a:p>
          <a:p>
            <a:pPr marL="203200" indent="-203200">
              <a:spcAft>
                <a:spcPts val="500"/>
              </a:spcAft>
              <a:buSzPct val="100000"/>
              <a:buChar char="•"/>
            </a:pPr>
            <a:r>
              <a:rPr lang="en-US" sz="1350" dirty="0">
                <a:solidFill>
                  <a:srgbClr val="2631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 histori, s'ka kthim.</a:t>
            </a:r>
            <a:endParaRPr lang="en-US" sz="1350" dirty="0"/>
          </a:p>
        </p:txBody>
      </p:sp>
      <p:sp>
        <p:nvSpPr>
          <p:cNvPr id="15" name="Shape 12"/>
          <p:cNvSpPr/>
          <p:nvPr/>
        </p:nvSpPr>
        <p:spPr>
          <a:xfrm>
            <a:off x="594360" y="5120640"/>
            <a:ext cx="11018520" cy="960120"/>
          </a:xfrm>
          <a:prstGeom prst="roundRect">
            <a:avLst>
              <a:gd name="adj" fmla="val 8571"/>
            </a:avLst>
          </a:prstGeom>
          <a:solidFill>
            <a:srgbClr val="FBEDDD"/>
          </a:solidFill>
          <a:ln/>
        </p:spPr>
      </p:sp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" y="5394960"/>
            <a:ext cx="365760" cy="365760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1371600" y="5212080"/>
            <a:ext cx="10058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E873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e zgjidh të gjithë listën:  </a:t>
            </a:r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2631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një dosje e vetme, me histori të plotë, ku çdo ndryshim ruhet, krahasohet dhe kthehet mbrapsht kur duhet.</a:t>
            </a:r>
            <a:endParaRPr lang="en-US" sz="1400" dirty="0"/>
          </a:p>
        </p:txBody>
      </p:sp>
      <p:sp>
        <p:nvSpPr>
          <p:cNvPr id="18" name="Text 14"/>
          <p:cNvSpPr/>
          <p:nvPr/>
        </p:nvSpPr>
        <p:spPr>
          <a:xfrm>
            <a:off x="11185855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A78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100" dirty="0"/>
          </a:p>
        </p:txBody>
      </p:sp>
      <p:sp>
        <p:nvSpPr>
          <p:cNvPr id="19" name="Text 15"/>
          <p:cNvSpPr/>
          <p:nvPr/>
        </p:nvSpPr>
        <p:spPr>
          <a:xfrm>
            <a:off x="548640" y="63550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A78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· Leksioni 8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658368" cy="658368"/>
          </a:xfrm>
          <a:prstGeom prst="roundRect">
            <a:avLst>
              <a:gd name="adj" fmla="val 16667"/>
            </a:avLst>
          </a:prstGeom>
          <a:solidFill>
            <a:srgbClr val="E8730C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4944" y="603504"/>
            <a:ext cx="365760" cy="3657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71600" y="457200"/>
            <a:ext cx="9601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873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SISTEMI I KONTROLLIT TË VERSIONEVE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1371600" y="676656"/>
            <a:ext cx="10241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700" b="1" dirty="0">
                <a:solidFill>
                  <a:srgbClr val="14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Çfarë është Git?</a:t>
            </a:r>
            <a:endParaRPr lang="en-US" sz="2700" dirty="0"/>
          </a:p>
        </p:txBody>
      </p:sp>
      <p:sp>
        <p:nvSpPr>
          <p:cNvPr id="6" name="Text 3"/>
          <p:cNvSpPr/>
          <p:nvPr/>
        </p:nvSpPr>
        <p:spPr>
          <a:xfrm>
            <a:off x="594360" y="155448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631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është një sistem që ruan HISTORINË e projektit tuaj: kush ndryshoi çfarë, kur dhe pse.</a:t>
            </a:r>
            <a:endParaRPr lang="en-US" sz="1550" dirty="0"/>
          </a:p>
        </p:txBody>
      </p:sp>
      <p:sp>
        <p:nvSpPr>
          <p:cNvPr id="7" name="Shape 4"/>
          <p:cNvSpPr/>
          <p:nvPr/>
        </p:nvSpPr>
        <p:spPr>
          <a:xfrm>
            <a:off x="594360" y="2148840"/>
            <a:ext cx="5349240" cy="1481328"/>
          </a:xfrm>
          <a:prstGeom prst="roundRect">
            <a:avLst>
              <a:gd name="adj" fmla="val 5556"/>
            </a:avLst>
          </a:prstGeom>
          <a:solidFill>
            <a:srgbClr val="F2F5F9"/>
          </a:solidFill>
          <a:ln w="12700">
            <a:solidFill>
              <a:srgbClr val="DBE2EA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868680" y="2560320"/>
            <a:ext cx="621792" cy="621792"/>
          </a:xfrm>
          <a:prstGeom prst="roundRect">
            <a:avLst>
              <a:gd name="adj" fmla="val 14706"/>
            </a:avLst>
          </a:prstGeom>
          <a:solidFill>
            <a:srgbClr val="E8730C"/>
          </a:soli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128" y="2715768"/>
            <a:ext cx="310896" cy="310896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673352" y="2404872"/>
            <a:ext cx="4114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 e plotë</a:t>
            </a:r>
            <a:endParaRPr lang="en-US" sz="1600" dirty="0"/>
          </a:p>
        </p:txBody>
      </p:sp>
      <p:sp>
        <p:nvSpPr>
          <p:cNvPr id="11" name="Text 7"/>
          <p:cNvSpPr/>
          <p:nvPr/>
        </p:nvSpPr>
        <p:spPr>
          <a:xfrm>
            <a:off x="1673352" y="2807208"/>
            <a:ext cx="4114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6A78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Çdo gjendje e projektit ruhet dhe mund të rikthehet — makina e kohës për kodin.</a:t>
            </a:r>
            <a:endParaRPr lang="en-US" sz="1250" dirty="0"/>
          </a:p>
        </p:txBody>
      </p:sp>
      <p:sp>
        <p:nvSpPr>
          <p:cNvPr id="12" name="Shape 8"/>
          <p:cNvSpPr/>
          <p:nvPr/>
        </p:nvSpPr>
        <p:spPr>
          <a:xfrm>
            <a:off x="6217920" y="2148840"/>
            <a:ext cx="5349240" cy="1481328"/>
          </a:xfrm>
          <a:prstGeom prst="roundRect">
            <a:avLst>
              <a:gd name="adj" fmla="val 5556"/>
            </a:avLst>
          </a:prstGeom>
          <a:solidFill>
            <a:srgbClr val="F2F5F9"/>
          </a:solidFill>
          <a:ln w="12700">
            <a:solidFill>
              <a:srgbClr val="DBE2EA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13" name="Shape 9"/>
          <p:cNvSpPr/>
          <p:nvPr/>
        </p:nvSpPr>
        <p:spPr>
          <a:xfrm>
            <a:off x="6492240" y="2560320"/>
            <a:ext cx="621792" cy="621792"/>
          </a:xfrm>
          <a:prstGeom prst="roundRect">
            <a:avLst>
              <a:gd name="adj" fmla="val 14706"/>
            </a:avLst>
          </a:prstGeom>
          <a:solidFill>
            <a:srgbClr val="E8730C"/>
          </a:solidFill>
          <a:ln/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47688" y="2715768"/>
            <a:ext cx="310896" cy="310896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7296912" y="2404872"/>
            <a:ext cx="4114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Punë në grup</a:t>
            </a:r>
            <a:endParaRPr lang="en-US" sz="1600" dirty="0"/>
          </a:p>
        </p:txBody>
      </p:sp>
      <p:sp>
        <p:nvSpPr>
          <p:cNvPr id="16" name="Text 11"/>
          <p:cNvSpPr/>
          <p:nvPr/>
        </p:nvSpPr>
        <p:spPr>
          <a:xfrm>
            <a:off x="7296912" y="2807208"/>
            <a:ext cx="4114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6A78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Disa vetë punojnë njëkohësisht pa i prishur punën njëri-tjetrit.</a:t>
            </a:r>
            <a:endParaRPr lang="en-US" sz="1250" dirty="0"/>
          </a:p>
        </p:txBody>
      </p:sp>
      <p:sp>
        <p:nvSpPr>
          <p:cNvPr id="17" name="Shape 12"/>
          <p:cNvSpPr/>
          <p:nvPr/>
        </p:nvSpPr>
        <p:spPr>
          <a:xfrm>
            <a:off x="594360" y="3840480"/>
            <a:ext cx="5349240" cy="1481328"/>
          </a:xfrm>
          <a:prstGeom prst="roundRect">
            <a:avLst>
              <a:gd name="adj" fmla="val 5556"/>
            </a:avLst>
          </a:prstGeom>
          <a:solidFill>
            <a:srgbClr val="F2F5F9"/>
          </a:solidFill>
          <a:ln w="12700">
            <a:solidFill>
              <a:srgbClr val="DBE2EA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18" name="Shape 13"/>
          <p:cNvSpPr/>
          <p:nvPr/>
        </p:nvSpPr>
        <p:spPr>
          <a:xfrm>
            <a:off x="868680" y="4251960"/>
            <a:ext cx="621792" cy="621792"/>
          </a:xfrm>
          <a:prstGeom prst="roundRect">
            <a:avLst>
              <a:gd name="adj" fmla="val 14706"/>
            </a:avLst>
          </a:prstGeom>
          <a:solidFill>
            <a:srgbClr val="E8730C"/>
          </a:solidFill>
          <a:ln/>
        </p:spPr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4128" y="4407408"/>
            <a:ext cx="310896" cy="310896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1673352" y="4096512"/>
            <a:ext cx="4114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Degët (branches)</a:t>
            </a:r>
            <a:endParaRPr lang="en-US" sz="1600" dirty="0"/>
          </a:p>
        </p:txBody>
      </p:sp>
      <p:sp>
        <p:nvSpPr>
          <p:cNvPr id="21" name="Text 15"/>
          <p:cNvSpPr/>
          <p:nvPr/>
        </p:nvSpPr>
        <p:spPr>
          <a:xfrm>
            <a:off x="1673352" y="4498848"/>
            <a:ext cx="4114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6A78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Provo ide të reja pa prekur versionin që funksionon.</a:t>
            </a:r>
            <a:endParaRPr lang="en-US" sz="1250" dirty="0"/>
          </a:p>
        </p:txBody>
      </p:sp>
      <p:sp>
        <p:nvSpPr>
          <p:cNvPr id="22" name="Shape 16"/>
          <p:cNvSpPr/>
          <p:nvPr/>
        </p:nvSpPr>
        <p:spPr>
          <a:xfrm>
            <a:off x="6217920" y="3840480"/>
            <a:ext cx="5349240" cy="1481328"/>
          </a:xfrm>
          <a:prstGeom prst="roundRect">
            <a:avLst>
              <a:gd name="adj" fmla="val 5556"/>
            </a:avLst>
          </a:prstGeom>
          <a:solidFill>
            <a:srgbClr val="F2F5F9"/>
          </a:solidFill>
          <a:ln w="12700">
            <a:solidFill>
              <a:srgbClr val="DBE2EA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23" name="Shape 17"/>
          <p:cNvSpPr/>
          <p:nvPr/>
        </p:nvSpPr>
        <p:spPr>
          <a:xfrm>
            <a:off x="6492240" y="4251960"/>
            <a:ext cx="621792" cy="621792"/>
          </a:xfrm>
          <a:prstGeom prst="roundRect">
            <a:avLst>
              <a:gd name="adj" fmla="val 14706"/>
            </a:avLst>
          </a:prstGeom>
          <a:solidFill>
            <a:srgbClr val="E8730C"/>
          </a:solidFill>
          <a:ln/>
        </p:spPr>
      </p:sp>
      <p:pic>
        <p:nvPicPr>
          <p:cNvPr id="24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47688" y="4407408"/>
            <a:ext cx="310896" cy="310896"/>
          </a:xfrm>
          <a:prstGeom prst="rect">
            <a:avLst/>
          </a:prstGeom>
        </p:spPr>
      </p:pic>
      <p:sp>
        <p:nvSpPr>
          <p:cNvPr id="25" name="Text 18"/>
          <p:cNvSpPr/>
          <p:nvPr/>
        </p:nvSpPr>
        <p:spPr>
          <a:xfrm>
            <a:off x="7296912" y="4096512"/>
            <a:ext cx="4114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Kopje sigurie</a:t>
            </a:r>
            <a:endParaRPr lang="en-US" sz="1600" dirty="0"/>
          </a:p>
        </p:txBody>
      </p:sp>
      <p:sp>
        <p:nvSpPr>
          <p:cNvPr id="26" name="Text 19"/>
          <p:cNvSpPr/>
          <p:nvPr/>
        </p:nvSpPr>
        <p:spPr>
          <a:xfrm>
            <a:off x="7296912" y="4498848"/>
            <a:ext cx="4114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6A78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Kodi jeton edhe në server — laptopi që digjet s'është më tragjedi.</a:t>
            </a:r>
            <a:endParaRPr lang="en-US" sz="1250" dirty="0"/>
          </a:p>
        </p:txBody>
      </p:sp>
      <p:sp>
        <p:nvSpPr>
          <p:cNvPr id="27" name="Text 20"/>
          <p:cNvSpPr/>
          <p:nvPr/>
        </p:nvSpPr>
        <p:spPr>
          <a:xfrm>
            <a:off x="594360" y="5669280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A78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u krijua në 2005 nga Linus Torvalds (krijuesi i Linux-it) — sot është standardi botëror.</a:t>
            </a:r>
            <a:endParaRPr lang="en-US" sz="1300" dirty="0"/>
          </a:p>
        </p:txBody>
      </p:sp>
      <p:sp>
        <p:nvSpPr>
          <p:cNvPr id="28" name="Text 21"/>
          <p:cNvSpPr/>
          <p:nvPr/>
        </p:nvSpPr>
        <p:spPr>
          <a:xfrm>
            <a:off x="11185855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A78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100" dirty="0"/>
          </a:p>
        </p:txBody>
      </p:sp>
      <p:sp>
        <p:nvSpPr>
          <p:cNvPr id="29" name="Text 22"/>
          <p:cNvSpPr/>
          <p:nvPr/>
        </p:nvSpPr>
        <p:spPr>
          <a:xfrm>
            <a:off x="548640" y="63550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A78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· Leksioni 8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658368" cy="658368"/>
          </a:xfrm>
          <a:prstGeom prst="roundRect">
            <a:avLst>
              <a:gd name="adj" fmla="val 16667"/>
            </a:avLst>
          </a:prstGeom>
          <a:solidFill>
            <a:srgbClr val="E8730C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4944" y="603504"/>
            <a:ext cx="365760" cy="3657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71600" y="457200"/>
            <a:ext cx="9601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873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NGATËRRIMI #1 I FILLESTARËVE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1371600" y="676656"/>
            <a:ext cx="10241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700" b="1" dirty="0">
                <a:solidFill>
                  <a:srgbClr val="14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kundrejt GitHub — mos i ngatërroni!</a:t>
            </a:r>
            <a:endParaRPr lang="en-US" sz="2700" dirty="0"/>
          </a:p>
        </p:txBody>
      </p:sp>
      <p:sp>
        <p:nvSpPr>
          <p:cNvPr id="6" name="Shape 3"/>
          <p:cNvSpPr/>
          <p:nvPr/>
        </p:nvSpPr>
        <p:spPr>
          <a:xfrm>
            <a:off x="594360" y="1691640"/>
            <a:ext cx="5349240" cy="3703320"/>
          </a:xfrm>
          <a:prstGeom prst="roundRect">
            <a:avLst>
              <a:gd name="adj" fmla="val 2469"/>
            </a:avLst>
          </a:prstGeom>
          <a:solidFill>
            <a:srgbClr val="F2F5F9"/>
          </a:solidFill>
          <a:ln w="12700">
            <a:solidFill>
              <a:srgbClr val="DBE2EA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594360" y="1691640"/>
            <a:ext cx="5349240" cy="658368"/>
          </a:xfrm>
          <a:prstGeom prst="roundRect">
            <a:avLst>
              <a:gd name="adj" fmla="val 13889"/>
            </a:avLst>
          </a:prstGeom>
          <a:solidFill>
            <a:srgbClr val="142033"/>
          </a:solidFill>
          <a:ln/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" y="1856232"/>
            <a:ext cx="329184" cy="329184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325880" y="1691640"/>
            <a:ext cx="44805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 </a:t>
            </a:r>
            <a:pPr indent="0" marL="0">
              <a:buNone/>
            </a:pPr>
            <a:r>
              <a:rPr lang="en-US" sz="1250" dirty="0">
                <a:solidFill>
                  <a:srgbClr val="C7D2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programi në kompjuterin tuaj</a:t>
            </a:r>
            <a:endParaRPr lang="en-US" sz="1800" dirty="0"/>
          </a:p>
        </p:txBody>
      </p:sp>
      <p:sp>
        <p:nvSpPr>
          <p:cNvPr id="10" name="Text 6"/>
          <p:cNvSpPr/>
          <p:nvPr/>
        </p:nvSpPr>
        <p:spPr>
          <a:xfrm>
            <a:off x="914400" y="2560320"/>
            <a:ext cx="4754880" cy="2697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1100"/>
              </a:spcAft>
              <a:buSzPct val="100000"/>
              <a:buChar char="•"/>
            </a:pPr>
            <a:r>
              <a:rPr lang="en-US" sz="1350" dirty="0">
                <a:solidFill>
                  <a:srgbClr val="2631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Vegël që instalohet lokalisht</a:t>
            </a:r>
            <a:endParaRPr lang="en-US" sz="1350" dirty="0"/>
          </a:p>
          <a:p>
            <a:pPr marL="177800" indent="-177800">
              <a:spcAft>
                <a:spcPts val="1100"/>
              </a:spcAft>
              <a:buSzPct val="100000"/>
              <a:buChar char="•"/>
            </a:pPr>
            <a:r>
              <a:rPr lang="en-US" sz="1350" dirty="0">
                <a:solidFill>
                  <a:srgbClr val="2631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Punon edhe pa internet</a:t>
            </a:r>
            <a:endParaRPr lang="en-US" sz="1350" dirty="0"/>
          </a:p>
          <a:p>
            <a:pPr marL="177800" indent="-177800">
              <a:spcAft>
                <a:spcPts val="1100"/>
              </a:spcAft>
              <a:buSzPct val="100000"/>
              <a:buChar char="•"/>
            </a:pPr>
            <a:r>
              <a:rPr lang="en-US" sz="1350" dirty="0">
                <a:solidFill>
                  <a:srgbClr val="2631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Ruan historinë në dosjen .git</a:t>
            </a:r>
            <a:endParaRPr lang="en-US" sz="1350" dirty="0"/>
          </a:p>
          <a:p>
            <a:pPr marL="177800" indent="-177800">
              <a:spcAft>
                <a:spcPts val="1100"/>
              </a:spcAft>
              <a:buSzPct val="100000"/>
              <a:buChar char="•"/>
            </a:pPr>
            <a:r>
              <a:rPr lang="en-US" sz="1350" dirty="0">
                <a:solidFill>
                  <a:srgbClr val="2631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Falas dhe me kod të hapur</a:t>
            </a:r>
            <a:endParaRPr lang="en-US" sz="1350" dirty="0"/>
          </a:p>
        </p:txBody>
      </p:sp>
      <p:sp>
        <p:nvSpPr>
          <p:cNvPr id="11" name="Shape 7"/>
          <p:cNvSpPr/>
          <p:nvPr/>
        </p:nvSpPr>
        <p:spPr>
          <a:xfrm>
            <a:off x="6217920" y="1691640"/>
            <a:ext cx="5349240" cy="3703320"/>
          </a:xfrm>
          <a:prstGeom prst="roundRect">
            <a:avLst>
              <a:gd name="adj" fmla="val 2469"/>
            </a:avLst>
          </a:prstGeom>
          <a:solidFill>
            <a:srgbClr val="F2F5F9"/>
          </a:solidFill>
          <a:ln w="12700">
            <a:solidFill>
              <a:srgbClr val="DBE2EA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6217920" y="1691640"/>
            <a:ext cx="5349240" cy="658368"/>
          </a:xfrm>
          <a:prstGeom prst="roundRect">
            <a:avLst>
              <a:gd name="adj" fmla="val 13889"/>
            </a:avLst>
          </a:prstGeom>
          <a:solidFill>
            <a:srgbClr val="E8730C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92240" y="1856232"/>
            <a:ext cx="329184" cy="329184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6949440" y="1691640"/>
            <a:ext cx="44805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 </a:t>
            </a:r>
            <a:pPr indent="0" marL="0">
              <a:buNone/>
            </a:pPr>
            <a:r>
              <a:rPr lang="en-US" sz="1250" dirty="0">
                <a:solidFill>
                  <a:srgbClr val="FBE3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faqja ku ruhet projekti online</a:t>
            </a:r>
            <a:endParaRPr lang="en-US" sz="1800" dirty="0"/>
          </a:p>
        </p:txBody>
      </p:sp>
      <p:sp>
        <p:nvSpPr>
          <p:cNvPr id="15" name="Text 10"/>
          <p:cNvSpPr/>
          <p:nvPr/>
        </p:nvSpPr>
        <p:spPr>
          <a:xfrm>
            <a:off x="6537960" y="2560320"/>
            <a:ext cx="4754880" cy="2697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1100"/>
              </a:spcAft>
              <a:buSzPct val="100000"/>
              <a:buChar char="•"/>
            </a:pPr>
            <a:r>
              <a:rPr lang="en-US" sz="1350" dirty="0">
                <a:solidFill>
                  <a:srgbClr val="2631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Platformë në internet (si Drive për kod)</a:t>
            </a:r>
            <a:endParaRPr lang="en-US" sz="1350" dirty="0"/>
          </a:p>
          <a:p>
            <a:pPr marL="177800" indent="-177800">
              <a:spcAft>
                <a:spcPts val="1100"/>
              </a:spcAft>
              <a:buSzPct val="100000"/>
              <a:buChar char="•"/>
            </a:pPr>
            <a:r>
              <a:rPr lang="en-US" sz="1350" dirty="0">
                <a:solidFill>
                  <a:srgbClr val="2631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Kërkon llogari dhe internet</a:t>
            </a:r>
            <a:endParaRPr lang="en-US" sz="1350" dirty="0"/>
          </a:p>
          <a:p>
            <a:pPr marL="177800" indent="-177800">
              <a:spcAft>
                <a:spcPts val="1100"/>
              </a:spcAft>
              <a:buSzPct val="100000"/>
              <a:buChar char="•"/>
            </a:pPr>
            <a:r>
              <a:rPr lang="en-US" sz="1350" dirty="0">
                <a:solidFill>
                  <a:srgbClr val="2631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Aty bëhet push/pull mes kolegëve</a:t>
            </a:r>
            <a:endParaRPr lang="en-US" sz="1350" dirty="0"/>
          </a:p>
          <a:p>
            <a:pPr marL="177800" indent="-177800">
              <a:spcAft>
                <a:spcPts val="1100"/>
              </a:spcAft>
              <a:buSzPct val="100000"/>
              <a:buChar char="•"/>
            </a:pPr>
            <a:r>
              <a:rPr lang="en-US" sz="1350" dirty="0">
                <a:solidFill>
                  <a:srgbClr val="2631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Alternativa: GitLab, Bitbucket</a:t>
            </a:r>
            <a:endParaRPr lang="en-US" sz="1350" dirty="0"/>
          </a:p>
        </p:txBody>
      </p:sp>
      <p:sp>
        <p:nvSpPr>
          <p:cNvPr id="16" name="Shape 11"/>
          <p:cNvSpPr/>
          <p:nvPr/>
        </p:nvSpPr>
        <p:spPr>
          <a:xfrm>
            <a:off x="594360" y="5577840"/>
            <a:ext cx="11018520" cy="658368"/>
          </a:xfrm>
          <a:prstGeom prst="roundRect">
            <a:avLst>
              <a:gd name="adj" fmla="val 11111"/>
            </a:avLst>
          </a:prstGeom>
          <a:solidFill>
            <a:srgbClr val="FBEDDD"/>
          </a:solidFill>
          <a:ln/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8680" y="5742432"/>
            <a:ext cx="347472" cy="347472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1353312" y="5614416"/>
            <a:ext cx="100584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E873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Analogji:  </a:t>
            </a:r>
            <a:pPr indent="0" marL="0">
              <a:buNone/>
            </a:pPr>
            <a:r>
              <a:rPr lang="en-US" sz="1350" dirty="0">
                <a:solidFill>
                  <a:srgbClr val="2631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është kamera; GitHub është Instagrami ku i ngarkoni fotot. Mund të fotografoni pa e ngarkuar askund.</a:t>
            </a:r>
            <a:endParaRPr lang="en-US" sz="1350" dirty="0"/>
          </a:p>
        </p:txBody>
      </p:sp>
      <p:sp>
        <p:nvSpPr>
          <p:cNvPr id="19" name="Text 13"/>
          <p:cNvSpPr/>
          <p:nvPr/>
        </p:nvSpPr>
        <p:spPr>
          <a:xfrm>
            <a:off x="11185855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A78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100" dirty="0"/>
          </a:p>
        </p:txBody>
      </p:sp>
      <p:sp>
        <p:nvSpPr>
          <p:cNvPr id="20" name="Text 14"/>
          <p:cNvSpPr/>
          <p:nvPr/>
        </p:nvSpPr>
        <p:spPr>
          <a:xfrm>
            <a:off x="548640" y="63550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A78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· Leksioni 8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420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" y="502920"/>
            <a:ext cx="658368" cy="658368"/>
          </a:xfrm>
          <a:prstGeom prst="roundRect">
            <a:avLst>
              <a:gd name="adj" fmla="val 16667"/>
            </a:avLst>
          </a:prstGeom>
          <a:solidFill>
            <a:srgbClr val="E8730C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2104" y="649224"/>
            <a:ext cx="365760" cy="3657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508760" y="5029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6A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NJË HERË NË JETË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1508760" y="749808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Instalimi dhe konfigurimi i parë</a:t>
            </a:r>
            <a:endParaRPr lang="en-US" sz="2800" dirty="0"/>
          </a:p>
        </p:txBody>
      </p:sp>
      <p:sp>
        <p:nvSpPr>
          <p:cNvPr id="6" name="Shape 3"/>
          <p:cNvSpPr/>
          <p:nvPr/>
        </p:nvSpPr>
        <p:spPr>
          <a:xfrm>
            <a:off x="914400" y="1737360"/>
            <a:ext cx="6858000" cy="3108960"/>
          </a:xfrm>
          <a:prstGeom prst="roundRect">
            <a:avLst>
              <a:gd name="adj" fmla="val 2647"/>
            </a:avLst>
          </a:prstGeom>
          <a:solidFill>
            <a:srgbClr val="0D1520"/>
          </a:solidFill>
          <a:ln w="15875">
            <a:solidFill>
              <a:srgbClr val="2A3A50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1115568" y="1920240"/>
            <a:ext cx="100584" cy="100584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8" name="Shape 5"/>
          <p:cNvSpPr/>
          <p:nvPr/>
        </p:nvSpPr>
        <p:spPr>
          <a:xfrm>
            <a:off x="1316736" y="1920240"/>
            <a:ext cx="100584" cy="100584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9" name="Shape 6"/>
          <p:cNvSpPr/>
          <p:nvPr/>
        </p:nvSpPr>
        <p:spPr>
          <a:xfrm>
            <a:off x="1517904" y="1920240"/>
            <a:ext cx="100584" cy="100584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10" name="Text 7"/>
          <p:cNvSpPr/>
          <p:nvPr/>
        </p:nvSpPr>
        <p:spPr>
          <a:xfrm>
            <a:off x="1170432" y="2194560"/>
            <a:ext cx="6400800" cy="2542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7B8A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1. Kontrollo nese Git eshte instaluar</a:t>
            </a:r>
            <a:endParaRPr lang="en-US" sz="130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300" b="1" dirty="0">
                <a:solidFill>
                  <a:srgbClr val="5FB3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</a:t>
            </a:r>
            <a:pPr indent="0" marL="0">
              <a:lnSpc>
                <a:spcPct val="106000"/>
              </a:lnSpc>
              <a:buNone/>
            </a:pPr>
            <a:r>
              <a:rPr lang="en-US" sz="1300" b="1" dirty="0">
                <a:solidFill>
                  <a:srgbClr val="E896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</a:t>
            </a:r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C9A0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--version</a:t>
            </a:r>
            <a:endParaRPr lang="en-US" sz="130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C9D6E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version 2.43.0</a:t>
            </a:r>
            <a:endParaRPr lang="en-US" sz="130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C9D6E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30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7B8A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2. Kush jam une? (behet vetem NJE here)</a:t>
            </a:r>
            <a:endParaRPr lang="en-US" sz="130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300" b="1" dirty="0">
                <a:solidFill>
                  <a:srgbClr val="5FB3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</a:t>
            </a:r>
            <a:pPr indent="0" marL="0">
              <a:lnSpc>
                <a:spcPct val="106000"/>
              </a:lnSpc>
              <a:buNone/>
            </a:pPr>
            <a:r>
              <a:rPr lang="en-US" sz="1300" b="1" dirty="0">
                <a:solidFill>
                  <a:srgbClr val="E896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</a:t>
            </a:r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300" b="1" dirty="0">
                <a:solidFill>
                  <a:srgbClr val="F6A6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config</a:t>
            </a:r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C9A0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--global</a:t>
            </a:r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user.name</a:t>
            </a:r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8FCB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"Ana Kola"</a:t>
            </a:r>
            <a:endParaRPr lang="en-US" sz="130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300" b="1" dirty="0">
                <a:solidFill>
                  <a:srgbClr val="5FB3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</a:t>
            </a:r>
            <a:pPr indent="0" marL="0">
              <a:lnSpc>
                <a:spcPct val="106000"/>
              </a:lnSpc>
              <a:buNone/>
            </a:pPr>
            <a:r>
              <a:rPr lang="en-US" sz="1300" b="1" dirty="0">
                <a:solidFill>
                  <a:srgbClr val="E896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</a:t>
            </a:r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300" b="1" dirty="0">
                <a:solidFill>
                  <a:srgbClr val="F6A6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config</a:t>
            </a:r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C9A0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--global</a:t>
            </a:r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user.email</a:t>
            </a:r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8FCB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"ana@example.com"</a:t>
            </a:r>
            <a:endParaRPr lang="en-US" sz="130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C9D6E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30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7B8A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3. Verifiko</a:t>
            </a:r>
            <a:endParaRPr lang="en-US" sz="130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300" b="1" dirty="0">
                <a:solidFill>
                  <a:srgbClr val="5FB3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</a:t>
            </a:r>
            <a:pPr indent="0" marL="0">
              <a:lnSpc>
                <a:spcPct val="106000"/>
              </a:lnSpc>
              <a:buNone/>
            </a:pPr>
            <a:r>
              <a:rPr lang="en-US" sz="1300" b="1" dirty="0">
                <a:solidFill>
                  <a:srgbClr val="E896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</a:t>
            </a:r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300" b="1" dirty="0">
                <a:solidFill>
                  <a:srgbClr val="F6A6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config</a:t>
            </a:r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C9A0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--list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8092440" y="1828800"/>
            <a:ext cx="352044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500"/>
              </a:spcAft>
              <a:buSzPct val="100000"/>
              <a:buChar char="•"/>
            </a:pPr>
            <a:r>
              <a:rPr lang="en-US" sz="1250" b="1" dirty="0">
                <a:solidFill>
                  <a:srgbClr val="F6A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Shkarkimi: git-scm.com</a:t>
            </a:r>
            <a:endParaRPr lang="en-US" sz="1250" dirty="0"/>
          </a:p>
          <a:p>
            <a:pPr marL="203200" indent="-2032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2631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Windows: instaluesi sjell edhe "Git Bash" — terminalin që do të përdorim.</a:t>
            </a:r>
            <a:endParaRPr lang="en-US" sz="1250" dirty="0"/>
          </a:p>
          <a:p>
            <a:pPr marL="203200" indent="-203200">
              <a:spcAft>
                <a:spcPts val="500"/>
              </a:spcAft>
              <a:buSzPct val="100000"/>
              <a:buChar char="•"/>
            </a:pPr>
            <a:r>
              <a:rPr lang="en-US" sz="1250" b="1" dirty="0">
                <a:solidFill>
                  <a:srgbClr val="F6A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Pse emri dhe email-i?</a:t>
            </a:r>
            <a:endParaRPr lang="en-US" sz="1250" dirty="0"/>
          </a:p>
          <a:p>
            <a:pPr marL="203200" indent="-2032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2631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Çdo ndryshim firmoset me to — historia tregon KUSH e bëri.</a:t>
            </a:r>
            <a:endParaRPr lang="en-US" sz="1250" dirty="0"/>
          </a:p>
          <a:p>
            <a:pPr marL="203200" indent="-203200">
              <a:spcAft>
                <a:spcPts val="500"/>
              </a:spcAft>
              <a:buSzPct val="100000"/>
              <a:buChar char="•"/>
            </a:pPr>
            <a:r>
              <a:rPr lang="en-US" sz="1250" b="1" dirty="0">
                <a:solidFill>
                  <a:srgbClr val="F6A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--global = për të gjitha projektet</a:t>
            </a:r>
            <a:endParaRPr lang="en-US" sz="1250" dirty="0"/>
          </a:p>
          <a:p>
            <a:pPr marL="203200" indent="-2032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2631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Konfigurimi bëhet një herë, vlen përgjithmonë.</a:t>
            </a:r>
            <a:endParaRPr lang="en-US" sz="1250" dirty="0"/>
          </a:p>
        </p:txBody>
      </p:sp>
      <p:sp>
        <p:nvSpPr>
          <p:cNvPr id="12" name="Text 9"/>
          <p:cNvSpPr/>
          <p:nvPr/>
        </p:nvSpPr>
        <p:spPr>
          <a:xfrm>
            <a:off x="11185855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497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658368" cy="658368"/>
          </a:xfrm>
          <a:prstGeom prst="roundRect">
            <a:avLst>
              <a:gd name="adj" fmla="val 16667"/>
            </a:avLst>
          </a:prstGeom>
          <a:solidFill>
            <a:srgbClr val="E8730C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4944" y="603504"/>
            <a:ext cx="365760" cy="3657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71600" y="457200"/>
            <a:ext cx="9601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873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KONCEPTI MË I RËNDËSISHËM I DITËS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1371600" y="676656"/>
            <a:ext cx="10241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700" b="1" dirty="0">
                <a:solidFill>
                  <a:srgbClr val="14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 zonat e Git-it — harta mendore</a:t>
            </a:r>
            <a:endParaRPr lang="en-US" sz="2700" dirty="0"/>
          </a:p>
        </p:txBody>
      </p:sp>
      <p:sp>
        <p:nvSpPr>
          <p:cNvPr id="6" name="Shape 3"/>
          <p:cNvSpPr/>
          <p:nvPr/>
        </p:nvSpPr>
        <p:spPr>
          <a:xfrm>
            <a:off x="594360" y="2103120"/>
            <a:ext cx="24688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BE2EA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1417320" y="2377440"/>
            <a:ext cx="822960" cy="822960"/>
          </a:xfrm>
          <a:prstGeom prst="ellipse">
            <a:avLst/>
          </a:prstGeom>
          <a:solidFill>
            <a:srgbClr val="142033"/>
          </a:solidFill>
          <a:ln/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00200" y="2560320"/>
            <a:ext cx="457200" cy="45720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685800" y="3310128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4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Working Directory</a:t>
            </a:r>
            <a:endParaRPr lang="en-US" sz="1350" dirty="0"/>
          </a:p>
        </p:txBody>
      </p:sp>
      <p:sp>
        <p:nvSpPr>
          <p:cNvPr id="10" name="Text 6"/>
          <p:cNvSpPr/>
          <p:nvPr/>
        </p:nvSpPr>
        <p:spPr>
          <a:xfrm>
            <a:off x="685800" y="3657600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i="1" dirty="0">
                <a:solidFill>
                  <a:srgbClr val="6A78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Dosja juaj e punës</a:t>
            </a:r>
            <a:endParaRPr lang="en-US" sz="1150" dirty="0"/>
          </a:p>
        </p:txBody>
      </p:sp>
      <p:sp>
        <p:nvSpPr>
          <p:cNvPr id="11" name="Text 7"/>
          <p:cNvSpPr/>
          <p:nvPr/>
        </p:nvSpPr>
        <p:spPr>
          <a:xfrm>
            <a:off x="685800" y="3968496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6A78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Këtu shkruani kodin</a:t>
            </a:r>
            <a:endParaRPr lang="en-US" sz="1100" dirty="0"/>
          </a:p>
        </p:txBody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91256" y="2743200"/>
            <a:ext cx="201168" cy="201168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2880360" y="2395728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E8730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add</a:t>
            </a:r>
            <a:endParaRPr lang="en-US" sz="1050" dirty="0"/>
          </a:p>
        </p:txBody>
      </p:sp>
      <p:sp>
        <p:nvSpPr>
          <p:cNvPr id="14" name="Shape 9"/>
          <p:cNvSpPr/>
          <p:nvPr/>
        </p:nvSpPr>
        <p:spPr>
          <a:xfrm>
            <a:off x="3520440" y="2103120"/>
            <a:ext cx="24688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BE2EA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15" name="Shape 10"/>
          <p:cNvSpPr/>
          <p:nvPr/>
        </p:nvSpPr>
        <p:spPr>
          <a:xfrm>
            <a:off x="4343400" y="2377440"/>
            <a:ext cx="822960" cy="822960"/>
          </a:xfrm>
          <a:prstGeom prst="ellipse">
            <a:avLst/>
          </a:prstGeom>
          <a:solidFill>
            <a:srgbClr val="E8730C"/>
          </a:solidFill>
          <a:ln/>
        </p:spPr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26280" y="2560320"/>
            <a:ext cx="457200" cy="45720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3611880" y="3310128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4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Staging Area</a:t>
            </a:r>
            <a:endParaRPr lang="en-US" sz="1350" dirty="0"/>
          </a:p>
        </p:txBody>
      </p:sp>
      <p:sp>
        <p:nvSpPr>
          <p:cNvPr id="18" name="Text 12"/>
          <p:cNvSpPr/>
          <p:nvPr/>
        </p:nvSpPr>
        <p:spPr>
          <a:xfrm>
            <a:off x="3611880" y="3657600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i="1" dirty="0">
                <a:solidFill>
                  <a:srgbClr val="E873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Zona e pritjes</a:t>
            </a:r>
            <a:endParaRPr lang="en-US" sz="1150" dirty="0"/>
          </a:p>
        </p:txBody>
      </p:sp>
      <p:sp>
        <p:nvSpPr>
          <p:cNvPr id="19" name="Text 13"/>
          <p:cNvSpPr/>
          <p:nvPr/>
        </p:nvSpPr>
        <p:spPr>
          <a:xfrm>
            <a:off x="3611880" y="3968496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6A78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Çfarë do të ruhet tani</a:t>
            </a:r>
            <a:endParaRPr lang="en-US" sz="1100" dirty="0"/>
          </a:p>
        </p:txBody>
      </p:sp>
      <p:pic>
        <p:nvPicPr>
          <p:cNvPr id="2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17336" y="2743200"/>
            <a:ext cx="201168" cy="201168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5806440" y="2395728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E8730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commit</a:t>
            </a:r>
            <a:endParaRPr lang="en-US" sz="1050" dirty="0"/>
          </a:p>
        </p:txBody>
      </p:sp>
      <p:sp>
        <p:nvSpPr>
          <p:cNvPr id="22" name="Shape 15"/>
          <p:cNvSpPr/>
          <p:nvPr/>
        </p:nvSpPr>
        <p:spPr>
          <a:xfrm>
            <a:off x="6446520" y="2103120"/>
            <a:ext cx="24688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BE2EA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23" name="Shape 16"/>
          <p:cNvSpPr/>
          <p:nvPr/>
        </p:nvSpPr>
        <p:spPr>
          <a:xfrm>
            <a:off x="7269480" y="2377440"/>
            <a:ext cx="822960" cy="822960"/>
          </a:xfrm>
          <a:prstGeom prst="ellipse">
            <a:avLst/>
          </a:prstGeom>
          <a:solidFill>
            <a:srgbClr val="142033"/>
          </a:solidFill>
          <a:ln/>
        </p:spPr>
      </p:sp>
      <p:pic>
        <p:nvPicPr>
          <p:cNvPr id="24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452360" y="2560320"/>
            <a:ext cx="457200" cy="457200"/>
          </a:xfrm>
          <a:prstGeom prst="rect">
            <a:avLst/>
          </a:prstGeom>
        </p:spPr>
      </p:pic>
      <p:sp>
        <p:nvSpPr>
          <p:cNvPr id="25" name="Text 17"/>
          <p:cNvSpPr/>
          <p:nvPr/>
        </p:nvSpPr>
        <p:spPr>
          <a:xfrm>
            <a:off x="6537960" y="3310128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4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Repository</a:t>
            </a:r>
            <a:endParaRPr lang="en-US" sz="1350" dirty="0"/>
          </a:p>
        </p:txBody>
      </p:sp>
      <p:sp>
        <p:nvSpPr>
          <p:cNvPr id="26" name="Text 18"/>
          <p:cNvSpPr/>
          <p:nvPr/>
        </p:nvSpPr>
        <p:spPr>
          <a:xfrm>
            <a:off x="6537960" y="3657600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i="1" dirty="0">
                <a:solidFill>
                  <a:srgbClr val="6A78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Historia lokale</a:t>
            </a:r>
            <a:endParaRPr lang="en-US" sz="1150" dirty="0"/>
          </a:p>
        </p:txBody>
      </p:sp>
      <p:sp>
        <p:nvSpPr>
          <p:cNvPr id="27" name="Text 19"/>
          <p:cNvSpPr/>
          <p:nvPr/>
        </p:nvSpPr>
        <p:spPr>
          <a:xfrm>
            <a:off x="6537960" y="3968496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6A78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Ruajtjet (commit-et)</a:t>
            </a:r>
            <a:endParaRPr lang="en-US" sz="1100" dirty="0"/>
          </a:p>
        </p:txBody>
      </p:sp>
      <p:pic>
        <p:nvPicPr>
          <p:cNvPr id="28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043416" y="2743200"/>
            <a:ext cx="201168" cy="201168"/>
          </a:xfrm>
          <a:prstGeom prst="rect">
            <a:avLst/>
          </a:prstGeom>
        </p:spPr>
      </p:pic>
      <p:sp>
        <p:nvSpPr>
          <p:cNvPr id="29" name="Text 20"/>
          <p:cNvSpPr/>
          <p:nvPr/>
        </p:nvSpPr>
        <p:spPr>
          <a:xfrm>
            <a:off x="8732520" y="2395728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E8730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push</a:t>
            </a:r>
            <a:endParaRPr lang="en-US" sz="1050" dirty="0"/>
          </a:p>
        </p:txBody>
      </p:sp>
      <p:sp>
        <p:nvSpPr>
          <p:cNvPr id="30" name="Shape 21"/>
          <p:cNvSpPr/>
          <p:nvPr/>
        </p:nvSpPr>
        <p:spPr>
          <a:xfrm>
            <a:off x="9372600" y="2103120"/>
            <a:ext cx="24688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BE2EA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31" name="Shape 22"/>
          <p:cNvSpPr/>
          <p:nvPr/>
        </p:nvSpPr>
        <p:spPr>
          <a:xfrm>
            <a:off x="10195560" y="2377440"/>
            <a:ext cx="822960" cy="822960"/>
          </a:xfrm>
          <a:prstGeom prst="ellipse">
            <a:avLst/>
          </a:prstGeom>
          <a:solidFill>
            <a:srgbClr val="2E6E8E"/>
          </a:solidFill>
          <a:ln/>
        </p:spPr>
      </p:sp>
      <p:pic>
        <p:nvPicPr>
          <p:cNvPr id="32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378440" y="2560320"/>
            <a:ext cx="457200" cy="457200"/>
          </a:xfrm>
          <a:prstGeom prst="rect">
            <a:avLst/>
          </a:prstGeom>
        </p:spPr>
      </p:pic>
      <p:sp>
        <p:nvSpPr>
          <p:cNvPr id="33" name="Text 23"/>
          <p:cNvSpPr/>
          <p:nvPr/>
        </p:nvSpPr>
        <p:spPr>
          <a:xfrm>
            <a:off x="9464040" y="3310128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4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Remote (GitHub)</a:t>
            </a:r>
            <a:endParaRPr lang="en-US" sz="1350" dirty="0"/>
          </a:p>
        </p:txBody>
      </p:sp>
      <p:sp>
        <p:nvSpPr>
          <p:cNvPr id="34" name="Text 24"/>
          <p:cNvSpPr/>
          <p:nvPr/>
        </p:nvSpPr>
        <p:spPr>
          <a:xfrm>
            <a:off x="9464040" y="3657600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i="1" dirty="0">
                <a:solidFill>
                  <a:srgbClr val="6A78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Serveri online</a:t>
            </a:r>
            <a:endParaRPr lang="en-US" sz="1150" dirty="0"/>
          </a:p>
        </p:txBody>
      </p:sp>
      <p:sp>
        <p:nvSpPr>
          <p:cNvPr id="35" name="Text 25"/>
          <p:cNvSpPr/>
          <p:nvPr/>
        </p:nvSpPr>
        <p:spPr>
          <a:xfrm>
            <a:off x="9464040" y="3968496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6A78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Kopja e përbashkët</a:t>
            </a:r>
            <a:endParaRPr lang="en-US" sz="1100" dirty="0"/>
          </a:p>
        </p:txBody>
      </p:sp>
      <p:sp>
        <p:nvSpPr>
          <p:cNvPr id="36" name="Shape 26"/>
          <p:cNvSpPr/>
          <p:nvPr/>
        </p:nvSpPr>
        <p:spPr>
          <a:xfrm flipH="1">
            <a:off x="822960" y="4709160"/>
            <a:ext cx="10698480" cy="0"/>
          </a:xfrm>
          <a:prstGeom prst="line">
            <a:avLst/>
          </a:prstGeom>
          <a:noFill/>
          <a:ln w="19050">
            <a:solidFill>
              <a:srgbClr val="2E6E8E"/>
            </a:solidFill>
            <a:prstDash val="dash"/>
            <a:headEnd type="none"/>
            <a:tailEnd type="triangle"/>
          </a:ln>
        </p:spPr>
      </p:sp>
      <p:sp>
        <p:nvSpPr>
          <p:cNvPr id="37" name="Text 27"/>
          <p:cNvSpPr/>
          <p:nvPr/>
        </p:nvSpPr>
        <p:spPr>
          <a:xfrm>
            <a:off x="822960" y="4773168"/>
            <a:ext cx="10698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2E6E8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pull  /  git clone   — sjell ndryshimet nga serveri te ju</a:t>
            </a:r>
            <a:endParaRPr lang="en-US" sz="1150" dirty="0"/>
          </a:p>
        </p:txBody>
      </p:sp>
      <p:sp>
        <p:nvSpPr>
          <p:cNvPr id="38" name="Shape 28"/>
          <p:cNvSpPr/>
          <p:nvPr/>
        </p:nvSpPr>
        <p:spPr>
          <a:xfrm>
            <a:off x="594360" y="5257800"/>
            <a:ext cx="11018520" cy="822960"/>
          </a:xfrm>
          <a:prstGeom prst="roundRect">
            <a:avLst>
              <a:gd name="adj" fmla="val 8889"/>
            </a:avLst>
          </a:prstGeom>
          <a:solidFill>
            <a:srgbClr val="F2F5F9"/>
          </a:solidFill>
          <a:ln w="12700">
            <a:solidFill>
              <a:srgbClr val="DBE2EA"/>
            </a:solidFill>
            <a:prstDash val="solid"/>
          </a:ln>
        </p:spPr>
      </p:sp>
      <p:sp>
        <p:nvSpPr>
          <p:cNvPr id="39" name="Text 29"/>
          <p:cNvSpPr/>
          <p:nvPr/>
        </p:nvSpPr>
        <p:spPr>
          <a:xfrm>
            <a:off x="914400" y="5321808"/>
            <a:ext cx="104241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E873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Pse zonë pritjeje?  </a:t>
            </a:r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2631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Që të zgjidhni ÇFARË ruani: keni ndryshuar 5 skedarë, por doni të ruani vetëm 2 — staging-u ju lejon pikërisht këtë.</a:t>
            </a:r>
            <a:endParaRPr lang="en-US" sz="1350" dirty="0"/>
          </a:p>
        </p:txBody>
      </p:sp>
      <p:sp>
        <p:nvSpPr>
          <p:cNvPr id="40" name="Text 30"/>
          <p:cNvSpPr/>
          <p:nvPr/>
        </p:nvSpPr>
        <p:spPr>
          <a:xfrm>
            <a:off x="11185855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A78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100" dirty="0"/>
          </a:p>
        </p:txBody>
      </p:sp>
      <p:sp>
        <p:nvSpPr>
          <p:cNvPr id="41" name="Text 31"/>
          <p:cNvSpPr/>
          <p:nvPr/>
        </p:nvSpPr>
        <p:spPr>
          <a:xfrm>
            <a:off x="548640" y="63550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A78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· Leksioni 8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658368" cy="658368"/>
          </a:xfrm>
          <a:prstGeom prst="roundRect">
            <a:avLst>
              <a:gd name="adj" fmla="val 16667"/>
            </a:avLst>
          </a:prstGeom>
          <a:solidFill>
            <a:srgbClr val="E8730C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4944" y="603504"/>
            <a:ext cx="365760" cy="3657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71600" y="457200"/>
            <a:ext cx="9601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873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 RRUGË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1371600" y="676656"/>
            <a:ext cx="10241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700" b="1" dirty="0">
                <a:solidFill>
                  <a:srgbClr val="14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nis një projekt me Git</a:t>
            </a:r>
            <a:endParaRPr lang="en-US" sz="2700" dirty="0"/>
          </a:p>
        </p:txBody>
      </p:sp>
      <p:sp>
        <p:nvSpPr>
          <p:cNvPr id="6" name="Text 3"/>
          <p:cNvSpPr/>
          <p:nvPr/>
        </p:nvSpPr>
        <p:spPr>
          <a:xfrm>
            <a:off x="594360" y="1600200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00" kern="0" dirty="0">
                <a:solidFill>
                  <a:srgbClr val="14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A) Projekt i ri — nga dosja ime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594360" y="1938528"/>
            <a:ext cx="5394960" cy="1545336"/>
          </a:xfrm>
          <a:prstGeom prst="roundRect">
            <a:avLst>
              <a:gd name="adj" fmla="val 5325"/>
            </a:avLst>
          </a:prstGeom>
          <a:solidFill>
            <a:srgbClr val="0D1520"/>
          </a:solidFill>
          <a:ln w="15875">
            <a:solidFill>
              <a:srgbClr val="2A3A50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795528" y="2121408"/>
            <a:ext cx="100584" cy="100584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9" name="Shape 6"/>
          <p:cNvSpPr/>
          <p:nvPr/>
        </p:nvSpPr>
        <p:spPr>
          <a:xfrm>
            <a:off x="996696" y="2121408"/>
            <a:ext cx="100584" cy="100584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10" name="Shape 7"/>
          <p:cNvSpPr/>
          <p:nvPr/>
        </p:nvSpPr>
        <p:spPr>
          <a:xfrm>
            <a:off x="1197864" y="2121408"/>
            <a:ext cx="100584" cy="100584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11" name="Text 8"/>
          <p:cNvSpPr/>
          <p:nvPr/>
        </p:nvSpPr>
        <p:spPr>
          <a:xfrm>
            <a:off x="850392" y="2395728"/>
            <a:ext cx="4937760" cy="9784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250" b="1" dirty="0">
                <a:solidFill>
                  <a:srgbClr val="5FB3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cd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Detyra_Java</a:t>
            </a:r>
            <a:endParaRPr lang="en-US" sz="12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250" b="1" dirty="0">
                <a:solidFill>
                  <a:srgbClr val="5FB3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</a:t>
            </a:r>
            <a:pPr indent="0" marL="0">
              <a:lnSpc>
                <a:spcPct val="106000"/>
              </a:lnSpc>
              <a:buNone/>
            </a:pPr>
            <a:r>
              <a:rPr lang="en-US" sz="1250" b="1" dirty="0">
                <a:solidFill>
                  <a:srgbClr val="E896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250" b="1" dirty="0">
                <a:solidFill>
                  <a:srgbClr val="F6A6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init</a:t>
            </a:r>
            <a:endParaRPr lang="en-US" sz="12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C9D6E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Initialized empty Git repository</a:t>
            </a:r>
            <a:endParaRPr lang="en-US" sz="12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C9D6E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 /home/ana/Detyra_Java/.git/</a:t>
            </a:r>
            <a:endParaRPr lang="en-US" sz="1250" dirty="0"/>
          </a:p>
        </p:txBody>
      </p:sp>
      <p:sp>
        <p:nvSpPr>
          <p:cNvPr id="12" name="Text 9"/>
          <p:cNvSpPr/>
          <p:nvPr/>
        </p:nvSpPr>
        <p:spPr>
          <a:xfrm>
            <a:off x="621792" y="3566160"/>
            <a:ext cx="5349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i="1" dirty="0">
                <a:solidFill>
                  <a:srgbClr val="6A78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Krijon dosjen e fshehur .git — aty jeton e gjithë historia. Mos e fshini kurrë!</a:t>
            </a:r>
            <a:endParaRPr lang="en-US" sz="1250" dirty="0"/>
          </a:p>
        </p:txBody>
      </p:sp>
      <p:sp>
        <p:nvSpPr>
          <p:cNvPr id="13" name="Text 10"/>
          <p:cNvSpPr/>
          <p:nvPr/>
        </p:nvSpPr>
        <p:spPr>
          <a:xfrm>
            <a:off x="6400800" y="1600200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00" kern="0" dirty="0">
                <a:solidFill>
                  <a:srgbClr val="E873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B) Projekt ekzistues — nga GitHub</a:t>
            </a:r>
            <a:endParaRPr lang="en-US" sz="1250" dirty="0"/>
          </a:p>
        </p:txBody>
      </p:sp>
      <p:sp>
        <p:nvSpPr>
          <p:cNvPr id="14" name="Shape 11"/>
          <p:cNvSpPr/>
          <p:nvPr/>
        </p:nvSpPr>
        <p:spPr>
          <a:xfrm>
            <a:off x="6400800" y="1938528"/>
            <a:ext cx="5212080" cy="1545336"/>
          </a:xfrm>
          <a:prstGeom prst="roundRect">
            <a:avLst>
              <a:gd name="adj" fmla="val 5325"/>
            </a:avLst>
          </a:prstGeom>
          <a:solidFill>
            <a:srgbClr val="0D1520"/>
          </a:solidFill>
          <a:ln w="15875">
            <a:solidFill>
              <a:srgbClr val="2A3A50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6601968" y="2121408"/>
            <a:ext cx="100584" cy="100584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16" name="Shape 13"/>
          <p:cNvSpPr/>
          <p:nvPr/>
        </p:nvSpPr>
        <p:spPr>
          <a:xfrm>
            <a:off x="6803136" y="2121408"/>
            <a:ext cx="100584" cy="100584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17" name="Shape 14"/>
          <p:cNvSpPr/>
          <p:nvPr/>
        </p:nvSpPr>
        <p:spPr>
          <a:xfrm>
            <a:off x="7004304" y="2121408"/>
            <a:ext cx="100584" cy="100584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18" name="Text 15"/>
          <p:cNvSpPr/>
          <p:nvPr/>
        </p:nvSpPr>
        <p:spPr>
          <a:xfrm>
            <a:off x="6656832" y="2395728"/>
            <a:ext cx="4754880" cy="9784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250" b="1" dirty="0">
                <a:solidFill>
                  <a:srgbClr val="5FB3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</a:t>
            </a:r>
            <a:pPr indent="0" marL="0">
              <a:lnSpc>
                <a:spcPct val="106000"/>
              </a:lnSpc>
              <a:buNone/>
            </a:pPr>
            <a:r>
              <a:rPr lang="en-US" sz="1250" b="1" dirty="0">
                <a:solidFill>
                  <a:srgbClr val="E896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250" b="1" dirty="0">
                <a:solidFill>
                  <a:srgbClr val="F6A6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clone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https://github.com/user/projekti.git</a:t>
            </a:r>
            <a:endParaRPr lang="en-US" sz="12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C9D6E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Cloning into "projekti"...</a:t>
            </a:r>
            <a:endParaRPr lang="en-US" sz="12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C9D6E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receiving objects: 100% done.</a:t>
            </a:r>
            <a:endParaRPr lang="en-US" sz="12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250" b="1" dirty="0">
                <a:solidFill>
                  <a:srgbClr val="5FB3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cd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projekti</a:t>
            </a:r>
            <a:endParaRPr lang="en-US" sz="1250" dirty="0"/>
          </a:p>
        </p:txBody>
      </p:sp>
      <p:sp>
        <p:nvSpPr>
          <p:cNvPr id="19" name="Text 16"/>
          <p:cNvSpPr/>
          <p:nvPr/>
        </p:nvSpPr>
        <p:spPr>
          <a:xfrm>
            <a:off x="6428232" y="3566160"/>
            <a:ext cx="5166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i="1" dirty="0">
                <a:solidFill>
                  <a:srgbClr val="6A78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Shkarkon gjithë projektin BASHKË me historinë — gati për punë.</a:t>
            </a:r>
            <a:endParaRPr lang="en-US" sz="1250" dirty="0"/>
          </a:p>
        </p:txBody>
      </p:sp>
      <p:sp>
        <p:nvSpPr>
          <p:cNvPr id="20" name="Shape 17"/>
          <p:cNvSpPr/>
          <p:nvPr/>
        </p:nvSpPr>
        <p:spPr>
          <a:xfrm>
            <a:off x="594360" y="4224528"/>
            <a:ext cx="11018520" cy="1645920"/>
          </a:xfrm>
          <a:prstGeom prst="roundRect">
            <a:avLst>
              <a:gd name="adj" fmla="val 5000"/>
            </a:avLst>
          </a:prstGeom>
          <a:solidFill>
            <a:srgbClr val="F2F5F9"/>
          </a:solidFill>
          <a:ln w="12700">
            <a:solidFill>
              <a:srgbClr val="DBE2EA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21" name="Text 18"/>
          <p:cNvSpPr/>
          <p:nvPr/>
        </p:nvSpPr>
        <p:spPr>
          <a:xfrm>
            <a:off x="914400" y="4370832"/>
            <a:ext cx="10424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4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të kuptoni ku jeni:</a:t>
            </a:r>
            <a:endParaRPr lang="en-US" sz="1450" dirty="0"/>
          </a:p>
        </p:txBody>
      </p:sp>
      <p:sp>
        <p:nvSpPr>
          <p:cNvPr id="22" name="Text 19"/>
          <p:cNvSpPr/>
          <p:nvPr/>
        </p:nvSpPr>
        <p:spPr>
          <a:xfrm>
            <a:off x="914400" y="4754880"/>
            <a:ext cx="10424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300" b="1" dirty="0">
                <a:solidFill>
                  <a:srgbClr val="E8730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init  </a:t>
            </a:r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2631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kam kod, dua t'i vë Git-in sipër.        </a:t>
            </a:r>
            <a:pPr indent="0" marL="0">
              <a:lnSpc>
                <a:spcPct val="112000"/>
              </a:lnSpc>
              <a:buNone/>
            </a:pPr>
            <a:r>
              <a:rPr lang="en-US" sz="1300" b="1" dirty="0">
                <a:solidFill>
                  <a:srgbClr val="E8730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clone  </a:t>
            </a:r>
            <a:pPr indent="0" marL="0">
              <a:lnSpc>
                <a:spcPct val="112000"/>
              </a:lnSpc>
              <a:spcAft>
                <a:spcPts val="800"/>
              </a:spcAft>
              <a:buNone/>
            </a:pPr>
            <a:r>
              <a:rPr lang="en-US" sz="1300" dirty="0">
                <a:solidFill>
                  <a:srgbClr val="2631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s'kam asgjë, ma sill projektin.</a:t>
            </a:r>
            <a:endParaRPr lang="en-US" sz="13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50" i="1" dirty="0">
                <a:solidFill>
                  <a:srgbClr val="6A78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Të dyja bëhen VETËM NJË herë për projekt — jo çdo ditë.</a:t>
            </a:r>
            <a:endParaRPr lang="en-US" sz="1300" dirty="0"/>
          </a:p>
        </p:txBody>
      </p:sp>
      <p:sp>
        <p:nvSpPr>
          <p:cNvPr id="23" name="Text 20"/>
          <p:cNvSpPr/>
          <p:nvPr/>
        </p:nvSpPr>
        <p:spPr>
          <a:xfrm>
            <a:off x="11185855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A78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100" dirty="0"/>
          </a:p>
        </p:txBody>
      </p:sp>
      <p:sp>
        <p:nvSpPr>
          <p:cNvPr id="24" name="Text 21"/>
          <p:cNvSpPr/>
          <p:nvPr/>
        </p:nvSpPr>
        <p:spPr>
          <a:xfrm>
            <a:off x="548640" y="63550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A78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· Leksioni 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420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" y="502920"/>
            <a:ext cx="658368" cy="658368"/>
          </a:xfrm>
          <a:prstGeom prst="roundRect">
            <a:avLst>
              <a:gd name="adj" fmla="val 16667"/>
            </a:avLst>
          </a:prstGeom>
          <a:solidFill>
            <a:srgbClr val="E8730C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2104" y="649224"/>
            <a:ext cx="365760" cy="3657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508760" y="5029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6A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SESIONI I PLOTË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1508760" y="749808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Cikli i përditshëm: status → add → commit</a:t>
            </a:r>
            <a:endParaRPr lang="en-US" sz="2800" dirty="0"/>
          </a:p>
        </p:txBody>
      </p:sp>
      <p:sp>
        <p:nvSpPr>
          <p:cNvPr id="6" name="Shape 3"/>
          <p:cNvSpPr/>
          <p:nvPr/>
        </p:nvSpPr>
        <p:spPr>
          <a:xfrm>
            <a:off x="914400" y="1691640"/>
            <a:ext cx="6858000" cy="4069080"/>
          </a:xfrm>
          <a:prstGeom prst="roundRect">
            <a:avLst>
              <a:gd name="adj" fmla="val 2022"/>
            </a:avLst>
          </a:prstGeom>
          <a:solidFill>
            <a:srgbClr val="0D1520"/>
          </a:solidFill>
          <a:ln w="15875">
            <a:solidFill>
              <a:srgbClr val="2A3A50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1115568" y="1874520"/>
            <a:ext cx="100584" cy="100584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8" name="Shape 5"/>
          <p:cNvSpPr/>
          <p:nvPr/>
        </p:nvSpPr>
        <p:spPr>
          <a:xfrm>
            <a:off x="1316736" y="1874520"/>
            <a:ext cx="100584" cy="100584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9" name="Shape 6"/>
          <p:cNvSpPr/>
          <p:nvPr/>
        </p:nvSpPr>
        <p:spPr>
          <a:xfrm>
            <a:off x="1517904" y="1874520"/>
            <a:ext cx="100584" cy="100584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10" name="Text 7"/>
          <p:cNvSpPr/>
          <p:nvPr/>
        </p:nvSpPr>
        <p:spPr>
          <a:xfrm>
            <a:off x="1170432" y="2148840"/>
            <a:ext cx="6400800" cy="35021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200" b="1" dirty="0">
                <a:solidFill>
                  <a:srgbClr val="5FB3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</a:t>
            </a:r>
            <a:pPr indent="0" marL="0">
              <a:lnSpc>
                <a:spcPct val="106000"/>
              </a:lnSpc>
              <a:buNone/>
            </a:pPr>
            <a:r>
              <a:rPr lang="en-US" sz="1200" b="1" dirty="0">
                <a:solidFill>
                  <a:srgbClr val="E896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</a:t>
            </a:r>
            <a:pPr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200" b="1" dirty="0">
                <a:solidFill>
                  <a:srgbClr val="F6A6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status</a:t>
            </a:r>
            <a:endParaRPr lang="en-US" sz="120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C9D6E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Untracked files:</a:t>
            </a:r>
            <a:endParaRPr lang="en-US" sz="120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C9D6E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Main.java</a:t>
            </a:r>
            <a:endParaRPr lang="en-US" sz="120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C9D6E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0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200" b="1" dirty="0">
                <a:solidFill>
                  <a:srgbClr val="5FB3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</a:t>
            </a:r>
            <a:pPr indent="0" marL="0">
              <a:lnSpc>
                <a:spcPct val="106000"/>
              </a:lnSpc>
              <a:buNone/>
            </a:pPr>
            <a:r>
              <a:rPr lang="en-US" sz="1200" b="1" dirty="0">
                <a:solidFill>
                  <a:srgbClr val="E896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</a:t>
            </a:r>
            <a:pPr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200" b="1" dirty="0">
                <a:solidFill>
                  <a:srgbClr val="F6A6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add</a:t>
            </a:r>
            <a:pPr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Main.java</a:t>
            </a:r>
            <a:pPr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</a:t>
            </a:r>
            <a:pPr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7B8A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ne zonen e pritjes</a:t>
            </a:r>
            <a:endParaRPr lang="en-US" sz="120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200" b="1" dirty="0">
                <a:solidFill>
                  <a:srgbClr val="5FB3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</a:t>
            </a:r>
            <a:pPr indent="0" marL="0">
              <a:lnSpc>
                <a:spcPct val="106000"/>
              </a:lnSpc>
              <a:buNone/>
            </a:pPr>
            <a:r>
              <a:rPr lang="en-US" sz="1200" b="1" dirty="0">
                <a:solidFill>
                  <a:srgbClr val="E896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</a:t>
            </a:r>
            <a:pPr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200" b="1" dirty="0">
                <a:solidFill>
                  <a:srgbClr val="F6A6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status</a:t>
            </a:r>
            <a:endParaRPr lang="en-US" sz="120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C9D6E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Changes to be committed:</a:t>
            </a:r>
            <a:endParaRPr lang="en-US" sz="120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C9D6E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new file: Main.java</a:t>
            </a:r>
            <a:endParaRPr lang="en-US" sz="120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C9D6E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0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200" b="1" dirty="0">
                <a:solidFill>
                  <a:srgbClr val="5FB3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</a:t>
            </a:r>
            <a:pPr indent="0" marL="0">
              <a:lnSpc>
                <a:spcPct val="106000"/>
              </a:lnSpc>
              <a:buNone/>
            </a:pPr>
            <a:r>
              <a:rPr lang="en-US" sz="1200" b="1" dirty="0">
                <a:solidFill>
                  <a:srgbClr val="E896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</a:t>
            </a:r>
            <a:pPr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200" b="1" dirty="0">
                <a:solidFill>
                  <a:srgbClr val="F6A6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commit</a:t>
            </a:r>
            <a:pPr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C9A0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-m</a:t>
            </a:r>
            <a:pPr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8FCB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"Programi i pare me Scanner"</a:t>
            </a:r>
            <a:endParaRPr lang="en-US" sz="120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C9D6E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[main a1b2c3d] Programi i pare me Scanner</a:t>
            </a:r>
            <a:endParaRPr lang="en-US" sz="120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C9D6E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1 file changed, 15 insertions(+)</a:t>
            </a:r>
            <a:endParaRPr lang="en-US" sz="120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C9D6E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0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200" b="1" dirty="0">
                <a:solidFill>
                  <a:srgbClr val="5FB3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</a:t>
            </a:r>
            <a:pPr indent="0" marL="0">
              <a:lnSpc>
                <a:spcPct val="106000"/>
              </a:lnSpc>
              <a:buNone/>
            </a:pPr>
            <a:r>
              <a:rPr lang="en-US" sz="1200" b="1" dirty="0">
                <a:solidFill>
                  <a:srgbClr val="E896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</a:t>
            </a:r>
            <a:pPr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200" b="1" dirty="0">
                <a:solidFill>
                  <a:srgbClr val="F6A6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status</a:t>
            </a:r>
            <a:endParaRPr lang="en-US" sz="120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C9D6E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nothing to commit, working tree clean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8092440" y="1691640"/>
            <a:ext cx="3520440" cy="4206240"/>
          </a:xfrm>
          <a:prstGeom prst="roundRect">
            <a:avLst>
              <a:gd name="adj" fmla="val 2597"/>
            </a:avLst>
          </a:prstGeom>
          <a:solidFill>
            <a:srgbClr val="1E3050"/>
          </a:solidFill>
          <a:ln/>
        </p:spPr>
      </p:sp>
      <p:sp>
        <p:nvSpPr>
          <p:cNvPr id="12" name="Text 9"/>
          <p:cNvSpPr/>
          <p:nvPr/>
        </p:nvSpPr>
        <p:spPr>
          <a:xfrm>
            <a:off x="8339328" y="1874520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6A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 komandat e jetës</a:t>
            </a:r>
            <a:endParaRPr lang="en-US" sz="1450" dirty="0"/>
          </a:p>
        </p:txBody>
      </p:sp>
      <p:sp>
        <p:nvSpPr>
          <p:cNvPr id="13" name="Text 10"/>
          <p:cNvSpPr/>
          <p:nvPr/>
        </p:nvSpPr>
        <p:spPr>
          <a:xfrm>
            <a:off x="8339328" y="2331720"/>
            <a:ext cx="3063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status</a:t>
            </a:r>
            <a:endParaRPr lang="en-US" sz="1250" dirty="0"/>
          </a:p>
        </p:txBody>
      </p:sp>
      <p:sp>
        <p:nvSpPr>
          <p:cNvPr id="14" name="Text 11"/>
          <p:cNvSpPr/>
          <p:nvPr/>
        </p:nvSpPr>
        <p:spPr>
          <a:xfrm>
            <a:off x="8339328" y="2660904"/>
            <a:ext cx="3108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9DB0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 jam? Çfarë ka ndryshuar? — thirreni SA HERË të doni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8339328" y="3502152"/>
            <a:ext cx="3063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add &lt;file&gt;</a:t>
            </a:r>
            <a:endParaRPr lang="en-US" sz="1250" dirty="0"/>
          </a:p>
        </p:txBody>
      </p:sp>
      <p:sp>
        <p:nvSpPr>
          <p:cNvPr id="16" name="Text 13"/>
          <p:cNvSpPr/>
          <p:nvPr/>
        </p:nvSpPr>
        <p:spPr>
          <a:xfrm>
            <a:off x="8339328" y="3831336"/>
            <a:ext cx="3108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9DB0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Vendos në zonën e pritjes. git add . = të gjithë skedarët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8339328" y="4672584"/>
            <a:ext cx="3063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commit -m "..."</a:t>
            </a:r>
            <a:endParaRPr lang="en-US" sz="1250" dirty="0"/>
          </a:p>
        </p:txBody>
      </p:sp>
      <p:sp>
        <p:nvSpPr>
          <p:cNvPr id="18" name="Text 15"/>
          <p:cNvSpPr/>
          <p:nvPr/>
        </p:nvSpPr>
        <p:spPr>
          <a:xfrm>
            <a:off x="8339328" y="5001768"/>
            <a:ext cx="3108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9DB0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Ruaj përfundimisht me përshkrim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8339328" y="553212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i="1" dirty="0">
                <a:solidFill>
                  <a:srgbClr val="F6A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Përsëritet dhjetëra herë në ditë.</a:t>
            </a:r>
            <a:endParaRPr lang="en-US" sz="1200" dirty="0"/>
          </a:p>
        </p:txBody>
      </p:sp>
      <p:sp>
        <p:nvSpPr>
          <p:cNvPr id="20" name="Text 17"/>
          <p:cNvSpPr/>
          <p:nvPr/>
        </p:nvSpPr>
        <p:spPr>
          <a:xfrm>
            <a:off x="11185855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497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658368" cy="658368"/>
          </a:xfrm>
          <a:prstGeom prst="roundRect">
            <a:avLst>
              <a:gd name="adj" fmla="val 16667"/>
            </a:avLst>
          </a:prstGeom>
          <a:solidFill>
            <a:srgbClr val="E8730C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4944" y="603504"/>
            <a:ext cx="365760" cy="3657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71600" y="457200"/>
            <a:ext cx="9601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873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MAKINA E KOHËS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1371600" y="676656"/>
            <a:ext cx="10241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700" b="1" dirty="0">
                <a:solidFill>
                  <a:srgbClr val="14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Shikimi i historisë: log dhe diff</a:t>
            </a:r>
            <a:endParaRPr lang="en-US" sz="2700" dirty="0"/>
          </a:p>
        </p:txBody>
      </p:sp>
      <p:sp>
        <p:nvSpPr>
          <p:cNvPr id="6" name="Shape 3"/>
          <p:cNvSpPr/>
          <p:nvPr/>
        </p:nvSpPr>
        <p:spPr>
          <a:xfrm>
            <a:off x="594360" y="1691640"/>
            <a:ext cx="6675120" cy="2880360"/>
          </a:xfrm>
          <a:prstGeom prst="roundRect">
            <a:avLst>
              <a:gd name="adj" fmla="val 2857"/>
            </a:avLst>
          </a:prstGeom>
          <a:solidFill>
            <a:srgbClr val="0D1520"/>
          </a:solidFill>
          <a:ln w="15875">
            <a:solidFill>
              <a:srgbClr val="2A3A50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795528" y="1874520"/>
            <a:ext cx="100584" cy="100584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8" name="Shape 5"/>
          <p:cNvSpPr/>
          <p:nvPr/>
        </p:nvSpPr>
        <p:spPr>
          <a:xfrm>
            <a:off x="996696" y="1874520"/>
            <a:ext cx="100584" cy="100584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9" name="Shape 6"/>
          <p:cNvSpPr/>
          <p:nvPr/>
        </p:nvSpPr>
        <p:spPr>
          <a:xfrm>
            <a:off x="1197864" y="1874520"/>
            <a:ext cx="100584" cy="100584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10" name="Text 7"/>
          <p:cNvSpPr/>
          <p:nvPr/>
        </p:nvSpPr>
        <p:spPr>
          <a:xfrm>
            <a:off x="850392" y="2148840"/>
            <a:ext cx="6217920" cy="23134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200" b="1" dirty="0">
                <a:solidFill>
                  <a:srgbClr val="5FB3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</a:t>
            </a:r>
            <a:pPr indent="0" marL="0">
              <a:lnSpc>
                <a:spcPct val="106000"/>
              </a:lnSpc>
              <a:buNone/>
            </a:pPr>
            <a:r>
              <a:rPr lang="en-US" sz="1200" b="1" dirty="0">
                <a:solidFill>
                  <a:srgbClr val="E896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</a:t>
            </a:r>
            <a:pPr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200" b="1" dirty="0">
                <a:solidFill>
                  <a:srgbClr val="F6A6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log</a:t>
            </a:r>
            <a:pPr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C9A0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--oneline</a:t>
            </a:r>
            <a:endParaRPr lang="en-US" sz="120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C9D6E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a1b2c3d Rregullova ciklin for</a:t>
            </a:r>
            <a:endParaRPr lang="en-US" sz="120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C9D6E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9f8e7d6 Shtova metoden mesatarja</a:t>
            </a:r>
            <a:endParaRPr lang="en-US" sz="120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C9D6E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3c2b1a0 Commit i pare</a:t>
            </a:r>
            <a:endParaRPr lang="en-US" sz="120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C9D6E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0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200" b="1" dirty="0">
                <a:solidFill>
                  <a:srgbClr val="5FB3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</a:t>
            </a:r>
            <a:pPr indent="0" marL="0">
              <a:lnSpc>
                <a:spcPct val="106000"/>
              </a:lnSpc>
              <a:buNone/>
            </a:pPr>
            <a:r>
              <a:rPr lang="en-US" sz="1200" b="1" dirty="0">
                <a:solidFill>
                  <a:srgbClr val="E896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</a:t>
            </a:r>
            <a:pPr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200" b="1" dirty="0">
                <a:solidFill>
                  <a:srgbClr val="F6A6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diff</a:t>
            </a:r>
            <a:pPr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</a:t>
            </a:r>
            <a:pPr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7B8A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cfare kam ndryshuar POR pa e ruajtur</a:t>
            </a:r>
            <a:endParaRPr lang="en-US" sz="120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C9D6E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 int shuma = 0;</a:t>
            </a:r>
            <a:endParaRPr lang="en-US" sz="120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C9D6E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 double shuma = 0;</a:t>
            </a:r>
            <a:endParaRPr lang="en-US" sz="120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C9D6E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0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200" b="1" dirty="0">
                <a:solidFill>
                  <a:srgbClr val="5FB3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</a:t>
            </a:r>
            <a:pPr indent="0" marL="0">
              <a:lnSpc>
                <a:spcPct val="106000"/>
              </a:lnSpc>
              <a:buNone/>
            </a:pPr>
            <a:r>
              <a:rPr lang="en-US" sz="1200" b="1" dirty="0">
                <a:solidFill>
                  <a:srgbClr val="E896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</a:t>
            </a:r>
            <a:pPr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200" b="1" dirty="0">
                <a:solidFill>
                  <a:srgbClr val="F6A6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show</a:t>
            </a:r>
            <a:pPr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a1b2c3d</a:t>
            </a:r>
            <a:pPr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</a:t>
            </a:r>
            <a:pPr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7B8A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detajet e nje commit-i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7543800" y="1783080"/>
            <a:ext cx="406908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400"/>
              </a:spcAft>
              <a:buSzPct val="100000"/>
              <a:buChar char="•"/>
            </a:pPr>
            <a:r>
              <a:rPr lang="en-US" sz="1250" b="1" dirty="0">
                <a:solidFill>
                  <a:srgbClr val="2631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log</a:t>
            </a:r>
            <a:endParaRPr lang="en-US" sz="1250" dirty="0"/>
          </a:p>
          <a:p>
            <a:pPr marL="203200" indent="-2032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2631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Lista e ruajtjeve, nga më e reja. --oneline e bën kompakte.</a:t>
            </a:r>
            <a:endParaRPr lang="en-US" sz="1250" dirty="0"/>
          </a:p>
          <a:p>
            <a:pPr marL="203200" indent="-203200">
              <a:spcAft>
                <a:spcPts val="400"/>
              </a:spcAft>
              <a:buSzPct val="100000"/>
              <a:buChar char="•"/>
            </a:pPr>
            <a:r>
              <a:rPr lang="en-US" sz="1250" b="1" dirty="0">
                <a:solidFill>
                  <a:srgbClr val="2631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Kodi hash (a1b2c3d)</a:t>
            </a:r>
            <a:endParaRPr lang="en-US" sz="1250" dirty="0"/>
          </a:p>
          <a:p>
            <a:pPr marL="203200" indent="-2032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2631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Emri unik i çdo commit-i — me të kthehesh kudo në kohë.</a:t>
            </a:r>
            <a:endParaRPr lang="en-US" sz="1250" dirty="0"/>
          </a:p>
          <a:p>
            <a:pPr marL="203200" indent="-203200">
              <a:spcAft>
                <a:spcPts val="400"/>
              </a:spcAft>
              <a:buSzPct val="100000"/>
              <a:buChar char="•"/>
            </a:pPr>
            <a:r>
              <a:rPr lang="en-US" sz="1250" b="1" dirty="0">
                <a:solidFill>
                  <a:srgbClr val="2631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diff</a:t>
            </a:r>
            <a:endParaRPr lang="en-US" sz="1250" dirty="0"/>
          </a:p>
          <a:p>
            <a:pPr marL="203200" indent="-2032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2631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Tregon rreshtat: − i vjetri, + i riu.</a:t>
            </a:r>
            <a:endParaRPr lang="en-US" sz="1250" dirty="0"/>
          </a:p>
          <a:p>
            <a:pPr marL="203200" indent="-203200">
              <a:spcAft>
                <a:spcPts val="400"/>
              </a:spcAft>
              <a:buSzPct val="100000"/>
              <a:buChar char="•"/>
            </a:pPr>
            <a:r>
              <a:rPr lang="en-US" sz="1250" b="1" dirty="0">
                <a:solidFill>
                  <a:srgbClr val="2631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show &lt;hash&gt;</a:t>
            </a:r>
            <a:endParaRPr lang="en-US" sz="1250" dirty="0"/>
          </a:p>
          <a:p>
            <a:pPr marL="203200" indent="-2032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2631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Çfarë saktësisht ndryshoi në atë ruajtje.</a:t>
            </a:r>
            <a:endParaRPr lang="en-US" sz="1250" dirty="0"/>
          </a:p>
        </p:txBody>
      </p:sp>
      <p:sp>
        <p:nvSpPr>
          <p:cNvPr id="12" name="Shape 9"/>
          <p:cNvSpPr/>
          <p:nvPr/>
        </p:nvSpPr>
        <p:spPr>
          <a:xfrm>
            <a:off x="594360" y="5029200"/>
            <a:ext cx="11018520" cy="1051560"/>
          </a:xfrm>
          <a:prstGeom prst="roundRect">
            <a:avLst>
              <a:gd name="adj" fmla="val 7826"/>
            </a:avLst>
          </a:prstGeom>
          <a:solidFill>
            <a:srgbClr val="FBEDDD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" y="5349240"/>
            <a:ext cx="365760" cy="36576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1371600" y="5120640"/>
            <a:ext cx="10058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E873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Këtu e merr kuptimin mesazhi i mirë i commit-it:  </a:t>
            </a:r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2631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log-u është ditari i projektit. Nëse çdo rresht thotë "update", ditari s'vlen asgjë — as për ju, as për ekipin.</a:t>
            </a:r>
            <a:endParaRPr lang="en-US" sz="1350" dirty="0"/>
          </a:p>
        </p:txBody>
      </p:sp>
      <p:sp>
        <p:nvSpPr>
          <p:cNvPr id="15" name="Text 11"/>
          <p:cNvSpPr/>
          <p:nvPr/>
        </p:nvSpPr>
        <p:spPr>
          <a:xfrm>
            <a:off x="11185855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A78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100" dirty="0"/>
          </a:p>
        </p:txBody>
      </p:sp>
      <p:sp>
        <p:nvSpPr>
          <p:cNvPr id="16" name="Text 12"/>
          <p:cNvSpPr/>
          <p:nvPr/>
        </p:nvSpPr>
        <p:spPr>
          <a:xfrm>
            <a:off x="548640" y="63550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A78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· Leksioni 8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420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" y="502920"/>
            <a:ext cx="658368" cy="658368"/>
          </a:xfrm>
          <a:prstGeom prst="roundRect">
            <a:avLst>
              <a:gd name="adj" fmla="val 16667"/>
            </a:avLst>
          </a:prstGeom>
          <a:solidFill>
            <a:srgbClr val="E8730C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2104" y="649224"/>
            <a:ext cx="365760" cy="3657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508760" y="5029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6A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NË PRAKTIKË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1508760" y="749808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Puna me serverin: push dhe pull</a:t>
            </a:r>
            <a:endParaRPr lang="en-US" sz="2800" dirty="0"/>
          </a:p>
        </p:txBody>
      </p:sp>
      <p:sp>
        <p:nvSpPr>
          <p:cNvPr id="6" name="Shape 3"/>
          <p:cNvSpPr/>
          <p:nvPr/>
        </p:nvSpPr>
        <p:spPr>
          <a:xfrm>
            <a:off x="914400" y="1691640"/>
            <a:ext cx="6949440" cy="2880360"/>
          </a:xfrm>
          <a:prstGeom prst="roundRect">
            <a:avLst>
              <a:gd name="adj" fmla="val 2857"/>
            </a:avLst>
          </a:prstGeom>
          <a:solidFill>
            <a:srgbClr val="0D1520"/>
          </a:solidFill>
          <a:ln w="15875">
            <a:solidFill>
              <a:srgbClr val="2A3A50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1115568" y="1874520"/>
            <a:ext cx="100584" cy="100584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8" name="Shape 5"/>
          <p:cNvSpPr/>
          <p:nvPr/>
        </p:nvSpPr>
        <p:spPr>
          <a:xfrm>
            <a:off x="1316736" y="1874520"/>
            <a:ext cx="100584" cy="100584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9" name="Shape 6"/>
          <p:cNvSpPr/>
          <p:nvPr/>
        </p:nvSpPr>
        <p:spPr>
          <a:xfrm>
            <a:off x="1517904" y="1874520"/>
            <a:ext cx="100584" cy="100584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10" name="Text 7"/>
          <p:cNvSpPr/>
          <p:nvPr/>
        </p:nvSpPr>
        <p:spPr>
          <a:xfrm>
            <a:off x="1170432" y="2148840"/>
            <a:ext cx="6492240" cy="23134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7B8A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nje here per projekt - lidh dosjen me GitHub-in</a:t>
            </a:r>
            <a:endParaRPr lang="en-US" sz="120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200" b="1" dirty="0">
                <a:solidFill>
                  <a:srgbClr val="5FB3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</a:t>
            </a:r>
            <a:pPr indent="0" marL="0">
              <a:lnSpc>
                <a:spcPct val="106000"/>
              </a:lnSpc>
              <a:buNone/>
            </a:pPr>
            <a:r>
              <a:rPr lang="en-US" sz="1200" b="1" dirty="0">
                <a:solidFill>
                  <a:srgbClr val="E896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</a:t>
            </a:r>
            <a:pPr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200" b="1" dirty="0">
                <a:solidFill>
                  <a:srgbClr val="F6A6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remote</a:t>
            </a:r>
            <a:pPr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200" b="1" dirty="0">
                <a:solidFill>
                  <a:srgbClr val="F6A6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add</a:t>
            </a:r>
            <a:pPr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origin</a:t>
            </a:r>
            <a:pPr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https://github.com/ana/projekti.git</a:t>
            </a:r>
            <a:endParaRPr lang="en-US" sz="120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C9D6E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0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7B8A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dergo commit-et e mia ne server</a:t>
            </a:r>
            <a:endParaRPr lang="en-US" sz="120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200" b="1" dirty="0">
                <a:solidFill>
                  <a:srgbClr val="5FB3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</a:t>
            </a:r>
            <a:pPr indent="0" marL="0">
              <a:lnSpc>
                <a:spcPct val="106000"/>
              </a:lnSpc>
              <a:buNone/>
            </a:pPr>
            <a:r>
              <a:rPr lang="en-US" sz="1200" b="1" dirty="0">
                <a:solidFill>
                  <a:srgbClr val="E896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</a:t>
            </a:r>
            <a:pPr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200" b="1" dirty="0">
                <a:solidFill>
                  <a:srgbClr val="F6A6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push</a:t>
            </a:r>
            <a:pPr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origin</a:t>
            </a:r>
            <a:pPr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main</a:t>
            </a:r>
            <a:endParaRPr lang="en-US" sz="120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C9D6E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0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7B8A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merr ndryshimet e kolegeve</a:t>
            </a:r>
            <a:endParaRPr lang="en-US" sz="120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200" b="1" dirty="0">
                <a:solidFill>
                  <a:srgbClr val="5FB3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</a:t>
            </a:r>
            <a:pPr indent="0" marL="0">
              <a:lnSpc>
                <a:spcPct val="106000"/>
              </a:lnSpc>
              <a:buNone/>
            </a:pPr>
            <a:r>
              <a:rPr lang="en-US" sz="1200" b="1" dirty="0">
                <a:solidFill>
                  <a:srgbClr val="E896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</a:t>
            </a:r>
            <a:pPr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200" b="1" dirty="0">
                <a:solidFill>
                  <a:srgbClr val="F6A6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pull</a:t>
            </a:r>
            <a:pPr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origin</a:t>
            </a:r>
            <a:pPr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main</a:t>
            </a:r>
            <a:endParaRPr lang="en-US" sz="120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C9D6E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Updating 9f8e7d6..a1b2c3d</a:t>
            </a:r>
            <a:endParaRPr lang="en-US" sz="120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C9D6E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Main.java | 12 ++++++-----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8183880" y="1691640"/>
            <a:ext cx="3429000" cy="2286000"/>
          </a:xfrm>
          <a:prstGeom prst="roundRect">
            <a:avLst>
              <a:gd name="adj" fmla="val 4000"/>
            </a:avLst>
          </a:prstGeom>
          <a:solidFill>
            <a:srgbClr val="1E3050"/>
          </a:solidFill>
          <a:ln/>
        </p:spPr>
      </p:sp>
      <p:sp>
        <p:nvSpPr>
          <p:cNvPr id="12" name="Text 9"/>
          <p:cNvSpPr/>
          <p:nvPr/>
        </p:nvSpPr>
        <p:spPr>
          <a:xfrm>
            <a:off x="8430768" y="1856232"/>
            <a:ext cx="2971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6A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Fjalori: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8430768" y="2240280"/>
            <a:ext cx="301752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origin</a:t>
            </a:r>
            <a:pPr indent="0" marL="0">
              <a:lnSpc>
                <a:spcPct val="108000"/>
              </a:lnSpc>
              <a:spcAft>
                <a:spcPts val="800"/>
              </a:spcAft>
              <a:buNone/>
            </a:pPr>
            <a:r>
              <a:rPr lang="en-US" sz="1250" dirty="0">
                <a:solidFill>
                  <a:srgbClr val="D7E0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= pseudonimi i serverit</a:t>
            </a:r>
            <a:endParaRPr lang="en-US" sz="12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main</a:t>
            </a:r>
            <a:pPr indent="0" marL="0">
              <a:lnSpc>
                <a:spcPct val="108000"/>
              </a:lnSpc>
              <a:spcAft>
                <a:spcPts val="800"/>
              </a:spcAft>
              <a:buNone/>
            </a:pPr>
            <a:r>
              <a:rPr lang="en-US" sz="1250" dirty="0">
                <a:solidFill>
                  <a:srgbClr val="D7E0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= dega kryesore</a:t>
            </a:r>
            <a:endParaRPr lang="en-US" sz="12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50" b="1" dirty="0">
                <a:solidFill>
                  <a:srgbClr val="F6A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push = ngarko, pull = shkarko</a:t>
            </a:r>
            <a:endParaRPr lang="en-US" sz="1250" dirty="0"/>
          </a:p>
        </p:txBody>
      </p:sp>
      <p:sp>
        <p:nvSpPr>
          <p:cNvPr id="14" name="Shape 11"/>
          <p:cNvSpPr/>
          <p:nvPr/>
        </p:nvSpPr>
        <p:spPr>
          <a:xfrm>
            <a:off x="8183880" y="4206240"/>
            <a:ext cx="3429000" cy="1691640"/>
          </a:xfrm>
          <a:prstGeom prst="roundRect">
            <a:avLst>
              <a:gd name="adj" fmla="val 5405"/>
            </a:avLst>
          </a:prstGeom>
          <a:solidFill>
            <a:srgbClr val="3A2430"/>
          </a:solidFill>
          <a:ln w="15875">
            <a:solidFill>
              <a:srgbClr val="C0655A"/>
            </a:solidFill>
            <a:prstDash val="solid"/>
          </a:ln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12480" y="4389120"/>
            <a:ext cx="329184" cy="329184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8823960" y="4389120"/>
            <a:ext cx="2560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08A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Rregull i artë</a:t>
            </a:r>
            <a:endParaRPr lang="en-US" sz="1300" dirty="0"/>
          </a:p>
        </p:txBody>
      </p:sp>
      <p:sp>
        <p:nvSpPr>
          <p:cNvPr id="17" name="Text 13"/>
          <p:cNvSpPr/>
          <p:nvPr/>
        </p:nvSpPr>
        <p:spPr>
          <a:xfrm>
            <a:off x="8412480" y="4800600"/>
            <a:ext cx="30175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F0C6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Bëni pull PARA se të nisni punën çdo ditë — që të mos punoni mbi një version të vjetruar.</a:t>
            </a:r>
            <a:endParaRPr lang="en-US" sz="1200" dirty="0"/>
          </a:p>
        </p:txBody>
      </p:sp>
      <p:sp>
        <p:nvSpPr>
          <p:cNvPr id="18" name="Text 14"/>
          <p:cNvSpPr/>
          <p:nvPr/>
        </p:nvSpPr>
        <p:spPr>
          <a:xfrm>
            <a:off x="11185855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497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658368" cy="658368"/>
          </a:xfrm>
          <a:prstGeom prst="roundRect">
            <a:avLst>
              <a:gd name="adj" fmla="val 16667"/>
            </a:avLst>
          </a:prstGeom>
          <a:solidFill>
            <a:srgbClr val="E8730C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4944" y="603504"/>
            <a:ext cx="365760" cy="3657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71600" y="457200"/>
            <a:ext cx="9601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873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IDEJA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1371600" y="676656"/>
            <a:ext cx="10241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700" b="1" dirty="0">
                <a:solidFill>
                  <a:srgbClr val="14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Degët (branches) — provo pa frikë</a:t>
            </a:r>
            <a:endParaRPr lang="en-US" sz="2700" dirty="0"/>
          </a:p>
        </p:txBody>
      </p:sp>
      <p:sp>
        <p:nvSpPr>
          <p:cNvPr id="6" name="Shape 3"/>
          <p:cNvSpPr/>
          <p:nvPr/>
        </p:nvSpPr>
        <p:spPr>
          <a:xfrm>
            <a:off x="1005840" y="3017520"/>
            <a:ext cx="9692640" cy="0"/>
          </a:xfrm>
          <a:prstGeom prst="line">
            <a:avLst/>
          </a:prstGeom>
          <a:noFill/>
          <a:ln w="38100">
            <a:solidFill>
              <a:srgbClr val="142033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1143000" y="2880360"/>
            <a:ext cx="274320" cy="274320"/>
          </a:xfrm>
          <a:prstGeom prst="ellipse">
            <a:avLst/>
          </a:prstGeom>
          <a:solidFill>
            <a:srgbClr val="142033"/>
          </a:solidFill>
          <a:ln/>
        </p:spPr>
      </p:sp>
      <p:sp>
        <p:nvSpPr>
          <p:cNvPr id="8" name="Shape 5"/>
          <p:cNvSpPr/>
          <p:nvPr/>
        </p:nvSpPr>
        <p:spPr>
          <a:xfrm>
            <a:off x="2788920" y="2880360"/>
            <a:ext cx="274320" cy="274320"/>
          </a:xfrm>
          <a:prstGeom prst="ellipse">
            <a:avLst/>
          </a:prstGeom>
          <a:solidFill>
            <a:srgbClr val="142033"/>
          </a:solidFill>
          <a:ln/>
        </p:spPr>
      </p:sp>
      <p:sp>
        <p:nvSpPr>
          <p:cNvPr id="9" name="Shape 6"/>
          <p:cNvSpPr/>
          <p:nvPr/>
        </p:nvSpPr>
        <p:spPr>
          <a:xfrm>
            <a:off x="4434840" y="2880360"/>
            <a:ext cx="274320" cy="274320"/>
          </a:xfrm>
          <a:prstGeom prst="ellipse">
            <a:avLst/>
          </a:prstGeom>
          <a:solidFill>
            <a:srgbClr val="142033"/>
          </a:solidFill>
          <a:ln/>
        </p:spPr>
      </p:sp>
      <p:sp>
        <p:nvSpPr>
          <p:cNvPr id="10" name="Shape 7"/>
          <p:cNvSpPr/>
          <p:nvPr/>
        </p:nvSpPr>
        <p:spPr>
          <a:xfrm>
            <a:off x="8641080" y="2880360"/>
            <a:ext cx="274320" cy="274320"/>
          </a:xfrm>
          <a:prstGeom prst="ellipse">
            <a:avLst/>
          </a:prstGeom>
          <a:solidFill>
            <a:srgbClr val="142033"/>
          </a:solidFill>
          <a:ln/>
        </p:spPr>
      </p:sp>
      <p:sp>
        <p:nvSpPr>
          <p:cNvPr id="11" name="Shape 8"/>
          <p:cNvSpPr/>
          <p:nvPr/>
        </p:nvSpPr>
        <p:spPr>
          <a:xfrm>
            <a:off x="10195560" y="2880360"/>
            <a:ext cx="274320" cy="274320"/>
          </a:xfrm>
          <a:prstGeom prst="ellipse">
            <a:avLst/>
          </a:prstGeom>
          <a:solidFill>
            <a:srgbClr val="142033"/>
          </a:solidFill>
          <a:ln/>
        </p:spPr>
      </p:sp>
      <p:sp>
        <p:nvSpPr>
          <p:cNvPr id="12" name="Text 9"/>
          <p:cNvSpPr/>
          <p:nvPr/>
        </p:nvSpPr>
        <p:spPr>
          <a:xfrm>
            <a:off x="1005840" y="2487168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20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main  (versioni që funksionon)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4572000" y="3017520"/>
            <a:ext cx="1188720" cy="1051560"/>
          </a:xfrm>
          <a:prstGeom prst="line">
            <a:avLst/>
          </a:prstGeom>
          <a:noFill/>
          <a:ln w="38100">
            <a:solidFill>
              <a:srgbClr val="E8730C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5760720" y="4069080"/>
            <a:ext cx="1828800" cy="0"/>
          </a:xfrm>
          <a:prstGeom prst="line">
            <a:avLst/>
          </a:prstGeom>
          <a:noFill/>
          <a:ln w="38100">
            <a:solidFill>
              <a:srgbClr val="E8730C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7589520" y="4069080"/>
            <a:ext cx="1188720" cy="-1051560"/>
          </a:xfrm>
          <a:prstGeom prst="line">
            <a:avLst/>
          </a:prstGeom>
          <a:noFill/>
          <a:ln w="38100">
            <a:solidFill>
              <a:srgbClr val="E8730C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5897880" y="3931920"/>
            <a:ext cx="274320" cy="274320"/>
          </a:xfrm>
          <a:prstGeom prst="ellipse">
            <a:avLst/>
          </a:prstGeom>
          <a:solidFill>
            <a:srgbClr val="E8730C"/>
          </a:solidFill>
          <a:ln/>
        </p:spPr>
      </p:sp>
      <p:sp>
        <p:nvSpPr>
          <p:cNvPr id="17" name="Shape 14"/>
          <p:cNvSpPr/>
          <p:nvPr/>
        </p:nvSpPr>
        <p:spPr>
          <a:xfrm>
            <a:off x="6812280" y="3931920"/>
            <a:ext cx="274320" cy="274320"/>
          </a:xfrm>
          <a:prstGeom prst="ellipse">
            <a:avLst/>
          </a:prstGeom>
          <a:solidFill>
            <a:srgbClr val="E8730C"/>
          </a:solidFill>
          <a:ln/>
        </p:spPr>
      </p:sp>
      <p:sp>
        <p:nvSpPr>
          <p:cNvPr id="18" name="Text 15"/>
          <p:cNvSpPr/>
          <p:nvPr/>
        </p:nvSpPr>
        <p:spPr>
          <a:xfrm>
            <a:off x="5623560" y="43434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730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dega-e-re  (eksperimenti)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3977640" y="3310128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8730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branch</a:t>
            </a:r>
            <a:endParaRPr lang="en-US" sz="1050" dirty="0"/>
          </a:p>
        </p:txBody>
      </p:sp>
      <p:sp>
        <p:nvSpPr>
          <p:cNvPr id="20" name="Text 17"/>
          <p:cNvSpPr/>
          <p:nvPr/>
        </p:nvSpPr>
        <p:spPr>
          <a:xfrm>
            <a:off x="7818120" y="3310128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8730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merge</a:t>
            </a:r>
            <a:endParaRPr lang="en-US" sz="1050" dirty="0"/>
          </a:p>
        </p:txBody>
      </p:sp>
      <p:sp>
        <p:nvSpPr>
          <p:cNvPr id="21" name="Text 18"/>
          <p:cNvSpPr/>
          <p:nvPr/>
        </p:nvSpPr>
        <p:spPr>
          <a:xfrm>
            <a:off x="594360" y="4754880"/>
            <a:ext cx="1101852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300"/>
              </a:spcAft>
              <a:buSzPct val="100000"/>
              <a:buChar char="•"/>
            </a:pPr>
            <a:r>
              <a:rPr lang="en-US" sz="1300" b="1" dirty="0">
                <a:solidFill>
                  <a:srgbClr val="2631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Dega = linjë pune paralele</a:t>
            </a:r>
            <a:endParaRPr lang="en-US" sz="1300" dirty="0"/>
          </a:p>
          <a:p>
            <a:pPr marL="203200" indent="-203200"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rgbClr val="2631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Puna e re bëhet mënjanë; main mbetet i pastër dhe funksional.</a:t>
            </a:r>
            <a:endParaRPr lang="en-US" sz="1300" dirty="0"/>
          </a:p>
          <a:p>
            <a:pPr marL="203200" indent="-203200">
              <a:spcAft>
                <a:spcPts val="300"/>
              </a:spcAft>
              <a:buSzPct val="100000"/>
              <a:buChar char="•"/>
            </a:pPr>
            <a:r>
              <a:rPr lang="en-US" sz="1300" b="1" dirty="0">
                <a:solidFill>
                  <a:srgbClr val="2631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Nëse ideja del e keqe — fshihet dega</a:t>
            </a:r>
            <a:endParaRPr lang="en-US" sz="1300" dirty="0"/>
          </a:p>
          <a:p>
            <a:pPr marL="203200" indent="-203200"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rgbClr val="2631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Asgjë nuk prishet te versioni kryesor.</a:t>
            </a:r>
            <a:endParaRPr lang="en-US" sz="1300" dirty="0"/>
          </a:p>
          <a:p>
            <a:pPr marL="203200" indent="-203200">
              <a:spcAft>
                <a:spcPts val="300"/>
              </a:spcAft>
              <a:buSzPct val="100000"/>
              <a:buChar char="•"/>
            </a:pPr>
            <a:r>
              <a:rPr lang="en-US" sz="1300" b="1" dirty="0">
                <a:solidFill>
                  <a:srgbClr val="2631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Nëse del e mirë — bashkohet (merge)</a:t>
            </a:r>
            <a:endParaRPr lang="en-US" sz="1300" dirty="0"/>
          </a:p>
          <a:p>
            <a:pPr marL="203200" indent="-203200"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rgbClr val="2631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Ndryshimet kthehen te main me një komandë.</a:t>
            </a:r>
            <a:endParaRPr lang="en-US" sz="1300" dirty="0"/>
          </a:p>
        </p:txBody>
      </p:sp>
      <p:sp>
        <p:nvSpPr>
          <p:cNvPr id="22" name="Text 19"/>
          <p:cNvSpPr/>
          <p:nvPr/>
        </p:nvSpPr>
        <p:spPr>
          <a:xfrm>
            <a:off x="11185855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A78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100" dirty="0"/>
          </a:p>
        </p:txBody>
      </p:sp>
      <p:sp>
        <p:nvSpPr>
          <p:cNvPr id="23" name="Text 20"/>
          <p:cNvSpPr/>
          <p:nvPr/>
        </p:nvSpPr>
        <p:spPr>
          <a:xfrm>
            <a:off x="548640" y="63550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A78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· Leksioni 8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420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" y="502920"/>
            <a:ext cx="658368" cy="658368"/>
          </a:xfrm>
          <a:prstGeom prst="roundRect">
            <a:avLst>
              <a:gd name="adj" fmla="val 16667"/>
            </a:avLst>
          </a:prstGeom>
          <a:solidFill>
            <a:srgbClr val="E8730C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2104" y="649224"/>
            <a:ext cx="365760" cy="3657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508760" y="5029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6A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SESIONI I PLOTË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1508760" y="749808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Komandat e degëve dhe bashkimi</a:t>
            </a:r>
            <a:endParaRPr lang="en-US" sz="2800" dirty="0"/>
          </a:p>
        </p:txBody>
      </p:sp>
      <p:sp>
        <p:nvSpPr>
          <p:cNvPr id="6" name="Shape 3"/>
          <p:cNvSpPr/>
          <p:nvPr/>
        </p:nvSpPr>
        <p:spPr>
          <a:xfrm>
            <a:off x="914400" y="1691640"/>
            <a:ext cx="7223760" cy="4069080"/>
          </a:xfrm>
          <a:prstGeom prst="roundRect">
            <a:avLst>
              <a:gd name="adj" fmla="val 2022"/>
            </a:avLst>
          </a:prstGeom>
          <a:solidFill>
            <a:srgbClr val="0D1520"/>
          </a:solidFill>
          <a:ln w="15875">
            <a:solidFill>
              <a:srgbClr val="2A3A50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1115568" y="1874520"/>
            <a:ext cx="100584" cy="100584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8" name="Shape 5"/>
          <p:cNvSpPr/>
          <p:nvPr/>
        </p:nvSpPr>
        <p:spPr>
          <a:xfrm>
            <a:off x="1316736" y="1874520"/>
            <a:ext cx="100584" cy="100584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9" name="Shape 6"/>
          <p:cNvSpPr/>
          <p:nvPr/>
        </p:nvSpPr>
        <p:spPr>
          <a:xfrm>
            <a:off x="1517904" y="1874520"/>
            <a:ext cx="100584" cy="100584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10" name="Text 7"/>
          <p:cNvSpPr/>
          <p:nvPr/>
        </p:nvSpPr>
        <p:spPr>
          <a:xfrm>
            <a:off x="1170432" y="2148840"/>
            <a:ext cx="6766560" cy="35021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200" b="1" dirty="0">
                <a:solidFill>
                  <a:srgbClr val="5FB3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</a:t>
            </a:r>
            <a:pPr indent="0" marL="0">
              <a:lnSpc>
                <a:spcPct val="106000"/>
              </a:lnSpc>
              <a:buNone/>
            </a:pPr>
            <a:r>
              <a:rPr lang="en-US" sz="1200" b="1" dirty="0">
                <a:solidFill>
                  <a:srgbClr val="E896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</a:t>
            </a:r>
            <a:pPr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200" b="1" dirty="0">
                <a:solidFill>
                  <a:srgbClr val="F6A6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branch</a:t>
            </a:r>
            <a:pPr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 </a:t>
            </a:r>
            <a:pPr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7B8A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cilat dege kam?</a:t>
            </a:r>
            <a:endParaRPr lang="en-US" sz="120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C9D6E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* main</a:t>
            </a:r>
            <a:endParaRPr lang="en-US" sz="120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C9D6E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0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200" b="1" dirty="0">
                <a:solidFill>
                  <a:srgbClr val="5FB3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</a:t>
            </a:r>
            <a:pPr indent="0" marL="0">
              <a:lnSpc>
                <a:spcPct val="106000"/>
              </a:lnSpc>
              <a:buNone/>
            </a:pPr>
            <a:r>
              <a:rPr lang="en-US" sz="1200" b="1" dirty="0">
                <a:solidFill>
                  <a:srgbClr val="E896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</a:t>
            </a:r>
            <a:pPr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200" b="1" dirty="0">
                <a:solidFill>
                  <a:srgbClr val="F6A6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checkout</a:t>
            </a:r>
            <a:pPr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C9A0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-b</a:t>
            </a:r>
            <a:pPr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test-metoda</a:t>
            </a:r>
            <a:pPr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7B8A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krijo DHE kalo</a:t>
            </a:r>
            <a:endParaRPr lang="en-US" sz="120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C9D6E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Switched to a new branch "test-metoda"</a:t>
            </a:r>
            <a:endParaRPr lang="en-US" sz="120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C9D6E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0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200" b="1" dirty="0">
                <a:solidFill>
                  <a:srgbClr val="5FB3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</a:t>
            </a:r>
            <a:pPr indent="0" marL="0">
              <a:lnSpc>
                <a:spcPct val="106000"/>
              </a:lnSpc>
              <a:buNone/>
            </a:pPr>
            <a:r>
              <a:rPr lang="en-US" sz="1200" b="1" dirty="0">
                <a:solidFill>
                  <a:srgbClr val="E896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</a:t>
            </a:r>
            <a:pPr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200" b="1" dirty="0">
                <a:solidFill>
                  <a:srgbClr val="F6A6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add</a:t>
            </a:r>
            <a:pPr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endParaRPr lang="en-US" sz="120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200" b="1" dirty="0">
                <a:solidFill>
                  <a:srgbClr val="5FB3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</a:t>
            </a:r>
            <a:pPr indent="0" marL="0">
              <a:lnSpc>
                <a:spcPct val="106000"/>
              </a:lnSpc>
              <a:buNone/>
            </a:pPr>
            <a:r>
              <a:rPr lang="en-US" sz="1200" b="1" dirty="0">
                <a:solidFill>
                  <a:srgbClr val="E896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</a:t>
            </a:r>
            <a:pPr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200" b="1" dirty="0">
                <a:solidFill>
                  <a:srgbClr val="F6A6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commit</a:t>
            </a:r>
            <a:pPr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C9A0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-m</a:t>
            </a:r>
            <a:pPr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8FCB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"Provova metoden e re"</a:t>
            </a:r>
            <a:endParaRPr lang="en-US" sz="120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C9D6E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0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200" b="1" dirty="0">
                <a:solidFill>
                  <a:srgbClr val="5FB3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</a:t>
            </a:r>
            <a:pPr indent="0" marL="0">
              <a:lnSpc>
                <a:spcPct val="106000"/>
              </a:lnSpc>
              <a:buNone/>
            </a:pPr>
            <a:r>
              <a:rPr lang="en-US" sz="1200" b="1" dirty="0">
                <a:solidFill>
                  <a:srgbClr val="E896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</a:t>
            </a:r>
            <a:pPr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200" b="1" dirty="0">
                <a:solidFill>
                  <a:srgbClr val="F6A6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checkout</a:t>
            </a:r>
            <a:pPr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main</a:t>
            </a:r>
            <a:pPr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</a:t>
            </a:r>
            <a:pPr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7B8A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kthehu te kryesorja</a:t>
            </a:r>
            <a:endParaRPr lang="en-US" sz="120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200" b="1" dirty="0">
                <a:solidFill>
                  <a:srgbClr val="5FB3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</a:t>
            </a:r>
            <a:pPr indent="0" marL="0">
              <a:lnSpc>
                <a:spcPct val="106000"/>
              </a:lnSpc>
              <a:buNone/>
            </a:pPr>
            <a:r>
              <a:rPr lang="en-US" sz="1200" b="1" dirty="0">
                <a:solidFill>
                  <a:srgbClr val="E896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</a:t>
            </a:r>
            <a:pPr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200" b="1" dirty="0">
                <a:solidFill>
                  <a:srgbClr val="F6A6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merge</a:t>
            </a:r>
            <a:pPr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test-metoda</a:t>
            </a:r>
            <a:pPr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</a:t>
            </a:r>
            <a:pPr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7B8A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sill ndryshimet</a:t>
            </a:r>
            <a:endParaRPr lang="en-US" sz="120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C9D6E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Fast-forward</a:t>
            </a:r>
            <a:endParaRPr lang="en-US" sz="120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C9D6E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Main.java | 8 ++++++++</a:t>
            </a:r>
            <a:endParaRPr lang="en-US" sz="120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C9D6E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0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200" b="1" dirty="0">
                <a:solidFill>
                  <a:srgbClr val="5FB3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</a:t>
            </a:r>
            <a:pPr indent="0" marL="0">
              <a:lnSpc>
                <a:spcPct val="106000"/>
              </a:lnSpc>
              <a:buNone/>
            </a:pPr>
            <a:r>
              <a:rPr lang="en-US" sz="1200" b="1" dirty="0">
                <a:solidFill>
                  <a:srgbClr val="E896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</a:t>
            </a:r>
            <a:pPr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200" b="1" dirty="0">
                <a:solidFill>
                  <a:srgbClr val="F6A6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branch</a:t>
            </a:r>
            <a:pPr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C9A0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-d</a:t>
            </a:r>
            <a:pPr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test-metoda</a:t>
            </a:r>
            <a:pPr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</a:t>
            </a:r>
            <a:pPr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7B8A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fshi degen e mbaruar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8458200" y="1691640"/>
            <a:ext cx="3154680" cy="4160520"/>
          </a:xfrm>
          <a:prstGeom prst="roundRect">
            <a:avLst>
              <a:gd name="adj" fmla="val 2899"/>
            </a:avLst>
          </a:prstGeom>
          <a:solidFill>
            <a:srgbClr val="1E3050"/>
          </a:solidFill>
          <a:ln/>
        </p:spPr>
      </p:sp>
      <p:sp>
        <p:nvSpPr>
          <p:cNvPr id="12" name="Text 9"/>
          <p:cNvSpPr/>
          <p:nvPr/>
        </p:nvSpPr>
        <p:spPr>
          <a:xfrm>
            <a:off x="8686800" y="1874520"/>
            <a:ext cx="2743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6A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Përmbledhje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8686800" y="2286000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branch</a:t>
            </a:r>
            <a:endParaRPr lang="en-US" sz="1150" dirty="0"/>
          </a:p>
        </p:txBody>
      </p:sp>
      <p:sp>
        <p:nvSpPr>
          <p:cNvPr id="14" name="Text 11"/>
          <p:cNvSpPr/>
          <p:nvPr/>
        </p:nvSpPr>
        <p:spPr>
          <a:xfrm>
            <a:off x="8686800" y="2578608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DB0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lista e degëve</a:t>
            </a:r>
            <a:endParaRPr lang="en-US" sz="1150" dirty="0"/>
          </a:p>
        </p:txBody>
      </p:sp>
      <p:sp>
        <p:nvSpPr>
          <p:cNvPr id="15" name="Text 12"/>
          <p:cNvSpPr/>
          <p:nvPr/>
        </p:nvSpPr>
        <p:spPr>
          <a:xfrm>
            <a:off x="8686800" y="2999232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checkout -b X</a:t>
            </a:r>
            <a:endParaRPr lang="en-US" sz="1150" dirty="0"/>
          </a:p>
        </p:txBody>
      </p:sp>
      <p:sp>
        <p:nvSpPr>
          <p:cNvPr id="16" name="Text 13"/>
          <p:cNvSpPr/>
          <p:nvPr/>
        </p:nvSpPr>
        <p:spPr>
          <a:xfrm>
            <a:off x="8686800" y="3291840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DB0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krijo + kalo te X</a:t>
            </a:r>
            <a:endParaRPr lang="en-US" sz="1150" dirty="0"/>
          </a:p>
        </p:txBody>
      </p:sp>
      <p:sp>
        <p:nvSpPr>
          <p:cNvPr id="17" name="Text 14"/>
          <p:cNvSpPr/>
          <p:nvPr/>
        </p:nvSpPr>
        <p:spPr>
          <a:xfrm>
            <a:off x="8686800" y="3712464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checkout X</a:t>
            </a:r>
            <a:endParaRPr lang="en-US" sz="1150" dirty="0"/>
          </a:p>
        </p:txBody>
      </p:sp>
      <p:sp>
        <p:nvSpPr>
          <p:cNvPr id="18" name="Text 15"/>
          <p:cNvSpPr/>
          <p:nvPr/>
        </p:nvSpPr>
        <p:spPr>
          <a:xfrm>
            <a:off x="8686800" y="4005072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DB0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kalo te dega X</a:t>
            </a:r>
            <a:endParaRPr lang="en-US" sz="1150" dirty="0"/>
          </a:p>
        </p:txBody>
      </p:sp>
      <p:sp>
        <p:nvSpPr>
          <p:cNvPr id="19" name="Text 16"/>
          <p:cNvSpPr/>
          <p:nvPr/>
        </p:nvSpPr>
        <p:spPr>
          <a:xfrm>
            <a:off x="8686800" y="4425696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merge X</a:t>
            </a:r>
            <a:endParaRPr lang="en-US" sz="1150" dirty="0"/>
          </a:p>
        </p:txBody>
      </p:sp>
      <p:sp>
        <p:nvSpPr>
          <p:cNvPr id="20" name="Text 17"/>
          <p:cNvSpPr/>
          <p:nvPr/>
        </p:nvSpPr>
        <p:spPr>
          <a:xfrm>
            <a:off x="8686800" y="4718304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DB0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sill X-in këtu</a:t>
            </a:r>
            <a:endParaRPr lang="en-US" sz="1150" dirty="0"/>
          </a:p>
        </p:txBody>
      </p:sp>
      <p:sp>
        <p:nvSpPr>
          <p:cNvPr id="21" name="Text 18"/>
          <p:cNvSpPr/>
          <p:nvPr/>
        </p:nvSpPr>
        <p:spPr>
          <a:xfrm>
            <a:off x="8686800" y="5138928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branch -d X</a:t>
            </a:r>
            <a:endParaRPr lang="en-US" sz="1150" dirty="0"/>
          </a:p>
        </p:txBody>
      </p:sp>
      <p:sp>
        <p:nvSpPr>
          <p:cNvPr id="22" name="Text 19"/>
          <p:cNvSpPr/>
          <p:nvPr/>
        </p:nvSpPr>
        <p:spPr>
          <a:xfrm>
            <a:off x="8686800" y="5431536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DB0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fshi degën X</a:t>
            </a:r>
            <a:endParaRPr lang="en-US" sz="1150" dirty="0"/>
          </a:p>
        </p:txBody>
      </p:sp>
      <p:sp>
        <p:nvSpPr>
          <p:cNvPr id="23" name="Text 20"/>
          <p:cNvSpPr/>
          <p:nvPr/>
        </p:nvSpPr>
        <p:spPr>
          <a:xfrm>
            <a:off x="8686800" y="5870448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i="1" dirty="0">
                <a:solidFill>
                  <a:srgbClr val="8497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switch X është alternativa moderne e checkout.</a:t>
            </a:r>
            <a:endParaRPr lang="en-US" sz="1050" dirty="0"/>
          </a:p>
        </p:txBody>
      </p:sp>
      <p:sp>
        <p:nvSpPr>
          <p:cNvPr id="24" name="Text 21"/>
          <p:cNvSpPr/>
          <p:nvPr/>
        </p:nvSpPr>
        <p:spPr>
          <a:xfrm>
            <a:off x="11185855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497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658368" cy="658368"/>
          </a:xfrm>
          <a:prstGeom prst="roundRect">
            <a:avLst>
              <a:gd name="adj" fmla="val 16667"/>
            </a:avLst>
          </a:prstGeom>
          <a:solidFill>
            <a:srgbClr val="E8730C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4944" y="603504"/>
            <a:ext cx="365760" cy="3657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71600" y="457200"/>
            <a:ext cx="9601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873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KUR DY VETA PREKIN TË NJËJTIN RRESHT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1371600" y="676656"/>
            <a:ext cx="10241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700" b="1" dirty="0">
                <a:solidFill>
                  <a:srgbClr val="14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Konfliktet — mos u frikësoni</a:t>
            </a:r>
            <a:endParaRPr lang="en-US" sz="2700" dirty="0"/>
          </a:p>
        </p:txBody>
      </p:sp>
      <p:sp>
        <p:nvSpPr>
          <p:cNvPr id="6" name="Shape 3"/>
          <p:cNvSpPr/>
          <p:nvPr/>
        </p:nvSpPr>
        <p:spPr>
          <a:xfrm>
            <a:off x="594360" y="1645920"/>
            <a:ext cx="6675120" cy="1216152"/>
          </a:xfrm>
          <a:prstGeom prst="roundRect">
            <a:avLst>
              <a:gd name="adj" fmla="val 6767"/>
            </a:avLst>
          </a:prstGeom>
          <a:solidFill>
            <a:srgbClr val="0D1520"/>
          </a:solidFill>
          <a:ln w="15875">
            <a:solidFill>
              <a:srgbClr val="2A3A50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795528" y="1828800"/>
            <a:ext cx="100584" cy="100584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8" name="Shape 5"/>
          <p:cNvSpPr/>
          <p:nvPr/>
        </p:nvSpPr>
        <p:spPr>
          <a:xfrm>
            <a:off x="996696" y="1828800"/>
            <a:ext cx="100584" cy="100584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9" name="Shape 6"/>
          <p:cNvSpPr/>
          <p:nvPr/>
        </p:nvSpPr>
        <p:spPr>
          <a:xfrm>
            <a:off x="1197864" y="1828800"/>
            <a:ext cx="100584" cy="100584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10" name="Text 7"/>
          <p:cNvSpPr/>
          <p:nvPr/>
        </p:nvSpPr>
        <p:spPr>
          <a:xfrm>
            <a:off x="850392" y="2103120"/>
            <a:ext cx="6217920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200" b="1" dirty="0">
                <a:solidFill>
                  <a:srgbClr val="5FB3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</a:t>
            </a:r>
            <a:pPr indent="0" marL="0">
              <a:lnSpc>
                <a:spcPct val="106000"/>
              </a:lnSpc>
              <a:buNone/>
            </a:pPr>
            <a:r>
              <a:rPr lang="en-US" sz="1200" b="1" dirty="0">
                <a:solidFill>
                  <a:srgbClr val="E896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</a:t>
            </a:r>
            <a:pPr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200" b="1" dirty="0">
                <a:solidFill>
                  <a:srgbClr val="F6A6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merge</a:t>
            </a:r>
            <a:pPr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dega-e-anes</a:t>
            </a:r>
            <a:endParaRPr lang="en-US" sz="120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C9D6E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CONFLICT (content): Merge conflict in Main.java</a:t>
            </a:r>
            <a:endParaRPr lang="en-US" sz="120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C9D6E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Automatic merge failed; fix conflicts and commit.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594360" y="2971800"/>
            <a:ext cx="6675120" cy="1874520"/>
          </a:xfrm>
          <a:prstGeom prst="roundRect">
            <a:avLst>
              <a:gd name="adj" fmla="val 4390"/>
            </a:avLst>
          </a:prstGeom>
          <a:solidFill>
            <a:srgbClr val="1B2736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868680" y="3090672"/>
            <a:ext cx="6126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9DB0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Main.java — çfarë shihni brenda:</a:t>
            </a:r>
            <a:endParaRPr lang="en-US" sz="1150" dirty="0"/>
          </a:p>
        </p:txBody>
      </p:sp>
      <p:sp>
        <p:nvSpPr>
          <p:cNvPr id="13" name="Text 10"/>
          <p:cNvSpPr/>
          <p:nvPr/>
        </p:nvSpPr>
        <p:spPr>
          <a:xfrm>
            <a:off x="868680" y="3410712"/>
            <a:ext cx="617220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E08A7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&lt;&lt;&lt;&lt;&lt;&lt;&lt; HEAD
</a:t>
            </a:r>
            <a:endParaRPr lang="en-US" sz="12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8FCB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 shuma = 0;          // versioni IM
</a:t>
            </a:r>
            <a:endParaRPr lang="en-US" sz="12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9DB0C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=======
</a:t>
            </a:r>
            <a:endParaRPr lang="en-US" sz="12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5FB3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double shuma = 0;       // versioni i saj
</a:t>
            </a:r>
            <a:endParaRPr lang="en-US" sz="12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E08A7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&gt;&gt;&gt;&gt;&gt;&gt;&gt; dega-e-anes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7543800" y="1737360"/>
            <a:ext cx="406908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500"/>
              </a:spcAft>
              <a:buSzPct val="100000"/>
              <a:buChar char="•"/>
            </a:pPr>
            <a:r>
              <a:rPr lang="en-US" sz="1250" b="1" dirty="0">
                <a:solidFill>
                  <a:srgbClr val="2631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s'di cilin version doni — pyet ju</a:t>
            </a:r>
            <a:endParaRPr lang="en-US" sz="1250" dirty="0"/>
          </a:p>
          <a:p>
            <a:pPr marL="203200" indent="-2032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2631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Nuk është gabim, është pyetje.</a:t>
            </a:r>
            <a:endParaRPr lang="en-US" sz="1250" dirty="0"/>
          </a:p>
          <a:p>
            <a:pPr marL="203200" indent="-203200">
              <a:spcAft>
                <a:spcPts val="500"/>
              </a:spcAft>
              <a:buSzPct val="100000"/>
              <a:buChar char="•"/>
            </a:pPr>
            <a:r>
              <a:rPr lang="en-US" sz="1250" b="1" dirty="0">
                <a:solidFill>
                  <a:srgbClr val="2631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Hapni skedarin dhe zgjidhni</a:t>
            </a:r>
            <a:endParaRPr lang="en-US" sz="1250" dirty="0"/>
          </a:p>
          <a:p>
            <a:pPr marL="203200" indent="-2032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2631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Mbani rreshtat e duhur, fshini &lt;&lt;&lt;&lt;, ====, &gt;&gt;&gt;&gt; .</a:t>
            </a:r>
            <a:endParaRPr lang="en-US" sz="1250" dirty="0"/>
          </a:p>
          <a:p>
            <a:pPr marL="203200" indent="-203200">
              <a:spcAft>
                <a:spcPts val="500"/>
              </a:spcAft>
              <a:buSzPct val="100000"/>
              <a:buChar char="•"/>
            </a:pPr>
            <a:r>
              <a:rPr lang="en-US" sz="1250" b="1" dirty="0">
                <a:solidFill>
                  <a:srgbClr val="2631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Pastaj ruani zgjidhjen</a:t>
            </a:r>
            <a:endParaRPr lang="en-US" sz="1250" dirty="0"/>
          </a:p>
        </p:txBody>
      </p:sp>
      <p:sp>
        <p:nvSpPr>
          <p:cNvPr id="15" name="Shape 12"/>
          <p:cNvSpPr/>
          <p:nvPr/>
        </p:nvSpPr>
        <p:spPr>
          <a:xfrm>
            <a:off x="7543800" y="4251960"/>
            <a:ext cx="4069080" cy="978408"/>
          </a:xfrm>
          <a:prstGeom prst="roundRect">
            <a:avLst>
              <a:gd name="adj" fmla="val 8411"/>
            </a:avLst>
          </a:prstGeom>
          <a:solidFill>
            <a:srgbClr val="0D1520"/>
          </a:solidFill>
          <a:ln w="15875">
            <a:solidFill>
              <a:srgbClr val="2A3A50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7744968" y="4434840"/>
            <a:ext cx="100584" cy="100584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17" name="Shape 14"/>
          <p:cNvSpPr/>
          <p:nvPr/>
        </p:nvSpPr>
        <p:spPr>
          <a:xfrm>
            <a:off x="7946136" y="4434840"/>
            <a:ext cx="100584" cy="100584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18" name="Shape 15"/>
          <p:cNvSpPr/>
          <p:nvPr/>
        </p:nvSpPr>
        <p:spPr>
          <a:xfrm>
            <a:off x="8147304" y="4434840"/>
            <a:ext cx="100584" cy="100584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19" name="Text 16"/>
          <p:cNvSpPr/>
          <p:nvPr/>
        </p:nvSpPr>
        <p:spPr>
          <a:xfrm>
            <a:off x="7799832" y="4709160"/>
            <a:ext cx="3611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150" b="1" dirty="0">
                <a:solidFill>
                  <a:srgbClr val="5FB3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</a:t>
            </a:r>
            <a:pPr indent="0" marL="0">
              <a:lnSpc>
                <a:spcPct val="106000"/>
              </a:lnSpc>
              <a:buNone/>
            </a:pPr>
            <a:r>
              <a:rPr lang="en-US" sz="1150" b="1" dirty="0">
                <a:solidFill>
                  <a:srgbClr val="E896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</a:t>
            </a:r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150" b="1" dirty="0">
                <a:solidFill>
                  <a:srgbClr val="F6A6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add</a:t>
            </a:r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Main.java</a:t>
            </a:r>
            <a:endParaRPr lang="en-US" sz="11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150" b="1" dirty="0">
                <a:solidFill>
                  <a:srgbClr val="5FB3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</a:t>
            </a:r>
            <a:pPr indent="0" marL="0">
              <a:lnSpc>
                <a:spcPct val="106000"/>
              </a:lnSpc>
              <a:buNone/>
            </a:pPr>
            <a:r>
              <a:rPr lang="en-US" sz="1150" b="1" dirty="0">
                <a:solidFill>
                  <a:srgbClr val="E896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</a:t>
            </a:r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150" b="1" dirty="0">
                <a:solidFill>
                  <a:srgbClr val="F6A6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commit</a:t>
            </a:r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C9A0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-m</a:t>
            </a:r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8FCB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"Zgjidha konfliktin"</a:t>
            </a:r>
            <a:endParaRPr lang="en-US" sz="1150" dirty="0"/>
          </a:p>
        </p:txBody>
      </p:sp>
      <p:sp>
        <p:nvSpPr>
          <p:cNvPr id="20" name="Shape 17"/>
          <p:cNvSpPr/>
          <p:nvPr/>
        </p:nvSpPr>
        <p:spPr>
          <a:xfrm>
            <a:off x="594360" y="4983480"/>
            <a:ext cx="6675120" cy="1097280"/>
          </a:xfrm>
          <a:prstGeom prst="roundRect">
            <a:avLst>
              <a:gd name="adj" fmla="val 6667"/>
            </a:avLst>
          </a:prstGeom>
          <a:solidFill>
            <a:srgbClr val="FBEDDD"/>
          </a:solidFill>
          <a:ln/>
        </p:spPr>
      </p:sp>
      <p:pic>
        <p:nvPicPr>
          <p:cNvPr id="2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1248" y="5330952"/>
            <a:ext cx="347472" cy="347472"/>
          </a:xfrm>
          <a:prstGeom prst="rect">
            <a:avLst/>
          </a:prstGeom>
        </p:spPr>
      </p:pic>
      <p:sp>
        <p:nvSpPr>
          <p:cNvPr id="22" name="Text 18"/>
          <p:cNvSpPr/>
          <p:nvPr/>
        </p:nvSpPr>
        <p:spPr>
          <a:xfrm>
            <a:off x="1280160" y="5074920"/>
            <a:ext cx="5852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E873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Parandalimi:  </a:t>
            </a:r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2631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pull shpesh, commit-e të vogla, dhe ndani punën që të mos preken të njëjtët skedarë.</a:t>
            </a:r>
            <a:endParaRPr lang="en-US" sz="1250" dirty="0"/>
          </a:p>
        </p:txBody>
      </p:sp>
      <p:sp>
        <p:nvSpPr>
          <p:cNvPr id="23" name="Text 19"/>
          <p:cNvSpPr/>
          <p:nvPr/>
        </p:nvSpPr>
        <p:spPr>
          <a:xfrm>
            <a:off x="11185855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A78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100" dirty="0"/>
          </a:p>
        </p:txBody>
      </p:sp>
      <p:sp>
        <p:nvSpPr>
          <p:cNvPr id="24" name="Text 20"/>
          <p:cNvSpPr/>
          <p:nvPr/>
        </p:nvSpPr>
        <p:spPr>
          <a:xfrm>
            <a:off x="548640" y="63550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A78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· Leksioni 8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658368" cy="658368"/>
          </a:xfrm>
          <a:prstGeom prst="roundRect">
            <a:avLst>
              <a:gd name="adj" fmla="val 16667"/>
            </a:avLst>
          </a:prstGeom>
          <a:solidFill>
            <a:srgbClr val="E8730C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4944" y="603504"/>
            <a:ext cx="365760" cy="3657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71600" y="457200"/>
            <a:ext cx="9601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873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.GITIGNORE DHE KTHIMI MBRAPSHT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1371600" y="676656"/>
            <a:ext cx="10241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700" b="1" dirty="0">
                <a:solidFill>
                  <a:srgbClr val="14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 gjëra që do t'ju duhen shpejt</a:t>
            </a:r>
            <a:endParaRPr lang="en-US" sz="2700" dirty="0"/>
          </a:p>
        </p:txBody>
      </p:sp>
      <p:sp>
        <p:nvSpPr>
          <p:cNvPr id="6" name="Text 3"/>
          <p:cNvSpPr/>
          <p:nvPr/>
        </p:nvSpPr>
        <p:spPr>
          <a:xfrm>
            <a:off x="594360" y="1600200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00" kern="0" dirty="0">
                <a:solidFill>
                  <a:srgbClr val="14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.gitignore — çfarë të MOS ruhet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594360" y="1938528"/>
            <a:ext cx="5394960" cy="1828800"/>
          </a:xfrm>
          <a:prstGeom prst="roundRect">
            <a:avLst>
              <a:gd name="adj" fmla="val 4500"/>
            </a:avLst>
          </a:prstGeom>
          <a:solidFill>
            <a:srgbClr val="1B2736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868680" y="2103120"/>
            <a:ext cx="489204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7B8A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skedari .gitignore
</a:t>
            </a:r>
            <a:endParaRPr lang="en-US" sz="12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*.class
</a:t>
            </a:r>
            <a:endParaRPr lang="en-US" sz="12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out/
</a:t>
            </a:r>
            <a:endParaRPr lang="en-US" sz="12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.idea/
</a:t>
            </a:r>
            <a:endParaRPr lang="en-US" sz="12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*.log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621792" y="3858768"/>
            <a:ext cx="5349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i="1" dirty="0">
                <a:solidFill>
                  <a:srgbClr val="6A78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Ruajmë KODIN (.java), jo skedarët e gjeneruar (.class) apo cilësimet e IDE-së.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6400800" y="1600200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00" kern="0" dirty="0">
                <a:solidFill>
                  <a:srgbClr val="E873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Kthimi mbrapsht — kur gabojmë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6400800" y="1938528"/>
            <a:ext cx="5212080" cy="2404872"/>
          </a:xfrm>
          <a:prstGeom prst="roundRect">
            <a:avLst>
              <a:gd name="adj" fmla="val 3422"/>
            </a:avLst>
          </a:prstGeom>
          <a:solidFill>
            <a:srgbClr val="0D1520"/>
          </a:solidFill>
          <a:ln w="15875">
            <a:solidFill>
              <a:srgbClr val="2A3A50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6601968" y="2121408"/>
            <a:ext cx="100584" cy="100584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13" name="Shape 10"/>
          <p:cNvSpPr/>
          <p:nvPr/>
        </p:nvSpPr>
        <p:spPr>
          <a:xfrm>
            <a:off x="6803136" y="2121408"/>
            <a:ext cx="100584" cy="100584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14" name="Shape 11"/>
          <p:cNvSpPr/>
          <p:nvPr/>
        </p:nvSpPr>
        <p:spPr>
          <a:xfrm>
            <a:off x="7004304" y="2121408"/>
            <a:ext cx="100584" cy="100584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15" name="Text 12"/>
          <p:cNvSpPr/>
          <p:nvPr/>
        </p:nvSpPr>
        <p:spPr>
          <a:xfrm>
            <a:off x="6656832" y="2395728"/>
            <a:ext cx="4754880" cy="1837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7B8A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hoqa dore nga ndryshimet e paruajtura</a:t>
            </a:r>
            <a:endParaRPr lang="en-US" sz="11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150" b="1" dirty="0">
                <a:solidFill>
                  <a:srgbClr val="5FB3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</a:t>
            </a:r>
            <a:pPr indent="0" marL="0">
              <a:lnSpc>
                <a:spcPct val="106000"/>
              </a:lnSpc>
              <a:buNone/>
            </a:pPr>
            <a:r>
              <a:rPr lang="en-US" sz="1150" b="1" dirty="0">
                <a:solidFill>
                  <a:srgbClr val="E896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</a:t>
            </a:r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150" b="1" dirty="0">
                <a:solidFill>
                  <a:srgbClr val="F6A6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restore</a:t>
            </a:r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Main.java</a:t>
            </a:r>
            <a:endParaRPr lang="en-US" sz="11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C9D6E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7B8A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hiqe nga zona e pritjes (por mos e prish)</a:t>
            </a:r>
            <a:endParaRPr lang="en-US" sz="11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150" b="1" dirty="0">
                <a:solidFill>
                  <a:srgbClr val="5FB3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</a:t>
            </a:r>
            <a:pPr indent="0" marL="0">
              <a:lnSpc>
                <a:spcPct val="106000"/>
              </a:lnSpc>
              <a:buNone/>
            </a:pPr>
            <a:r>
              <a:rPr lang="en-US" sz="1150" b="1" dirty="0">
                <a:solidFill>
                  <a:srgbClr val="E896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</a:t>
            </a:r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150" b="1" dirty="0">
                <a:solidFill>
                  <a:srgbClr val="F6A6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restore</a:t>
            </a:r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C9A0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--staged</a:t>
            </a:r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Main.java</a:t>
            </a:r>
            <a:endParaRPr lang="en-US" sz="11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C9D6E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7B8A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ndrysho mesazhin e commit-it te fundit</a:t>
            </a:r>
            <a:endParaRPr lang="en-US" sz="11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150" b="1" dirty="0">
                <a:solidFill>
                  <a:srgbClr val="5FB3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</a:t>
            </a:r>
            <a:pPr indent="0" marL="0">
              <a:lnSpc>
                <a:spcPct val="106000"/>
              </a:lnSpc>
              <a:buNone/>
            </a:pPr>
            <a:r>
              <a:rPr lang="en-US" sz="1150" b="1" dirty="0">
                <a:solidFill>
                  <a:srgbClr val="E896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</a:t>
            </a:r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150" b="1" dirty="0">
                <a:solidFill>
                  <a:srgbClr val="F6A6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commit</a:t>
            </a:r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C9A0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--amend</a:t>
            </a:r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C9A0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-m</a:t>
            </a:r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E8EE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8FCB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"Mesazhi i sakte"</a:t>
            </a:r>
            <a:endParaRPr lang="en-US" sz="1150" dirty="0"/>
          </a:p>
        </p:txBody>
      </p:sp>
      <p:sp>
        <p:nvSpPr>
          <p:cNvPr id="16" name="Shape 13"/>
          <p:cNvSpPr/>
          <p:nvPr/>
        </p:nvSpPr>
        <p:spPr>
          <a:xfrm>
            <a:off x="594360" y="4617720"/>
            <a:ext cx="11018520" cy="1325880"/>
          </a:xfrm>
          <a:prstGeom prst="roundRect">
            <a:avLst>
              <a:gd name="adj" fmla="val 6207"/>
            </a:avLst>
          </a:prstGeom>
          <a:solidFill>
            <a:srgbClr val="FBEAE7"/>
          </a:solidFill>
          <a:ln w="12700">
            <a:solidFill>
              <a:srgbClr val="E8A99E"/>
            </a:solidFill>
            <a:prstDash val="solid"/>
          </a:ln>
        </p:spPr>
      </p:sp>
      <p:pic>
        <p:nvPicPr>
          <p:cNvPr id="1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" y="5029200"/>
            <a:ext cx="365760" cy="365760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1371600" y="4709160"/>
            <a:ext cx="100584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b="1" dirty="0">
                <a:solidFill>
                  <a:srgbClr val="B23A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Kujdes me komandat që fshijnë:  </a:t>
            </a:r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8A35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restore dhe git reset --hard i HUMBIN ndryshimet përgjithmonë. Para se t'i përdorni, sigurohuni që s'ju duhet ajo punë — ose bëni një commit "sigurie" më parë.</a:t>
            </a:r>
            <a:endParaRPr lang="en-US" sz="1350" dirty="0"/>
          </a:p>
        </p:txBody>
      </p:sp>
      <p:sp>
        <p:nvSpPr>
          <p:cNvPr id="19" name="Text 15"/>
          <p:cNvSpPr/>
          <p:nvPr/>
        </p:nvSpPr>
        <p:spPr>
          <a:xfrm>
            <a:off x="11185855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A78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100" dirty="0"/>
          </a:p>
        </p:txBody>
      </p:sp>
      <p:sp>
        <p:nvSpPr>
          <p:cNvPr id="20" name="Text 16"/>
          <p:cNvSpPr/>
          <p:nvPr/>
        </p:nvSpPr>
        <p:spPr>
          <a:xfrm>
            <a:off x="548640" y="63550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A78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· Leksioni 8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2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658368" cy="658368"/>
          </a:xfrm>
          <a:prstGeom prst="roundRect">
            <a:avLst>
              <a:gd name="adj" fmla="val 16667"/>
            </a:avLst>
          </a:prstGeom>
          <a:solidFill>
            <a:srgbClr val="E8730C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4944" y="603504"/>
            <a:ext cx="365760" cy="3657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71600" y="457200"/>
            <a:ext cx="9601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873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FOTOGRAFOJENI KËTË SLAJD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1371600" y="676656"/>
            <a:ext cx="10241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700" b="1" dirty="0">
                <a:solidFill>
                  <a:srgbClr val="14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Fletë referimi — komandat e ditës</a:t>
            </a:r>
            <a:endParaRPr lang="en-US" sz="270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94360" y="1645920"/>
          <a:ext cx="11018520" cy="914400"/>
        </p:xfrm>
        <a:graphic>
          <a:graphicData uri="http://schemas.openxmlformats.org/drawingml/2006/table">
            <a:tbl>
              <a:tblPr/>
              <a:tblGrid>
                <a:gridCol w="3200400"/>
                <a:gridCol w="5257800"/>
                <a:gridCol w="2560320"/>
              </a:tblGrid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</a:rPr>
                        <a:t>Komanda</a:t>
                      </a:r>
                      <a:endParaRPr lang="en-US" sz="1350" dirty="0"/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DB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03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</a:rPr>
                        <a:t>Çfarë bën</a:t>
                      </a:r>
                      <a:endParaRPr lang="en-US" sz="1350" dirty="0"/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DB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03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</a:rPr>
                        <a:t>Kur</a:t>
                      </a:r>
                      <a:endParaRPr lang="en-US" sz="1350" dirty="0"/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DB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033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26313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git init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DB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631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Nis Git-in në dosjen aktuale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DB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631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një herë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DB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26313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git clone &lt;url&gt;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DB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631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Shkarko projekt nga GitHub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DB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631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një herë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DB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B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26313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git status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DB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631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Çfarë ka ndryshuar? Ku jam?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DB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631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vazhdimisht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DB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26313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git add &lt;file&gt; / .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DB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631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Vendos në zonën e pritjes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DB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631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çdo ndryshim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DB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B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26313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git commit -m "..."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DB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631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Ruaj përfundimisht me përshkrim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DB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631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çdo hap i mbaruar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DB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26313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git log --oneline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DB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631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Shiko historinë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DB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631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sipas nevojës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DB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B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26313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git push / git pull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DB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631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Ngarko / shkarko nga serveri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DB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631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çdo ditë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DB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26313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git checkout -b &lt;deg&gt;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DB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631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Krijo dhe kalo në degë të re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DB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631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veçori e re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DB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B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26313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git merge &lt;deg&gt;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DB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631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Bashko degën këtu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DB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631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kur mbaron dega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9525" cap="flat" cmpd="sng" algn="ctr">
                      <a:solidFill>
                        <a:srgbClr val="DB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B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B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 3"/>
          <p:cNvSpPr/>
          <p:nvPr/>
        </p:nvSpPr>
        <p:spPr>
          <a:xfrm>
            <a:off x="594360" y="580644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i="1" dirty="0">
                <a:solidFill>
                  <a:srgbClr val="E873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90% e punës së përditshme bëhet me katër komandat: status, add, commit, push.</a:t>
            </a:r>
            <a:endParaRPr lang="en-US" sz="1300" dirty="0"/>
          </a:p>
        </p:txBody>
      </p:sp>
      <p:sp>
        <p:nvSpPr>
          <p:cNvPr id="8" name="Text 4"/>
          <p:cNvSpPr/>
          <p:nvPr/>
        </p:nvSpPr>
        <p:spPr>
          <a:xfrm>
            <a:off x="11185855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A78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1100" dirty="0"/>
          </a:p>
        </p:txBody>
      </p:sp>
      <p:sp>
        <p:nvSpPr>
          <p:cNvPr id="9" name="Text 5"/>
          <p:cNvSpPr/>
          <p:nvPr/>
        </p:nvSpPr>
        <p:spPr>
          <a:xfrm>
            <a:off x="548640" y="63550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A78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· Leksioni 8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1420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645920" y="-1645920"/>
            <a:ext cx="5486400" cy="5486400"/>
          </a:xfrm>
          <a:prstGeom prst="ellipse">
            <a:avLst/>
          </a:prstGeom>
          <a:solidFill>
            <a:srgbClr val="E8730C">
              <a:alpha val="1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9326880" y="3657600"/>
            <a:ext cx="4572000" cy="4572000"/>
          </a:xfrm>
          <a:prstGeom prst="ellipse">
            <a:avLst/>
          </a:prstGeom>
          <a:solidFill>
            <a:srgbClr val="1E3050">
              <a:alpha val="7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5367528" y="1371600"/>
            <a:ext cx="1463040" cy="1463040"/>
          </a:xfrm>
          <a:prstGeom prst="roundRect">
            <a:avLst>
              <a:gd name="adj" fmla="val 15625"/>
            </a:avLst>
          </a:prstGeom>
          <a:solidFill>
            <a:srgbClr val="E8730C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87568" y="1691640"/>
            <a:ext cx="822960" cy="82296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371600" y="3108960"/>
            <a:ext cx="944575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KOHA E QUIZ-it!</a:t>
            </a:r>
            <a:endParaRPr lang="en-US" sz="4000" dirty="0"/>
          </a:p>
        </p:txBody>
      </p:sp>
      <p:sp>
        <p:nvSpPr>
          <p:cNvPr id="7" name="Text 4"/>
          <p:cNvSpPr/>
          <p:nvPr/>
        </p:nvSpPr>
        <p:spPr>
          <a:xfrm>
            <a:off x="1371600" y="3931920"/>
            <a:ext cx="94457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6A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pyetje · 8 minuta · punoni vetë në letër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2011680" y="4572000"/>
            <a:ext cx="81655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AEB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Mendoni gjithmonë: në cilën nga tri zonat ndodhet skedari tani?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11185855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497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11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658368" cy="658368"/>
          </a:xfrm>
          <a:prstGeom prst="roundRect">
            <a:avLst>
              <a:gd name="adj" fmla="val 16667"/>
            </a:avLst>
          </a:prstGeom>
          <a:solidFill>
            <a:srgbClr val="E8730C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4944" y="603504"/>
            <a:ext cx="365760" cy="3657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71600" y="457200"/>
            <a:ext cx="9601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873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QUIZ · BAZAT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1371600" y="676656"/>
            <a:ext cx="10241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700" b="1" dirty="0">
                <a:solidFill>
                  <a:srgbClr val="14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Pyetjet 1 dhe 2</a:t>
            </a:r>
            <a:endParaRPr lang="en-US" sz="2700" dirty="0"/>
          </a:p>
        </p:txBody>
      </p:sp>
      <p:sp>
        <p:nvSpPr>
          <p:cNvPr id="6" name="Shape 3"/>
          <p:cNvSpPr/>
          <p:nvPr/>
        </p:nvSpPr>
        <p:spPr>
          <a:xfrm>
            <a:off x="594360" y="1691640"/>
            <a:ext cx="502920" cy="502920"/>
          </a:xfrm>
          <a:prstGeom prst="ellipse">
            <a:avLst/>
          </a:prstGeom>
          <a:solidFill>
            <a:srgbClr val="E8730C"/>
          </a:solidFill>
          <a:ln/>
        </p:spPr>
      </p:sp>
      <p:sp>
        <p:nvSpPr>
          <p:cNvPr id="7" name="Text 4"/>
          <p:cNvSpPr/>
          <p:nvPr/>
        </p:nvSpPr>
        <p:spPr>
          <a:xfrm>
            <a:off x="594360" y="16916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8" name="Text 5"/>
          <p:cNvSpPr/>
          <p:nvPr/>
        </p:nvSpPr>
        <p:spPr>
          <a:xfrm>
            <a:off x="1234440" y="1755648"/>
            <a:ext cx="4754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Cili është rendi i saktë i punës?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1234440" y="2331720"/>
            <a:ext cx="47548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E873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a)  </a:t>
            </a:r>
            <a:pPr indent="0" marL="0">
              <a:spcAft>
                <a:spcPts val="1400"/>
              </a:spcAft>
              <a:buNone/>
            </a:pPr>
            <a:r>
              <a:rPr lang="en-US" sz="1350" dirty="0">
                <a:solidFill>
                  <a:srgbClr val="26313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commit → add → push</a:t>
            </a:r>
            <a:endParaRPr lang="en-US" sz="1350" dirty="0"/>
          </a:p>
          <a:p>
            <a:pPr indent="0" marL="0">
              <a:buNone/>
            </a:pPr>
            <a:r>
              <a:rPr lang="en-US" sz="1350" b="1" dirty="0">
                <a:solidFill>
                  <a:srgbClr val="E873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b)  </a:t>
            </a:r>
            <a:pPr indent="0" marL="0">
              <a:spcAft>
                <a:spcPts val="1400"/>
              </a:spcAft>
              <a:buNone/>
            </a:pPr>
            <a:r>
              <a:rPr lang="en-US" sz="1350" dirty="0">
                <a:solidFill>
                  <a:srgbClr val="26313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add → commit → push</a:t>
            </a:r>
            <a:endParaRPr lang="en-US" sz="1350" dirty="0"/>
          </a:p>
          <a:p>
            <a:pPr indent="0" marL="0">
              <a:buNone/>
            </a:pPr>
            <a:r>
              <a:rPr lang="en-US" sz="1350" b="1" dirty="0">
                <a:solidFill>
                  <a:srgbClr val="E873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c)  </a:t>
            </a:r>
            <a:pPr indent="0" marL="0">
              <a:buNone/>
            </a:pPr>
            <a:r>
              <a:rPr lang="en-US" sz="1350" dirty="0">
                <a:solidFill>
                  <a:srgbClr val="26313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push → add → commit</a:t>
            </a:r>
            <a:endParaRPr lang="en-US" sz="1350" dirty="0"/>
          </a:p>
        </p:txBody>
      </p:sp>
      <p:sp>
        <p:nvSpPr>
          <p:cNvPr id="10" name="Shape 7"/>
          <p:cNvSpPr/>
          <p:nvPr/>
        </p:nvSpPr>
        <p:spPr>
          <a:xfrm>
            <a:off x="6400800" y="1691640"/>
            <a:ext cx="502920" cy="502920"/>
          </a:xfrm>
          <a:prstGeom prst="ellipse">
            <a:avLst/>
          </a:prstGeom>
          <a:solidFill>
            <a:srgbClr val="E8730C"/>
          </a:solidFill>
          <a:ln/>
        </p:spPr>
      </p:sp>
      <p:sp>
        <p:nvSpPr>
          <p:cNvPr id="11" name="Text 8"/>
          <p:cNvSpPr/>
          <p:nvPr/>
        </p:nvSpPr>
        <p:spPr>
          <a:xfrm>
            <a:off x="6400800" y="16916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12" name="Text 9"/>
          <p:cNvSpPr/>
          <p:nvPr/>
        </p:nvSpPr>
        <p:spPr>
          <a:xfrm>
            <a:off x="7040880" y="1755648"/>
            <a:ext cx="4572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Ç'bën komanda git status?</a:t>
            </a:r>
            <a:endParaRPr lang="en-US" sz="1500" dirty="0"/>
          </a:p>
        </p:txBody>
      </p:sp>
      <p:sp>
        <p:nvSpPr>
          <p:cNvPr id="13" name="Text 10"/>
          <p:cNvSpPr/>
          <p:nvPr/>
        </p:nvSpPr>
        <p:spPr>
          <a:xfrm>
            <a:off x="7040880" y="2331720"/>
            <a:ext cx="45720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E873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a)  </a:t>
            </a:r>
            <a:pPr indent="0" marL="0">
              <a:spcAft>
                <a:spcPts val="1400"/>
              </a:spcAft>
              <a:buNone/>
            </a:pPr>
            <a:r>
              <a:rPr lang="en-US" sz="1350" dirty="0">
                <a:solidFill>
                  <a:srgbClr val="2631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Ruan ndryshimet përfundimisht</a:t>
            </a:r>
            <a:endParaRPr lang="en-US" sz="1350" dirty="0"/>
          </a:p>
          <a:p>
            <a:pPr indent="0" marL="0">
              <a:buNone/>
            </a:pPr>
            <a:r>
              <a:rPr lang="en-US" sz="1350" b="1" dirty="0">
                <a:solidFill>
                  <a:srgbClr val="E873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b)  </a:t>
            </a:r>
            <a:pPr indent="0" marL="0">
              <a:spcAft>
                <a:spcPts val="1400"/>
              </a:spcAft>
              <a:buNone/>
            </a:pPr>
            <a:r>
              <a:rPr lang="en-US" sz="1350" dirty="0">
                <a:solidFill>
                  <a:srgbClr val="2631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Tregon çfarë ka ndryshuar dhe ku ndodhet</a:t>
            </a:r>
            <a:endParaRPr lang="en-US" sz="1350" dirty="0"/>
          </a:p>
          <a:p>
            <a:pPr indent="0" marL="0">
              <a:buNone/>
            </a:pPr>
            <a:r>
              <a:rPr lang="en-US" sz="1350" b="1" dirty="0">
                <a:solidFill>
                  <a:srgbClr val="E873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c)  </a:t>
            </a:r>
            <a:pPr indent="0" marL="0">
              <a:buNone/>
            </a:pPr>
            <a:r>
              <a:rPr lang="en-US" sz="1350" dirty="0">
                <a:solidFill>
                  <a:srgbClr val="2631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 ngarkon projektin në GitHub</a:t>
            </a:r>
            <a:endParaRPr lang="en-US" sz="1350" dirty="0"/>
          </a:p>
        </p:txBody>
      </p:sp>
      <p:sp>
        <p:nvSpPr>
          <p:cNvPr id="14" name="Shape 11"/>
          <p:cNvSpPr/>
          <p:nvPr/>
        </p:nvSpPr>
        <p:spPr>
          <a:xfrm>
            <a:off x="594360" y="4297680"/>
            <a:ext cx="11018520" cy="1417320"/>
          </a:xfrm>
          <a:prstGeom prst="roundRect">
            <a:avLst>
              <a:gd name="adj" fmla="val 5806"/>
            </a:avLst>
          </a:prstGeom>
          <a:solidFill>
            <a:srgbClr val="F2F5F9"/>
          </a:solidFill>
          <a:ln w="12700">
            <a:solidFill>
              <a:srgbClr val="DBE2EA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15" name="Text 12"/>
          <p:cNvSpPr/>
          <p:nvPr/>
        </p:nvSpPr>
        <p:spPr>
          <a:xfrm>
            <a:off x="914400" y="4434840"/>
            <a:ext cx="10424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4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Ndihmë: kujtoni tri zonat</a:t>
            </a:r>
            <a:endParaRPr lang="en-US" sz="1350" dirty="0"/>
          </a:p>
        </p:txBody>
      </p:sp>
      <p:sp>
        <p:nvSpPr>
          <p:cNvPr id="16" name="Text 13"/>
          <p:cNvSpPr/>
          <p:nvPr/>
        </p:nvSpPr>
        <p:spPr>
          <a:xfrm>
            <a:off x="914400" y="4846320"/>
            <a:ext cx="10424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26313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Working Directory </a:t>
            </a:r>
            <a:pPr indent="0" marL="0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E873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add →  </a:t>
            </a:r>
            <a:pPr indent="0" marL="0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26313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Staging </a:t>
            </a:r>
            <a:pPr indent="0" marL="0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E873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commit →  </a:t>
            </a:r>
            <a:pPr indent="0" marL="0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26313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Local Repo </a:t>
            </a:r>
            <a:pPr indent="0" marL="0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E873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push →  </a:t>
            </a:r>
            <a:pPr indent="0" marL="0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26313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GitHub</a:t>
            </a:r>
            <a:endParaRPr lang="en-US" sz="1250" dirty="0"/>
          </a:p>
        </p:txBody>
      </p:sp>
      <p:sp>
        <p:nvSpPr>
          <p:cNvPr id="17" name="Text 14"/>
          <p:cNvSpPr/>
          <p:nvPr/>
        </p:nvSpPr>
        <p:spPr>
          <a:xfrm>
            <a:off x="11185855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A78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548640" y="63550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A78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· Leksioni 8</a:t>
            </a:r>
            <a:endParaRPr lang="en-US" sz="1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658368" cy="658368"/>
          </a:xfrm>
          <a:prstGeom prst="roundRect">
            <a:avLst>
              <a:gd name="adj" fmla="val 16667"/>
            </a:avLst>
          </a:prstGeom>
          <a:solidFill>
            <a:srgbClr val="E8730C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4944" y="603504"/>
            <a:ext cx="365760" cy="3657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71600" y="457200"/>
            <a:ext cx="9601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873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QUIZ · KONCEPTET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1371600" y="676656"/>
            <a:ext cx="10241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700" b="1" dirty="0">
                <a:solidFill>
                  <a:srgbClr val="14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Pyetjet 3 dhe 4</a:t>
            </a:r>
            <a:endParaRPr lang="en-US" sz="2700" dirty="0"/>
          </a:p>
        </p:txBody>
      </p:sp>
      <p:sp>
        <p:nvSpPr>
          <p:cNvPr id="6" name="Shape 3"/>
          <p:cNvSpPr/>
          <p:nvPr/>
        </p:nvSpPr>
        <p:spPr>
          <a:xfrm>
            <a:off x="594360" y="1691640"/>
            <a:ext cx="502920" cy="502920"/>
          </a:xfrm>
          <a:prstGeom prst="ellipse">
            <a:avLst/>
          </a:prstGeom>
          <a:solidFill>
            <a:srgbClr val="E8730C"/>
          </a:solidFill>
          <a:ln/>
        </p:spPr>
      </p:sp>
      <p:sp>
        <p:nvSpPr>
          <p:cNvPr id="7" name="Text 4"/>
          <p:cNvSpPr/>
          <p:nvPr/>
        </p:nvSpPr>
        <p:spPr>
          <a:xfrm>
            <a:off x="594360" y="16916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8" name="Text 5"/>
          <p:cNvSpPr/>
          <p:nvPr/>
        </p:nvSpPr>
        <p:spPr>
          <a:xfrm>
            <a:off x="1234440" y="1755648"/>
            <a:ext cx="4754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Cili pohim është i SAKTË?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1234440" y="2331720"/>
            <a:ext cx="47548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E873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a)  </a:t>
            </a:r>
            <a:pPr indent="0" marL="0">
              <a:spcAft>
                <a:spcPts val="1300"/>
              </a:spcAft>
              <a:buNone/>
            </a:pPr>
            <a:r>
              <a:rPr lang="en-US" sz="1350" dirty="0">
                <a:solidFill>
                  <a:srgbClr val="2631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punon vetëm me internet</a:t>
            </a:r>
            <a:endParaRPr lang="en-US" sz="1350" dirty="0"/>
          </a:p>
          <a:p>
            <a:pPr indent="0" marL="0">
              <a:buNone/>
            </a:pPr>
            <a:r>
              <a:rPr lang="en-US" sz="1350" b="1" dirty="0">
                <a:solidFill>
                  <a:srgbClr val="E873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b)  </a:t>
            </a:r>
            <a:pPr indent="0" marL="0">
              <a:spcAft>
                <a:spcPts val="1300"/>
              </a:spcAft>
              <a:buNone/>
            </a:pPr>
            <a:r>
              <a:rPr lang="en-US" sz="1350" dirty="0">
                <a:solidFill>
                  <a:srgbClr val="2631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dhe GitHub janë e njëjta gjë</a:t>
            </a:r>
            <a:endParaRPr lang="en-US" sz="1350" dirty="0"/>
          </a:p>
          <a:p>
            <a:pPr indent="0" marL="0">
              <a:buNone/>
            </a:pPr>
            <a:r>
              <a:rPr lang="en-US" sz="1350" b="1" dirty="0">
                <a:solidFill>
                  <a:srgbClr val="E873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c)  </a:t>
            </a:r>
            <a:pPr indent="0" marL="0">
              <a:buNone/>
            </a:pPr>
            <a:r>
              <a:rPr lang="en-US" sz="1350" dirty="0">
                <a:solidFill>
                  <a:srgbClr val="2631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punon lokalisht; GitHub është platformë online</a:t>
            </a:r>
            <a:endParaRPr lang="en-US" sz="1350" dirty="0"/>
          </a:p>
        </p:txBody>
      </p:sp>
      <p:sp>
        <p:nvSpPr>
          <p:cNvPr id="10" name="Shape 7"/>
          <p:cNvSpPr/>
          <p:nvPr/>
        </p:nvSpPr>
        <p:spPr>
          <a:xfrm>
            <a:off x="6400800" y="1691640"/>
            <a:ext cx="502920" cy="502920"/>
          </a:xfrm>
          <a:prstGeom prst="ellipse">
            <a:avLst/>
          </a:prstGeom>
          <a:solidFill>
            <a:srgbClr val="E8730C"/>
          </a:solidFill>
          <a:ln/>
        </p:spPr>
      </p:sp>
      <p:sp>
        <p:nvSpPr>
          <p:cNvPr id="11" name="Text 8"/>
          <p:cNvSpPr/>
          <p:nvPr/>
        </p:nvSpPr>
        <p:spPr>
          <a:xfrm>
            <a:off x="6400800" y="16916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000" dirty="0"/>
          </a:p>
        </p:txBody>
      </p:sp>
      <p:sp>
        <p:nvSpPr>
          <p:cNvPr id="12" name="Text 9"/>
          <p:cNvSpPr/>
          <p:nvPr/>
        </p:nvSpPr>
        <p:spPr>
          <a:xfrm>
            <a:off x="7040880" y="1719072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400" b="1" dirty="0">
                <a:solidFill>
                  <a:srgbClr val="14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Doni të provoni një ide pa prishur kodin që punon. Çfarë bëni?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7040880" y="2377440"/>
            <a:ext cx="45720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E873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a)  </a:t>
            </a:r>
            <a:pPr indent="0" marL="0">
              <a:spcAft>
                <a:spcPts val="1300"/>
              </a:spcAft>
              <a:buNone/>
            </a:pPr>
            <a:r>
              <a:rPr lang="en-US" sz="1350" dirty="0">
                <a:solidFill>
                  <a:srgbClr val="2631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Kopjoj dosjen në Desktop</a:t>
            </a:r>
            <a:endParaRPr lang="en-US" sz="1350" dirty="0"/>
          </a:p>
          <a:p>
            <a:pPr indent="0" marL="0">
              <a:buNone/>
            </a:pPr>
            <a:r>
              <a:rPr lang="en-US" sz="1350" b="1" dirty="0">
                <a:solidFill>
                  <a:srgbClr val="E873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b)  </a:t>
            </a:r>
            <a:pPr indent="0" marL="0">
              <a:spcAft>
                <a:spcPts val="1300"/>
              </a:spcAft>
              <a:buNone/>
            </a:pPr>
            <a:r>
              <a:rPr lang="en-US" sz="1350" dirty="0">
                <a:solidFill>
                  <a:srgbClr val="2631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Krijoj një degë të re me git checkout -b</a:t>
            </a:r>
            <a:endParaRPr lang="en-US" sz="1350" dirty="0"/>
          </a:p>
          <a:p>
            <a:pPr indent="0" marL="0">
              <a:buNone/>
            </a:pPr>
            <a:r>
              <a:rPr lang="en-US" sz="1350" b="1" dirty="0">
                <a:solidFill>
                  <a:srgbClr val="E873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c)  </a:t>
            </a:r>
            <a:pPr indent="0" marL="0">
              <a:buNone/>
            </a:pPr>
            <a:r>
              <a:rPr lang="en-US" sz="1350" dirty="0">
                <a:solidFill>
                  <a:srgbClr val="2631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Fshij historinë dhe nis nga e para</a:t>
            </a:r>
            <a:endParaRPr lang="en-US" sz="1350" dirty="0"/>
          </a:p>
        </p:txBody>
      </p:sp>
      <p:sp>
        <p:nvSpPr>
          <p:cNvPr id="14" name="Shape 11"/>
          <p:cNvSpPr/>
          <p:nvPr/>
        </p:nvSpPr>
        <p:spPr>
          <a:xfrm>
            <a:off x="594360" y="4572000"/>
            <a:ext cx="11018520" cy="1188720"/>
          </a:xfrm>
          <a:prstGeom prst="roundRect">
            <a:avLst>
              <a:gd name="adj" fmla="val 6923"/>
            </a:avLst>
          </a:prstGeom>
          <a:solidFill>
            <a:srgbClr val="F2F5F9"/>
          </a:solidFill>
          <a:ln w="12700">
            <a:solidFill>
              <a:srgbClr val="DBE2EA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914400" y="4663440"/>
            <a:ext cx="10424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E873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Bonus (me gojë):  </a:t>
            </a:r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2631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çfarë do të shkruanit si mesazh commit-i pasi rregulloni një gabim te cikli for? Krahasoni idetë me njëri-tjetrin.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11185855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A78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548640" y="63550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A78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· Leksioni 8</a:t>
            </a:r>
            <a:endParaRPr lang="en-US" sz="1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2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658368" cy="658368"/>
          </a:xfrm>
          <a:prstGeom prst="roundRect">
            <a:avLst>
              <a:gd name="adj" fmla="val 16667"/>
            </a:avLst>
          </a:prstGeom>
          <a:solidFill>
            <a:srgbClr val="E8730C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4944" y="603504"/>
            <a:ext cx="365760" cy="3657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71600" y="457200"/>
            <a:ext cx="9601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873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QUIZ · ZGJIDHJA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1371600" y="676656"/>
            <a:ext cx="10241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700" b="1" dirty="0">
                <a:solidFill>
                  <a:srgbClr val="14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Përgjigjet dhe shpjegimet</a:t>
            </a:r>
            <a:endParaRPr lang="en-US" sz="2700" dirty="0"/>
          </a:p>
        </p:txBody>
      </p:sp>
      <p:sp>
        <p:nvSpPr>
          <p:cNvPr id="6" name="Shape 3"/>
          <p:cNvSpPr/>
          <p:nvPr/>
        </p:nvSpPr>
        <p:spPr>
          <a:xfrm>
            <a:off x="594360" y="1645920"/>
            <a:ext cx="11018520" cy="932688"/>
          </a:xfrm>
          <a:prstGeom prst="roundRect">
            <a:avLst>
              <a:gd name="adj" fmla="val 8824"/>
            </a:avLst>
          </a:prstGeom>
          <a:solidFill>
            <a:srgbClr val="FFFFFF"/>
          </a:solidFill>
          <a:ln w="12700">
            <a:solidFill>
              <a:srgbClr val="DBE2EA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868680" y="1856232"/>
            <a:ext cx="512064" cy="512064"/>
          </a:xfrm>
          <a:prstGeom prst="ellipse">
            <a:avLst/>
          </a:prstGeom>
          <a:solidFill>
            <a:srgbClr val="2FA84F"/>
          </a:solidFill>
          <a:ln/>
        </p:spPr>
      </p:sp>
      <p:sp>
        <p:nvSpPr>
          <p:cNvPr id="8" name="Text 5"/>
          <p:cNvSpPr/>
          <p:nvPr/>
        </p:nvSpPr>
        <p:spPr>
          <a:xfrm>
            <a:off x="868680" y="1856232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9" name="Text 6"/>
          <p:cNvSpPr/>
          <p:nvPr/>
        </p:nvSpPr>
        <p:spPr>
          <a:xfrm>
            <a:off x="1645920" y="1810512"/>
            <a:ext cx="35661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420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b)  add → commit → push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5394960" y="1810512"/>
            <a:ext cx="60350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2631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Zinxhiri i tri zonave: dosja → zona e pritjes → historia lokale → serveri.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594360" y="2724912"/>
            <a:ext cx="11018520" cy="932688"/>
          </a:xfrm>
          <a:prstGeom prst="roundRect">
            <a:avLst>
              <a:gd name="adj" fmla="val 8824"/>
            </a:avLst>
          </a:prstGeom>
          <a:solidFill>
            <a:srgbClr val="FFFFFF"/>
          </a:solidFill>
          <a:ln w="12700">
            <a:solidFill>
              <a:srgbClr val="DBE2EA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868680" y="2935224"/>
            <a:ext cx="512064" cy="512064"/>
          </a:xfrm>
          <a:prstGeom prst="ellipse">
            <a:avLst/>
          </a:prstGeom>
          <a:solidFill>
            <a:srgbClr val="2FA84F"/>
          </a:solidFill>
          <a:ln/>
        </p:spPr>
      </p:sp>
      <p:sp>
        <p:nvSpPr>
          <p:cNvPr id="13" name="Text 10"/>
          <p:cNvSpPr/>
          <p:nvPr/>
        </p:nvSpPr>
        <p:spPr>
          <a:xfrm>
            <a:off x="868680" y="2935224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14" name="Text 11"/>
          <p:cNvSpPr/>
          <p:nvPr/>
        </p:nvSpPr>
        <p:spPr>
          <a:xfrm>
            <a:off x="1645920" y="2889504"/>
            <a:ext cx="35661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420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b)  Tregon çfarë ka ndryshuar</a:t>
            </a:r>
            <a:endParaRPr lang="en-US" sz="1250" dirty="0"/>
          </a:p>
        </p:txBody>
      </p:sp>
      <p:sp>
        <p:nvSpPr>
          <p:cNvPr id="15" name="Text 12"/>
          <p:cNvSpPr/>
          <p:nvPr/>
        </p:nvSpPr>
        <p:spPr>
          <a:xfrm>
            <a:off x="5394960" y="2889504"/>
            <a:ext cx="60350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2631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 s'ndryshon asgjë — është busulla që tregon gjendjen aktuale.</a:t>
            </a:r>
            <a:endParaRPr lang="en-US" sz="1250" dirty="0"/>
          </a:p>
        </p:txBody>
      </p:sp>
      <p:sp>
        <p:nvSpPr>
          <p:cNvPr id="16" name="Shape 13"/>
          <p:cNvSpPr/>
          <p:nvPr/>
        </p:nvSpPr>
        <p:spPr>
          <a:xfrm>
            <a:off x="594360" y="3803904"/>
            <a:ext cx="11018520" cy="932688"/>
          </a:xfrm>
          <a:prstGeom prst="roundRect">
            <a:avLst>
              <a:gd name="adj" fmla="val 8824"/>
            </a:avLst>
          </a:prstGeom>
          <a:solidFill>
            <a:srgbClr val="FFFFFF"/>
          </a:solidFill>
          <a:ln w="12700">
            <a:solidFill>
              <a:srgbClr val="DBE2EA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868680" y="4014216"/>
            <a:ext cx="512064" cy="512064"/>
          </a:xfrm>
          <a:prstGeom prst="ellipse">
            <a:avLst/>
          </a:prstGeom>
          <a:solidFill>
            <a:srgbClr val="2FA84F"/>
          </a:solidFill>
          <a:ln/>
        </p:spPr>
      </p:sp>
      <p:sp>
        <p:nvSpPr>
          <p:cNvPr id="18" name="Text 15"/>
          <p:cNvSpPr/>
          <p:nvPr/>
        </p:nvSpPr>
        <p:spPr>
          <a:xfrm>
            <a:off x="868680" y="4014216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19" name="Text 16"/>
          <p:cNvSpPr/>
          <p:nvPr/>
        </p:nvSpPr>
        <p:spPr>
          <a:xfrm>
            <a:off x="1645920" y="3968496"/>
            <a:ext cx="35661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420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c)  Git lokal, GitHub online</a:t>
            </a:r>
            <a:endParaRPr lang="en-US" sz="1250" dirty="0"/>
          </a:p>
        </p:txBody>
      </p:sp>
      <p:sp>
        <p:nvSpPr>
          <p:cNvPr id="20" name="Text 17"/>
          <p:cNvSpPr/>
          <p:nvPr/>
        </p:nvSpPr>
        <p:spPr>
          <a:xfrm>
            <a:off x="5394960" y="3968496"/>
            <a:ext cx="60350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2631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punon plotësisht pa internet; GitHub është platforma ku ndajmë projektin.</a:t>
            </a:r>
            <a:endParaRPr lang="en-US" sz="1250" dirty="0"/>
          </a:p>
        </p:txBody>
      </p:sp>
      <p:sp>
        <p:nvSpPr>
          <p:cNvPr id="21" name="Shape 18"/>
          <p:cNvSpPr/>
          <p:nvPr/>
        </p:nvSpPr>
        <p:spPr>
          <a:xfrm>
            <a:off x="594360" y="4882896"/>
            <a:ext cx="11018520" cy="932688"/>
          </a:xfrm>
          <a:prstGeom prst="roundRect">
            <a:avLst>
              <a:gd name="adj" fmla="val 8824"/>
            </a:avLst>
          </a:prstGeom>
          <a:solidFill>
            <a:srgbClr val="FFFFFF"/>
          </a:solidFill>
          <a:ln w="12700">
            <a:solidFill>
              <a:srgbClr val="DBE2EA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22" name="Shape 19"/>
          <p:cNvSpPr/>
          <p:nvPr/>
        </p:nvSpPr>
        <p:spPr>
          <a:xfrm>
            <a:off x="868680" y="5093208"/>
            <a:ext cx="512064" cy="512064"/>
          </a:xfrm>
          <a:prstGeom prst="ellipse">
            <a:avLst/>
          </a:prstGeom>
          <a:solidFill>
            <a:srgbClr val="2FA84F"/>
          </a:solidFill>
          <a:ln/>
        </p:spPr>
      </p:sp>
      <p:sp>
        <p:nvSpPr>
          <p:cNvPr id="23" name="Text 20"/>
          <p:cNvSpPr/>
          <p:nvPr/>
        </p:nvSpPr>
        <p:spPr>
          <a:xfrm>
            <a:off x="868680" y="509320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000" dirty="0"/>
          </a:p>
        </p:txBody>
      </p:sp>
      <p:sp>
        <p:nvSpPr>
          <p:cNvPr id="24" name="Text 21"/>
          <p:cNvSpPr/>
          <p:nvPr/>
        </p:nvSpPr>
        <p:spPr>
          <a:xfrm>
            <a:off x="1645920" y="5047488"/>
            <a:ext cx="35661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420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b)  Krijoj një degë</a:t>
            </a:r>
            <a:endParaRPr lang="en-US" sz="1250" dirty="0"/>
          </a:p>
        </p:txBody>
      </p:sp>
      <p:sp>
        <p:nvSpPr>
          <p:cNvPr id="25" name="Text 22"/>
          <p:cNvSpPr/>
          <p:nvPr/>
        </p:nvSpPr>
        <p:spPr>
          <a:xfrm>
            <a:off x="5394960" y="5047488"/>
            <a:ext cx="60350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2631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Dega mban main-in të paprekur; nëse ideja dështon, dega fshihet pa pasoja.</a:t>
            </a:r>
            <a:endParaRPr lang="en-US" sz="1250" dirty="0"/>
          </a:p>
        </p:txBody>
      </p:sp>
      <p:sp>
        <p:nvSpPr>
          <p:cNvPr id="26" name="Text 23"/>
          <p:cNvSpPr/>
          <p:nvPr/>
        </p:nvSpPr>
        <p:spPr>
          <a:xfrm>
            <a:off x="594360" y="603504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A78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3–4 saktë: gati për projektin në grup! · 2 saktë: rishikoni slajdin 7 (tri zonat) · 0–1: praktikoni me detyrat.</a:t>
            </a:r>
            <a:endParaRPr lang="en-US" sz="1300" dirty="0"/>
          </a:p>
        </p:txBody>
      </p:sp>
      <p:sp>
        <p:nvSpPr>
          <p:cNvPr id="27" name="Text 24"/>
          <p:cNvSpPr/>
          <p:nvPr/>
        </p:nvSpPr>
        <p:spPr>
          <a:xfrm>
            <a:off x="11185855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A78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1100" dirty="0"/>
          </a:p>
        </p:txBody>
      </p:sp>
      <p:sp>
        <p:nvSpPr>
          <p:cNvPr id="28" name="Text 25"/>
          <p:cNvSpPr/>
          <p:nvPr/>
        </p:nvSpPr>
        <p:spPr>
          <a:xfrm>
            <a:off x="548640" y="63550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A78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· Leksioni 8</a:t>
            </a:r>
            <a:endParaRPr lang="en-US" sz="10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1420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3840480"/>
            <a:ext cx="4572000" cy="4572000"/>
          </a:xfrm>
          <a:prstGeom prst="ellipse">
            <a:avLst/>
          </a:prstGeom>
          <a:solidFill>
            <a:srgbClr val="E8730C">
              <a:alpha val="1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685800" y="548640"/>
            <a:ext cx="658368" cy="658368"/>
          </a:xfrm>
          <a:prstGeom prst="roundRect">
            <a:avLst>
              <a:gd name="adj" fmla="val 16667"/>
            </a:avLst>
          </a:prstGeom>
          <a:solidFill>
            <a:srgbClr val="E8730C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2104" y="694944"/>
            <a:ext cx="365760" cy="3657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508760" y="5486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6A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PËRMBLEDHJE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1508760" y="795528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Çfarë mësuam sot</a:t>
            </a:r>
            <a:endParaRPr lang="en-US" sz="2800" dirty="0"/>
          </a:p>
        </p:txBody>
      </p:sp>
      <p:sp>
        <p:nvSpPr>
          <p:cNvPr id="7" name="Shape 4"/>
          <p:cNvSpPr/>
          <p:nvPr/>
        </p:nvSpPr>
        <p:spPr>
          <a:xfrm>
            <a:off x="685800" y="1783080"/>
            <a:ext cx="3456432" cy="1737360"/>
          </a:xfrm>
          <a:prstGeom prst="roundRect">
            <a:avLst>
              <a:gd name="adj" fmla="val 5263"/>
            </a:avLst>
          </a:prstGeom>
          <a:solidFill>
            <a:srgbClr val="1E3050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960120" y="2075688"/>
            <a:ext cx="640080" cy="640080"/>
          </a:xfrm>
          <a:prstGeom prst="ellipse">
            <a:avLst/>
          </a:prstGeom>
          <a:solidFill>
            <a:srgbClr val="E8730C"/>
          </a:soli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6424" y="2221992"/>
            <a:ext cx="347472" cy="347472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737360" y="2057400"/>
            <a:ext cx="2331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Pse Git</a:t>
            </a:r>
            <a:endParaRPr lang="en-US" sz="1400" dirty="0"/>
          </a:p>
        </p:txBody>
      </p:sp>
      <p:sp>
        <p:nvSpPr>
          <p:cNvPr id="11" name="Text 7"/>
          <p:cNvSpPr/>
          <p:nvPr/>
        </p:nvSpPr>
        <p:spPr>
          <a:xfrm>
            <a:off x="960120" y="2807208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AEB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 kopjeve final_FINAL — histori e vërtetë</a:t>
            </a:r>
            <a:endParaRPr lang="en-US" sz="1150" dirty="0"/>
          </a:p>
        </p:txBody>
      </p:sp>
      <p:sp>
        <p:nvSpPr>
          <p:cNvPr id="12" name="Shape 8"/>
          <p:cNvSpPr/>
          <p:nvPr/>
        </p:nvSpPr>
        <p:spPr>
          <a:xfrm>
            <a:off x="4389120" y="1783080"/>
            <a:ext cx="3456432" cy="1737360"/>
          </a:xfrm>
          <a:prstGeom prst="roundRect">
            <a:avLst>
              <a:gd name="adj" fmla="val 5263"/>
            </a:avLst>
          </a:prstGeom>
          <a:solidFill>
            <a:srgbClr val="1E3050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13" name="Shape 9"/>
          <p:cNvSpPr/>
          <p:nvPr/>
        </p:nvSpPr>
        <p:spPr>
          <a:xfrm>
            <a:off x="4663440" y="2075688"/>
            <a:ext cx="640080" cy="640080"/>
          </a:xfrm>
          <a:prstGeom prst="ellipse">
            <a:avLst/>
          </a:prstGeom>
          <a:solidFill>
            <a:srgbClr val="E8730C"/>
          </a:solidFill>
          <a:ln/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09744" y="2221992"/>
            <a:ext cx="347472" cy="347472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5440680" y="2057400"/>
            <a:ext cx="2331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≠ GitHub</a:t>
            </a:r>
            <a:endParaRPr lang="en-US" sz="1400" dirty="0"/>
          </a:p>
        </p:txBody>
      </p:sp>
      <p:sp>
        <p:nvSpPr>
          <p:cNvPr id="16" name="Text 11"/>
          <p:cNvSpPr/>
          <p:nvPr/>
        </p:nvSpPr>
        <p:spPr>
          <a:xfrm>
            <a:off x="4663440" y="2807208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AEB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Vegla lokale kundrejt platformës online</a:t>
            </a:r>
            <a:endParaRPr lang="en-US" sz="1150" dirty="0"/>
          </a:p>
        </p:txBody>
      </p:sp>
      <p:sp>
        <p:nvSpPr>
          <p:cNvPr id="17" name="Shape 12"/>
          <p:cNvSpPr/>
          <p:nvPr/>
        </p:nvSpPr>
        <p:spPr>
          <a:xfrm>
            <a:off x="8092440" y="1783080"/>
            <a:ext cx="3456432" cy="1737360"/>
          </a:xfrm>
          <a:prstGeom prst="roundRect">
            <a:avLst>
              <a:gd name="adj" fmla="val 5263"/>
            </a:avLst>
          </a:prstGeom>
          <a:solidFill>
            <a:srgbClr val="1E3050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18" name="Shape 13"/>
          <p:cNvSpPr/>
          <p:nvPr/>
        </p:nvSpPr>
        <p:spPr>
          <a:xfrm>
            <a:off x="8366760" y="2075688"/>
            <a:ext cx="640080" cy="640080"/>
          </a:xfrm>
          <a:prstGeom prst="ellipse">
            <a:avLst/>
          </a:prstGeom>
          <a:solidFill>
            <a:srgbClr val="E8730C"/>
          </a:solidFill>
          <a:ln/>
        </p:spPr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13064" y="2221992"/>
            <a:ext cx="347472" cy="347472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9144000" y="2057400"/>
            <a:ext cx="2331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 zonat</a:t>
            </a:r>
            <a:endParaRPr lang="en-US" sz="1400" dirty="0"/>
          </a:p>
        </p:txBody>
      </p:sp>
      <p:sp>
        <p:nvSpPr>
          <p:cNvPr id="21" name="Text 15"/>
          <p:cNvSpPr/>
          <p:nvPr/>
        </p:nvSpPr>
        <p:spPr>
          <a:xfrm>
            <a:off x="8366760" y="2807208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AEB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Working → Staging → Repo → Remote</a:t>
            </a:r>
            <a:endParaRPr lang="en-US" sz="1150" dirty="0"/>
          </a:p>
        </p:txBody>
      </p:sp>
      <p:sp>
        <p:nvSpPr>
          <p:cNvPr id="22" name="Shape 16"/>
          <p:cNvSpPr/>
          <p:nvPr/>
        </p:nvSpPr>
        <p:spPr>
          <a:xfrm>
            <a:off x="685800" y="3749040"/>
            <a:ext cx="3456432" cy="1737360"/>
          </a:xfrm>
          <a:prstGeom prst="roundRect">
            <a:avLst>
              <a:gd name="adj" fmla="val 5263"/>
            </a:avLst>
          </a:prstGeom>
          <a:solidFill>
            <a:srgbClr val="1E3050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23" name="Shape 17"/>
          <p:cNvSpPr/>
          <p:nvPr/>
        </p:nvSpPr>
        <p:spPr>
          <a:xfrm>
            <a:off x="960120" y="4041648"/>
            <a:ext cx="640080" cy="640080"/>
          </a:xfrm>
          <a:prstGeom prst="ellipse">
            <a:avLst/>
          </a:prstGeom>
          <a:solidFill>
            <a:srgbClr val="E8730C"/>
          </a:solidFill>
          <a:ln/>
        </p:spPr>
      </p:sp>
      <p:pic>
        <p:nvPicPr>
          <p:cNvPr id="24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06424" y="4187952"/>
            <a:ext cx="347472" cy="347472"/>
          </a:xfrm>
          <a:prstGeom prst="rect">
            <a:avLst/>
          </a:prstGeom>
        </p:spPr>
      </p:pic>
      <p:sp>
        <p:nvSpPr>
          <p:cNvPr id="25" name="Text 18"/>
          <p:cNvSpPr/>
          <p:nvPr/>
        </p:nvSpPr>
        <p:spPr>
          <a:xfrm>
            <a:off x="1737360" y="4023360"/>
            <a:ext cx="2331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Cikli i punës</a:t>
            </a:r>
            <a:endParaRPr lang="en-US" sz="1400" dirty="0"/>
          </a:p>
        </p:txBody>
      </p:sp>
      <p:sp>
        <p:nvSpPr>
          <p:cNvPr id="26" name="Text 19"/>
          <p:cNvSpPr/>
          <p:nvPr/>
        </p:nvSpPr>
        <p:spPr>
          <a:xfrm>
            <a:off x="960120" y="4773168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AEB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status, add, commit — çdo ditë</a:t>
            </a:r>
            <a:endParaRPr lang="en-US" sz="1150" dirty="0"/>
          </a:p>
        </p:txBody>
      </p:sp>
      <p:sp>
        <p:nvSpPr>
          <p:cNvPr id="27" name="Shape 20"/>
          <p:cNvSpPr/>
          <p:nvPr/>
        </p:nvSpPr>
        <p:spPr>
          <a:xfrm>
            <a:off x="4389120" y="3749040"/>
            <a:ext cx="3456432" cy="1737360"/>
          </a:xfrm>
          <a:prstGeom prst="roundRect">
            <a:avLst>
              <a:gd name="adj" fmla="val 5263"/>
            </a:avLst>
          </a:prstGeom>
          <a:solidFill>
            <a:srgbClr val="1E3050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28" name="Shape 21"/>
          <p:cNvSpPr/>
          <p:nvPr/>
        </p:nvSpPr>
        <p:spPr>
          <a:xfrm>
            <a:off x="4663440" y="4041648"/>
            <a:ext cx="640080" cy="640080"/>
          </a:xfrm>
          <a:prstGeom prst="ellipse">
            <a:avLst/>
          </a:prstGeom>
          <a:solidFill>
            <a:srgbClr val="E8730C"/>
          </a:solidFill>
          <a:ln/>
        </p:spPr>
      </p:sp>
      <p:pic>
        <p:nvPicPr>
          <p:cNvPr id="29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09744" y="4187952"/>
            <a:ext cx="347472" cy="347472"/>
          </a:xfrm>
          <a:prstGeom prst="rect">
            <a:avLst/>
          </a:prstGeom>
        </p:spPr>
      </p:pic>
      <p:sp>
        <p:nvSpPr>
          <p:cNvPr id="30" name="Text 22"/>
          <p:cNvSpPr/>
          <p:nvPr/>
        </p:nvSpPr>
        <p:spPr>
          <a:xfrm>
            <a:off x="5440680" y="4023360"/>
            <a:ext cx="2331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Degët</a:t>
            </a:r>
            <a:endParaRPr lang="en-US" sz="1400" dirty="0"/>
          </a:p>
        </p:txBody>
      </p:sp>
      <p:sp>
        <p:nvSpPr>
          <p:cNvPr id="31" name="Text 23"/>
          <p:cNvSpPr/>
          <p:nvPr/>
        </p:nvSpPr>
        <p:spPr>
          <a:xfrm>
            <a:off x="4663440" y="4773168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AEB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checkout -b, merge — provo pa frikë</a:t>
            </a:r>
            <a:endParaRPr lang="en-US" sz="1150" dirty="0"/>
          </a:p>
        </p:txBody>
      </p:sp>
      <p:sp>
        <p:nvSpPr>
          <p:cNvPr id="32" name="Shape 24"/>
          <p:cNvSpPr/>
          <p:nvPr/>
        </p:nvSpPr>
        <p:spPr>
          <a:xfrm>
            <a:off x="8092440" y="3749040"/>
            <a:ext cx="3456432" cy="1737360"/>
          </a:xfrm>
          <a:prstGeom prst="roundRect">
            <a:avLst>
              <a:gd name="adj" fmla="val 5263"/>
            </a:avLst>
          </a:prstGeom>
          <a:solidFill>
            <a:srgbClr val="1E3050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33" name="Shape 25"/>
          <p:cNvSpPr/>
          <p:nvPr/>
        </p:nvSpPr>
        <p:spPr>
          <a:xfrm>
            <a:off x="8366760" y="4041648"/>
            <a:ext cx="640080" cy="640080"/>
          </a:xfrm>
          <a:prstGeom prst="ellipse">
            <a:avLst/>
          </a:prstGeom>
          <a:solidFill>
            <a:srgbClr val="E8730C"/>
          </a:solidFill>
          <a:ln/>
        </p:spPr>
      </p:sp>
      <p:pic>
        <p:nvPicPr>
          <p:cNvPr id="34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513064" y="4187952"/>
            <a:ext cx="347472" cy="347472"/>
          </a:xfrm>
          <a:prstGeom prst="rect">
            <a:avLst/>
          </a:prstGeom>
        </p:spPr>
      </p:pic>
      <p:sp>
        <p:nvSpPr>
          <p:cNvPr id="35" name="Text 26"/>
          <p:cNvSpPr/>
          <p:nvPr/>
        </p:nvSpPr>
        <p:spPr>
          <a:xfrm>
            <a:off x="9144000" y="4023360"/>
            <a:ext cx="2331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Konfliktet</a:t>
            </a:r>
            <a:endParaRPr lang="en-US" sz="1400" dirty="0"/>
          </a:p>
        </p:txBody>
      </p:sp>
      <p:sp>
        <p:nvSpPr>
          <p:cNvPr id="36" name="Text 27"/>
          <p:cNvSpPr/>
          <p:nvPr/>
        </p:nvSpPr>
        <p:spPr>
          <a:xfrm>
            <a:off x="8366760" y="4773168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AEB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pyet, ju zgjidhni — pa panik</a:t>
            </a:r>
            <a:endParaRPr lang="en-US" sz="1150" dirty="0"/>
          </a:p>
        </p:txBody>
      </p:sp>
      <p:sp>
        <p:nvSpPr>
          <p:cNvPr id="37" name="Text 28"/>
          <p:cNvSpPr/>
          <p:nvPr/>
        </p:nvSpPr>
        <p:spPr>
          <a:xfrm>
            <a:off x="11185855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497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11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658368" cy="658368"/>
          </a:xfrm>
          <a:prstGeom prst="roundRect">
            <a:avLst>
              <a:gd name="adj" fmla="val 16667"/>
            </a:avLst>
          </a:prstGeom>
          <a:solidFill>
            <a:srgbClr val="E8730C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4944" y="603504"/>
            <a:ext cx="365760" cy="3657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71600" y="457200"/>
            <a:ext cx="9601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873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PRAKTIKA E JAVËS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1371600" y="676656"/>
            <a:ext cx="10241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700" b="1" dirty="0">
                <a:solidFill>
                  <a:srgbClr val="14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Detyra për shtëpi — praktikë e pastër</a:t>
            </a:r>
            <a:endParaRPr lang="en-US" sz="2700" dirty="0"/>
          </a:p>
        </p:txBody>
      </p:sp>
      <p:sp>
        <p:nvSpPr>
          <p:cNvPr id="6" name="Shape 3"/>
          <p:cNvSpPr/>
          <p:nvPr/>
        </p:nvSpPr>
        <p:spPr>
          <a:xfrm>
            <a:off x="594360" y="1536192"/>
            <a:ext cx="11018520" cy="841248"/>
          </a:xfrm>
          <a:prstGeom prst="roundRect">
            <a:avLst>
              <a:gd name="adj" fmla="val 9783"/>
            </a:avLst>
          </a:prstGeom>
          <a:solidFill>
            <a:srgbClr val="F8FAFC"/>
          </a:solidFill>
          <a:ln w="12700">
            <a:solidFill>
              <a:srgbClr val="DBE2EA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868680" y="1700784"/>
            <a:ext cx="512064" cy="512064"/>
          </a:xfrm>
          <a:prstGeom prst="ellipse">
            <a:avLst/>
          </a:prstGeom>
          <a:solidFill>
            <a:srgbClr val="E8730C"/>
          </a:solidFill>
          <a:ln/>
        </p:spPr>
      </p:sp>
      <p:sp>
        <p:nvSpPr>
          <p:cNvPr id="8" name="Text 5"/>
          <p:cNvSpPr/>
          <p:nvPr/>
        </p:nvSpPr>
        <p:spPr>
          <a:xfrm>
            <a:off x="868680" y="1700784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1600200" y="1645920"/>
            <a:ext cx="36576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Repo-ja juaj e parë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5394960" y="1645920"/>
            <a:ext cx="60350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6A78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Instalo Git, konfiguro emrin/email-in, bëj git init te dosja e detyrave të Java-s.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594360" y="2496312"/>
            <a:ext cx="11018520" cy="841248"/>
          </a:xfrm>
          <a:prstGeom prst="roundRect">
            <a:avLst>
              <a:gd name="adj" fmla="val 9783"/>
            </a:avLst>
          </a:prstGeom>
          <a:solidFill>
            <a:srgbClr val="F2F5F9"/>
          </a:solidFill>
          <a:ln w="12700">
            <a:solidFill>
              <a:srgbClr val="DBE2EA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868680" y="2660904"/>
            <a:ext cx="512064" cy="512064"/>
          </a:xfrm>
          <a:prstGeom prst="ellipse">
            <a:avLst/>
          </a:prstGeom>
          <a:solidFill>
            <a:srgbClr val="E8730C"/>
          </a:solidFill>
          <a:ln/>
        </p:spPr>
      </p:sp>
      <p:sp>
        <p:nvSpPr>
          <p:cNvPr id="13" name="Text 10"/>
          <p:cNvSpPr/>
          <p:nvPr/>
        </p:nvSpPr>
        <p:spPr>
          <a:xfrm>
            <a:off x="868680" y="2660904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200" dirty="0"/>
          </a:p>
        </p:txBody>
      </p:sp>
      <p:sp>
        <p:nvSpPr>
          <p:cNvPr id="14" name="Text 11"/>
          <p:cNvSpPr/>
          <p:nvPr/>
        </p:nvSpPr>
        <p:spPr>
          <a:xfrm>
            <a:off x="1600200" y="2606040"/>
            <a:ext cx="36576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 commit-e kuptimplota</a:t>
            </a:r>
            <a:endParaRPr lang="en-US" sz="1500" dirty="0"/>
          </a:p>
        </p:txBody>
      </p:sp>
      <p:sp>
        <p:nvSpPr>
          <p:cNvPr id="15" name="Text 12"/>
          <p:cNvSpPr/>
          <p:nvPr/>
        </p:nvSpPr>
        <p:spPr>
          <a:xfrm>
            <a:off x="5394960" y="2606040"/>
            <a:ext cx="60350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6A78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Shto detyrat e leksioneve 5–7 me tre commit-e të ndara, me mesazhe të qarta.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594360" y="3456432"/>
            <a:ext cx="11018520" cy="841248"/>
          </a:xfrm>
          <a:prstGeom prst="roundRect">
            <a:avLst>
              <a:gd name="adj" fmla="val 9783"/>
            </a:avLst>
          </a:prstGeom>
          <a:solidFill>
            <a:srgbClr val="F8FAFC"/>
          </a:solidFill>
          <a:ln w="12700">
            <a:solidFill>
              <a:srgbClr val="DBE2EA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868680" y="3621024"/>
            <a:ext cx="512064" cy="512064"/>
          </a:xfrm>
          <a:prstGeom prst="ellipse">
            <a:avLst/>
          </a:prstGeom>
          <a:solidFill>
            <a:srgbClr val="E8730C"/>
          </a:solidFill>
          <a:ln/>
        </p:spPr>
      </p:sp>
      <p:sp>
        <p:nvSpPr>
          <p:cNvPr id="18" name="Text 15"/>
          <p:cNvSpPr/>
          <p:nvPr/>
        </p:nvSpPr>
        <p:spPr>
          <a:xfrm>
            <a:off x="868680" y="3621024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200" dirty="0"/>
          </a:p>
        </p:txBody>
      </p:sp>
      <p:sp>
        <p:nvSpPr>
          <p:cNvPr id="19" name="Text 16"/>
          <p:cNvSpPr/>
          <p:nvPr/>
        </p:nvSpPr>
        <p:spPr>
          <a:xfrm>
            <a:off x="1600200" y="3566160"/>
            <a:ext cx="36576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Provo një degë</a:t>
            </a:r>
            <a:endParaRPr lang="en-US" sz="1500" dirty="0"/>
          </a:p>
        </p:txBody>
      </p:sp>
      <p:sp>
        <p:nvSpPr>
          <p:cNvPr id="20" name="Text 17"/>
          <p:cNvSpPr/>
          <p:nvPr/>
        </p:nvSpPr>
        <p:spPr>
          <a:xfrm>
            <a:off x="5394960" y="3566160"/>
            <a:ext cx="60350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6A78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Krijo degën test-ide, ndrysho diçka, bëj commit, kthehu te main dhe bëj merge.</a:t>
            </a:r>
            <a:endParaRPr lang="en-US" sz="1200" dirty="0"/>
          </a:p>
        </p:txBody>
      </p:sp>
      <p:sp>
        <p:nvSpPr>
          <p:cNvPr id="21" name="Shape 18"/>
          <p:cNvSpPr/>
          <p:nvPr/>
        </p:nvSpPr>
        <p:spPr>
          <a:xfrm>
            <a:off x="594360" y="4416552"/>
            <a:ext cx="11018520" cy="841248"/>
          </a:xfrm>
          <a:prstGeom prst="roundRect">
            <a:avLst>
              <a:gd name="adj" fmla="val 9783"/>
            </a:avLst>
          </a:prstGeom>
          <a:solidFill>
            <a:srgbClr val="F2F5F9"/>
          </a:solidFill>
          <a:ln w="12700">
            <a:solidFill>
              <a:srgbClr val="DBE2EA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868680" y="4581144"/>
            <a:ext cx="512064" cy="512064"/>
          </a:xfrm>
          <a:prstGeom prst="ellipse">
            <a:avLst/>
          </a:prstGeom>
          <a:solidFill>
            <a:srgbClr val="E8730C"/>
          </a:solidFill>
          <a:ln/>
        </p:spPr>
      </p:sp>
      <p:sp>
        <p:nvSpPr>
          <p:cNvPr id="23" name="Text 20"/>
          <p:cNvSpPr/>
          <p:nvPr/>
        </p:nvSpPr>
        <p:spPr>
          <a:xfrm>
            <a:off x="868680" y="4581144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200" dirty="0"/>
          </a:p>
        </p:txBody>
      </p:sp>
      <p:sp>
        <p:nvSpPr>
          <p:cNvPr id="24" name="Text 21"/>
          <p:cNvSpPr/>
          <p:nvPr/>
        </p:nvSpPr>
        <p:spPr>
          <a:xfrm>
            <a:off x="1600200" y="4526280"/>
            <a:ext cx="36576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Sfidë: në GitHub</a:t>
            </a:r>
            <a:endParaRPr lang="en-US" sz="1500" dirty="0"/>
          </a:p>
        </p:txBody>
      </p:sp>
      <p:sp>
        <p:nvSpPr>
          <p:cNvPr id="25" name="Text 22"/>
          <p:cNvSpPr/>
          <p:nvPr/>
        </p:nvSpPr>
        <p:spPr>
          <a:xfrm>
            <a:off x="5394960" y="4526280"/>
            <a:ext cx="60350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6A78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Krijo llogari, hap një repo bosh, lidhe me remote add dhe bëj push. Dërgo linkun.</a:t>
            </a:r>
            <a:endParaRPr lang="en-US" sz="1200" dirty="0"/>
          </a:p>
        </p:txBody>
      </p:sp>
      <p:sp>
        <p:nvSpPr>
          <p:cNvPr id="26" name="Shape 23"/>
          <p:cNvSpPr/>
          <p:nvPr/>
        </p:nvSpPr>
        <p:spPr>
          <a:xfrm>
            <a:off x="594360" y="5596128"/>
            <a:ext cx="11018520" cy="548640"/>
          </a:xfrm>
          <a:prstGeom prst="roundRect">
            <a:avLst>
              <a:gd name="adj" fmla="val 13333"/>
            </a:avLst>
          </a:prstGeom>
          <a:solidFill>
            <a:srgbClr val="142033"/>
          </a:solidFill>
          <a:ln/>
        </p:spPr>
      </p:sp>
      <p:sp>
        <p:nvSpPr>
          <p:cNvPr id="27" name="Text 24"/>
          <p:cNvSpPr/>
          <p:nvPr/>
        </p:nvSpPr>
        <p:spPr>
          <a:xfrm>
            <a:off x="914400" y="5596128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6A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tjetër:  </a:t>
            </a:r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kthehemi te Java me polimorfizmin — dhe detyrat dorëzohen përmes Git-it!</a:t>
            </a:r>
            <a:endParaRPr lang="en-US" sz="1350" dirty="0"/>
          </a:p>
        </p:txBody>
      </p:sp>
      <p:sp>
        <p:nvSpPr>
          <p:cNvPr id="28" name="Text 25"/>
          <p:cNvSpPr/>
          <p:nvPr/>
        </p:nvSpPr>
        <p:spPr>
          <a:xfrm>
            <a:off x="11185855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A78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1100" dirty="0"/>
          </a:p>
        </p:txBody>
      </p:sp>
      <p:sp>
        <p:nvSpPr>
          <p:cNvPr id="29" name="Text 26"/>
          <p:cNvSpPr/>
          <p:nvPr/>
        </p:nvSpPr>
        <p:spPr>
          <a:xfrm>
            <a:off x="548640" y="63550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A78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· Leksioni 8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22</Slides>
  <Notes>22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Git — Leksioni 8: Kontrolli i versioneve</dc:title>
  <dc:subject>PptxGenJS Presentation</dc:subject>
  <dc:creator>Kreni</dc:creator>
  <cp:lastModifiedBy>Kreni</cp:lastModifiedBy>
  <cp:revision>1</cp:revision>
  <dcterms:created xsi:type="dcterms:W3CDTF">2026-07-31T11:10:27Z</dcterms:created>
  <dcterms:modified xsi:type="dcterms:W3CDTF">2026-07-31T11:10:27Z</dcterms:modified>
</cp:coreProperties>
</file>