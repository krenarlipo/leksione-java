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Fillon kapitulli më i rëndësishëm i Java-s: OOP. Sot: çfarë është klasa dhe objekti, fushat, metodat e instancës, konstruktori, dhe zgjidhet misteri i 'static'. Vizuali në titull tregon dy objekte të së njëjtës klasë me vlera të ndryshme — pikërisht thelbi i sotëm.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zë dy-tre leksione — sot vetëm themelet. Mos nxitoni: koncepti klasë/objekt duhet të ulet mirë para se të flasim për konstruktorë. Nëse mbetet kohë e pakët, pjesa e static mund të shkurtohet në 3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Ura e premtuar: ArrayList ishte klasë — tani e kuptojnë pse shkruanim 'new'. Kontrolloni shkurt detyrat (min, printimi mbrapsht). Pyetje motivuese: 'po sikur të na duhej një tip i ri të dhënash — p.sh. Studenti — që Java nuk e ka?'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 si gjithmonë para sintaksës. Vargjet zgjidhën 'shumë vlera të të njëjtit tip'; klasat zgjidhin 'vlera të tipeve të NDRYSHME që i përkasin të njëjtit send'. emri2/mosha2 mbahen bashkë vetëm nga konventa e emërtimit — receta për gabime.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Analogjia qendrore e OOP: plani arkitektonik vs shtëpitë e ndërtuara. Një plan — shumë shtëpi; ndryshimi i njërës shtëpi nuk prek tjetrën. Pyetje kontrolli: 'sa klasa ka këtu? sa objekte?' (1 klasë, 3 objekte). Kjo pyetje do rikthehet në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Klasa Studenti do të na shoqërojë gjithë leksionin. Theksoni: kjo NUK krijon asnjë student — vetëm përshkruan si duket një student. Konventa e shkronjës së madhe tani shpjegon pse String dhe ArrayList shkruhen kështu.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Studenti() ndërton objektin në memorie; variabla 'ana' e mban. Pika akseson fushat. KRITIKE: dy objektet janë të pavarura — kjo testohet në quiz. Live demo: ndryshoni ana.mosha dhe printoni të dyja.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 dje çdo metodë kishte static — sot heqet dhe fitohet fuqia: metoda 'sheh' fushat e objektit të vet. Krahasoni me leksionin 2: pershendet(String emri, int mosha) merrte gjithçka si parametra; tani objekti i mban vetë të dhënat.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Motivimi: objekti gjysmak (null, 0) është burim gabimesh. Konstruktori = 'certifikata e lindjes': objekti lind i plotë. Dy veçori sintaksore për t'u theksuar: emri identik me klasën, dhe asnjë tip kthimi — as 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 arsyet e thella: checkpoint i vetëm, kontratë, pamundësi gabimi. Shembulli i validimit (mosha &lt; 0) hap derën për leksionin e ardhshëm: enkapsulimi bën të njëjtën gjë për NDRYSHIMET pas krijimit. Analogjia e regjistrit civil funksionon shumë mirë — përdoreni!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gabim kompilimi do t'u dalë të gjithëve te detyra 2 (shtimi i konstruktorit te Libri) — paralajmërojini tani që ta njohin kur ta shohin. Mesazhi i gabimit: 'constructor Libri in class Libri cannot be applied to given types'. Sqarim i shkurtër i rreshtit të fundit: klasa mund të ketë DISA konstruktorë (mbingarkim — si te metodat, leksioni 3!).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është pengesa konceptuale kryesore e ditës — ecni ngadalë. Vizatoni në tabelë: objekti me fushat e tij, parametrat që vijnë nga jashtë, dhe this si gishti që tregon 'vetveten'. Pa this këtu, emri = emri thjesht ia cakton parametrit vetes — gabim klasik që s'jep error!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i shtuar sepse ArrayList mbeti i paqartë herën e kaluar — tani me programin E PLOTË: importi lart, main, dhe veprimet. Ecni rresht për rresht duke treguar gjendjen djathtas. Pika kritike: pas remove(0), get(0) kthen Beni — jo Ana (u hoq), jo boshllëk. Indekset rrëshqasin! 'Dinamike' = madhësia ndryshon gjatë ekzekutimit pa new dhe pa kopjime — int[] s'e bën dot. Pyetje kontrolli: pas edhe një remove(0), çfarë kthen get(0)? (Klea).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Dinamika e vërtetë: lista rritet BRENDA ciklit — kjo është e pamundur me int[] pa e rikrijuar. set vs add: set zëvendëson (madhësia s'ndryshon), add shton (rritet). println(numrat) printon të gjithë listën — bonus i këndshëm i ArrayList. indexOf kthen -1 kur elementi s'gjendet — pikë e mirë për detyra. Tabela djathtas = fletë referimi për studentët.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Momenti ku tre leksionet bashkohen: klasa jonë + ArrayList + for-each. new Studenti(...) direkt brenda add() — pa variabël të ndërmjetme. Sfidë për klasën: si do të gjenit studentin më të ri? (max/min i leksionit 3, por mbi s.mosha).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Paguhet borxhi i leksionit 2 ('static — e kuptojmë më vonë'). Rregulli praktik: nëse metoda punon me fushat e një objekti — jo-static; nëse është vegël e pavarur — static. Pyetja 'pse main është static' është klasike provimi.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Shablloni i plotë që studentët do ta riprodhojnë në detyra: fusha → konstruktor → metoda. eshteMadhor() lidhet me if-in e leksionit 1 dhe metodat boolean të leksionit 2: if (s.eshteMadhor()) lexohet si fjali. Ky slajd vlen si referencë — thuajuni ta fotografojnë!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e njohur: 8 minuta, në letër, pa shënime. Të katër pyetjet vërtiten rreth pavarësisë së objekteve dhe konstruktorit — pikat ku fillestarët ngecin më shumë.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një klasë (Studenti), tre objekte — përgjigja b; rikthehet pyetja e slajdit 5. Q2: objektet janë të pavarura — ndryshimi i a.mosha nuk prek b.mosha, që mbetet 22 — përgjigja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konstruktori me this cakton fushën — printon Toyota, përgjigja c. Q4: metoda e instancës përdor fushën mosha (20) dhe parametrin: 2026 - 20 = 2006, përgjigja a. Detaj i ri në Q4: fusha me vlerë fillestare (int mosha = 20) — e lejuar dhe e zakonshme.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është më e rëndësishmja — pavarësia e objekteve. Nëse shumë gabuan, rikthehuni te slajdi 7 dhe vizatoni dy kuti të ndara në tabelë. Normalizoni vështirësinë: OOP kërkon 2-3 javë të 'ulet' — është kërcimi më i madh konceptual i kursit.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Fjalitë kyçe për t'i marrë me vete: 'Klasa është plani, objekti është shtëpia' dhe 'çdo objekt mban vlerat e veta'. Javën tjetër ndërtojmë mbi këtë: enkapsulimi (private/getters/setters) dhe më pas trashëgimia.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Detyrat ndjekin saktësisht rrugën e leksionit: klasë → konstruktor → metodë → koleksion objektesh. Detyra 4 ripërdor gjithçka nga leksionet 1-4. Klasa Libri është zgjedhur me qëllim e ndryshme nga Studenti — të mos kopjojnë mekanikisht.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Klasat dhe Objektet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Hyrje në programimin e orientuar nga objektet (OOP)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1248" y="3337560"/>
            <a:ext cx="2377440" cy="1499616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 w="25400">
            <a:solidFill>
              <a:srgbClr val="E8730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337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8730C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 ana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69848" y="3904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69848" y="42885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93008" y="3337560"/>
            <a:ext cx="2377440" cy="1499616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93008" y="3337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7395C"/>
          </a:solidFill>
          <a:ln/>
        </p:spPr>
      </p:sp>
      <p:sp>
        <p:nvSpPr>
          <p:cNvPr id="15" name="Text 12"/>
          <p:cNvSpPr/>
          <p:nvPr/>
        </p:nvSpPr>
        <p:spPr>
          <a:xfrm>
            <a:off x="3675888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 beni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21608" y="3904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721608" y="42885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1248" y="52578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&amp; ura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04672" y="30632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→ ArrayList → klasat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&amp; objekti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626864" y="30632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Koncepti, fushat, new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e instancës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449056" y="30632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Sjellja e objekteve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&amp; this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804672" y="54041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Lindja e objekteve, validimi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 në lista + static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4626864" y="54041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dinamik, misteri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50" dirty="0"/>
          </a:p>
        </p:txBody>
      </p:sp>
      <p:sp>
        <p:nvSpPr>
          <p:cNvPr id="41" name="Text 32"/>
          <p:cNvSpPr/>
          <p:nvPr/>
        </p:nvSpPr>
        <p:spPr>
          <a:xfrm>
            <a:off x="8449056" y="54041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 nga leksioni i kaluar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30936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8521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0" y="178308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mbani mend ArrayList?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ArrayList&lt;&gt;() — krijuam diçka me new.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emrat.add(...), emrat.size() — thirrëm metoda MBI të.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e ditur, ju keni përdorur tashmë: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KLASË (ArrayList) dhe një OBJEKT (emrat)!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160520"/>
            <a:ext cx="11018520" cy="160020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3708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mësojmë të krijojmë klasat TONA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ArrayList, Math — të gjitha janë klasa të shkruara nga dikush tjetër. Nga sot, ju jeni ata 'dikush tjetër': do të ndërtoni tipet tuaja të të dhënave.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DUHEN KLASAT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Problemi: të dhëna që i përkasin njëra-tjetrës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KLASA — të dhëna të shpërndara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80644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534924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studente = 6 variabla te shkeputura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emri1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mosha1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emri3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"Klea"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mosha3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kush i mban bashke emri2 me mosha2?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asgje - vetem kujtesa jone!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KLASA — një njësi e vetme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12280" y="1920240"/>
            <a:ext cx="480060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1344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721461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41578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7068312" y="2377440"/>
            <a:ext cx="434340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emri + mosha udhetojne BASHKE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brenda nje objekti te vetem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12280" y="3291840"/>
            <a:ext cx="2240280" cy="1499616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 w="25400">
            <a:solidFill>
              <a:srgbClr val="E8730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12280" y="329184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8730C"/>
          </a:solidFill>
          <a:ln/>
        </p:spPr>
      </p:sp>
      <p:sp>
        <p:nvSpPr>
          <p:cNvPr id="20" name="Text 17"/>
          <p:cNvSpPr/>
          <p:nvPr/>
        </p:nvSpPr>
        <p:spPr>
          <a:xfrm>
            <a:off x="6995160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4088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040880" y="4242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94360" y="507492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BEDDD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36752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25880" y="51663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bashkon të dhënat (fushat) dhe veprimet mbi to (metodat) në një njësi.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 është thelbi i programimit të orientuar nga objektet.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 THEMELOR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është plani, objekti është shtëpia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87452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1E3050"/>
          </a:solidFill>
          <a:ln w="25400">
            <a:solidFill>
              <a:srgbClr val="E8730C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103120" y="2194560"/>
            <a:ext cx="914400" cy="9144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39572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143000" y="37490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/ stampa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Përshkruan si duket dhe çfarë bën.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Ekziston vetëm NJË.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43484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43400" y="3383280"/>
            <a:ext cx="1188720" cy="411480"/>
          </a:xfrm>
          <a:prstGeom prst="rightArrow">
            <a:avLst/>
          </a:prstGeom>
          <a:solidFill>
            <a:srgbClr val="E8730C"/>
          </a:solidFill>
          <a:ln/>
        </p:spPr>
      </p:sp>
      <p:sp>
        <p:nvSpPr>
          <p:cNvPr id="13" name="Shape 9"/>
          <p:cNvSpPr/>
          <p:nvPr/>
        </p:nvSpPr>
        <p:spPr>
          <a:xfrm>
            <a:off x="5806440" y="2286000"/>
            <a:ext cx="1920240" cy="1499616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 w="25400">
            <a:solidFill>
              <a:srgbClr val="E8730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06440" y="22860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730C"/>
          </a:solidFill>
          <a:ln/>
        </p:spPr>
      </p:sp>
      <p:sp>
        <p:nvSpPr>
          <p:cNvPr id="15" name="Text 11"/>
          <p:cNvSpPr/>
          <p:nvPr/>
        </p:nvSpPr>
        <p:spPr>
          <a:xfrm>
            <a:off x="598932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035040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035040" y="32369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891272" y="2286000"/>
            <a:ext cx="1920240" cy="1499616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891272" y="22860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7395C"/>
          </a:solidFill>
          <a:ln/>
        </p:spPr>
      </p:sp>
      <p:sp>
        <p:nvSpPr>
          <p:cNvPr id="20" name="Text 16"/>
          <p:cNvSpPr/>
          <p:nvPr/>
        </p:nvSpPr>
        <p:spPr>
          <a:xfrm>
            <a:off x="8074152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19872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119872" y="32369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976104" y="2286000"/>
            <a:ext cx="1920240" cy="1499616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976104" y="22860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7395C"/>
          </a:solidFill>
          <a:ln/>
        </p:spPr>
      </p:sp>
      <p:sp>
        <p:nvSpPr>
          <p:cNvPr id="25" name="Text 21"/>
          <p:cNvSpPr/>
          <p:nvPr/>
        </p:nvSpPr>
        <p:spPr>
          <a:xfrm>
            <a:off x="10158984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klea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0204704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"Klea"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0204704" y="32369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= </a:t>
            </a:r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806440" y="43434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OBJEKTET (instancat)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5943600" y="4800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 konkrete të ndërtuara sipas planit. Mund të krijojmë sa të duam — secili me vlerat e veta.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DHËNAT E KLASËS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jonë e parë — fushat (atributet)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852160" cy="2157984"/>
          </a:xfrm>
          <a:prstGeom prst="roundRect">
            <a:avLst>
              <a:gd name="adj" fmla="val 381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Skedari: Studenti.java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notaMesatare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Fushat = variablat e klasës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objekt Studenti do të ketë emrin, moshën dhe notën e vet.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Deklarohen brenda klasës, jashtë metodave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vlera — vlerat i mbajnë objektet, jo klasa.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Skedar më vete: Studenti.java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klasë publike = një skedar me të njëjtin emër.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892040"/>
            <a:ext cx="11018520" cy="914400"/>
          </a:xfrm>
          <a:prstGeom prst="roundRect">
            <a:avLst>
              <a:gd name="adj" fmla="val 8000"/>
            </a:avLst>
          </a:prstGeom>
          <a:solidFill>
            <a:srgbClr val="FBEDD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663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9834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Konventë: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emrat e klasave nisin me shkronjë TË MADHE (Studenti, ArrayList, String) — variablat dhe metodat me të vogël (ana, emri, add).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PLANI TE SENDI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Krijimi i objekteve me new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40080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5943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35240" y="1783080"/>
            <a:ext cx="3977640" cy="1554480"/>
          </a:xfrm>
          <a:prstGeom prst="roundRect">
            <a:avLst>
              <a:gd name="adj" fmla="val 5294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65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93608" y="1965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909560" y="24048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Ana, 20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Beni, 22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7882128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Pika (.) = dera e objektit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882128" y="42062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ana.emri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fusha emri e objektit ana.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objekte = dy kopje të pavarura fushash. Ndryshimi i ana.mosha nuk prek beni.mosha.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OBJEKTET DINË TË VEPROJNË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e instancës — sjellja e objektit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126480" cy="3845052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5669280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vjec."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main: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Jam Ana, 20 vjec.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Jam Beni, 22 vjec.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0" y="17373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 re: PA static!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e instancës i përket objektit, jo klasës.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direkt fushat e objektit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emri dhe mosha janë të objektit që e thërret.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njëjta metodë, dalje të ndryshme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ana.prezantohu() përdor të dhënat e anës; beni.prezantohu() të benit.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040880" y="4709160"/>
            <a:ext cx="4572000" cy="1097280"/>
          </a:xfrm>
          <a:prstGeom prst="roundRect">
            <a:avLst>
              <a:gd name="adj" fmla="val 75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4846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njohur?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emrat.add("Ana") ishte pikërisht kjo: thirrje e metodës së instancës mbi objektin emrat.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INICIALIZIMI I SIGURT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— lindja e objektit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3949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4937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harruam s.emri = ... ?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Jam null, 0 vjec.  :(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— konstruktori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920240"/>
            <a:ext cx="516636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377440"/>
            <a:ext cx="470916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4360" y="3794760"/>
            <a:ext cx="5440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Metodë speciale që ekzekutohet te new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emrin e klasës dhe S'KA tip kthimi (as void).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Detyron dhënien e të dhënave në krijim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S'ka më objekte gjysmake me null dhe 0.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VALIDIMI DHE KONTRATA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si roje e klasës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03504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57784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rregulli zbatohet KUDO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49440" y="173736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Pikë e vetme kontrolli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objekt i klasës kalon këtu — rregulli "mosha s'mund të jetë negative" shkruhet një herë dhe vlen kudo.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Kontratë e qartë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Studenti(String, int) i tregon çdo përdoruesi çfarë duhet për një student të vlefshëm — pa lexuar kodin brenda.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Gabimi bëhet i pamundur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Kompajleri s'të lë të krijosh objekt pa të dhënat — nga "mos harro" në "s'mund të harrosh".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4709160"/>
            <a:ext cx="11018520" cy="1143000"/>
          </a:xfrm>
          <a:prstGeom prst="roundRect">
            <a:avLst>
              <a:gd name="adj" fmla="val 72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749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48280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Analogji — regjistri civil: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person nuk lind i paemër për t'u pagëzuar "më vonë" — emri dhe data regjistrohen NË ÇASTIN e lindjes, ndryshe s'ka certifikatë. Konstruktori është regjistri civil i objekteve.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QË DO TA HASNI NË DETYRËN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Kujdes: konstruktori i fshehtë (default)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konstruktor të shkruar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39496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493776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titulli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jep FSHEHURAZI nje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konstruktor bosh Libri()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konstruktorin tonë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920240"/>
            <a:ext cx="516636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377440"/>
            <a:ext cx="470916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titulli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titulli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GABIM!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4360" y="489204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5780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4983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Sapo shkruani konstruktorin tuaj, ai i fshehti ZHDUKET.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Kjo s'është Java duke ju penguar — është Java duke thënë: "ti i vendose rregullat për krijimin e Librit; tani të gjithë duhet t'i ndjekin". Nëse ju duhen të dyja format, shkruani edhe një konstruktor bosh vetë.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STANDARDE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në përdorim + fjala this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675120" cy="3845052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217920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main - krijimi behet me nje rresht: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Jam Ana, 20 vjec.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1783080"/>
            <a:ext cx="3703320" cy="3977640"/>
          </a:xfrm>
          <a:prstGeom prst="roundRect">
            <a:avLst>
              <a:gd name="adj" fmla="val 2469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156448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do të thotë this?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56448" y="2450592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this.emri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fusha e objektit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 thjeshtë) = parametri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parametri dhe fusha kanë të njëjtin emër, this i dallon: "emri i KËTIJ objekti".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standard profesional — do ta shihni kudo.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PËRSËRITJE NGA LEKSIONI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hap-pas-hapi — lista që rritet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77240" y="1737360"/>
            <a:ext cx="603504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7957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38074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033272" y="2194560"/>
            <a:ext cx="557784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krye te skedarit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"Klea"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hiqet "Ana"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Beni !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1783080"/>
            <a:ext cx="4526280" cy="4114800"/>
          </a:xfrm>
          <a:prstGeom prst="roundRect">
            <a:avLst>
              <a:gd name="adj" fmla="val 2222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Gjendja e listës: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60920" y="2377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fillimi — bosh, size() = 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0920" y="2788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tri add(...) — size() = 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3108960"/>
            <a:ext cx="1024128" cy="457200"/>
          </a:xfrm>
          <a:prstGeom prst="rect">
            <a:avLst/>
          </a:prstGeom>
          <a:solidFill>
            <a:srgbClr val="27395C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60920" y="31089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60920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58200" y="3108960"/>
            <a:ext cx="1024128" cy="457200"/>
          </a:xfrm>
          <a:prstGeom prst="rect">
            <a:avLst/>
          </a:prstGeom>
          <a:solidFill>
            <a:srgbClr val="27395C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1089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58200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555480" y="3108960"/>
            <a:ext cx="1024128" cy="457200"/>
          </a:xfrm>
          <a:prstGeom prst="rect">
            <a:avLst/>
          </a:prstGeom>
          <a:solidFill>
            <a:srgbClr val="27395C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55480" y="31089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Klea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555480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60920" y="4023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remove(0) — size() = 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60920" y="4343400"/>
            <a:ext cx="1024128" cy="457200"/>
          </a:xfrm>
          <a:prstGeom prst="rect">
            <a:avLst/>
          </a:prstGeom>
          <a:solidFill>
            <a:srgbClr val="E8730C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43434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60920" y="48006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458200" y="4343400"/>
            <a:ext cx="1024128" cy="457200"/>
          </a:xfrm>
          <a:prstGeom prst="rect">
            <a:avLst/>
          </a:prstGeom>
          <a:solidFill>
            <a:srgbClr val="27395C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58200" y="434340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Klea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458200" y="48006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6092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Indekset rrëshqasin majtas — Beni kaloi te [0]!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DINAMIKA E VËRTETË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në veprim — rritja me cikël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720840" cy="3584448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2636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rritje dinamike: 5 elemente me cikel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10,20,30,40,50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zevendeson 20 me 99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5806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 nga leksioni 3: për numra shkruhet &lt;Integer&gt;, jo &lt;int&gt;.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35240" y="1645920"/>
            <a:ext cx="3977640" cy="1691640"/>
          </a:xfrm>
          <a:prstGeom prst="roundRect">
            <a:avLst>
              <a:gd name="adj" fmla="val 486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93608" y="18288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909560" y="22677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99, 30, 40, 50]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635240" y="3520440"/>
            <a:ext cx="3977640" cy="2697480"/>
          </a:xfrm>
          <a:prstGeom prst="roundRect">
            <a:avLst>
              <a:gd name="adj" fmla="val 3051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882128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Kutia e veglave të ArrayList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882128" y="40233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add(x)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509760" y="40233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shton në fund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882128" y="43251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get(i)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509760" y="4325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lexon te indeksi i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882128" y="4626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set(i, x)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509760" y="46268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zëvendëson te i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882128" y="49286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remove(i)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509760" y="49286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heq — të tjerët rrëshqasin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882128" y="52303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509760" y="52303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elemente ka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882128" y="5532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contains(x)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509760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përmban? (boolean)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882128" y="58338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indexOf(x)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509760" y="5833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ndodhet? (−1 = s'është)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KOMBINIMI ME LEKSIONIN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objekte: ArrayList&lt;Studenti&gt;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49224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03504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"Klea"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452360" y="1645920"/>
            <a:ext cx="4160520" cy="2011680"/>
          </a:xfrm>
          <a:prstGeom prst="roundRect">
            <a:avLst>
              <a:gd name="adj" fmla="val 4091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0728" y="18288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726680" y="226771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Ana, 20 vjec.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Beni, 22 vjec.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Klea, 21 vjec.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452360" y="388620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7266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bashkohet: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726680" y="448056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mban objekte të klasës SONË — jo vetëm String apo int.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+ metoda e instancës = përpunim elegant i një klase të tërë studentësh.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PREMTIMI I LEKSIONIT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Misteri i static — zgjidhet më në fund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69164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91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i klasës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68680" y="2487168"/>
            <a:ext cx="480060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69848" y="26700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71016" y="26700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72184" y="26700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124712" y="2944368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mesatarja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 objekt - direkt te klasa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Thirret MBI KLASËN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 duhet asnjë objekt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Vegla të përgjithshme: Math.sqrt, mesatarja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69164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E8730C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1691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jo-static — i objektit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92240" y="2487168"/>
            <a:ext cx="480060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93408" y="26700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94576" y="26700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95744" y="26700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748272" y="2944368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duhet objekti ana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3796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Thirret MBI OBJEKTIN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fushat e objektit (emri, mosha)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Sjellja e sendeve konkrete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9436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main është static? Sepse në nisje të programit s'ekziston ende ASNJË objekt — dikush duhet ta nisë punën!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NË NJË VEND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e plotë Studenti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554480"/>
            <a:ext cx="722376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011680"/>
            <a:ext cx="676656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vjec."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eshteMadhor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58200" y="1737360"/>
            <a:ext cx="3154680" cy="4160520"/>
          </a:xfrm>
          <a:prstGeom prst="roundRect">
            <a:avLst>
              <a:gd name="adj" fmla="val 2899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pjesët e klasës: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0" y="2377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Fushat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86800" y="2706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emri, mosha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0" y="3218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Konstruktori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Studenti(...)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0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Metodat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0" y="49011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Metoda me return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68680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eshteMadhor()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86000" y="457200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Mendoni gjithmonë: cilit OBJEKT i përket kjo vlerë?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OBJEKTET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klasa dhe sa objekte ka këtu?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44068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834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"Klea"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klasa, 3 objekte    </a:t>
            </a:r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klasë, 3 objekte    </a:t>
            </a:r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klasa, 1 objekt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480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KONSTRUKTORI &amp; METODAT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44068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Makina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Makina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Makina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Makina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"Toyota"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5440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      </a:t>
            </a:r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     </a:t>
            </a:r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Toyota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kthen s.vitiLindjes(2026)?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vitiLindjes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vitiAktual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vitiAktual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s.vitiLindjes(2026) -&gt; ?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92240" y="5440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2006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1 klasë, 3 objekte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120640" y="181051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është plani i vetëm; a, b, c janë tri instanca të tij.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22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120640" y="28895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Objektet janë të pavarura — a.mosha = 25 nuk e prek aspak b.mosha.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 Toyota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120640" y="396849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me this.marka = marka e ruan "Toyota" te fusha e objektit.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2006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120640" y="504748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vitiAktual (2026) − mosha e objektit (20) = 2006.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OOP-ja ju pret krahëhapur! · 2 saktë: rilexoni slajdin 7 · 0–1: ejani në konsultime — koncepti kërkon kohë, është normale.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— përshkruan fushat dhe metodat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Instanca konkrete, krijohet me new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dhënat — çdo objekt mban të vetat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e instancës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Sjellja — pa static, mbi objektin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&amp; this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 lind i plotë, this = vetja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 zbërthyer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klasës (vegël) vs i objektit (sjellje)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Libri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60720" y="164592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Fushat: titulli, autori, faqet. Krijo 3 objekte dhe printoji.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+ this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760720" y="260604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konstruktor te Libri dhe krijo objektet me një rresht secilin.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Metodë instance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760720" y="356616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boolean eshteIGjate() — true nëse libri ka mbi 300 faqe.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biblioteka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760720" y="452628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ArrayList&lt;Libri&gt; me 5 libra; printo vetëm të gjatët me for-each + if.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enkapsulimi — private, getters &amp; setters, dhe pse i fshehim fushat.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4: Klasat dhe Objektet</dc:title>
  <dc:subject>PptxGenJS Presentation</dc:subject>
  <dc:creator>Kreni</dc:creator>
  <cp:lastModifiedBy>Kreni</cp:lastModifiedBy>
  <cp:revision>1</cp:revision>
  <dcterms:created xsi:type="dcterms:W3CDTF">2026-07-15T12:24:59Z</dcterms:created>
  <dcterms:modified xsi:type="dcterms:W3CDTF">2026-07-15T12:24:59Z</dcterms:modified>
</cp:coreProperties>
</file>